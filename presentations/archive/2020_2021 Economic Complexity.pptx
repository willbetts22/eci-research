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Lst>
  <p:sldSz cy="5143500" cx="9144000"/>
  <p:notesSz cx="6858000" cy="9144000"/>
  <p:embeddedFontLst>
    <p:embeddedFont>
      <p:font typeface="EB Garamond"/>
      <p:regular r:id="rId161"/>
      <p:bold r:id="rId162"/>
      <p:italic r:id="rId163"/>
      <p:boldItalic r:id="rId1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D11D6D-23B2-4238-A28D-41E66CAD4618}">
  <a:tblStyle styleId="{86D11D6D-23B2-4238-A28D-41E66CAD46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147" Type="http://schemas.openxmlformats.org/officeDocument/2006/relationships/slide" Target="slides/slide140.xml"/><Relationship Id="rId6" Type="http://schemas.openxmlformats.org/officeDocument/2006/relationships/slideMaster" Target="slideMasters/slideMaster2.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164" Type="http://schemas.openxmlformats.org/officeDocument/2006/relationships/font" Target="fonts/EBGaramond-boldItalic.fntdata"/><Relationship Id="rId163" Type="http://schemas.openxmlformats.org/officeDocument/2006/relationships/font" Target="fonts/EBGaramond-italic.fntdata"/><Relationship Id="rId162" Type="http://schemas.openxmlformats.org/officeDocument/2006/relationships/font" Target="fonts/EBGaramond-bold.fntdata"/><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font" Target="fonts/EBGaramond-regular.fntdata"/><Relationship Id="rId54" Type="http://schemas.openxmlformats.org/officeDocument/2006/relationships/slide" Target="slides/slide47.xml"/><Relationship Id="rId160" Type="http://schemas.openxmlformats.org/officeDocument/2006/relationships/slide" Target="slides/slide153.xml"/><Relationship Id="rId57" Type="http://schemas.openxmlformats.org/officeDocument/2006/relationships/slide" Target="slides/slide50.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58" Type="http://schemas.openxmlformats.org/officeDocument/2006/relationships/slide" Target="slides/slide51.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all of humanity continues to amass terabytes of data we often find ourselves in predicament of finding innovative ways to utilize the data to improve the way we make decisions. The creation and utilization of the Economic Complexity Index does not deviate from this common goal and in fact is an approach to use data to answer an incredibly important question: What is the optimal development strategy for a country that leads to stable growth with minimal risk to its citizens?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Hidalgo &amp; Hussman created the quantitative foundation to begin to answer this question by creating the Economic Complexity Index. Using this metric in unison with other macroeconomic indicators we can begin to understand not only the output a country can produce but rather the capacity a country’s economy possesses. We can develop optimal paths of development for countries and suggest </a:t>
            </a:r>
            <a:r>
              <a:rPr lang="en"/>
              <a:t>contingency</a:t>
            </a:r>
            <a:r>
              <a:rPr lang="en"/>
              <a:t> strategies if tail events affect a particular country’s economy. The ECI captures information about an economy that traditional </a:t>
            </a:r>
            <a:r>
              <a:rPr lang="en"/>
              <a:t>macroeconomic</a:t>
            </a:r>
            <a:r>
              <a:rPr lang="en"/>
              <a:t> indicators do not and thus it and its derivatives serve as a useful tool in analyzing economic systems.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9341731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b9341731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traditional economic view is something we are all familiar with. There are basic components that in aggregate create an economic system, namely raw material, labor, and capital. These three components are naturally measurable quantities which leads to many </a:t>
            </a:r>
            <a:r>
              <a:rPr lang="en"/>
              <a:t>macroeconomic</a:t>
            </a:r>
            <a:r>
              <a:rPr lang="en"/>
              <a:t> indicators to rely directly or indirectly on these particular components.</a:t>
            </a:r>
            <a:endParaRPr/>
          </a:p>
          <a:p>
            <a:pPr indent="0" lvl="0" marL="0" rtl="0" algn="l">
              <a:lnSpc>
                <a:spcPct val="115000"/>
              </a:lnSpc>
              <a:spcBef>
                <a:spcPts val="1200"/>
              </a:spcBef>
              <a:spcAft>
                <a:spcPts val="0"/>
              </a:spcAft>
              <a:buNone/>
            </a:pPr>
            <a:r>
              <a:rPr lang="en"/>
              <a:t>The Economic Complexity framework </a:t>
            </a:r>
            <a:r>
              <a:rPr lang="en"/>
              <a:t>fundamentally</a:t>
            </a:r>
            <a:r>
              <a:rPr lang="en"/>
              <a:t> </a:t>
            </a:r>
            <a:r>
              <a:rPr lang="en"/>
              <a:t>changes</a:t>
            </a:r>
            <a:r>
              <a:rPr lang="en"/>
              <a:t> the base unit. Within the ECI </a:t>
            </a:r>
            <a:r>
              <a:rPr lang="en"/>
              <a:t>framework</a:t>
            </a:r>
            <a:r>
              <a:rPr lang="en"/>
              <a:t> we view the basic unit in any economic system as knowledge. We do not mean this in a esoteric manner, rather we mean that the capacity for an economy to create output actors within the economic system must have pieces of knowledge that allow them to create value. The aggregation of pieces of knowledge that are spread across the people </a:t>
            </a:r>
            <a:r>
              <a:rPr lang="en"/>
              <a:t>coalesces such that economic systems are able to create product and services. In essence we completely transform how we view a economic system. </a:t>
            </a:r>
            <a:r>
              <a:rPr lang="en"/>
              <a:t> The claim of the ECI framework is that it may be more reasonable to think of a </a:t>
            </a:r>
            <a:r>
              <a:rPr lang="en"/>
              <a:t>economy</a:t>
            </a:r>
            <a:r>
              <a:rPr lang="en"/>
              <a:t> as a complex system where pieces of knowledge are interwoven and interconnected in a massive web. The potential of an economy is stored within this web of knowledge. </a:t>
            </a:r>
            <a:endParaRPr/>
          </a:p>
          <a:p>
            <a:pPr indent="0" lvl="0" marL="0" rtl="0" algn="l">
              <a:lnSpc>
                <a:spcPct val="115000"/>
              </a:lnSpc>
              <a:spcBef>
                <a:spcPts val="1200"/>
              </a:spcBef>
              <a:spcAft>
                <a:spcPts val="1200"/>
              </a:spcAft>
              <a:buNone/>
            </a:pPr>
            <a:r>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e28abac5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be28abac5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We realize the conception of an economic system that we’ve introduced in the previous slide seems a bit abstract so we’ll pose an example that may help concretize the ECI framework. Consider for a </a:t>
            </a:r>
            <a:r>
              <a:rPr lang="en"/>
              <a:t>moment the toothpaste that you use on a daily basis. Do you know what particular chemicals are used to create it? Do you understand the properties of the components inside the toothpaste and why they are useful in context of personal hygiene? Do you understand how the manufacturing process is done or how to setup a large plant to mass produce toothpaste bottles? We could continue with this type of questioning and most of us would admit that we answered no to most of these questions. If we think a bit more we begin to realize that this type of reasoning can be applied to most of things we interact on a daily basis. Imagine the long list of questions one could ask about how our phones work! </a:t>
            </a:r>
            <a:endParaRPr/>
          </a:p>
          <a:p>
            <a:pPr indent="0" lvl="0" marL="0" rtl="0" algn="l">
              <a:lnSpc>
                <a:spcPct val="115000"/>
              </a:lnSpc>
              <a:spcBef>
                <a:spcPts val="1200"/>
              </a:spcBef>
              <a:spcAft>
                <a:spcPts val="1200"/>
              </a:spcAft>
              <a:buNone/>
            </a:pPr>
            <a:r>
              <a:rPr lang="en"/>
              <a:t>While a quick assessment of this phenomenon may lead to believe that this is a weakness, in actuality this is one of the greatest strengths modernity.  We are able to specialize and by putting together our small subsets of knowledge we are able to create very complex products and systems. Thus economies in aggregate are incredibly knowledgeable and that in essence is what ECI is attempting to measure.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e28abac5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e28abac5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that there is a very stark similarity between the ECI conception and Adam Smith’s idea of the division of labor. The small pieces of knowledge that each indi</a:t>
            </a:r>
            <a:r>
              <a:rPr lang="en"/>
              <a:t>vidual has is defined as a personbyte. The aggregation of personbytes is the total knowledge of an economy. </a:t>
            </a:r>
            <a:r>
              <a:rPr lang="en"/>
              <a:t>Importantly, the power of the system comes from the fact that there is a wide diversity of personbytes. Having a  wide range of personbytes allows more complex interconnections between the knowledge bases and allow for the development of more complex products.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remaining question is:  how can we design an economic indicator that encompasses this economic view of knowledge-bases and personbytes?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e28abac5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be28abac5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economic indicator that we would like to create needs to have a few key properties as we have listed above. It needs to capture how much knowledge an economy has. It must </a:t>
            </a:r>
            <a:r>
              <a:rPr lang="en"/>
              <a:t>account</a:t>
            </a:r>
            <a:r>
              <a:rPr lang="en"/>
              <a:t> for a vast variety of knowledge within an economy since those economies with a variety of personbytes are more </a:t>
            </a:r>
            <a:r>
              <a:rPr lang="en"/>
              <a:t>capable</a:t>
            </a:r>
            <a:r>
              <a:rPr lang="en"/>
              <a:t> of combining different </a:t>
            </a:r>
            <a:r>
              <a:rPr lang="en"/>
              <a:t>skill sets</a:t>
            </a:r>
            <a:r>
              <a:rPr lang="en"/>
              <a:t> to create a more complex products. Finally, as we have said before, we are interested in the potential of an economic system rather than the raw output. Understanding potential of an economy gives us a better idea of the types of knowledge that an economy possesses.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we are able to actually construct the metric we need to define a few extra terms that will assist us in the process of creating the Economic Complexity Index.</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96004fdc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96004fdc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knowledge? Knowledge can range from anything including the results of last night’s game, to yesterday’s closing price of the S&amp;P. It can also range to skills that we gain, whether that be how to change a light bulb, program an app, or knit a sweater! Formally, we can split the space of knowledge into two different </a:t>
            </a:r>
            <a:r>
              <a:rPr lang="en"/>
              <a:t>categories: Tacit, and Explicit. Explicit knowledge consists of the </a:t>
            </a:r>
            <a:r>
              <a:rPr lang="en"/>
              <a:t>pieces</a:t>
            </a:r>
            <a:r>
              <a:rPr lang="en"/>
              <a:t> of information that can easily be </a:t>
            </a:r>
            <a:r>
              <a:rPr lang="en"/>
              <a:t>transferred</a:t>
            </a:r>
            <a:r>
              <a:rPr lang="en"/>
              <a:t> and communicated, not requiring significant effort to retain. This consists of simple facts, pieces of news, or statistics. On the other hand, tacit knowledge consists of the forms of skills and information that cannot be immediately picked up, and require some amount of time to actually pick up and retain.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relevant to our discussion, as for countries’ production, not all forms of knowledge are </a:t>
            </a:r>
            <a:r>
              <a:rPr lang="en"/>
              <a:t>explicit</a:t>
            </a:r>
            <a:r>
              <a:rPr lang="en"/>
              <a:t>. If that were the case, any country would be able to develop advanced technology, and just as easily pivot into drilling for oil, or manufacturing chemicals. In </a:t>
            </a:r>
            <a:r>
              <a:rPr lang="en"/>
              <a:t>reality, the majority of industry development lies in tacit knowledge, that is costly and time consuming to pick up. As a result, most countries focus on a few industries that they already have a strong base of knowledge to implement at an efficient level. Formally, this is known as specialization!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b93417315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b93417315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Imagine pieces of knowledge being represented as scrabble tiles, where each tile represents a specific capability of a country’s workforce. These tiles can come together to form words, which represent the actual products/industries. If a country has more pieces it can put together more words, or types of products. In other words, the country’s economy would </a:t>
            </a:r>
            <a:r>
              <a:rPr lang="en"/>
              <a:t>have</a:t>
            </a:r>
            <a:r>
              <a:rPr lang="en"/>
              <a:t> a higher level of diversity if it’s able to generate more products with more capabilities.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Similarly, complicated words generally require more p</a:t>
            </a:r>
            <a:r>
              <a:rPr lang="en"/>
              <a:t>ieces, and can only be formed by a smaller group of people (think about the tiles that would go into forming the word “</a:t>
            </a:r>
            <a:r>
              <a:rPr lang="en">
                <a:solidFill>
                  <a:srgbClr val="202124"/>
                </a:solidFill>
                <a:highlight>
                  <a:srgbClr val="FFFFFF"/>
                </a:highlight>
              </a:rPr>
              <a:t>Pochemuchka”, versus a word such as “run.” A Country’s ability to form more complex products that require a wider range of </a:t>
            </a:r>
            <a:r>
              <a:rPr lang="en">
                <a:solidFill>
                  <a:srgbClr val="202124"/>
                </a:solidFill>
                <a:highlight>
                  <a:srgbClr val="FFFFFF"/>
                </a:highlight>
              </a:rPr>
              <a:t>capabilities</a:t>
            </a:r>
            <a:r>
              <a:rPr lang="en">
                <a:solidFill>
                  <a:srgbClr val="202124"/>
                </a:solidFill>
                <a:highlight>
                  <a:srgbClr val="FFFFFF"/>
                </a:highlight>
              </a:rPr>
              <a:t> can be defined as Ubiquity.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e2161615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e2161615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rgbClr val="595959"/>
                </a:solidFill>
                <a:latin typeface="EB Garamond"/>
                <a:ea typeface="EB Garamond"/>
                <a:cs typeface="EB Garamond"/>
                <a:sym typeface="EB Garamond"/>
              </a:rPr>
              <a:t>The calculation of ECI is mainly based on comparative advantages of countries in producing certain products. In order to define comparative advantage, we bring up a concept called </a:t>
            </a:r>
            <a:r>
              <a:rPr lang="en" sz="1200">
                <a:solidFill>
                  <a:srgbClr val="595959"/>
                </a:solidFill>
                <a:latin typeface="EB Garamond"/>
                <a:ea typeface="EB Garamond"/>
                <a:cs typeface="EB Garamond"/>
                <a:sym typeface="EB Garamond"/>
              </a:rPr>
              <a:t>revealed</a:t>
            </a:r>
            <a:r>
              <a:rPr lang="en" sz="1200">
                <a:solidFill>
                  <a:srgbClr val="595959"/>
                </a:solidFill>
                <a:latin typeface="EB Garamond"/>
                <a:ea typeface="EB Garamond"/>
                <a:cs typeface="EB Garamond"/>
                <a:sym typeface="EB Garamond"/>
              </a:rPr>
              <a:t> comparative advantage, also called RCA. When considering the advantage of a country in producing certain product, we cannot just measure it by how much a country produces. For example, it is not fair to compare the volume of exports of a product in China with the one in Uruguay. Similarly, we also want the products taking up a large part of the world trade to represent a larger share than those with small part. Therefore, RCA measures in the following way. It measures the ratio between the share of a country in producing certain product and the share of a product in total world trade volume, which is also called a “fair” share of a product in the world.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e2161615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e2161615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Since there is a value for each country and each product, we can use a matrix to represent all the values, and the shape of the matrix is number of countries by number of products. However, a question is that even with these values, how can people measure whether a country has comparative advantage in producing a certain product. According to Hausmann and Hidalgo, who is the inventor of ECI, when the RCA value is greater than or equal to 1, we regard this country has a comparative advantage in producing this product. Similar for the other case. Therefore, eventually the matrix of RCA becomes a matrix of comparative advantage, where all the entries are either 0 or 1, representing the comparative advantage of production.</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e4ca25cb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e4ca25cb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595959"/>
                </a:solidFill>
                <a:latin typeface="EB Garamond"/>
                <a:ea typeface="EB Garamond"/>
                <a:cs typeface="EB Garamond"/>
                <a:sym typeface="EB Garamond"/>
              </a:rPr>
              <a:t>After having a metric to measure comparative advantage in production, there are the other two essential tools in calculating the ECI of a country, which are diversity and ubiquity. Diversity is a term defined for country. It can tell how diverse it is for the product space of a country. In other words, a country with advantages in producing more products tend to have a higher diversity. Similarly, ubiquity is a term defined for products. It can tell how many countries are having advantages in producing a product. However, unlike diversity, a lower ubiquity value means better, since there are less countries with producing advantages. </a:t>
            </a:r>
            <a:endParaRPr>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None/>
            </a:pPr>
            <a:r>
              <a:rPr lang="en">
                <a:solidFill>
                  <a:srgbClr val="595959"/>
                </a:solidFill>
                <a:latin typeface="EB Garamond"/>
                <a:ea typeface="EB Garamond"/>
                <a:cs typeface="EB Garamond"/>
                <a:sym typeface="EB Garamond"/>
              </a:rPr>
              <a:t>However, there are drawbacks with these two metrics, even though a country has a very high diversity, it does not mean this country is so developed that it can produce many products. Similar to ubiquity. Even though a product has a very low ubiquity value, it is not necessary that this product is hard to be produced so that there are not so many countries having advantages in production. It can be a product that is been outdated. Therefore, it is not enough to just use these two metrics to tell whether a country is developed or a product is high-end or not.</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e2161615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e2161615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595959"/>
                </a:solidFill>
                <a:latin typeface="EB Garamond"/>
                <a:ea typeface="EB Garamond"/>
                <a:cs typeface="EB Garamond"/>
                <a:sym typeface="EB Garamond"/>
              </a:rPr>
              <a:t>The picture here gives an example of diversity and ubiquity. For diversity, from the picture, we can see that Netherlands is able to produce all of the products, Argentina is able to produce the first three products, and Ghana is only able to produce the first one. Therefore, </a:t>
            </a:r>
            <a:r>
              <a:rPr lang="en" sz="1200">
                <a:solidFill>
                  <a:srgbClr val="595959"/>
                </a:solidFill>
                <a:latin typeface="EB Garamond"/>
                <a:ea typeface="EB Garamond"/>
                <a:cs typeface="EB Garamond"/>
                <a:sym typeface="EB Garamond"/>
              </a:rPr>
              <a:t>from the angle of diversity, Netherlands has higher diversity than Argentina, and Argentina is higher than Ghana as well. That means countries with more complex product space tend to have higher diversity. </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0"/>
              </a:spcAft>
              <a:buNone/>
            </a:pPr>
            <a:r>
              <a:rPr lang="en" sz="1200">
                <a:solidFill>
                  <a:srgbClr val="595959"/>
                </a:solidFill>
                <a:latin typeface="EB Garamond"/>
                <a:ea typeface="EB Garamond"/>
                <a:cs typeface="EB Garamond"/>
                <a:sym typeface="EB Garamond"/>
              </a:rPr>
              <a:t>On the contrary, products produced by less countries tend to have higher ubiquity. As an example, the X-ray machines mentioned in the picture has a higher ubiquity than frozen fish because there are three countries producing frozen fish but only one country producing x-ray machines.</a:t>
            </a:r>
            <a:endParaRPr sz="1200">
              <a:solidFill>
                <a:schemeClr val="dk1"/>
              </a:solidFill>
            </a:endParaRPr>
          </a:p>
          <a:p>
            <a:pPr indent="-285750" lvl="0" marL="457200" rtl="0" algn="l">
              <a:lnSpc>
                <a:spcPct val="115000"/>
              </a:lnSpc>
              <a:spcBef>
                <a:spcPts val="1200"/>
              </a:spcBef>
              <a:spcAft>
                <a:spcPts val="0"/>
              </a:spcAft>
              <a:buClr>
                <a:srgbClr val="595959"/>
              </a:buClr>
              <a:buSzPts val="900"/>
              <a:buFont typeface="EB Garamond"/>
              <a:buChar char="-"/>
            </a:pPr>
            <a:r>
              <a:t/>
            </a:r>
            <a:endParaRPr sz="900">
              <a:solidFill>
                <a:srgbClr val="595959"/>
              </a:solidFill>
              <a:latin typeface="EB Garamond"/>
              <a:ea typeface="EB Garamond"/>
              <a:cs typeface="EB Garamond"/>
              <a:sym typeface="EB Garamon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be4ca25cb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be4ca25cb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As we mentioned before, only diversity and ubiquity is not enough for telling whether a country is developed or a product is highly complex. Therefore, we also put forward the recursive versions of diversity or ubiquity. In addition to diversity itself, the recursive diversity also incorporates the information of ubiquity. So it is defined as the summation of all the products that the country has advantage in producing weighted by the products ubiquity, and then normalized by the original diversity so that the value will not be too large after many iterations. Similar to ubiquity, it is defined as the summation of all the countries that have advantage in producing a product weighted by the countries’ diversities, and then normalized by the original ubiquity. As you can see, if we plug in recursive ubiquity into recursive diversity, we can obtain an equation only related to diversity, and as N goes large enough, it becomes an implicit formula about the diversity itself. Then we can solve this equation to obtain the diversity, also the economic complexity, of a country. Mathematically, it is about solving for an eigenvector.</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96004fdc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96004fdc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This is a worldwide view of all the countries in terms of economic complexity. This result refers to the one in Harvard Altas Lab. As you can see, the result of ECI is still in accordance with other economic metrics, like GDP. Many countries regarded as economic entity with strong productivity have high economic complexity. Additionally, some countries with high ECI values are listed out here. Recently, Japan remains to be the top in terms of ECI. Other countries with high ECI values are like Switzerland, South Korea, Germany etc.</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b96004fdc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b96004fdc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We also provide the ECI results and their economic structure of the United States and Uzbekistan. In comparison, the ECI of the United States is indeed higher than the one of Uzbekistan. This was due to the fact that the economic structure of the United States is much more complicated, spanning across products that requires high technology like ICT (information and communication technology) and products that only needs less knowledge, like corn or soya bean cultivation. For Uzbekistan, its economic structure is a bit less comprehensive, which mainly consist of metallurgy and chemicals manufacturing. Therefore, ECI works pretty well in summarizing the economic complexity of a country.</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96004fdc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96004fdc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595959"/>
                </a:solidFill>
                <a:latin typeface="EB Garamond"/>
                <a:ea typeface="EB Garamond"/>
                <a:cs typeface="EB Garamond"/>
                <a:sym typeface="EB Garamond"/>
              </a:rPr>
              <a:t>There is another related term called PCI, product complexity index. ECI measures the economic complexity of a country’s product space, and PCI measures how many knowledge is required for producing a product. A higher value means that it connects more to the production of other products and requires more resources for production. It is well known that cars have a higher PCI than beef. As shown in the two pictures, we can also observe that cars production indeed has a lot more connections with other products than beef production.</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None/>
            </a:pPr>
            <a:r>
              <a:t/>
            </a:r>
            <a:endParaRPr sz="900">
              <a:solidFill>
                <a:srgbClr val="595959"/>
              </a:solidFill>
              <a:latin typeface="EB Garamond"/>
              <a:ea typeface="EB Garamond"/>
              <a:cs typeface="EB Garamond"/>
              <a:sym typeface="EB Garamon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b96004fdc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b96004fdc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have seen the calculation of ECI, the </a:t>
            </a:r>
            <a:r>
              <a:rPr lang="en">
                <a:solidFill>
                  <a:schemeClr val="dk1"/>
                </a:solidFill>
              </a:rPr>
              <a:t>calculation</a:t>
            </a:r>
            <a:r>
              <a:rPr lang="en"/>
              <a:t> of PCI is very similar. In order to calculate the final value of the recursive ubiquity, we can solve this implicit equation. And finally the PCI is just the standardization of the solution. This problem is also identical to solve for the eigenvector of the matrix M_{pp’}.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b96004fdc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b96004fdc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t>For a given economy, certain groups of products will likely require similar skills to develop. For example, the knowledge of manufacturing shirts can easily be applied to pants, but it would be much more difficult to extend the knowledge to manufacturing chemicals. This is the core idea behind the concept of proximity. Products with </a:t>
            </a:r>
            <a:r>
              <a:rPr lang="en"/>
              <a:t>greater</a:t>
            </a:r>
            <a:r>
              <a:rPr lang="en"/>
              <a:t> proximity are more likely to be developed by the same country, as countries will generally exploit the </a:t>
            </a:r>
            <a:r>
              <a:rPr lang="en"/>
              <a:t>existing</a:t>
            </a:r>
            <a:r>
              <a:rPr lang="en"/>
              <a:t> knowledge base that they have. If we were to collect all proximities between pairs of products, we can use this to build out the product space, which show us a network between various industry groups and their relative proximity to each other. The structure of this product space is incredibly important, as it shows how easy/difficult it is for a country to expand from an </a:t>
            </a:r>
            <a:r>
              <a:rPr lang="en"/>
              <a:t>existing</a:t>
            </a:r>
            <a:r>
              <a:rPr lang="en"/>
              <a:t> product to another vertical. Tighter product spaces imply that the country can easily transition from one industry to another. However, if the space is structured such that specific </a:t>
            </a:r>
            <a:r>
              <a:rPr lang="en"/>
              <a:t>industry</a:t>
            </a:r>
            <a:r>
              <a:rPr lang="en"/>
              <a:t> groups are clustered, but far from other clusters, it will be difficult for countries to uptake production in new verticals. To quantify this space between industry groups in the product space, we use the </a:t>
            </a:r>
            <a:r>
              <a:rPr lang="en"/>
              <a:t>metric</a:t>
            </a:r>
            <a:r>
              <a:rPr lang="en"/>
              <a:t> of distance, which is more formally defined in the next slide.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0b79c907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0b79c907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t>As seen above, when we plot various industry </a:t>
            </a:r>
            <a:r>
              <a:rPr lang="en" sz="1000"/>
              <a:t>groups</a:t>
            </a:r>
            <a:r>
              <a:rPr lang="en" sz="1000"/>
              <a:t> and build a network rooted in their proximity, we arrive at a product space that shows how clustered certain industry groups are for the country in question.</a:t>
            </a:r>
            <a:endParaRPr sz="1000"/>
          </a:p>
          <a:p>
            <a:pPr indent="0" lvl="0" marL="0" rtl="0" algn="l">
              <a:lnSpc>
                <a:spcPct val="115000"/>
              </a:lnSpc>
              <a:spcBef>
                <a:spcPts val="1200"/>
              </a:spcBef>
              <a:spcAft>
                <a:spcPts val="1200"/>
              </a:spcAft>
              <a:buClr>
                <a:schemeClr val="dk1"/>
              </a:buClr>
              <a:buSzPts val="1100"/>
              <a:buFont typeface="Arial"/>
              <a:buNone/>
            </a:pPr>
            <a:r>
              <a:rPr lang="en" sz="1000"/>
              <a:t>Image</a:t>
            </a:r>
            <a:r>
              <a:rPr lang="en" sz="1000"/>
              <a:t> </a:t>
            </a:r>
            <a:r>
              <a:rPr lang="en" sz="1000"/>
              <a:t>obtained</a:t>
            </a:r>
            <a:r>
              <a:rPr lang="en" sz="1000"/>
              <a:t> from The Atlas of Economic Complexity</a:t>
            </a:r>
            <a:endParaRPr sz="10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b99dac24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b99dac24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want to </a:t>
            </a:r>
            <a:r>
              <a:rPr lang="en"/>
              <a:t>formally</a:t>
            </a:r>
            <a:r>
              <a:rPr lang="en"/>
              <a:t> quantify these metrics, we see that proximity between industry verticals A and B is defined by the probability that a country will export A given it produces B and vice versa. This makes sense, as if items have closer proximity (and therefore closer knowledge required to manufacture), then a country is more likely to participate in the joint production of them.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then </a:t>
            </a:r>
            <a:r>
              <a:rPr lang="en"/>
              <a:t>extrapolate</a:t>
            </a:r>
            <a:r>
              <a:rPr lang="en"/>
              <a:t> this to distance which is a general measure of a country’s connectedness to a product. Specifically, distance is proportional to how much knowledge a country lacks to produce the product (proximity, on the other hand, is based in the knowledge actually shared among two products by a country). Thus, distance is calculated by the sum of proximities between a particular good and all the goods not being exported by the country normalized by the proximities of all products in the country’s product space. For example, if a country is already producing a lot of goods that are in close proximity to a product A, then the distance to A is small. On the other hand, if the country doesn’t produce many of the goods in close proximity to A, then the distance to A will be large.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b99dac24b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b99dac24b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Just as how distance gives us an idea of how far each new product is from a country’s current mix of exports, we define opportunity gain as being the contribution of a new product in terms of opening up the doors to more and more complex products. In other words, how does an </a:t>
            </a:r>
            <a:r>
              <a:rPr lang="en">
                <a:solidFill>
                  <a:schemeClr val="dk1"/>
                </a:solidFill>
              </a:rPr>
              <a:t>incremental</a:t>
            </a:r>
            <a:r>
              <a:rPr lang="en">
                <a:solidFill>
                  <a:schemeClr val="dk1"/>
                </a:solidFill>
              </a:rPr>
              <a:t> investment in a </a:t>
            </a:r>
            <a:r>
              <a:rPr lang="en">
                <a:solidFill>
                  <a:schemeClr val="dk1"/>
                </a:solidFill>
              </a:rPr>
              <a:t>certain</a:t>
            </a:r>
            <a:r>
              <a:rPr lang="en">
                <a:solidFill>
                  <a:schemeClr val="dk1"/>
                </a:solidFill>
              </a:rPr>
              <a:t> vertical lead to an increase in the complexity of the country’s economy? Intuitively, a product that a country is currently exporting has an opportunity gain of zero. On the other hand, an investment in certain products that would lead to a relative decrease in the export of more profitable products would have a negative opportunity gain. The trade-off being made here is between  advancing a new product bringing all products closer to the product space, while also incurring a cost due to</a:t>
            </a:r>
            <a:r>
              <a:rPr lang="en">
                <a:solidFill>
                  <a:schemeClr val="dk1"/>
                </a:solidFill>
              </a:rPr>
              <a:t> the low complexity and huge distance of the product</a:t>
            </a:r>
            <a:r>
              <a:rPr lang="en">
                <a:solidFill>
                  <a:schemeClr val="dk1"/>
                </a:solidFill>
              </a:rPr>
              <a:t>. </a:t>
            </a:r>
            <a:r>
              <a:rPr lang="en">
                <a:solidFill>
                  <a:schemeClr val="dk1"/>
                </a:solidFill>
              </a:rPr>
              <a:t> The Opportunity Gain will go negative</a:t>
            </a:r>
            <a:r>
              <a:rPr lang="en">
                <a:solidFill>
                  <a:schemeClr val="dk1"/>
                </a:solidFill>
              </a:rPr>
              <a:t> if the product is an extreme outlier in the product space, and is loosely connected to other products.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we rank various verticals based on their </a:t>
            </a:r>
            <a:r>
              <a:rPr lang="en">
                <a:solidFill>
                  <a:schemeClr val="dk1"/>
                </a:solidFill>
              </a:rPr>
              <a:t>opportunity</a:t>
            </a:r>
            <a:r>
              <a:rPr lang="en">
                <a:solidFill>
                  <a:schemeClr val="dk1"/>
                </a:solidFill>
              </a:rPr>
              <a:t> gain for a specific country, we arrive at the Suggested Development Vector (SDV). The SDV shows us which verticals present the biggest opportunity for investment, as well as which verticals will lead to positive and negative opportunity gains.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b99dac24b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b99dac24b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 we summarize the SDV of a couple of countries in the world. As expected, we see that less developed countries such as Nigeria and Algeria tend to have more industries that present a positive opportunity gain (dark green). On the other hand, developed countries such as Italy have a larger balance between positive and negative opportunity gain industries. This also means that they have a more stable and efficient economic structure, as they don’t need to transition between industries to maintain economic development. On the other hand, a country like Nigeria has many different industries that it could invest in to enhance its complexity (almost all except for one).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That being said, it is possible for a developing country to have a balance economic structure, even if their output quantities may be smaller. Similarly, a developed country can also have yet to reach a stable economic structure. However, what this result serves to show is that we can potentially use economic complexity as a macroeconomic indicator, one that not only describes the quantity but quality of economic progress.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differences in economic structures for developed and developing countries suggests that we need a model for analyzing development at different stages. Is there a sequential strategy that can walk through changes in the SDV and overall structure of an economy as countries invest in specific industries? How can we use this to maximize growth for developing countries? Similarly, for already developed countries, can we use this information to understand how shocks to specific industries can affect development, and what strategy should be adopted by countries in these situations?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cc7b400e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cc7b400e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SDV is a helpful approach in order to find out potential products to build up a country’s economic </a:t>
            </a:r>
            <a:r>
              <a:rPr lang="en"/>
              <a:t>structure</a:t>
            </a:r>
            <a:r>
              <a:rPr lang="en"/>
              <a:t> and improve its ECI. Therefore, it helps us to evaluate whether </a:t>
            </a:r>
            <a:r>
              <a:rPr lang="en"/>
              <a:t>increasing</a:t>
            </a:r>
            <a:r>
              <a:rPr lang="en"/>
              <a:t> investment into a certain product would </a:t>
            </a:r>
            <a:r>
              <a:rPr lang="en"/>
              <a:t>result</a:t>
            </a:r>
            <a:r>
              <a:rPr lang="en"/>
              <a:t> in an ECI increment. However, it does not tell us how much a country should invest. Also, a common </a:t>
            </a:r>
            <a:r>
              <a:rPr lang="en"/>
              <a:t>situation</a:t>
            </a:r>
            <a:r>
              <a:rPr lang="en"/>
              <a:t> is that the budget for investment is usually limited. Therefore, according to this question, we formulate an optimization problem where we want to find out an optimal investment portfolio such that the ECI can be maximized and simul</a:t>
            </a:r>
            <a:r>
              <a:rPr lang="en"/>
              <a:t>taneously, the budget is limited.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cc7b400ef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cc7b400ef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this problem is not easy to solve because even though the constraint is linear, the objective involves complicated calculations, and it is even non-linear and non-convex. In order to solve this optimization problem, we develop a new algorithm based on Greedy algorithm. </a:t>
            </a:r>
            <a:r>
              <a:rPr lang="en"/>
              <a:t>Basically, greedy algorithm is just about choosing a solution that can maximize the objective function at the current point. Therefore, in our cases, we separate the budget into multiple smaller shares. And for each smaller share, we loop through all the products and find out the one that can maximize the ECI increment if we invest this share into this product. Then for each share, we can do the same thing and eventually find out a near-optimal solution. However, it is quite common that a share is not enough for making ECI increase; therefore, we can try to keep adding up multiple shares until we find an increment.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avoid local maximum, we can also keep looking for the next increment, and compare with the two increments by calculating their ratios, which is the ECI change over the budget used. In addition to two increments observation, we can also observe more increments further, but this will also lower the computational efficiency.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be28abac5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be28abac5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creation and calculation of any quantitative metric warrants the following question: what would happen to the metric if I perturbed the inputs? Understanding the sensitivity of your metric allows an analyst to understand the driving forces beneath the metric itself. An analyst will be able to know which inputs are key in the construction of the metrics and which ones do not affect the final result as much. In our case this is a very useful type of analysis. Sensitivity analysis allow us to answer the fundamental question, which industries are key in driving up the ECI score of a particular economy? Understanding this allow us to see which industries are important for the development strategy of an economy and gives a bit more insight into how we may intelligently design a development strategy that keeps this industry stable.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Sensitivity</a:t>
            </a:r>
            <a:r>
              <a:rPr lang="en"/>
              <a:t> analysis can also be viewed from the standpoint of risk. Will drawdowns in particular </a:t>
            </a:r>
            <a:r>
              <a:rPr lang="en"/>
              <a:t>industries</a:t>
            </a:r>
            <a:r>
              <a:rPr lang="en"/>
              <a:t> cause large shocks to the ECI score? </a:t>
            </a:r>
            <a:r>
              <a:rPr lang="en"/>
              <a:t>Which</a:t>
            </a:r>
            <a:r>
              <a:rPr lang="en"/>
              <a:t> events should a country avoid at all costs? Will a 20% drawdown in High Complexity Products affect an economy as much as a 20% drawdown in Manufacturing. Understanding sensitivity and performance metrics allows us to better assess the risk profile of a country. We would like to be able to categorize whether a country has a stable ECI or an unstable ECI score through doing this type of analysis.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b99dac24b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b99dac24b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EB Garamond"/>
                <a:ea typeface="EB Garamond"/>
                <a:cs typeface="EB Garamond"/>
                <a:sym typeface="EB Garamond"/>
              </a:rPr>
              <a:t>So how do we conduct our sensitivity analysis? We generate two </a:t>
            </a:r>
            <a:r>
              <a:rPr lang="en" sz="1200">
                <a:latin typeface="EB Garamond"/>
                <a:ea typeface="EB Garamond"/>
                <a:cs typeface="EB Garamond"/>
                <a:sym typeface="EB Garamond"/>
              </a:rPr>
              <a:t>separate</a:t>
            </a:r>
            <a:r>
              <a:rPr lang="en" sz="1200">
                <a:latin typeface="EB Garamond"/>
                <a:ea typeface="EB Garamond"/>
                <a:cs typeface="EB Garamond"/>
                <a:sym typeface="EB Garamond"/>
              </a:rPr>
              <a:t> charts for each country. In chart one we </a:t>
            </a:r>
            <a:r>
              <a:rPr lang="en" sz="1200">
                <a:latin typeface="EB Garamond"/>
                <a:ea typeface="EB Garamond"/>
                <a:cs typeface="EB Garamond"/>
                <a:sym typeface="EB Garamond"/>
              </a:rPr>
              <a:t>positively</a:t>
            </a:r>
            <a:r>
              <a:rPr lang="en" sz="1200">
                <a:latin typeface="EB Garamond"/>
                <a:ea typeface="EB Garamond"/>
                <a:cs typeface="EB Garamond"/>
                <a:sym typeface="EB Garamond"/>
              </a:rPr>
              <a:t> perturb the export data for a part</a:t>
            </a:r>
            <a:r>
              <a:rPr lang="en" sz="1200">
                <a:latin typeface="EB Garamond"/>
                <a:ea typeface="EB Garamond"/>
                <a:cs typeface="EB Garamond"/>
                <a:sym typeface="EB Garamond"/>
              </a:rPr>
              <a:t>icular country for x% at very small </a:t>
            </a:r>
            <a:r>
              <a:rPr lang="en" sz="1200">
                <a:latin typeface="EB Garamond"/>
                <a:ea typeface="EB Garamond"/>
                <a:cs typeface="EB Garamond"/>
                <a:sym typeface="EB Garamond"/>
              </a:rPr>
              <a:t>increments. In the second chart we negatively perturb the export data for a particular country for x% at very small increments. This allows us to visualize how small drawdowns in an industry may affect the ECI score as well as very large drawdowns. This is done for every industry group for a country. Interestingly, some patterns begin to emerge as we study these sensitivity charts. Firstly you will notice that often a hockey stick or upside down hockey stick shape will occur. This suggests that while an drawdown or increase in export of an industry may lead to an immediate change in ECI score after awhile the ECI sore plateaus and changes in the export level no longer affect the ECI score. In the positive shocking case the interpretation of the corner point of the hockey stick is that this is maximum amount an economy should invest in an economy since after that they will likely experience diminishing returns. Often we also see that decreases in export for certain industries actually increases the ECI score! This suggests that this industry is actually keeping the ECI low and it would be better if that nation did not focus its efforts on expanding that market sector. </a:t>
            </a:r>
            <a:endParaRPr sz="1200">
              <a:latin typeface="EB Garamond"/>
              <a:ea typeface="EB Garamond"/>
              <a:cs typeface="EB Garamond"/>
              <a:sym typeface="EB Garamond"/>
            </a:endParaRPr>
          </a:p>
          <a:p>
            <a:pPr indent="0" lvl="0" marL="0" rtl="0" algn="l">
              <a:spcBef>
                <a:spcPts val="0"/>
              </a:spcBef>
              <a:spcAft>
                <a:spcPts val="0"/>
              </a:spcAft>
              <a:buNone/>
            </a:pPr>
            <a:r>
              <a:t/>
            </a:r>
            <a:endParaRPr sz="1200">
              <a:latin typeface="EB Garamond"/>
              <a:ea typeface="EB Garamond"/>
              <a:cs typeface="EB Garamond"/>
              <a:sym typeface="EB Garamond"/>
            </a:endParaRPr>
          </a:p>
          <a:p>
            <a:pPr indent="0" lvl="0" marL="0" rtl="0" algn="l">
              <a:lnSpc>
                <a:spcPct val="115000"/>
              </a:lnSpc>
              <a:spcBef>
                <a:spcPts val="0"/>
              </a:spcBef>
              <a:spcAft>
                <a:spcPts val="1200"/>
              </a:spcAft>
              <a:buClr>
                <a:schemeClr val="dk1"/>
              </a:buClr>
              <a:buSzPts val="1100"/>
              <a:buFont typeface="Arial"/>
              <a:buNone/>
            </a:pPr>
            <a:r>
              <a:rPr lang="en" sz="1200">
                <a:latin typeface="EB Garamond"/>
                <a:ea typeface="EB Garamond"/>
                <a:cs typeface="EB Garamond"/>
                <a:sym typeface="EB Garamond"/>
              </a:rPr>
              <a:t>Until now all of our sensitivity analysis has been done by in some sense treating each industry independently. Our shocking charts are created based on the assumption that an industry is shocked by x% given that all other industries are held constant. This obviously is far from the economic reality. Modelling the interrelationships between industries would be a challenging task in itself but something that would be worth analyzing. </a:t>
            </a:r>
            <a:endParaRPr sz="1200">
              <a:latin typeface="EB Garamond"/>
              <a:ea typeface="EB Garamond"/>
              <a:cs typeface="EB Garamond"/>
              <a:sym typeface="EB Garamon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99dac24b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99dac24b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595959"/>
                </a:solidFill>
                <a:latin typeface="EB Garamond"/>
                <a:ea typeface="EB Garamond"/>
                <a:cs typeface="EB Garamond"/>
                <a:sym typeface="EB Garamond"/>
              </a:rPr>
              <a:t>All economies must be prepared for the worst case scenario in which, geopolitical disasters, natural disasters, etc. completely destabilize the entire economic system. In situation like that countries must be at the ready with a strategy for recovery. Using the ECI framework we are able to suggest the optimal blend of industries that would lead to the fastest ECI growth and thus economic recovery. </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Clr>
                <a:schemeClr val="dk1"/>
              </a:buClr>
              <a:buSzPts val="1100"/>
              <a:buFont typeface="Arial"/>
              <a:buNone/>
            </a:pPr>
            <a:r>
              <a:rPr lang="en" sz="1200">
                <a:solidFill>
                  <a:srgbClr val="595959"/>
                </a:solidFill>
                <a:latin typeface="EB Garamond"/>
                <a:ea typeface="EB Garamond"/>
                <a:cs typeface="EB Garamond"/>
                <a:sym typeface="EB Garamond"/>
              </a:rPr>
              <a:t>We conduct this analysis by shocking the export data down by 60% for all key industries of a country. Then we can recompute the Suggest Development Vector(SDV) for each economy and output the top three industries that would lead to the largest opportunity gain. The idea is that these industries would be the  best for an economy to invest in and subsidize in a disastrous scenario so that a recovery can be achieved in the smallest amount of time.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b99dac24b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b99dac24b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Suggested Development Vector is a strong roadmap as to how countries can improve their growth using ECI, but the question </a:t>
            </a:r>
            <a:r>
              <a:rPr lang="en"/>
              <a:t>remains</a:t>
            </a:r>
            <a:r>
              <a:rPr lang="en"/>
              <a:t> how effective this strategy is when </a:t>
            </a:r>
            <a:r>
              <a:rPr lang="en"/>
              <a:t>compared</a:t>
            </a:r>
            <a:r>
              <a:rPr lang="en"/>
              <a:t> to the country’s </a:t>
            </a:r>
            <a:r>
              <a:rPr lang="en"/>
              <a:t>existing</a:t>
            </a:r>
            <a:r>
              <a:rPr lang="en"/>
              <a:t> </a:t>
            </a:r>
            <a:r>
              <a:rPr lang="en"/>
              <a:t>development</a:t>
            </a:r>
            <a:r>
              <a:rPr lang="en"/>
              <a:t> strategy. To address this, we introduce the Structural Optimality Index (SOI), as being the R-square </a:t>
            </a:r>
            <a:r>
              <a:rPr lang="en"/>
              <a:t>coefficient</a:t>
            </a:r>
            <a:r>
              <a:rPr lang="en"/>
              <a:t> between a country’s realized development path and the suggested development vector.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 to SDV, we calculate actual development based on the marginal export increase in specified industry groups. This is very similar to the suggested development vector, which is also a marginal gain from developing in specific groups as per the ECI. In doing so, we are able to obtain a metric that extends our theoretical analysis to one rooted in the country’s actual development. A higher SOI is indicative of a higher degree of correlation between our suggested path and a country’s </a:t>
            </a:r>
            <a:r>
              <a:rPr lang="en"/>
              <a:t>actual</a:t>
            </a:r>
            <a:r>
              <a:rPr lang="en"/>
              <a:t> </a:t>
            </a:r>
            <a:r>
              <a:rPr lang="en"/>
              <a:t>development</a:t>
            </a:r>
            <a:r>
              <a:rPr lang="en"/>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b99dac24b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b99dac24b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Because SOI is defined by a country’s real output, it can be used as a macroeconomic metric for countries. To show this, we compared SOI with other macroeconomic indicators, such as GDP. In fact, after regressing SOI with the 5 year net increase in GDP for 106 different countries, we obtained a strong positive correlation, significant at the 1% level. Not only does this show that SOI can be used as an accurate macroeconomic metric, but it is also </a:t>
            </a:r>
            <a:r>
              <a:rPr lang="en"/>
              <a:t>important as it proves our hypothesis that</a:t>
            </a:r>
            <a:r>
              <a:rPr lang="en">
                <a:solidFill>
                  <a:schemeClr val="dk1"/>
                </a:solidFill>
              </a:rPr>
              <a:t> the more a country develops as suggested by calculations on a complexity level, the better economic outcomes it will achieve. In other words, ECI-based development can translate over to increases in GDP. By following a strategy outlined in the SDV, not only will countries enhance their complexity, but they will be able to achieve higher levels of economic output as measured by GDP.</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96004fdc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96004fdc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the ECI framework brings with it an entire new quantitative methods of </a:t>
            </a:r>
            <a:r>
              <a:rPr lang="en"/>
              <a:t>analyzing</a:t>
            </a:r>
            <a:r>
              <a:rPr lang="en"/>
              <a:t> economic systems, there are a few very obvious limitations that would be great to address in later developments. Firstly, as explained previously, the ECI metric uses products that an economy produces as a proxy for </a:t>
            </a:r>
            <a:r>
              <a:rPr lang="en"/>
              <a:t>knowledge. The more diverse personbytes of knowledge contained in an economy, the more complex the products an economy can produce. The problem is that tangible products are not the only outputs of a well developed economy. Services are often a large part of the export of a particular country however we do not have a good data source that includes the export of services. Thus we may be missing a large part of the capacity of an economy since we have no way of measuring the complexity that comes from non tangible products.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limitation of the framework is the design of the Mcp matrix. Remember the Mcp matrix defines whether a country has a relative comparative advantage in a matrix industry or not. In essence each entry is a binary variable. While this has nice interpretation in terms of adjacency matrices of a graph, it imposes restrictions on our analysis that could be avoided. In some sense whether or not a country is successfully engaging in a particular industry cannot be sufficiently reflected in a binary measure. We need to more informative measure to define a relative comparative advantage. However then we loose the interpretation of a 1 representing an edge between the country and product in our bipartite graph. Some mathematical analysis needs to be done to make this change commensurate with the ECI computation.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b96004fdc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b96004fdc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noted in the previous slide, converting the Mcp matrix into a continuous scale would in fact make our analysis much more expressive and allow us to squeeze more value out of the data that we are collecting. Again theoretically we are unsure if this is tractable but it is something that other teams have looked into. Most notably a recent </a:t>
            </a:r>
            <a:r>
              <a:rPr lang="en"/>
              <a:t>paper</a:t>
            </a:r>
            <a:r>
              <a:rPr lang="en"/>
              <a:t> on ECI+ seems to address the binary nature of the Mcp matrix.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throughout this analysis we have thought of countries as independent entities that are unaffected by the actions of other countries. This of course is a massive oversimplification. We believe that the biggest improvements to the ECI framework could be made if we were able to somehow incorporate the relationships between countries into our analysis to further understand how interactions between countries affect their ECI score. This type of augmentation could be useful in our greedy development strategy or our sensitivity analysis. In fact this may be an interesting application of game theory.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cd8acf9ef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cd8acf9ef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d4a749c834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d4a749c834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d4a749c834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d4a749c834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d4a749c834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d4a749c834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d4a749c834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d4a749c834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d4a749c834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d4a749c834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d4a749c834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d4a749c834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d4a749c834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d4a749c834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d4a749c834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d4a749c834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d4a749c834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d4a749c834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d4a749c834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d4a749c834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d4a749c834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d4a749c834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d4a749c834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d4a749c834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d4a749c834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d4a749c834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d4a749c834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d4a749c834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d4a749c834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d4a749c834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d4a749c834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d4a749c834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d4a749c834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d4a749c834_0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d4a749c834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d4a749c834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d4a749c834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d4a749c834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d4a749c834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d4a749c834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d4a749c834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d4a749c834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d4a749c834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d4a749c834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d4a749c834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d4a749c834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d4a749c834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d4a749c834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d4a749c834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d4a749c834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d4a749c834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d4a749c834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d4a749c834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d4a749c834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d4a749c834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d4a749c834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d4a749c834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d4a749c834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d4a749c834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d4a749c834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d4a749c834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d4a749c834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d4a749c834_0_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d4a749c834_0_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d4a749c834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d4a749c834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d4a749c834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d4a749c834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d4a749c834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d4a749c834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d4a749c834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d4a749c834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d4a749c834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d4a749c834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d4a749c834_0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d4a749c834_0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d4a749c834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d4a749c834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d4a749c834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d4a749c834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d4a749c834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d4a749c834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d4a749c834_0_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d4a749c834_0_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d4a749c834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d4a749c834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d4a749c834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d4a749c834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d4a749c834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d4a749c834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d4a749c834_0_1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d4a749c834_0_1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d4a749c834_0_1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d4a749c834_0_1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d4a749c834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d4a749c834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d4a749c834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d4a749c834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d4a749c834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d4a749c834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d4a749c834_0_1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d4a749c834_0_1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d4a749c834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d4a749c834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d4a749c834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d4a749c834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d4a749c834_0_1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d4a749c834_0_1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d4a749c834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d4a749c834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d4a749c834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d4a749c834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d4a749c834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d4a749c834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d4a749c834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d4a749c834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d4a749c834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d4a749c834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d4a749c834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d4a749c834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d4a749c834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d4a749c834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d4a749c834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d4a749c834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d4a749c834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d4a749c834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d4a749c834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d4a749c834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d4a749c834_0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d4a749c834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d4a749c834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d4a749c834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d4a749c834_0_1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d4a749c834_0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d4a749c834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d4a749c834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d4a749c834_0_1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d4a749c834_0_1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d4a749c834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d4a749c834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d4a749c834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d4a749c834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d4a749c834_0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d4a749c834_0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5bd54b558326d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25bd54b558326d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4a1cfc2c119f2a4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4a1cfc2c119f2a4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751feba8427f715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751feba8427f715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7d6b79961f5a63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7d6b79961f5a63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799db3f1b428b4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799db3f1b428b4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7f4636f16799ad5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7f4636f16799ad5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706af4f31f15603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706af4f31f1560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16038fff6c14f1cd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16038fff6c14f1cd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c37dc5fd03de4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c37dc5fd03de4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bdafdf86409bf9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bdafdf86409bf9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52bfc08027ccd93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52bfc08027ccd93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4d7a12954dcaa8b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4d7a12954dcaa8b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7c3b7d7e745c725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7c3b7d7e745c725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77262b4f63ee9d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77262b4f63ee9d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7c3b7d7e745c725c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7c3b7d7e745c725c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7c3b7d7e745c725c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7c3b7d7e745c725c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77262b4f63ee9d5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77262b4f63ee9d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7c3b7d7e745c725c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7c3b7d7e745c725c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7c3b7d7e745c725c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7c3b7d7e745c725c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7c3b7d7e745c725c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7c3b7d7e745c725c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d16f8453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d16f8453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d16f84531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d16f84531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d16f84531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d16f84531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d16f84531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d16f84531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d16f84531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d16f84531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d16f84531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d16f84531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d16f84531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d16f84531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d16f84531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d16f84531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gd16f845314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6" name="Google Shape;1426;gd16f845314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d6c83d4c27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d6c83d4c27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d6c83d4c2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8" name="Google Shape;1448;gd6c83d4c2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gd6c83d4c27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9" name="Google Shape;1459;gd6c83d4c27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d6c83d4c2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d6c83d4c2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d6c83d4c2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d6c83d4c2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d6c83d4c27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d6c83d4c2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d6c83d4c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d6c83d4c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d6c83d4c2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d6c83d4c2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d6c83d4c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d6c83d4c2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d6c83d4c2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4" name="Google Shape;1534;gd6c83d4c2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d6c83d4c2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6" name="Google Shape;1546;gd6c83d4c2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d6c83d4c2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d6c83d4c2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d6c83d4c2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gd6c83d4c2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d6c83d4c2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d6c83d4c2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d6c83d4c2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gd6c83d4c2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109ffdb32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0" name="Google Shape;1600;g109ffdb32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g109ffdb324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7" name="Google Shape;1617;g109ffdb324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109ffdb324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2" name="Google Shape;1632;g109ffdb324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109ffdb324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0" name="Google Shape;1650;g109ffdb324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109ffdb3242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109ffdb3242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109ffdb3242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109ffdb3242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2.jpg"/><Relationship Id="rId4" Type="http://schemas.openxmlformats.org/officeDocument/2006/relationships/image" Target="../media/image3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kachanilab.ieor.columbia.edu/" TargetMode="Externa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50.png"/><Relationship Id="rId4" Type="http://schemas.openxmlformats.org/officeDocument/2006/relationships/image" Target="../media/image41.png"/><Relationship Id="rId5"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5.png"/><Relationship Id="rId4" Type="http://schemas.openxmlformats.org/officeDocument/2006/relationships/image" Target="../media/image39.png"/><Relationship Id="rId5"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35.jpg"/><Relationship Id="rId4" Type="http://schemas.openxmlformats.org/officeDocument/2006/relationships/image" Target="../media/image37.jpg"/><Relationship Id="rId5"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57.png"/><Relationship Id="rId4" Type="http://schemas.openxmlformats.org/officeDocument/2006/relationships/image" Target="../media/image34.png"/><Relationship Id="rId5"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9.png"/><Relationship Id="rId4" Type="http://schemas.openxmlformats.org/officeDocument/2006/relationships/image" Target="../media/image46.png"/><Relationship Id="rId5" Type="http://schemas.openxmlformats.org/officeDocument/2006/relationships/image" Target="../media/image4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55.jpg"/><Relationship Id="rId4" Type="http://schemas.openxmlformats.org/officeDocument/2006/relationships/image" Target="../media/image51.jpg"/><Relationship Id="rId5"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61.png"/><Relationship Id="rId4" Type="http://schemas.openxmlformats.org/officeDocument/2006/relationships/image" Target="../media/image44.png"/><Relationship Id="rId5" Type="http://schemas.openxmlformats.org/officeDocument/2006/relationships/image" Target="../media/image7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67.png"/><Relationship Id="rId4" Type="http://schemas.openxmlformats.org/officeDocument/2006/relationships/image" Target="../media/image65.png"/><Relationship Id="rId5" Type="http://schemas.openxmlformats.org/officeDocument/2006/relationships/image" Target="../media/image5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53.jpg"/><Relationship Id="rId4" Type="http://schemas.openxmlformats.org/officeDocument/2006/relationships/image" Target="../media/image52.jpg"/><Relationship Id="rId5"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66.png"/><Relationship Id="rId4" Type="http://schemas.openxmlformats.org/officeDocument/2006/relationships/image" Target="../media/image59.png"/><Relationship Id="rId5" Type="http://schemas.openxmlformats.org/officeDocument/2006/relationships/image" Target="../media/image7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64.png"/><Relationship Id="rId4" Type="http://schemas.openxmlformats.org/officeDocument/2006/relationships/image" Target="../media/image60.png"/><Relationship Id="rId5" Type="http://schemas.openxmlformats.org/officeDocument/2006/relationships/image" Target="../media/image7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63.jpg"/><Relationship Id="rId4" Type="http://schemas.openxmlformats.org/officeDocument/2006/relationships/image" Target="../media/image69.jpg"/><Relationship Id="rId5" Type="http://schemas.openxmlformats.org/officeDocument/2006/relationships/image" Target="../media/image6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57.png"/><Relationship Id="rId4" Type="http://schemas.openxmlformats.org/officeDocument/2006/relationships/image" Target="../media/image68.png"/><Relationship Id="rId5" Type="http://schemas.openxmlformats.org/officeDocument/2006/relationships/image" Target="../media/image8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71.png"/><Relationship Id="rId4" Type="http://schemas.openxmlformats.org/officeDocument/2006/relationships/image" Target="../media/image78.png"/><Relationship Id="rId5" Type="http://schemas.openxmlformats.org/officeDocument/2006/relationships/image" Target="../media/image7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70.jpg"/><Relationship Id="rId4" Type="http://schemas.openxmlformats.org/officeDocument/2006/relationships/image" Target="../media/image72.jpg"/><Relationship Id="rId5" Type="http://schemas.openxmlformats.org/officeDocument/2006/relationships/image" Target="../media/image7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57.png"/><Relationship Id="rId4" Type="http://schemas.openxmlformats.org/officeDocument/2006/relationships/image" Target="../media/image79.png"/><Relationship Id="rId5" Type="http://schemas.openxmlformats.org/officeDocument/2006/relationships/image" Target="../media/image8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84.png"/><Relationship Id="rId4" Type="http://schemas.openxmlformats.org/officeDocument/2006/relationships/image" Target="../media/image81.png"/><Relationship Id="rId5" Type="http://schemas.openxmlformats.org/officeDocument/2006/relationships/image" Target="../media/image8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88.jpg"/><Relationship Id="rId4" Type="http://schemas.openxmlformats.org/officeDocument/2006/relationships/image" Target="../media/image82.jpg"/><Relationship Id="rId5" Type="http://schemas.openxmlformats.org/officeDocument/2006/relationships/image" Target="../media/image8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06.png"/><Relationship Id="rId4" Type="http://schemas.openxmlformats.org/officeDocument/2006/relationships/image" Target="../media/image89.png"/><Relationship Id="rId5" Type="http://schemas.openxmlformats.org/officeDocument/2006/relationships/image" Target="../media/image10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91.png"/><Relationship Id="rId4" Type="http://schemas.openxmlformats.org/officeDocument/2006/relationships/image" Target="../media/image95.png"/><Relationship Id="rId5" Type="http://schemas.openxmlformats.org/officeDocument/2006/relationships/image" Target="../media/image86.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85.jpg"/><Relationship Id="rId4" Type="http://schemas.openxmlformats.org/officeDocument/2006/relationships/image" Target="../media/image90.jpg"/><Relationship Id="rId5" Type="http://schemas.openxmlformats.org/officeDocument/2006/relationships/image" Target="../media/image9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13.png"/><Relationship Id="rId4" Type="http://schemas.openxmlformats.org/officeDocument/2006/relationships/image" Target="../media/image93.png"/><Relationship Id="rId5" Type="http://schemas.openxmlformats.org/officeDocument/2006/relationships/image" Target="../media/image10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102.png"/><Relationship Id="rId4" Type="http://schemas.openxmlformats.org/officeDocument/2006/relationships/image" Target="../media/image104.png"/><Relationship Id="rId5" Type="http://schemas.openxmlformats.org/officeDocument/2006/relationships/image" Target="../media/image9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99.jpg"/><Relationship Id="rId4" Type="http://schemas.openxmlformats.org/officeDocument/2006/relationships/image" Target="../media/image108.jpg"/><Relationship Id="rId5" Type="http://schemas.openxmlformats.org/officeDocument/2006/relationships/image" Target="../media/image9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06.png"/><Relationship Id="rId4" Type="http://schemas.openxmlformats.org/officeDocument/2006/relationships/image" Target="../media/image94.png"/><Relationship Id="rId5" Type="http://schemas.openxmlformats.org/officeDocument/2006/relationships/image" Target="../media/image10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109.png"/><Relationship Id="rId4" Type="http://schemas.openxmlformats.org/officeDocument/2006/relationships/image" Target="../media/image98.png"/><Relationship Id="rId5" Type="http://schemas.openxmlformats.org/officeDocument/2006/relationships/image" Target="../media/image10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105.jpg"/><Relationship Id="rId4" Type="http://schemas.openxmlformats.org/officeDocument/2006/relationships/image" Target="../media/image101.jpg"/><Relationship Id="rId5" Type="http://schemas.openxmlformats.org/officeDocument/2006/relationships/image" Target="../media/image1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57.png"/><Relationship Id="rId4" Type="http://schemas.openxmlformats.org/officeDocument/2006/relationships/image" Target="../media/image130.png"/><Relationship Id="rId5" Type="http://schemas.openxmlformats.org/officeDocument/2006/relationships/image" Target="../media/image8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14.png"/><Relationship Id="rId4" Type="http://schemas.openxmlformats.org/officeDocument/2006/relationships/image" Target="../media/image116.png"/><Relationship Id="rId5" Type="http://schemas.openxmlformats.org/officeDocument/2006/relationships/image" Target="../media/image110.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15.jpg"/><Relationship Id="rId4" Type="http://schemas.openxmlformats.org/officeDocument/2006/relationships/image" Target="../media/image111.jpg"/><Relationship Id="rId5" Type="http://schemas.openxmlformats.org/officeDocument/2006/relationships/image" Target="../media/image1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50.png"/><Relationship Id="rId4" Type="http://schemas.openxmlformats.org/officeDocument/2006/relationships/image" Target="../media/image112.png"/><Relationship Id="rId5"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17.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122.jpg"/><Relationship Id="rId4" Type="http://schemas.openxmlformats.org/officeDocument/2006/relationships/image" Target="../media/image118.jpg"/><Relationship Id="rId5" Type="http://schemas.openxmlformats.org/officeDocument/2006/relationships/image" Target="../media/image11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61.png"/><Relationship Id="rId4" Type="http://schemas.openxmlformats.org/officeDocument/2006/relationships/image" Target="../media/image132.png"/><Relationship Id="rId5" Type="http://schemas.openxmlformats.org/officeDocument/2006/relationships/image" Target="../media/image4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137.png"/><Relationship Id="rId4" Type="http://schemas.openxmlformats.org/officeDocument/2006/relationships/image" Target="../media/image131.png"/><Relationship Id="rId5" Type="http://schemas.openxmlformats.org/officeDocument/2006/relationships/image" Target="../media/image12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120.jpg"/><Relationship Id="rId4" Type="http://schemas.openxmlformats.org/officeDocument/2006/relationships/image" Target="../media/image123.jpg"/><Relationship Id="rId5" Type="http://schemas.openxmlformats.org/officeDocument/2006/relationships/image" Target="../media/image1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148.png"/><Relationship Id="rId4" Type="http://schemas.openxmlformats.org/officeDocument/2006/relationships/image" Target="../media/image133.png"/><Relationship Id="rId5" Type="http://schemas.openxmlformats.org/officeDocument/2006/relationships/image" Target="../media/image1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146.png"/><Relationship Id="rId4" Type="http://schemas.openxmlformats.org/officeDocument/2006/relationships/image" Target="../media/image141.png"/><Relationship Id="rId5" Type="http://schemas.openxmlformats.org/officeDocument/2006/relationships/image" Target="../media/image138.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129.jpg"/><Relationship Id="rId4" Type="http://schemas.openxmlformats.org/officeDocument/2006/relationships/image" Target="../media/image135.jpg"/><Relationship Id="rId5" Type="http://schemas.openxmlformats.org/officeDocument/2006/relationships/image" Target="../media/image14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106.png"/><Relationship Id="rId4" Type="http://schemas.openxmlformats.org/officeDocument/2006/relationships/image" Target="../media/image140.png"/><Relationship Id="rId5" Type="http://schemas.openxmlformats.org/officeDocument/2006/relationships/image" Target="../media/image10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147.png"/><Relationship Id="rId4" Type="http://schemas.openxmlformats.org/officeDocument/2006/relationships/image" Target="../media/image150.png"/><Relationship Id="rId5" Type="http://schemas.openxmlformats.org/officeDocument/2006/relationships/image" Target="../media/image134.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142.jpg"/><Relationship Id="rId4" Type="http://schemas.openxmlformats.org/officeDocument/2006/relationships/image" Target="../media/image139.jpg"/><Relationship Id="rId5" Type="http://schemas.openxmlformats.org/officeDocument/2006/relationships/image" Target="../media/image14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 Id="rId3" Type="http://schemas.openxmlformats.org/officeDocument/2006/relationships/image" Target="../media/image106.png"/><Relationship Id="rId4" Type="http://schemas.openxmlformats.org/officeDocument/2006/relationships/image" Target="../media/image145.png"/><Relationship Id="rId5" Type="http://schemas.openxmlformats.org/officeDocument/2006/relationships/image" Target="../media/image10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163.png"/><Relationship Id="rId4" Type="http://schemas.openxmlformats.org/officeDocument/2006/relationships/image" Target="../media/image157.png"/><Relationship Id="rId5" Type="http://schemas.openxmlformats.org/officeDocument/2006/relationships/image" Target="../media/image154.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149.jpg"/><Relationship Id="rId4" Type="http://schemas.openxmlformats.org/officeDocument/2006/relationships/image" Target="../media/image160.jpg"/><Relationship Id="rId5" Type="http://schemas.openxmlformats.org/officeDocument/2006/relationships/image" Target="../media/image16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61.png"/><Relationship Id="rId4" Type="http://schemas.openxmlformats.org/officeDocument/2006/relationships/image" Target="../media/image152.png"/><Relationship Id="rId5" Type="http://schemas.openxmlformats.org/officeDocument/2006/relationships/image" Target="../media/image7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 Id="rId3" Type="http://schemas.openxmlformats.org/officeDocument/2006/relationships/image" Target="../media/image165.png"/><Relationship Id="rId4" Type="http://schemas.openxmlformats.org/officeDocument/2006/relationships/image" Target="../media/image158.png"/><Relationship Id="rId5" Type="http://schemas.openxmlformats.org/officeDocument/2006/relationships/image" Target="../media/image153.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 Id="rId3" Type="http://schemas.openxmlformats.org/officeDocument/2006/relationships/image" Target="../media/image159.jpg"/><Relationship Id="rId4" Type="http://schemas.openxmlformats.org/officeDocument/2006/relationships/image" Target="../media/image181.jpg"/><Relationship Id="rId5" Type="http://schemas.openxmlformats.org/officeDocument/2006/relationships/image" Target="../media/image15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113.png"/><Relationship Id="rId4" Type="http://schemas.openxmlformats.org/officeDocument/2006/relationships/image" Target="../media/image155.png"/><Relationship Id="rId5" Type="http://schemas.openxmlformats.org/officeDocument/2006/relationships/image" Target="../media/image10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 Id="rId3" Type="http://schemas.openxmlformats.org/officeDocument/2006/relationships/image" Target="../media/image173.png"/><Relationship Id="rId4" Type="http://schemas.openxmlformats.org/officeDocument/2006/relationships/image" Target="../media/image168.png"/><Relationship Id="rId5" Type="http://schemas.openxmlformats.org/officeDocument/2006/relationships/image" Target="../media/image170.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 Id="rId3" Type="http://schemas.openxmlformats.org/officeDocument/2006/relationships/image" Target="../media/image162.jpg"/><Relationship Id="rId4" Type="http://schemas.openxmlformats.org/officeDocument/2006/relationships/image" Target="../media/image171.jpg"/><Relationship Id="rId5" Type="http://schemas.openxmlformats.org/officeDocument/2006/relationships/image" Target="../media/image16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66.png"/><Relationship Id="rId4" Type="http://schemas.openxmlformats.org/officeDocument/2006/relationships/image" Target="../media/image164.png"/><Relationship Id="rId5" Type="http://schemas.openxmlformats.org/officeDocument/2006/relationships/image" Target="../media/image7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 Id="rId3" Type="http://schemas.openxmlformats.org/officeDocument/2006/relationships/image" Target="../media/image183.png"/><Relationship Id="rId4" Type="http://schemas.openxmlformats.org/officeDocument/2006/relationships/image" Target="../media/image172.png"/><Relationship Id="rId5" Type="http://schemas.openxmlformats.org/officeDocument/2006/relationships/image" Target="../media/image184.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 Id="rId3" Type="http://schemas.openxmlformats.org/officeDocument/2006/relationships/image" Target="../media/image177.jpg"/><Relationship Id="rId4" Type="http://schemas.openxmlformats.org/officeDocument/2006/relationships/image" Target="../media/image169.jpg"/><Relationship Id="rId5" Type="http://schemas.openxmlformats.org/officeDocument/2006/relationships/image" Target="../media/image16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50.png"/><Relationship Id="rId4" Type="http://schemas.openxmlformats.org/officeDocument/2006/relationships/image" Target="../media/image180.png"/><Relationship Id="rId5" Type="http://schemas.openxmlformats.org/officeDocument/2006/relationships/image" Target="../media/image4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 Id="rId3" Type="http://schemas.openxmlformats.org/officeDocument/2006/relationships/image" Target="../media/image189.png"/><Relationship Id="rId4" Type="http://schemas.openxmlformats.org/officeDocument/2006/relationships/image" Target="../media/image185.png"/><Relationship Id="rId5" Type="http://schemas.openxmlformats.org/officeDocument/2006/relationships/image" Target="../media/image175.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178.jpg"/><Relationship Id="rId4" Type="http://schemas.openxmlformats.org/officeDocument/2006/relationships/image" Target="../media/image174.jpg"/><Relationship Id="rId5" Type="http://schemas.openxmlformats.org/officeDocument/2006/relationships/image" Target="../media/image17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220.png"/><Relationship Id="rId4" Type="http://schemas.openxmlformats.org/officeDocument/2006/relationships/image" Target="../media/image176.png"/><Relationship Id="rId5" Type="http://schemas.openxmlformats.org/officeDocument/2006/relationships/image" Target="../media/image19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188.png"/><Relationship Id="rId4" Type="http://schemas.openxmlformats.org/officeDocument/2006/relationships/image" Target="../media/image192.png"/><Relationship Id="rId5" Type="http://schemas.openxmlformats.org/officeDocument/2006/relationships/image" Target="../media/image186.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182.jpg"/><Relationship Id="rId4" Type="http://schemas.openxmlformats.org/officeDocument/2006/relationships/image" Target="../media/image193.jpg"/><Relationship Id="rId5" Type="http://schemas.openxmlformats.org/officeDocument/2006/relationships/image" Target="../media/image19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113.png"/><Relationship Id="rId4" Type="http://schemas.openxmlformats.org/officeDocument/2006/relationships/image" Target="../media/image194.png"/><Relationship Id="rId5" Type="http://schemas.openxmlformats.org/officeDocument/2006/relationships/image" Target="../media/image10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195.png"/><Relationship Id="rId4" Type="http://schemas.openxmlformats.org/officeDocument/2006/relationships/image" Target="../media/image196.png"/><Relationship Id="rId5" Type="http://schemas.openxmlformats.org/officeDocument/2006/relationships/image" Target="../media/image217.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 Id="rId3" Type="http://schemas.openxmlformats.org/officeDocument/2006/relationships/image" Target="../media/image187.jpg"/><Relationship Id="rId4" Type="http://schemas.openxmlformats.org/officeDocument/2006/relationships/image" Target="../media/image191.jpg"/><Relationship Id="rId5" Type="http://schemas.openxmlformats.org/officeDocument/2006/relationships/image" Target="../media/image20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 Id="rId3" Type="http://schemas.openxmlformats.org/officeDocument/2006/relationships/image" Target="../media/image220.png"/><Relationship Id="rId4" Type="http://schemas.openxmlformats.org/officeDocument/2006/relationships/image" Target="../media/image204.png"/><Relationship Id="rId5" Type="http://schemas.openxmlformats.org/officeDocument/2006/relationships/image" Target="../media/image19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 Id="rId3" Type="http://schemas.openxmlformats.org/officeDocument/2006/relationships/image" Target="../media/image197.png"/><Relationship Id="rId4" Type="http://schemas.openxmlformats.org/officeDocument/2006/relationships/image" Target="../media/image198.png"/><Relationship Id="rId5" Type="http://schemas.openxmlformats.org/officeDocument/2006/relationships/image" Target="../media/image20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 Id="rId3" Type="http://schemas.openxmlformats.org/officeDocument/2006/relationships/image" Target="../media/image206.jpg"/><Relationship Id="rId4" Type="http://schemas.openxmlformats.org/officeDocument/2006/relationships/image" Target="../media/image210.jpg"/><Relationship Id="rId5" Type="http://schemas.openxmlformats.org/officeDocument/2006/relationships/image" Target="../media/image20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 Id="rId3" Type="http://schemas.openxmlformats.org/officeDocument/2006/relationships/image" Target="../media/image50.png"/><Relationship Id="rId4" Type="http://schemas.openxmlformats.org/officeDocument/2006/relationships/image" Target="../media/image205.png"/><Relationship Id="rId5" Type="http://schemas.openxmlformats.org/officeDocument/2006/relationships/image" Target="../media/image4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 Id="rId3" Type="http://schemas.openxmlformats.org/officeDocument/2006/relationships/image" Target="../media/image207.png"/><Relationship Id="rId4" Type="http://schemas.openxmlformats.org/officeDocument/2006/relationships/image" Target="../media/image212.png"/><Relationship Id="rId5" Type="http://schemas.openxmlformats.org/officeDocument/2006/relationships/image" Target="../media/image214.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 Id="rId3" Type="http://schemas.openxmlformats.org/officeDocument/2006/relationships/image" Target="../media/image208.jpg"/><Relationship Id="rId4" Type="http://schemas.openxmlformats.org/officeDocument/2006/relationships/image" Target="../media/image203.jpg"/><Relationship Id="rId5" Type="http://schemas.openxmlformats.org/officeDocument/2006/relationships/image" Target="../media/image20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 Id="rId3" Type="http://schemas.openxmlformats.org/officeDocument/2006/relationships/image" Target="../media/image57.png"/><Relationship Id="rId4" Type="http://schemas.openxmlformats.org/officeDocument/2006/relationships/image" Target="../media/image211.png"/><Relationship Id="rId5" Type="http://schemas.openxmlformats.org/officeDocument/2006/relationships/image" Target="../media/image80.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 Id="rId3" Type="http://schemas.openxmlformats.org/officeDocument/2006/relationships/image" Target="../media/image219.png"/><Relationship Id="rId4" Type="http://schemas.openxmlformats.org/officeDocument/2006/relationships/image" Target="../media/image230.png"/><Relationship Id="rId5" Type="http://schemas.openxmlformats.org/officeDocument/2006/relationships/image" Target="../media/image229.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 Id="rId3" Type="http://schemas.openxmlformats.org/officeDocument/2006/relationships/image" Target="../media/image31.jpg"/><Relationship Id="rId4" Type="http://schemas.openxmlformats.org/officeDocument/2006/relationships/image" Target="../media/image222.jpg"/><Relationship Id="rId5" Type="http://schemas.openxmlformats.org/officeDocument/2006/relationships/image" Target="../media/image21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213.png"/><Relationship Id="rId4" Type="http://schemas.openxmlformats.org/officeDocument/2006/relationships/image" Target="../media/image216.png"/><Relationship Id="rId5" Type="http://schemas.openxmlformats.org/officeDocument/2006/relationships/image" Target="../media/image218.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221.png"/><Relationship Id="rId4" Type="http://schemas.openxmlformats.org/officeDocument/2006/relationships/image" Target="../media/image223.png"/><Relationship Id="rId5" Type="http://schemas.openxmlformats.org/officeDocument/2006/relationships/image" Target="../media/image232.png"/><Relationship Id="rId6" Type="http://schemas.openxmlformats.org/officeDocument/2006/relationships/image" Target="../media/image3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228.jpg"/><Relationship Id="rId4" Type="http://schemas.openxmlformats.org/officeDocument/2006/relationships/image" Target="../media/image224.jpg"/><Relationship Id="rId5" Type="http://schemas.openxmlformats.org/officeDocument/2006/relationships/image" Target="../media/image26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225.png"/><Relationship Id="rId4" Type="http://schemas.openxmlformats.org/officeDocument/2006/relationships/image" Target="../media/image231.png"/><Relationship Id="rId5" Type="http://schemas.openxmlformats.org/officeDocument/2006/relationships/image" Target="../media/image235.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247.png"/><Relationship Id="rId4" Type="http://schemas.openxmlformats.org/officeDocument/2006/relationships/image" Target="../media/image238.png"/><Relationship Id="rId5" Type="http://schemas.openxmlformats.org/officeDocument/2006/relationships/image" Target="../media/image23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233.jpg"/><Relationship Id="rId4" Type="http://schemas.openxmlformats.org/officeDocument/2006/relationships/image" Target="../media/image244.jpg"/><Relationship Id="rId5" Type="http://schemas.openxmlformats.org/officeDocument/2006/relationships/image" Target="../media/image26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236.png"/><Relationship Id="rId4" Type="http://schemas.openxmlformats.org/officeDocument/2006/relationships/image" Target="../media/image237.png"/><Relationship Id="rId5" Type="http://schemas.openxmlformats.org/officeDocument/2006/relationships/image" Target="../media/image241.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39.png"/><Relationship Id="rId4" Type="http://schemas.openxmlformats.org/officeDocument/2006/relationships/image" Target="../media/image249.png"/><Relationship Id="rId5" Type="http://schemas.openxmlformats.org/officeDocument/2006/relationships/image" Target="../media/image250.png"/><Relationship Id="rId6" Type="http://schemas.openxmlformats.org/officeDocument/2006/relationships/image" Target="../media/image25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246.jpg"/><Relationship Id="rId4" Type="http://schemas.openxmlformats.org/officeDocument/2006/relationships/image" Target="../media/image243.jpg"/><Relationship Id="rId5" Type="http://schemas.openxmlformats.org/officeDocument/2006/relationships/image" Target="../media/image27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241.jpg"/><Relationship Id="rId4" Type="http://schemas.openxmlformats.org/officeDocument/2006/relationships/image" Target="../media/image242.png"/><Relationship Id="rId5" Type="http://schemas.openxmlformats.org/officeDocument/2006/relationships/image" Target="../media/image245.png"/><Relationship Id="rId6" Type="http://schemas.openxmlformats.org/officeDocument/2006/relationships/image" Target="../media/image248.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9.png"/><Relationship Id="rId4" Type="http://schemas.openxmlformats.org/officeDocument/2006/relationships/image" Target="../media/image256.png"/><Relationship Id="rId5" Type="http://schemas.openxmlformats.org/officeDocument/2006/relationships/image" Target="../media/image253.png"/><Relationship Id="rId6" Type="http://schemas.openxmlformats.org/officeDocument/2006/relationships/image" Target="../media/image28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255.jpg"/><Relationship Id="rId4" Type="http://schemas.openxmlformats.org/officeDocument/2006/relationships/image" Target="../media/image258.jpg"/><Relationship Id="rId5" Type="http://schemas.openxmlformats.org/officeDocument/2006/relationships/image" Target="../media/image29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41.jpg"/><Relationship Id="rId4" Type="http://schemas.openxmlformats.org/officeDocument/2006/relationships/image" Target="../media/image252.png"/><Relationship Id="rId5" Type="http://schemas.openxmlformats.org/officeDocument/2006/relationships/image" Target="../media/image259.png"/><Relationship Id="rId6" Type="http://schemas.openxmlformats.org/officeDocument/2006/relationships/image" Target="../media/image257.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241.jpg"/><Relationship Id="rId4" Type="http://schemas.openxmlformats.org/officeDocument/2006/relationships/image" Target="../media/image261.png"/><Relationship Id="rId5" Type="http://schemas.openxmlformats.org/officeDocument/2006/relationships/image" Target="../media/image259.png"/><Relationship Id="rId6" Type="http://schemas.openxmlformats.org/officeDocument/2006/relationships/image" Target="../media/image26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39.png"/><Relationship Id="rId4" Type="http://schemas.openxmlformats.org/officeDocument/2006/relationships/image" Target="../media/image265.png"/><Relationship Id="rId5" Type="http://schemas.openxmlformats.org/officeDocument/2006/relationships/image" Target="../media/image262.png"/><Relationship Id="rId6" Type="http://schemas.openxmlformats.org/officeDocument/2006/relationships/image" Target="../media/image27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263.jpg"/><Relationship Id="rId4" Type="http://schemas.openxmlformats.org/officeDocument/2006/relationships/image" Target="../media/image264.jpg"/><Relationship Id="rId5" Type="http://schemas.openxmlformats.org/officeDocument/2006/relationships/image" Target="../media/image30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274.png"/><Relationship Id="rId4" Type="http://schemas.openxmlformats.org/officeDocument/2006/relationships/image" Target="../media/image282.png"/><Relationship Id="rId5" Type="http://schemas.openxmlformats.org/officeDocument/2006/relationships/image" Target="../media/image280.png"/><Relationship Id="rId6" Type="http://schemas.openxmlformats.org/officeDocument/2006/relationships/image" Target="../media/image28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241.jpg"/><Relationship Id="rId4" Type="http://schemas.openxmlformats.org/officeDocument/2006/relationships/image" Target="../media/image269.png"/><Relationship Id="rId5" Type="http://schemas.openxmlformats.org/officeDocument/2006/relationships/image" Target="../media/image271.png"/><Relationship Id="rId6" Type="http://schemas.openxmlformats.org/officeDocument/2006/relationships/image" Target="../media/image270.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9.png"/><Relationship Id="rId4" Type="http://schemas.openxmlformats.org/officeDocument/2006/relationships/image" Target="../media/image293.png"/><Relationship Id="rId5" Type="http://schemas.openxmlformats.org/officeDocument/2006/relationships/image" Target="../media/image277.png"/><Relationship Id="rId6" Type="http://schemas.openxmlformats.org/officeDocument/2006/relationships/image" Target="../media/image28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272.jpg"/><Relationship Id="rId4" Type="http://schemas.openxmlformats.org/officeDocument/2006/relationships/image" Target="../media/image275.jpg"/><Relationship Id="rId5" Type="http://schemas.openxmlformats.org/officeDocument/2006/relationships/image" Target="../media/image33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241.jpg"/><Relationship Id="rId4" Type="http://schemas.openxmlformats.org/officeDocument/2006/relationships/image" Target="../media/image281.jpg"/><Relationship Id="rId5" Type="http://schemas.openxmlformats.org/officeDocument/2006/relationships/image" Target="../media/image276.jpg"/><Relationship Id="rId6" Type="http://schemas.openxmlformats.org/officeDocument/2006/relationships/image" Target="../media/image278.jpg"/><Relationship Id="rId7" Type="http://schemas.openxmlformats.org/officeDocument/2006/relationships/image" Target="../media/image291.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39.png"/><Relationship Id="rId4" Type="http://schemas.openxmlformats.org/officeDocument/2006/relationships/image" Target="../media/image307.jpg"/><Relationship Id="rId5" Type="http://schemas.openxmlformats.org/officeDocument/2006/relationships/image" Target="../media/image289.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284.jpg"/><Relationship Id="rId4" Type="http://schemas.openxmlformats.org/officeDocument/2006/relationships/image" Target="../media/image302.jpg"/><Relationship Id="rId5" Type="http://schemas.openxmlformats.org/officeDocument/2006/relationships/image" Target="../media/image286.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241.jpg"/><Relationship Id="rId4" Type="http://schemas.openxmlformats.org/officeDocument/2006/relationships/image" Target="../media/image292.jpg"/><Relationship Id="rId5" Type="http://schemas.openxmlformats.org/officeDocument/2006/relationships/image" Target="../media/image290.jpg"/><Relationship Id="rId6" Type="http://schemas.openxmlformats.org/officeDocument/2006/relationships/image" Target="../media/image297.jpg"/><Relationship Id="rId7" Type="http://schemas.openxmlformats.org/officeDocument/2006/relationships/image" Target="../media/image288.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296.jpg"/><Relationship Id="rId4" Type="http://schemas.openxmlformats.org/officeDocument/2006/relationships/image" Target="../media/image300.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309.jpg"/><Relationship Id="rId4" Type="http://schemas.openxmlformats.org/officeDocument/2006/relationships/image" Target="../media/image295.jpg"/><Relationship Id="rId5" Type="http://schemas.openxmlformats.org/officeDocument/2006/relationships/image" Target="../media/image299.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241.jpg"/><Relationship Id="rId4" Type="http://schemas.openxmlformats.org/officeDocument/2006/relationships/image" Target="../media/image304.png"/><Relationship Id="rId5" Type="http://schemas.openxmlformats.org/officeDocument/2006/relationships/image" Target="../media/image298.png"/><Relationship Id="rId6" Type="http://schemas.openxmlformats.org/officeDocument/2006/relationships/image" Target="../media/image306.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39.png"/><Relationship Id="rId4" Type="http://schemas.openxmlformats.org/officeDocument/2006/relationships/image" Target="../media/image317.png"/><Relationship Id="rId5" Type="http://schemas.openxmlformats.org/officeDocument/2006/relationships/image" Target="../media/image311.png"/><Relationship Id="rId6" Type="http://schemas.openxmlformats.org/officeDocument/2006/relationships/image" Target="../media/image31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03.jpg"/><Relationship Id="rId4" Type="http://schemas.openxmlformats.org/officeDocument/2006/relationships/image" Target="../media/image305.jpg"/><Relationship Id="rId5" Type="http://schemas.openxmlformats.org/officeDocument/2006/relationships/image" Target="../media/image33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315.jpg"/><Relationship Id="rId4" Type="http://schemas.openxmlformats.org/officeDocument/2006/relationships/image" Target="../media/image301.png"/><Relationship Id="rId5" Type="http://schemas.openxmlformats.org/officeDocument/2006/relationships/image" Target="../media/image313.png"/><Relationship Id="rId6" Type="http://schemas.openxmlformats.org/officeDocument/2006/relationships/image" Target="../media/image310.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39.png"/><Relationship Id="rId4" Type="http://schemas.openxmlformats.org/officeDocument/2006/relationships/image" Target="../media/image321.png"/><Relationship Id="rId5" Type="http://schemas.openxmlformats.org/officeDocument/2006/relationships/image" Target="../media/image319.png"/><Relationship Id="rId6" Type="http://schemas.openxmlformats.org/officeDocument/2006/relationships/image" Target="../media/image33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316.jpg"/><Relationship Id="rId4" Type="http://schemas.openxmlformats.org/officeDocument/2006/relationships/image" Target="../media/image314.jpg"/><Relationship Id="rId5" Type="http://schemas.openxmlformats.org/officeDocument/2006/relationships/image" Target="../media/image36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315.jpg"/><Relationship Id="rId4" Type="http://schemas.openxmlformats.org/officeDocument/2006/relationships/image" Target="../media/image322.png"/><Relationship Id="rId5" Type="http://schemas.openxmlformats.org/officeDocument/2006/relationships/image" Target="../media/image318.png"/><Relationship Id="rId6" Type="http://schemas.openxmlformats.org/officeDocument/2006/relationships/image" Target="../media/image329.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39.png"/><Relationship Id="rId4" Type="http://schemas.openxmlformats.org/officeDocument/2006/relationships/image" Target="../media/image328.png"/><Relationship Id="rId5" Type="http://schemas.openxmlformats.org/officeDocument/2006/relationships/image" Target="../media/image324.png"/><Relationship Id="rId6" Type="http://schemas.openxmlformats.org/officeDocument/2006/relationships/image" Target="../media/image35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323.jpg"/><Relationship Id="rId4" Type="http://schemas.openxmlformats.org/officeDocument/2006/relationships/image" Target="../media/image336.jpg"/><Relationship Id="rId5" Type="http://schemas.openxmlformats.org/officeDocument/2006/relationships/image" Target="../media/image35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315.jpg"/><Relationship Id="rId4" Type="http://schemas.openxmlformats.org/officeDocument/2006/relationships/image" Target="../media/image331.png"/><Relationship Id="rId5" Type="http://schemas.openxmlformats.org/officeDocument/2006/relationships/image" Target="../media/image326.png"/><Relationship Id="rId6" Type="http://schemas.openxmlformats.org/officeDocument/2006/relationships/image" Target="../media/image320.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330.png"/><Relationship Id="rId4" Type="http://schemas.openxmlformats.org/officeDocument/2006/relationships/image" Target="../media/image357.png"/><Relationship Id="rId5" Type="http://schemas.openxmlformats.org/officeDocument/2006/relationships/image" Target="../media/image340.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332.jpg"/><Relationship Id="rId4" Type="http://schemas.openxmlformats.org/officeDocument/2006/relationships/image" Target="../media/image343.jpg"/><Relationship Id="rId5" Type="http://schemas.openxmlformats.org/officeDocument/2006/relationships/image" Target="../media/image376.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315.jpg"/><Relationship Id="rId4" Type="http://schemas.openxmlformats.org/officeDocument/2006/relationships/image" Target="../media/image236.png"/><Relationship Id="rId5" Type="http://schemas.openxmlformats.org/officeDocument/2006/relationships/image" Target="../media/image237.png"/><Relationship Id="rId6" Type="http://schemas.openxmlformats.org/officeDocument/2006/relationships/image" Target="../media/image338.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39.png"/><Relationship Id="rId4" Type="http://schemas.openxmlformats.org/officeDocument/2006/relationships/image" Target="../media/image342.png"/><Relationship Id="rId5" Type="http://schemas.openxmlformats.org/officeDocument/2006/relationships/image" Target="../media/image347.png"/><Relationship Id="rId6" Type="http://schemas.openxmlformats.org/officeDocument/2006/relationships/image" Target="../media/image34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344.jpg"/><Relationship Id="rId4" Type="http://schemas.openxmlformats.org/officeDocument/2006/relationships/image" Target="../media/image335.jpg"/><Relationship Id="rId5" Type="http://schemas.openxmlformats.org/officeDocument/2006/relationships/image" Target="../media/image370.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337.png"/><Relationship Id="rId4" Type="http://schemas.openxmlformats.org/officeDocument/2006/relationships/image" Target="../media/image348.png"/><Relationship Id="rId5" Type="http://schemas.openxmlformats.org/officeDocument/2006/relationships/image" Target="../media/image315.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39.png"/><Relationship Id="rId4" Type="http://schemas.openxmlformats.org/officeDocument/2006/relationships/image" Target="../media/image346.png"/><Relationship Id="rId5" Type="http://schemas.openxmlformats.org/officeDocument/2006/relationships/image" Target="../media/image361.png"/><Relationship Id="rId6" Type="http://schemas.openxmlformats.org/officeDocument/2006/relationships/image" Target="../media/image36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366.jpg"/><Relationship Id="rId4" Type="http://schemas.openxmlformats.org/officeDocument/2006/relationships/image" Target="../media/image360.jpg"/><Relationship Id="rId5" Type="http://schemas.openxmlformats.org/officeDocument/2006/relationships/image" Target="../media/image377.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341.jpg"/><Relationship Id="rId4" Type="http://schemas.openxmlformats.org/officeDocument/2006/relationships/image" Target="../media/image352.png"/><Relationship Id="rId5" Type="http://schemas.openxmlformats.org/officeDocument/2006/relationships/image" Target="../media/image349.png"/><Relationship Id="rId6" Type="http://schemas.openxmlformats.org/officeDocument/2006/relationships/image" Target="../media/image355.png"/><Relationship Id="rId7" Type="http://schemas.openxmlformats.org/officeDocument/2006/relationships/image" Target="../media/image35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367.png"/><Relationship Id="rId4" Type="http://schemas.openxmlformats.org/officeDocument/2006/relationships/image" Target="../media/image35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358.jpg"/><Relationship Id="rId4" Type="http://schemas.openxmlformats.org/officeDocument/2006/relationships/image" Target="../media/image359.png"/><Relationship Id="rId5" Type="http://schemas.openxmlformats.org/officeDocument/2006/relationships/image" Target="../media/image364.png"/><Relationship Id="rId6" Type="http://schemas.openxmlformats.org/officeDocument/2006/relationships/image" Target="../media/image37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341.jpg"/><Relationship Id="rId4" Type="http://schemas.openxmlformats.org/officeDocument/2006/relationships/image" Target="../media/image356.png"/><Relationship Id="rId5" Type="http://schemas.openxmlformats.org/officeDocument/2006/relationships/image" Target="../media/image372.png"/><Relationship Id="rId6" Type="http://schemas.openxmlformats.org/officeDocument/2006/relationships/image" Target="../media/image37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368.png"/><Relationship Id="rId4" Type="http://schemas.openxmlformats.org/officeDocument/2006/relationships/image" Target="../media/image37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369.png"/><Relationship Id="rId4" Type="http://schemas.openxmlformats.org/officeDocument/2006/relationships/image" Target="../media/image371.png"/><Relationship Id="rId5" Type="http://schemas.openxmlformats.org/officeDocument/2006/relationships/image" Target="../media/image36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0" y="206250"/>
            <a:ext cx="8520600" cy="99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500">
                <a:latin typeface="EB Garamond"/>
                <a:ea typeface="EB Garamond"/>
                <a:cs typeface="EB Garamond"/>
                <a:sym typeface="EB Garamond"/>
              </a:rPr>
              <a:t>The Economic Complexity Index</a:t>
            </a:r>
            <a:endParaRPr sz="4500">
              <a:latin typeface="EB Garamond"/>
              <a:ea typeface="EB Garamond"/>
              <a:cs typeface="EB Garamond"/>
              <a:sym typeface="EB Garamond"/>
            </a:endParaRPr>
          </a:p>
        </p:txBody>
      </p:sp>
      <p:sp>
        <p:nvSpPr>
          <p:cNvPr id="100" name="Google Shape;100;p25"/>
          <p:cNvSpPr txBox="1"/>
          <p:nvPr>
            <p:ph idx="1" type="subTitle"/>
          </p:nvPr>
        </p:nvSpPr>
        <p:spPr>
          <a:xfrm>
            <a:off x="311700" y="4605525"/>
            <a:ext cx="8520600" cy="346500"/>
          </a:xfrm>
          <a:prstGeom prst="rect">
            <a:avLst/>
          </a:prstGeom>
        </p:spPr>
        <p:txBody>
          <a:bodyPr anchorCtr="0" anchor="t" bIns="91425" lIns="91425" spcFirstLastPara="1" rIns="91425" wrap="square" tIns="91425">
            <a:normAutofit lnSpcReduction="20000"/>
          </a:bodyPr>
          <a:lstStyle/>
          <a:p>
            <a:pPr indent="0" lvl="0" marL="0" rtl="0" algn="l">
              <a:lnSpc>
                <a:spcPct val="80000"/>
              </a:lnSpc>
              <a:spcBef>
                <a:spcPts val="0"/>
              </a:spcBef>
              <a:spcAft>
                <a:spcPts val="0"/>
              </a:spcAft>
              <a:buSzPts val="935"/>
              <a:buNone/>
            </a:pPr>
            <a:r>
              <a:rPr lang="en" sz="1580">
                <a:latin typeface="EB Garamond"/>
                <a:ea typeface="EB Garamond"/>
                <a:cs typeface="EB Garamond"/>
                <a:sym typeface="EB Garamond"/>
              </a:rPr>
              <a:t>Dave Gunaratnam, Haoxian Chen, Rohan Macherla, Ajit Akole, Shomik Ghose				2021</a:t>
            </a:r>
            <a:endParaRPr sz="1580">
              <a:latin typeface="EB Garamond"/>
              <a:ea typeface="EB Garamond"/>
              <a:cs typeface="EB Garamond"/>
              <a:sym typeface="EB Garamond"/>
            </a:endParaRPr>
          </a:p>
        </p:txBody>
      </p:sp>
      <p:pic>
        <p:nvPicPr>
          <p:cNvPr id="101" name="Google Shape;101;p25"/>
          <p:cNvPicPr preferRelativeResize="0"/>
          <p:nvPr/>
        </p:nvPicPr>
        <p:blipFill>
          <a:blip r:embed="rId3">
            <a:alphaModFix/>
          </a:blip>
          <a:stretch>
            <a:fillRect/>
          </a:stretch>
        </p:blipFill>
        <p:spPr>
          <a:xfrm>
            <a:off x="1744425" y="1358250"/>
            <a:ext cx="6102221" cy="3094876"/>
          </a:xfrm>
          <a:prstGeom prst="rect">
            <a:avLst/>
          </a:prstGeom>
          <a:noFill/>
          <a:ln>
            <a:noFill/>
          </a:ln>
        </p:spPr>
      </p:pic>
      <p:sp>
        <p:nvSpPr>
          <p:cNvPr id="102" name="Google Shape;10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445025"/>
            <a:ext cx="8520600" cy="491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Economic Complexity - Intuition</a:t>
            </a:r>
            <a:endParaRPr>
              <a:latin typeface="EB Garamond"/>
              <a:ea typeface="EB Garamond"/>
              <a:cs typeface="EB Garamond"/>
              <a:sym typeface="EB Garamond"/>
            </a:endParaRPr>
          </a:p>
        </p:txBody>
      </p:sp>
      <p:sp>
        <p:nvSpPr>
          <p:cNvPr id="108" name="Google Shape;108;p26"/>
          <p:cNvSpPr txBox="1"/>
          <p:nvPr>
            <p:ph idx="1" type="body"/>
          </p:nvPr>
        </p:nvSpPr>
        <p:spPr>
          <a:xfrm>
            <a:off x="311700" y="936425"/>
            <a:ext cx="5290200" cy="38355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sz="4338">
                <a:latin typeface="EB Garamond"/>
                <a:ea typeface="EB Garamond"/>
                <a:cs typeface="EB Garamond"/>
                <a:sym typeface="EB Garamond"/>
              </a:rPr>
              <a:t>Two Different Economic Lenses</a:t>
            </a:r>
            <a:endParaRPr sz="4338">
              <a:latin typeface="EB Garamond"/>
              <a:ea typeface="EB Garamond"/>
              <a:cs typeface="EB Garamond"/>
              <a:sym typeface="EB Garamond"/>
            </a:endParaRPr>
          </a:p>
          <a:p>
            <a:pPr indent="-388620" lvl="0" marL="457200" rtl="0" algn="l">
              <a:spcBef>
                <a:spcPts val="1200"/>
              </a:spcBef>
              <a:spcAft>
                <a:spcPts val="0"/>
              </a:spcAft>
              <a:buClr>
                <a:srgbClr val="0000FF"/>
              </a:buClr>
              <a:buSzPct val="100000"/>
              <a:buFont typeface="EB Garamond"/>
              <a:buAutoNum type="arabicPeriod"/>
            </a:pPr>
            <a:r>
              <a:rPr i="1" lang="en" sz="3600">
                <a:solidFill>
                  <a:srgbClr val="0000FF"/>
                </a:solidFill>
                <a:latin typeface="EB Garamond"/>
                <a:ea typeface="EB Garamond"/>
                <a:cs typeface="EB Garamond"/>
                <a:sym typeface="EB Garamond"/>
              </a:rPr>
              <a:t>Traditional View:</a:t>
            </a:r>
            <a:endParaRPr i="1" sz="3600">
              <a:solidFill>
                <a:srgbClr val="0000FF"/>
              </a:solidFill>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Economies are a combination of raw materials, labor, and capital that colaese to create products and services </a:t>
            </a:r>
            <a:endParaRPr sz="2550">
              <a:latin typeface="EB Garamond"/>
              <a:ea typeface="EB Garamond"/>
              <a:cs typeface="EB Garamond"/>
              <a:sym typeface="EB Garamond"/>
            </a:endParaRPr>
          </a:p>
          <a:p>
            <a:pPr indent="-388620" lvl="0" marL="457200" rtl="0" algn="l">
              <a:spcBef>
                <a:spcPts val="0"/>
              </a:spcBef>
              <a:spcAft>
                <a:spcPts val="0"/>
              </a:spcAft>
              <a:buClr>
                <a:srgbClr val="0000FF"/>
              </a:buClr>
              <a:buSzPct val="100000"/>
              <a:buFont typeface="EB Garamond"/>
              <a:buAutoNum type="arabicPeriod"/>
            </a:pPr>
            <a:r>
              <a:rPr i="1" lang="en" sz="3600">
                <a:solidFill>
                  <a:srgbClr val="0000FF"/>
                </a:solidFill>
                <a:latin typeface="EB Garamond"/>
                <a:ea typeface="EB Garamond"/>
                <a:cs typeface="EB Garamond"/>
                <a:sym typeface="EB Garamond"/>
              </a:rPr>
              <a:t>Economic Complexity:</a:t>
            </a:r>
            <a:endParaRPr i="1" sz="3600">
              <a:solidFill>
                <a:srgbClr val="0000FF"/>
              </a:solidFill>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Products and services are </a:t>
            </a:r>
            <a:r>
              <a:rPr lang="en" sz="2550">
                <a:latin typeface="EB Garamond"/>
                <a:ea typeface="EB Garamond"/>
                <a:cs typeface="EB Garamond"/>
                <a:sym typeface="EB Garamond"/>
              </a:rPr>
              <a:t>actually</a:t>
            </a:r>
            <a:r>
              <a:rPr lang="en" sz="2550">
                <a:latin typeface="EB Garamond"/>
                <a:ea typeface="EB Garamond"/>
                <a:cs typeface="EB Garamond"/>
                <a:sym typeface="EB Garamond"/>
              </a:rPr>
              <a:t> an aggregation of knowledge that actors within an economy possess. </a:t>
            </a:r>
            <a:endParaRPr sz="2550">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 A </a:t>
            </a:r>
            <a:r>
              <a:rPr lang="en" sz="2550">
                <a:latin typeface="EB Garamond"/>
                <a:ea typeface="EB Garamond"/>
                <a:cs typeface="EB Garamond"/>
                <a:sym typeface="EB Garamond"/>
              </a:rPr>
              <a:t>breadth</a:t>
            </a:r>
            <a:r>
              <a:rPr lang="en" sz="2550">
                <a:latin typeface="EB Garamond"/>
                <a:ea typeface="EB Garamond"/>
                <a:cs typeface="EB Garamond"/>
                <a:sym typeface="EB Garamond"/>
              </a:rPr>
              <a:t> of knowledge allows for more interplay between knowledge sources and hence leads to more complex products</a:t>
            </a:r>
            <a:endParaRPr sz="2550">
              <a:latin typeface="EB Garamond"/>
              <a:ea typeface="EB Garamond"/>
              <a:cs typeface="EB Garamond"/>
              <a:sym typeface="EB Garamond"/>
            </a:endParaRPr>
          </a:p>
        </p:txBody>
      </p:sp>
      <p:pic>
        <p:nvPicPr>
          <p:cNvPr id="109" name="Google Shape;109;p26"/>
          <p:cNvPicPr preferRelativeResize="0"/>
          <p:nvPr/>
        </p:nvPicPr>
        <p:blipFill>
          <a:blip r:embed="rId3">
            <a:alphaModFix/>
          </a:blip>
          <a:stretch>
            <a:fillRect/>
          </a:stretch>
        </p:blipFill>
        <p:spPr>
          <a:xfrm>
            <a:off x="5510150" y="1152475"/>
            <a:ext cx="3537149" cy="3188275"/>
          </a:xfrm>
          <a:prstGeom prst="rect">
            <a:avLst/>
          </a:prstGeom>
          <a:noFill/>
          <a:ln>
            <a:noFill/>
          </a:ln>
        </p:spPr>
      </p:pic>
      <p:sp>
        <p:nvSpPr>
          <p:cNvPr id="110" name="Google Shape;11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ph idx="1" type="body"/>
          </p:nvPr>
        </p:nvSpPr>
        <p:spPr>
          <a:xfrm>
            <a:off x="2989525" y="464200"/>
            <a:ext cx="5887200" cy="4744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550">
                <a:latin typeface="EB Garamond"/>
                <a:ea typeface="EB Garamond"/>
                <a:cs typeface="EB Garamond"/>
                <a:sym typeface="EB Garamond"/>
              </a:rPr>
              <a:t>Consider for just a moment the knowledge needed to create toothpaste…</a:t>
            </a:r>
            <a:endParaRPr sz="2550">
              <a:latin typeface="EB Garamond"/>
              <a:ea typeface="EB Garamond"/>
              <a:cs typeface="EB Garamond"/>
              <a:sym typeface="EB Garamond"/>
            </a:endParaRPr>
          </a:p>
          <a:p>
            <a:pPr indent="-341152" lvl="0" marL="457200" rtl="0" algn="l">
              <a:lnSpc>
                <a:spcPct val="100000"/>
              </a:lnSpc>
              <a:spcBef>
                <a:spcPts val="1200"/>
              </a:spcBef>
              <a:spcAft>
                <a:spcPts val="0"/>
              </a:spcAft>
              <a:buSzPts val="1772"/>
              <a:buFont typeface="EB Garamond"/>
              <a:buChar char="-"/>
            </a:pPr>
            <a:r>
              <a:rPr lang="en" sz="1772">
                <a:latin typeface="EB Garamond"/>
                <a:ea typeface="EB Garamond"/>
                <a:cs typeface="EB Garamond"/>
                <a:sym typeface="EB Garamond"/>
              </a:rPr>
              <a:t>You probably have very little knowledge of chemical components or the properties of the substance itself.</a:t>
            </a:r>
            <a:endParaRPr sz="1772">
              <a:latin typeface="EB Garamond"/>
              <a:ea typeface="EB Garamond"/>
              <a:cs typeface="EB Garamond"/>
              <a:sym typeface="EB Garamond"/>
            </a:endParaRPr>
          </a:p>
          <a:p>
            <a:pPr indent="-341152" lvl="0" marL="457200" rtl="0" algn="l">
              <a:lnSpc>
                <a:spcPct val="100000"/>
              </a:lnSpc>
              <a:spcBef>
                <a:spcPts val="1000"/>
              </a:spcBef>
              <a:spcAft>
                <a:spcPts val="0"/>
              </a:spcAft>
              <a:buSzPts val="1772"/>
              <a:buFont typeface="EB Garamond"/>
              <a:buChar char="-"/>
            </a:pPr>
            <a:r>
              <a:rPr lang="en" sz="1772">
                <a:latin typeface="EB Garamond"/>
                <a:ea typeface="EB Garamond"/>
                <a:cs typeface="EB Garamond"/>
                <a:sym typeface="EB Garamond"/>
              </a:rPr>
              <a:t>Slowly we begin to realize that most of the products around us are created using sources of knowledge that are far beyond our own individual knowledge </a:t>
            </a:r>
            <a:endParaRPr sz="1772">
              <a:latin typeface="EB Garamond"/>
              <a:ea typeface="EB Garamond"/>
              <a:cs typeface="EB Garamond"/>
              <a:sym typeface="EB Garamond"/>
            </a:endParaRPr>
          </a:p>
          <a:p>
            <a:pPr indent="-341152" lvl="0" marL="457200" rtl="0" algn="l">
              <a:lnSpc>
                <a:spcPct val="100000"/>
              </a:lnSpc>
              <a:spcBef>
                <a:spcPts val="1000"/>
              </a:spcBef>
              <a:spcAft>
                <a:spcPts val="0"/>
              </a:spcAft>
              <a:buSzPts val="1772"/>
              <a:buFont typeface="EB Garamond"/>
              <a:buChar char="-"/>
            </a:pPr>
            <a:r>
              <a:rPr lang="en" sz="1772">
                <a:latin typeface="EB Garamond"/>
                <a:ea typeface="EB Garamond"/>
                <a:cs typeface="EB Garamond"/>
                <a:sym typeface="EB Garamond"/>
              </a:rPr>
              <a:t>The key is that each person has specialized knowledge making us </a:t>
            </a:r>
            <a:r>
              <a:rPr b="1" lang="en" sz="1772">
                <a:latin typeface="EB Garamond"/>
                <a:ea typeface="EB Garamond"/>
                <a:cs typeface="EB Garamond"/>
                <a:sym typeface="EB Garamond"/>
              </a:rPr>
              <a:t>in aggregate very </a:t>
            </a:r>
            <a:r>
              <a:rPr b="1" lang="en" sz="1772">
                <a:latin typeface="EB Garamond"/>
                <a:ea typeface="EB Garamond"/>
                <a:cs typeface="EB Garamond"/>
                <a:sym typeface="EB Garamond"/>
              </a:rPr>
              <a:t>knowledgeable</a:t>
            </a:r>
            <a:endParaRPr b="1" sz="1772">
              <a:latin typeface="EB Garamond"/>
              <a:ea typeface="EB Garamond"/>
              <a:cs typeface="EB Garamond"/>
              <a:sym typeface="EB Garamond"/>
            </a:endParaRPr>
          </a:p>
          <a:p>
            <a:pPr indent="0" lvl="0" marL="0" rtl="0" algn="l">
              <a:spcBef>
                <a:spcPts val="1000"/>
              </a:spcBef>
              <a:spcAft>
                <a:spcPts val="0"/>
              </a:spcAft>
              <a:buNone/>
            </a:pPr>
            <a:r>
              <a:t/>
            </a:r>
            <a:endParaRPr sz="1850">
              <a:latin typeface="EB Garamond"/>
              <a:ea typeface="EB Garamond"/>
              <a:cs typeface="EB Garamond"/>
              <a:sym typeface="EB Garamond"/>
            </a:endParaRPr>
          </a:p>
          <a:p>
            <a:pPr indent="0" lvl="0" marL="0" rtl="0" algn="ctr">
              <a:spcBef>
                <a:spcPts val="1200"/>
              </a:spcBef>
              <a:spcAft>
                <a:spcPts val="0"/>
              </a:spcAft>
              <a:buNone/>
            </a:pPr>
            <a:r>
              <a:rPr lang="en" sz="1850">
                <a:latin typeface="EB Garamond"/>
                <a:ea typeface="EB Garamond"/>
                <a:cs typeface="EB Garamond"/>
                <a:sym typeface="EB Garamond"/>
              </a:rPr>
              <a:t>This is the defining aspect of modern </a:t>
            </a:r>
            <a:r>
              <a:rPr lang="en" sz="1850">
                <a:latin typeface="EB Garamond"/>
                <a:ea typeface="EB Garamond"/>
                <a:cs typeface="EB Garamond"/>
                <a:sym typeface="EB Garamond"/>
              </a:rPr>
              <a:t>society</a:t>
            </a:r>
            <a:endParaRPr sz="1850">
              <a:latin typeface="EB Garamond"/>
              <a:ea typeface="EB Garamond"/>
              <a:cs typeface="EB Garamond"/>
              <a:sym typeface="EB Garamond"/>
            </a:endParaRPr>
          </a:p>
          <a:p>
            <a:pPr indent="0" lvl="0" marL="0" rtl="0" algn="l">
              <a:spcBef>
                <a:spcPts val="1200"/>
              </a:spcBef>
              <a:spcAft>
                <a:spcPts val="1200"/>
              </a:spcAft>
              <a:buNone/>
            </a:pPr>
            <a:r>
              <a:t/>
            </a:r>
            <a:endParaRPr sz="2550">
              <a:latin typeface="EB Garamond"/>
              <a:ea typeface="EB Garamond"/>
              <a:cs typeface="EB Garamond"/>
              <a:sym typeface="EB Garamond"/>
            </a:endParaRPr>
          </a:p>
        </p:txBody>
      </p:sp>
      <p:pic>
        <p:nvPicPr>
          <p:cNvPr id="116" name="Google Shape;116;p27"/>
          <p:cNvPicPr preferRelativeResize="0"/>
          <p:nvPr/>
        </p:nvPicPr>
        <p:blipFill rotWithShape="1">
          <a:blip r:embed="rId3">
            <a:alphaModFix/>
          </a:blip>
          <a:srcRect b="0" l="19319" r="17816" t="0"/>
          <a:stretch/>
        </p:blipFill>
        <p:spPr>
          <a:xfrm>
            <a:off x="522750" y="703700"/>
            <a:ext cx="2348700" cy="3736100"/>
          </a:xfrm>
          <a:prstGeom prst="rect">
            <a:avLst/>
          </a:prstGeom>
          <a:noFill/>
          <a:ln>
            <a:noFill/>
          </a:ln>
        </p:spPr>
      </p:pic>
      <p:sp>
        <p:nvSpPr>
          <p:cNvPr id="117" name="Google Shape;11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8"/>
          <p:cNvSpPr txBox="1"/>
          <p:nvPr>
            <p:ph type="title"/>
          </p:nvPr>
        </p:nvSpPr>
        <p:spPr>
          <a:xfrm>
            <a:off x="311700" y="170575"/>
            <a:ext cx="85206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Intuition</a:t>
            </a:r>
            <a:endParaRPr>
              <a:latin typeface="EB Garamond"/>
              <a:ea typeface="EB Garamond"/>
              <a:cs typeface="EB Garamond"/>
              <a:sym typeface="EB Garamond"/>
            </a:endParaRPr>
          </a:p>
        </p:txBody>
      </p:sp>
      <p:sp>
        <p:nvSpPr>
          <p:cNvPr id="123" name="Google Shape;123;p28"/>
          <p:cNvSpPr txBox="1"/>
          <p:nvPr>
            <p:ph idx="1" type="body"/>
          </p:nvPr>
        </p:nvSpPr>
        <p:spPr>
          <a:xfrm>
            <a:off x="3093375" y="590450"/>
            <a:ext cx="5840100" cy="43431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sz="2100">
                <a:latin typeface="EB Garamond"/>
                <a:ea typeface="EB Garamond"/>
                <a:cs typeface="EB Garamond"/>
                <a:sym typeface="EB Garamond"/>
              </a:rPr>
              <a:t>We are not as concerned about </a:t>
            </a:r>
            <a:r>
              <a:rPr lang="en" sz="2100">
                <a:solidFill>
                  <a:srgbClr val="CC0000"/>
                </a:solidFill>
                <a:latin typeface="EB Garamond"/>
                <a:ea typeface="EB Garamond"/>
                <a:cs typeface="EB Garamond"/>
                <a:sym typeface="EB Garamond"/>
              </a:rPr>
              <a:t>how much knowledge</a:t>
            </a:r>
            <a:r>
              <a:rPr lang="en" sz="2100">
                <a:latin typeface="EB Garamond"/>
                <a:ea typeface="EB Garamond"/>
                <a:cs typeface="EB Garamond"/>
                <a:sym typeface="EB Garamond"/>
              </a:rPr>
              <a:t> a country has but the </a:t>
            </a:r>
            <a:r>
              <a:rPr lang="en" sz="2100">
                <a:solidFill>
                  <a:srgbClr val="6AA84F"/>
                </a:solidFill>
                <a:latin typeface="EB Garamond"/>
                <a:ea typeface="EB Garamond"/>
                <a:cs typeface="EB Garamond"/>
                <a:sym typeface="EB Garamond"/>
              </a:rPr>
              <a:t>diversity of knowledge</a:t>
            </a:r>
            <a:r>
              <a:rPr lang="en" sz="2100">
                <a:latin typeface="EB Garamond"/>
                <a:ea typeface="EB Garamond"/>
                <a:cs typeface="EB Garamond"/>
                <a:sym typeface="EB Garamond"/>
              </a:rPr>
              <a:t> it has and how its </a:t>
            </a:r>
            <a:r>
              <a:rPr lang="en" sz="2100">
                <a:solidFill>
                  <a:srgbClr val="6AA84F"/>
                </a:solidFill>
                <a:latin typeface="EB Garamond"/>
                <a:ea typeface="EB Garamond"/>
                <a:cs typeface="EB Garamond"/>
                <a:sym typeface="EB Garamond"/>
              </a:rPr>
              <a:t>different types of knowledge interact</a:t>
            </a:r>
            <a:endParaRPr sz="2100">
              <a:solidFill>
                <a:srgbClr val="6AA84F"/>
              </a:solidFill>
              <a:latin typeface="EB Garamond"/>
              <a:ea typeface="EB Garamond"/>
              <a:cs typeface="EB Garamond"/>
              <a:sym typeface="EB Garamond"/>
            </a:endParaRPr>
          </a:p>
          <a:p>
            <a:pPr indent="0" lvl="0" marL="0" rtl="0" algn="ctr">
              <a:spcBef>
                <a:spcPts val="1200"/>
              </a:spcBef>
              <a:spcAft>
                <a:spcPts val="0"/>
              </a:spcAft>
              <a:buNone/>
            </a:pPr>
            <a:r>
              <a:t/>
            </a:r>
            <a:endParaRPr sz="2100">
              <a:solidFill>
                <a:srgbClr val="6AA84F"/>
              </a:solidFill>
              <a:latin typeface="EB Garamond"/>
              <a:ea typeface="EB Garamond"/>
              <a:cs typeface="EB Garamond"/>
              <a:sym typeface="EB Garamond"/>
            </a:endParaRPr>
          </a:p>
          <a:p>
            <a:pPr indent="-342900" lvl="0" marL="457200" rtl="0" algn="l">
              <a:spcBef>
                <a:spcPts val="1200"/>
              </a:spcBef>
              <a:spcAft>
                <a:spcPts val="0"/>
              </a:spcAft>
              <a:buClr>
                <a:srgbClr val="666666"/>
              </a:buClr>
              <a:buSzPts val="1800"/>
              <a:buFont typeface="EB Garamond"/>
              <a:buChar char="-"/>
            </a:pPr>
            <a:r>
              <a:rPr lang="en">
                <a:solidFill>
                  <a:srgbClr val="666666"/>
                </a:solidFill>
                <a:latin typeface="EB Garamond"/>
                <a:ea typeface="EB Garamond"/>
                <a:cs typeface="EB Garamond"/>
                <a:sym typeface="EB Garamond"/>
              </a:rPr>
              <a:t>Economic Complexity then has its foundations in Adam Smith’s idea of division of labor. </a:t>
            </a:r>
            <a:endParaRPr>
              <a:solidFill>
                <a:srgbClr val="666666"/>
              </a:solidFill>
              <a:latin typeface="EB Garamond"/>
              <a:ea typeface="EB Garamond"/>
              <a:cs typeface="EB Garamond"/>
              <a:sym typeface="EB Garamond"/>
            </a:endParaRPr>
          </a:p>
          <a:p>
            <a:pPr indent="-342900" lvl="0" marL="457200" rtl="0" algn="l">
              <a:spcBef>
                <a:spcPts val="0"/>
              </a:spcBef>
              <a:spcAft>
                <a:spcPts val="0"/>
              </a:spcAft>
              <a:buClr>
                <a:srgbClr val="666666"/>
              </a:buClr>
              <a:buSzPts val="1800"/>
              <a:buFont typeface="EB Garamond"/>
              <a:buChar char="-"/>
            </a:pPr>
            <a:r>
              <a:rPr lang="en">
                <a:solidFill>
                  <a:srgbClr val="666666"/>
                </a:solidFill>
                <a:latin typeface="EB Garamond"/>
                <a:ea typeface="EB Garamond"/>
                <a:cs typeface="EB Garamond"/>
                <a:sym typeface="EB Garamond"/>
              </a:rPr>
              <a:t>Modern societies have succeeded because individuals have small but specialized amounts of knowledge, which we refer to as a </a:t>
            </a:r>
            <a:r>
              <a:rPr b="1" lang="en" sz="1900">
                <a:solidFill>
                  <a:srgbClr val="666666"/>
                </a:solidFill>
                <a:latin typeface="EB Garamond"/>
                <a:ea typeface="EB Garamond"/>
                <a:cs typeface="EB Garamond"/>
                <a:sym typeface="EB Garamond"/>
              </a:rPr>
              <a:t>personbytes</a:t>
            </a:r>
            <a:r>
              <a:rPr lang="en">
                <a:solidFill>
                  <a:srgbClr val="666666"/>
                </a:solidFill>
                <a:latin typeface="EB Garamond"/>
                <a:ea typeface="EB Garamond"/>
                <a:cs typeface="EB Garamond"/>
                <a:sym typeface="EB Garamond"/>
              </a:rPr>
              <a:t>. </a:t>
            </a:r>
            <a:endParaRPr>
              <a:solidFill>
                <a:srgbClr val="666666"/>
              </a:solidFill>
              <a:latin typeface="EB Garamond"/>
              <a:ea typeface="EB Garamond"/>
              <a:cs typeface="EB Garamond"/>
              <a:sym typeface="EB Garamond"/>
            </a:endParaRPr>
          </a:p>
          <a:p>
            <a:pPr indent="0" lvl="0" marL="457200" rtl="0" algn="l">
              <a:spcBef>
                <a:spcPts val="1200"/>
              </a:spcBef>
              <a:spcAft>
                <a:spcPts val="0"/>
              </a:spcAft>
              <a:buNone/>
            </a:pPr>
            <a:r>
              <a:t/>
            </a:r>
            <a:endParaRPr>
              <a:solidFill>
                <a:srgbClr val="666666"/>
              </a:solidFill>
              <a:latin typeface="EB Garamond"/>
              <a:ea typeface="EB Garamond"/>
              <a:cs typeface="EB Garamond"/>
              <a:sym typeface="EB Garamond"/>
            </a:endParaRPr>
          </a:p>
          <a:p>
            <a:pPr indent="0" lvl="0" marL="457200" rtl="0" algn="l">
              <a:spcBef>
                <a:spcPts val="1200"/>
              </a:spcBef>
              <a:spcAft>
                <a:spcPts val="1200"/>
              </a:spcAft>
              <a:buNone/>
            </a:pPr>
            <a:r>
              <a:rPr lang="en">
                <a:solidFill>
                  <a:srgbClr val="666666"/>
                </a:solidFill>
                <a:latin typeface="EB Garamond"/>
                <a:ea typeface="EB Garamond"/>
                <a:cs typeface="EB Garamond"/>
                <a:sym typeface="EB Garamond"/>
              </a:rPr>
              <a:t>Can we use these ideas to build an economic indicator that reflects this particular economic perspective...</a:t>
            </a:r>
            <a:endParaRPr>
              <a:solidFill>
                <a:srgbClr val="666666"/>
              </a:solidFill>
              <a:latin typeface="EB Garamond"/>
              <a:ea typeface="EB Garamond"/>
              <a:cs typeface="EB Garamond"/>
              <a:sym typeface="EB Garamond"/>
            </a:endParaRPr>
          </a:p>
        </p:txBody>
      </p:sp>
      <p:pic>
        <p:nvPicPr>
          <p:cNvPr id="124" name="Google Shape;124;p28"/>
          <p:cNvPicPr preferRelativeResize="0"/>
          <p:nvPr/>
        </p:nvPicPr>
        <p:blipFill>
          <a:blip r:embed="rId3">
            <a:alphaModFix/>
          </a:blip>
          <a:stretch>
            <a:fillRect/>
          </a:stretch>
        </p:blipFill>
        <p:spPr>
          <a:xfrm>
            <a:off x="304800" y="1071075"/>
            <a:ext cx="2788575" cy="2788575"/>
          </a:xfrm>
          <a:prstGeom prst="rect">
            <a:avLst/>
          </a:prstGeom>
          <a:noFill/>
          <a:ln>
            <a:noFill/>
          </a:ln>
        </p:spPr>
      </p:pic>
      <p:sp>
        <p:nvSpPr>
          <p:cNvPr id="125" name="Google Shape;12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9"/>
          <p:cNvSpPr txBox="1"/>
          <p:nvPr>
            <p:ph idx="1" type="body"/>
          </p:nvPr>
        </p:nvSpPr>
        <p:spPr>
          <a:xfrm>
            <a:off x="101750" y="314900"/>
            <a:ext cx="5695800" cy="48288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rPr lang="en" sz="2900">
                <a:latin typeface="EB Garamond"/>
                <a:ea typeface="EB Garamond"/>
                <a:cs typeface="EB Garamond"/>
                <a:sym typeface="EB Garamond"/>
              </a:rPr>
              <a:t>Building the </a:t>
            </a:r>
            <a:r>
              <a:rPr b="1" lang="en" sz="2900">
                <a:latin typeface="EB Garamond"/>
                <a:ea typeface="EB Garamond"/>
                <a:cs typeface="EB Garamond"/>
                <a:sym typeface="EB Garamond"/>
              </a:rPr>
              <a:t>Economic Complexity Index</a:t>
            </a:r>
            <a:endParaRPr sz="2900">
              <a:latin typeface="EB Garamond"/>
              <a:ea typeface="EB Garamond"/>
              <a:cs typeface="EB Garamond"/>
              <a:sym typeface="EB Garamond"/>
            </a:endParaRPr>
          </a:p>
          <a:p>
            <a:pPr indent="-349250" lvl="0" marL="457200" rtl="0" algn="l">
              <a:spcBef>
                <a:spcPts val="1200"/>
              </a:spcBef>
              <a:spcAft>
                <a:spcPts val="0"/>
              </a:spcAft>
              <a:buSzPts val="1900"/>
              <a:buFont typeface="EB Garamond"/>
              <a:buChar char="-"/>
            </a:pPr>
            <a:r>
              <a:rPr lang="en" sz="1900">
                <a:latin typeface="EB Garamond"/>
                <a:ea typeface="EB Garamond"/>
                <a:cs typeface="EB Garamond"/>
                <a:sym typeface="EB Garamond"/>
              </a:rPr>
              <a:t>We want some type of quantitative metric that measures the amount of </a:t>
            </a:r>
            <a:r>
              <a:rPr lang="en" sz="1900">
                <a:latin typeface="EB Garamond"/>
                <a:ea typeface="EB Garamond"/>
                <a:cs typeface="EB Garamond"/>
                <a:sym typeface="EB Garamond"/>
              </a:rPr>
              <a:t>knowledge</a:t>
            </a:r>
            <a:r>
              <a:rPr lang="en" sz="1900">
                <a:latin typeface="EB Garamond"/>
                <a:ea typeface="EB Garamond"/>
                <a:cs typeface="EB Garamond"/>
                <a:sym typeface="EB Garamond"/>
              </a:rPr>
              <a:t> </a:t>
            </a:r>
            <a:r>
              <a:rPr lang="en" sz="1900">
                <a:latin typeface="EB Garamond"/>
                <a:ea typeface="EB Garamond"/>
                <a:cs typeface="EB Garamond"/>
                <a:sym typeface="EB Garamond"/>
              </a:rPr>
              <a:t>embedded</a:t>
            </a:r>
            <a:r>
              <a:rPr lang="en" sz="1900">
                <a:latin typeface="EB Garamond"/>
                <a:ea typeface="EB Garamond"/>
                <a:cs typeface="EB Garamond"/>
                <a:sym typeface="EB Garamond"/>
              </a:rPr>
              <a:t> in a country’s economy. </a:t>
            </a:r>
            <a:endParaRPr sz="1900">
              <a:latin typeface="EB Garamond"/>
              <a:ea typeface="EB Garamond"/>
              <a:cs typeface="EB Garamond"/>
              <a:sym typeface="EB Garamond"/>
            </a:endParaRPr>
          </a:p>
          <a:p>
            <a:pPr indent="-349250" lvl="0" marL="457200" rtl="0" algn="l">
              <a:spcBef>
                <a:spcPts val="1000"/>
              </a:spcBef>
              <a:spcAft>
                <a:spcPts val="0"/>
              </a:spcAft>
              <a:buSzPts val="1900"/>
              <a:buFont typeface="EB Garamond"/>
              <a:buChar char="-"/>
            </a:pPr>
            <a:r>
              <a:rPr lang="en" sz="1900">
                <a:latin typeface="EB Garamond"/>
                <a:ea typeface="EB Garamond"/>
                <a:cs typeface="EB Garamond"/>
                <a:sym typeface="EB Garamond"/>
              </a:rPr>
              <a:t>It should account for the different types of knowledge that people have within the economy and how those types of knowledge interact</a:t>
            </a:r>
            <a:endParaRPr sz="1900">
              <a:latin typeface="EB Garamond"/>
              <a:ea typeface="EB Garamond"/>
              <a:cs typeface="EB Garamond"/>
              <a:sym typeface="EB Garamond"/>
            </a:endParaRPr>
          </a:p>
          <a:p>
            <a:pPr indent="-349250" lvl="0" marL="457200" rtl="0" algn="l">
              <a:spcBef>
                <a:spcPts val="1000"/>
              </a:spcBef>
              <a:spcAft>
                <a:spcPts val="0"/>
              </a:spcAft>
              <a:buSzPts val="1900"/>
              <a:buFont typeface="EB Garamond"/>
              <a:buChar char="-"/>
            </a:pPr>
            <a:r>
              <a:rPr lang="en" sz="1900">
                <a:latin typeface="EB Garamond"/>
                <a:ea typeface="EB Garamond"/>
                <a:cs typeface="EB Garamond"/>
                <a:sym typeface="EB Garamond"/>
              </a:rPr>
              <a:t>It should reflect the actual/potential capabilities an </a:t>
            </a:r>
            <a:r>
              <a:rPr lang="en" sz="1900">
                <a:latin typeface="EB Garamond"/>
                <a:ea typeface="EB Garamond"/>
                <a:cs typeface="EB Garamond"/>
                <a:sym typeface="EB Garamond"/>
              </a:rPr>
              <a:t>economy</a:t>
            </a:r>
            <a:r>
              <a:rPr lang="en" sz="1900">
                <a:latin typeface="EB Garamond"/>
                <a:ea typeface="EB Garamond"/>
                <a:cs typeface="EB Garamond"/>
                <a:sym typeface="EB Garamond"/>
              </a:rPr>
              <a:t> possesses r</a:t>
            </a:r>
            <a:r>
              <a:rPr lang="en" sz="1900">
                <a:latin typeface="EB Garamond"/>
                <a:ea typeface="EB Garamond"/>
                <a:cs typeface="EB Garamond"/>
                <a:sym typeface="EB Garamond"/>
              </a:rPr>
              <a:t>ather than measuring raw output </a:t>
            </a:r>
            <a:endParaRPr sz="1900">
              <a:latin typeface="EB Garamond"/>
              <a:ea typeface="EB Garamond"/>
              <a:cs typeface="EB Garamond"/>
              <a:sym typeface="EB Garamond"/>
            </a:endParaRPr>
          </a:p>
          <a:p>
            <a:pPr indent="0" lvl="0" marL="457200" rtl="0" algn="l">
              <a:spcBef>
                <a:spcPts val="1000"/>
              </a:spcBef>
              <a:spcAft>
                <a:spcPts val="1200"/>
              </a:spcAft>
              <a:buClr>
                <a:schemeClr val="dk1"/>
              </a:buClr>
              <a:buSzPts val="1100"/>
              <a:buFont typeface="Arial"/>
              <a:buNone/>
            </a:pPr>
            <a:r>
              <a:rPr lang="en" sz="1600">
                <a:solidFill>
                  <a:srgbClr val="666666"/>
                </a:solidFill>
                <a:latin typeface="EB Garamond"/>
                <a:ea typeface="EB Garamond"/>
                <a:cs typeface="EB Garamond"/>
                <a:sym typeface="EB Garamond"/>
              </a:rPr>
              <a:t>Let’s now dig deeper into categorizing different types of knowledge...</a:t>
            </a:r>
            <a:endParaRPr sz="1900">
              <a:latin typeface="EB Garamond"/>
              <a:ea typeface="EB Garamond"/>
              <a:cs typeface="EB Garamond"/>
              <a:sym typeface="EB Garamond"/>
            </a:endParaRPr>
          </a:p>
        </p:txBody>
      </p:sp>
      <p:pic>
        <p:nvPicPr>
          <p:cNvPr id="131" name="Google Shape;131;p29"/>
          <p:cNvPicPr preferRelativeResize="0"/>
          <p:nvPr/>
        </p:nvPicPr>
        <p:blipFill>
          <a:blip r:embed="rId3">
            <a:alphaModFix/>
          </a:blip>
          <a:stretch>
            <a:fillRect/>
          </a:stretch>
        </p:blipFill>
        <p:spPr>
          <a:xfrm>
            <a:off x="5797550" y="1208475"/>
            <a:ext cx="3041650" cy="3041650"/>
          </a:xfrm>
          <a:prstGeom prst="rect">
            <a:avLst/>
          </a:prstGeom>
          <a:noFill/>
          <a:ln>
            <a:noFill/>
          </a:ln>
        </p:spPr>
      </p:pic>
      <p:sp>
        <p:nvSpPr>
          <p:cNvPr id="132" name="Google Shape;13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Tacit vs Explicit Knowledge</a:t>
            </a:r>
            <a:endParaRPr>
              <a:latin typeface="EB Garamond"/>
              <a:ea typeface="EB Garamond"/>
              <a:cs typeface="EB Garamond"/>
              <a:sym typeface="EB Garamond"/>
            </a:endParaRPr>
          </a:p>
        </p:txBody>
      </p:sp>
      <p:sp>
        <p:nvSpPr>
          <p:cNvPr id="138" name="Google Shape;138;p30"/>
          <p:cNvSpPr txBox="1"/>
          <p:nvPr>
            <p:ph idx="1" type="body"/>
          </p:nvPr>
        </p:nvSpPr>
        <p:spPr>
          <a:xfrm>
            <a:off x="155850" y="1152475"/>
            <a:ext cx="8832300" cy="3416400"/>
          </a:xfrm>
          <a:prstGeom prst="rect">
            <a:avLst/>
          </a:prstGeom>
        </p:spPr>
        <p:txBody>
          <a:bodyPr anchorCtr="0" anchor="t" bIns="91425" lIns="91425" spcFirstLastPara="1" rIns="91425" wrap="square" tIns="91425">
            <a:normAutofit fontScale="25000" lnSpcReduction="20000"/>
          </a:bodyPr>
          <a:lstStyle/>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Explicit Knowledge: Forms of knowledge that can easily be transferred upon communication</a:t>
            </a:r>
            <a:endParaRPr sz="6400">
              <a:latin typeface="EB Garamond"/>
              <a:ea typeface="EB Garamond"/>
              <a:cs typeface="EB Garamond"/>
              <a:sym typeface="EB Garamond"/>
            </a:endParaRPr>
          </a:p>
          <a:p>
            <a:pPr indent="-330200" lvl="1" marL="914400" rtl="0" algn="l">
              <a:lnSpc>
                <a:spcPct val="200000"/>
              </a:lnSpc>
              <a:spcBef>
                <a:spcPts val="0"/>
              </a:spcBef>
              <a:spcAft>
                <a:spcPts val="0"/>
              </a:spcAft>
              <a:buSzPct val="100000"/>
              <a:buFont typeface="EB Garamond"/>
              <a:buChar char="-"/>
            </a:pPr>
            <a:r>
              <a:rPr lang="en" sz="6400">
                <a:latin typeface="EB Garamond"/>
                <a:ea typeface="EB Garamond"/>
                <a:cs typeface="EB Garamond"/>
                <a:sym typeface="EB Garamond"/>
              </a:rPr>
              <a:t>Ex. Today’s weather, Population of the United States, Number of planets in solar system</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Tacit Knowledge: Forms of knowledge which are more difficult to pick up upon immediate communication</a:t>
            </a:r>
            <a:endParaRPr sz="6400">
              <a:latin typeface="EB Garamond"/>
              <a:ea typeface="EB Garamond"/>
              <a:cs typeface="EB Garamond"/>
              <a:sym typeface="EB Garamond"/>
            </a:endParaRPr>
          </a:p>
          <a:p>
            <a:pPr indent="-330200" lvl="1" marL="914400" rtl="0" algn="l">
              <a:lnSpc>
                <a:spcPct val="200000"/>
              </a:lnSpc>
              <a:spcBef>
                <a:spcPts val="0"/>
              </a:spcBef>
              <a:spcAft>
                <a:spcPts val="0"/>
              </a:spcAft>
              <a:buSzPct val="100000"/>
              <a:buFont typeface="EB Garamond"/>
              <a:buChar char="-"/>
            </a:pPr>
            <a:r>
              <a:rPr lang="en" sz="6400">
                <a:latin typeface="EB Garamond"/>
                <a:ea typeface="EB Garamond"/>
                <a:cs typeface="EB Garamond"/>
                <a:sym typeface="EB Garamond"/>
              </a:rPr>
              <a:t>Ex. How to manufacture a car, Programming an app, Learning a new language</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If all forms of knowledge were Explicit, countries would be able to pick up on new skills and technologies almost immediately, thus reducing the gap in economic development</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Clr>
                <a:srgbClr val="FFFFFF"/>
              </a:buClr>
              <a:buSzPct val="100000"/>
              <a:buFont typeface="EB Garamond"/>
              <a:buChar char="-"/>
            </a:pPr>
            <a:r>
              <a:rPr lang="en" sz="6400">
                <a:latin typeface="EB Garamond"/>
                <a:ea typeface="EB Garamond"/>
                <a:cs typeface="EB Garamond"/>
                <a:sym typeface="EB Garamond"/>
              </a:rPr>
              <a:t>                           </a:t>
            </a:r>
            <a:endParaRPr sz="6400">
              <a:latin typeface="EB Garamond"/>
              <a:ea typeface="EB Garamond"/>
              <a:cs typeface="EB Garamond"/>
              <a:sym typeface="EB Garamond"/>
            </a:endParaRPr>
          </a:p>
          <a:p>
            <a:pPr indent="-330200" lvl="0" marL="457200" marR="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However, picking up on Tacit Knowledge is costly and time consuming</a:t>
            </a:r>
            <a:endParaRPr sz="6400">
              <a:latin typeface="EB Garamond"/>
              <a:ea typeface="EB Garamond"/>
              <a:cs typeface="EB Garamond"/>
              <a:sym typeface="EB Garamond"/>
            </a:endParaRPr>
          </a:p>
          <a:p>
            <a:pPr indent="-330200" lvl="1" marL="9144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The solution: Specialization!</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sz="6200">
              <a:latin typeface="EB Garamond"/>
              <a:ea typeface="EB Garamond"/>
              <a:cs typeface="EB Garamond"/>
              <a:sym typeface="EB Garamond"/>
            </a:endParaRPr>
          </a:p>
        </p:txBody>
      </p:sp>
      <p:sp>
        <p:nvSpPr>
          <p:cNvPr id="139" name="Google Shape;13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Scrabble Tile Analogy</a:t>
            </a:r>
            <a:endParaRPr>
              <a:latin typeface="EB Garamond"/>
              <a:ea typeface="EB Garamond"/>
              <a:cs typeface="EB Garamond"/>
              <a:sym typeface="EB Garamond"/>
            </a:endParaRPr>
          </a:p>
        </p:txBody>
      </p:sp>
      <p:sp>
        <p:nvSpPr>
          <p:cNvPr id="145" name="Google Shape;145;p31"/>
          <p:cNvSpPr txBox="1"/>
          <p:nvPr>
            <p:ph idx="1" type="body"/>
          </p:nvPr>
        </p:nvSpPr>
        <p:spPr>
          <a:xfrm>
            <a:off x="311700" y="1152475"/>
            <a:ext cx="8520600" cy="34164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rmAutofit fontScale="85000" lnSpcReduction="20000"/>
          </a:bodyPr>
          <a:lstStyle/>
          <a:p>
            <a:pPr indent="0" lvl="0" marL="45720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309563" lvl="0" marL="457200" rtl="0" algn="l">
              <a:spcBef>
                <a:spcPts val="1200"/>
              </a:spcBef>
              <a:spcAft>
                <a:spcPts val="0"/>
              </a:spcAft>
              <a:buClr>
                <a:srgbClr val="FFFFFF"/>
              </a:buClr>
              <a:buSzPct val="100000"/>
              <a:buFont typeface="EB Garamond"/>
              <a:buChar char="-"/>
            </a:pPr>
            <a:r>
              <a:t/>
            </a:r>
            <a:endParaRPr sz="1500">
              <a:latin typeface="EB Garamond"/>
              <a:ea typeface="EB Garamond"/>
              <a:cs typeface="EB Garamond"/>
              <a:sym typeface="EB Garamond"/>
            </a:endParaRPr>
          </a:p>
          <a:p>
            <a:pPr indent="-336806" lvl="0" marL="457200" rtl="0" algn="l">
              <a:lnSpc>
                <a:spcPct val="115000"/>
              </a:lnSpc>
              <a:spcBef>
                <a:spcPts val="0"/>
              </a:spcBef>
              <a:spcAft>
                <a:spcPts val="0"/>
              </a:spcAft>
              <a:buSzPct val="100000"/>
              <a:buFont typeface="EB Garamond"/>
              <a:buChar char="-"/>
            </a:pPr>
            <a:r>
              <a:rPr lang="en" sz="2005">
                <a:latin typeface="EB Garamond"/>
                <a:ea typeface="EB Garamond"/>
                <a:cs typeface="EB Garamond"/>
                <a:sym typeface="EB Garamond"/>
              </a:rPr>
              <a:t>The more letters, the more words one can form with them -- in other words, the more capabilities, the more products a country can develop → </a:t>
            </a:r>
            <a:r>
              <a:rPr b="1" lang="en" sz="2005">
                <a:latin typeface="EB Garamond"/>
                <a:ea typeface="EB Garamond"/>
                <a:cs typeface="EB Garamond"/>
                <a:sym typeface="EB Garamond"/>
              </a:rPr>
              <a:t>Diversity</a:t>
            </a:r>
            <a:endParaRPr b="1" sz="2005">
              <a:latin typeface="EB Garamond"/>
              <a:ea typeface="EB Garamond"/>
              <a:cs typeface="EB Garamond"/>
              <a:sym typeface="EB Garamond"/>
            </a:endParaRPr>
          </a:p>
          <a:p>
            <a:pPr indent="-336806" lvl="0" marL="457200" rtl="0" algn="l">
              <a:lnSpc>
                <a:spcPct val="115000"/>
              </a:lnSpc>
              <a:spcBef>
                <a:spcPts val="0"/>
              </a:spcBef>
              <a:spcAft>
                <a:spcPts val="0"/>
              </a:spcAft>
              <a:buClr>
                <a:srgbClr val="FFFFFF"/>
              </a:buClr>
              <a:buSzPct val="100000"/>
              <a:buFont typeface="EB Garamond"/>
              <a:buChar char="-"/>
            </a:pPr>
            <a:r>
              <a:t/>
            </a:r>
            <a:endParaRPr b="1" sz="2005">
              <a:latin typeface="EB Garamond"/>
              <a:ea typeface="EB Garamond"/>
              <a:cs typeface="EB Garamond"/>
              <a:sym typeface="EB Garamond"/>
            </a:endParaRPr>
          </a:p>
          <a:p>
            <a:pPr indent="-336806" lvl="0" marL="457200" rtl="0" algn="l">
              <a:lnSpc>
                <a:spcPct val="115000"/>
              </a:lnSpc>
              <a:spcBef>
                <a:spcPts val="0"/>
              </a:spcBef>
              <a:spcAft>
                <a:spcPts val="0"/>
              </a:spcAft>
              <a:buSzPct val="100000"/>
              <a:buFont typeface="EB Garamond"/>
              <a:buChar char="-"/>
            </a:pPr>
            <a:r>
              <a:rPr lang="en" sz="2005">
                <a:latin typeface="EB Garamond"/>
                <a:ea typeface="EB Garamond"/>
                <a:cs typeface="EB Garamond"/>
                <a:sym typeface="EB Garamond"/>
              </a:rPr>
              <a:t>Longer, more complex words, are likely to be formed by less people due to the costs required to build the word -- in other words, more complex products that require a greater combination of capabilities can only be created by a smaller group of countries → </a:t>
            </a:r>
            <a:r>
              <a:rPr b="1" lang="en" sz="2005">
                <a:latin typeface="EB Garamond"/>
                <a:ea typeface="EB Garamond"/>
                <a:cs typeface="EB Garamond"/>
                <a:sym typeface="EB Garamond"/>
              </a:rPr>
              <a:t>Ubiquity</a:t>
            </a:r>
            <a:endParaRPr>
              <a:latin typeface="EB Garamond"/>
              <a:ea typeface="EB Garamond"/>
              <a:cs typeface="EB Garamond"/>
              <a:sym typeface="EB Garamond"/>
            </a:endParaRPr>
          </a:p>
        </p:txBody>
      </p:sp>
      <p:sp>
        <p:nvSpPr>
          <p:cNvPr id="146" name="Google Shape;146;p31"/>
          <p:cNvSpPr/>
          <p:nvPr/>
        </p:nvSpPr>
        <p:spPr>
          <a:xfrm>
            <a:off x="3551036" y="1101325"/>
            <a:ext cx="366900" cy="36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C</a:t>
            </a:r>
            <a:endParaRPr b="1" sz="1500"/>
          </a:p>
        </p:txBody>
      </p:sp>
      <p:sp>
        <p:nvSpPr>
          <p:cNvPr id="147" name="Google Shape;147;p31"/>
          <p:cNvSpPr/>
          <p:nvPr/>
        </p:nvSpPr>
        <p:spPr>
          <a:xfrm>
            <a:off x="4388557" y="1101325"/>
            <a:ext cx="366900" cy="36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A</a:t>
            </a:r>
            <a:endParaRPr b="1" sz="1500"/>
          </a:p>
        </p:txBody>
      </p:sp>
      <p:sp>
        <p:nvSpPr>
          <p:cNvPr id="148" name="Google Shape;148;p31"/>
          <p:cNvSpPr/>
          <p:nvPr/>
        </p:nvSpPr>
        <p:spPr>
          <a:xfrm>
            <a:off x="5226070" y="1112929"/>
            <a:ext cx="366900" cy="33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R</a:t>
            </a:r>
            <a:endParaRPr b="1" sz="1500"/>
          </a:p>
        </p:txBody>
      </p:sp>
      <p:sp>
        <p:nvSpPr>
          <p:cNvPr id="149" name="Google Shape;149;p31"/>
          <p:cNvSpPr txBox="1"/>
          <p:nvPr/>
        </p:nvSpPr>
        <p:spPr>
          <a:xfrm>
            <a:off x="2435250" y="1974025"/>
            <a:ext cx="42735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latin typeface="EB Garamond"/>
                <a:ea typeface="EB Garamond"/>
                <a:cs typeface="EB Garamond"/>
                <a:sym typeface="EB Garamond"/>
              </a:rPr>
              <a:t>Individual letters represent specific capabilities, which can come together to form multiple different words, or products</a:t>
            </a:r>
            <a:endParaRPr sz="1300">
              <a:latin typeface="EB Garamond"/>
              <a:ea typeface="EB Garamond"/>
              <a:cs typeface="EB Garamond"/>
              <a:sym typeface="EB Garamond"/>
            </a:endParaRPr>
          </a:p>
        </p:txBody>
      </p:sp>
      <p:cxnSp>
        <p:nvCxnSpPr>
          <p:cNvPr id="150" name="Google Shape;150;p31"/>
          <p:cNvCxnSpPr>
            <a:stCxn id="149" idx="0"/>
            <a:endCxn id="146" idx="2"/>
          </p:cNvCxnSpPr>
          <p:nvPr/>
        </p:nvCxnSpPr>
        <p:spPr>
          <a:xfrm rot="10800000">
            <a:off x="3734400" y="1463725"/>
            <a:ext cx="837600" cy="5103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31"/>
          <p:cNvCxnSpPr>
            <a:stCxn id="149" idx="0"/>
            <a:endCxn id="147" idx="2"/>
          </p:cNvCxnSpPr>
          <p:nvPr/>
        </p:nvCxnSpPr>
        <p:spPr>
          <a:xfrm rot="10800000">
            <a:off x="4572000" y="1463725"/>
            <a:ext cx="0" cy="5103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31"/>
          <p:cNvCxnSpPr>
            <a:stCxn id="149" idx="0"/>
            <a:endCxn id="148" idx="2"/>
          </p:cNvCxnSpPr>
          <p:nvPr/>
        </p:nvCxnSpPr>
        <p:spPr>
          <a:xfrm flipH="1" rot="10800000">
            <a:off x="4572000" y="1452325"/>
            <a:ext cx="837600" cy="5217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Calculation</a:t>
            </a:r>
            <a:endParaRPr>
              <a:latin typeface="EB Garamond"/>
              <a:ea typeface="EB Garamond"/>
              <a:cs typeface="EB Garamond"/>
              <a:sym typeface="EB Garamond"/>
            </a:endParaRPr>
          </a:p>
        </p:txBody>
      </p:sp>
      <p:sp>
        <p:nvSpPr>
          <p:cNvPr id="159" name="Google Shape;15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The calculation of ECI is primarily based on comparative </a:t>
            </a:r>
            <a:r>
              <a:rPr lang="en" sz="1600">
                <a:latin typeface="EB Garamond"/>
                <a:ea typeface="EB Garamond"/>
                <a:cs typeface="EB Garamond"/>
                <a:sym typeface="EB Garamond"/>
              </a:rPr>
              <a:t>advantages</a:t>
            </a:r>
            <a:r>
              <a:rPr lang="en" sz="1600">
                <a:latin typeface="EB Garamond"/>
                <a:ea typeface="EB Garamond"/>
                <a:cs typeface="EB Garamond"/>
                <a:sym typeface="EB Garamond"/>
              </a:rPr>
              <a:t> in production.</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Revealed Comparative Advantages (RCA): It measures the relative advantage of a country producing a product than other countries.</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Mathematical expression:</a:t>
            </a:r>
            <a:endParaRPr sz="1600">
              <a:latin typeface="EB Garamond"/>
              <a:ea typeface="EB Garamond"/>
              <a:cs typeface="EB Garamond"/>
              <a:sym typeface="EB Garamond"/>
            </a:endParaRPr>
          </a:p>
          <a:p>
            <a:pPr indent="0" lvl="0" marL="91440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rPr lang="en" sz="1600">
                <a:latin typeface="EB Garamond"/>
                <a:ea typeface="EB Garamond"/>
                <a:cs typeface="EB Garamond"/>
                <a:sym typeface="EB Garamond"/>
              </a:rPr>
              <a:t>	</a:t>
            </a:r>
            <a:endParaRPr sz="1600">
              <a:latin typeface="EB Garamond"/>
              <a:ea typeface="EB Garamond"/>
              <a:cs typeface="EB Garamond"/>
              <a:sym typeface="EB Garamond"/>
            </a:endParaRPr>
          </a:p>
          <a:p>
            <a:pPr indent="457200" lvl="0" marL="0" rtl="0" algn="l">
              <a:spcBef>
                <a:spcPts val="1000"/>
              </a:spcBef>
              <a:spcAft>
                <a:spcPts val="0"/>
              </a:spcAft>
              <a:buNone/>
            </a:pPr>
            <a:r>
              <a:rPr lang="en" sz="1600">
                <a:latin typeface="EB Garamond"/>
                <a:ea typeface="EB Garamond"/>
                <a:cs typeface="EB Garamond"/>
                <a:sym typeface="EB Garamond"/>
              </a:rPr>
              <a:t>where X</a:t>
            </a:r>
            <a:r>
              <a:rPr lang="en" sz="1000">
                <a:latin typeface="EB Garamond"/>
                <a:ea typeface="EB Garamond"/>
                <a:cs typeface="EB Garamond"/>
                <a:sym typeface="EB Garamond"/>
              </a:rPr>
              <a:t>cp </a:t>
            </a:r>
            <a:r>
              <a:rPr lang="en" sz="1600">
                <a:latin typeface="EB Garamond"/>
                <a:ea typeface="EB Garamond"/>
                <a:cs typeface="EB Garamond"/>
                <a:sym typeface="EB Garamond"/>
              </a:rPr>
              <a:t>means the export value of a country c in product p</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Intuition: A country possesses a product advantage if it produces more than a product’s “fair” share.</a:t>
            </a:r>
            <a:endParaRPr sz="1600">
              <a:latin typeface="EB Garamond"/>
              <a:ea typeface="EB Garamond"/>
              <a:cs typeface="EB Garamond"/>
              <a:sym typeface="EB Garamond"/>
            </a:endParaRPr>
          </a:p>
          <a:p>
            <a:pPr indent="0" lvl="0" marL="0" rtl="0" algn="l">
              <a:spcBef>
                <a:spcPts val="1000"/>
              </a:spcBef>
              <a:spcAft>
                <a:spcPts val="1000"/>
              </a:spcAft>
              <a:buNone/>
            </a:pPr>
            <a:r>
              <a:t/>
            </a:r>
            <a:endParaRPr sz="1600">
              <a:latin typeface="EB Garamond"/>
              <a:ea typeface="EB Garamond"/>
              <a:cs typeface="EB Garamond"/>
              <a:sym typeface="EB Garamond"/>
            </a:endParaRPr>
          </a:p>
        </p:txBody>
      </p:sp>
      <p:pic>
        <p:nvPicPr>
          <p:cNvPr id="160" name="Google Shape;160;p32"/>
          <p:cNvPicPr preferRelativeResize="0"/>
          <p:nvPr/>
        </p:nvPicPr>
        <p:blipFill rotWithShape="1">
          <a:blip r:embed="rId3">
            <a:alphaModFix/>
          </a:blip>
          <a:srcRect b="10746" l="0" r="0" t="0"/>
          <a:stretch/>
        </p:blipFill>
        <p:spPr>
          <a:xfrm>
            <a:off x="3596325" y="2668500"/>
            <a:ext cx="1951325" cy="572700"/>
          </a:xfrm>
          <a:prstGeom prst="rect">
            <a:avLst/>
          </a:prstGeom>
          <a:noFill/>
          <a:ln>
            <a:noFill/>
          </a:ln>
        </p:spPr>
      </p:pic>
      <p:sp>
        <p:nvSpPr>
          <p:cNvPr id="161" name="Google Shape;1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Calculation</a:t>
            </a:r>
            <a:endParaRPr/>
          </a:p>
        </p:txBody>
      </p:sp>
      <p:sp>
        <p:nvSpPr>
          <p:cNvPr id="167" name="Google Shape;167;p33"/>
          <p:cNvSpPr txBox="1"/>
          <p:nvPr>
            <p:ph idx="1" type="body"/>
          </p:nvPr>
        </p:nvSpPr>
        <p:spPr>
          <a:xfrm>
            <a:off x="311700" y="1152475"/>
            <a:ext cx="40680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Matrix of comparative advantage: A matrix to show a holistic overview in the comparative advantage among all the countries in all the products.</a:t>
            </a:r>
            <a:endParaRPr sz="16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330200" lvl="0" marL="457200" rtl="0" algn="l">
              <a:spcBef>
                <a:spcPts val="1000"/>
              </a:spcBef>
              <a:spcAft>
                <a:spcPts val="1000"/>
              </a:spcAft>
              <a:buSzPts val="1600"/>
              <a:buFont typeface="EB Garamond"/>
              <a:buChar char="-"/>
            </a:pPr>
            <a:r>
              <a:rPr lang="en" sz="1600">
                <a:latin typeface="EB Garamond"/>
                <a:ea typeface="EB Garamond"/>
                <a:cs typeface="EB Garamond"/>
                <a:sym typeface="EB Garamond"/>
              </a:rPr>
              <a:t>Binary definition: The entries in matrix of comparative advantage are 0’s or 1’s. 0 denotes that a country does not have comparative advantage in producing a product and vice versa.</a:t>
            </a:r>
            <a:endParaRPr sz="1600">
              <a:latin typeface="EB Garamond"/>
              <a:ea typeface="EB Garamond"/>
              <a:cs typeface="EB Garamond"/>
              <a:sym typeface="EB Garamond"/>
            </a:endParaRPr>
          </a:p>
        </p:txBody>
      </p:sp>
      <p:pic>
        <p:nvPicPr>
          <p:cNvPr id="168" name="Google Shape;168;p33"/>
          <p:cNvPicPr preferRelativeResize="0"/>
          <p:nvPr/>
        </p:nvPicPr>
        <p:blipFill rotWithShape="1">
          <a:blip r:embed="rId3">
            <a:alphaModFix/>
          </a:blip>
          <a:srcRect b="24882" l="21241" r="20293" t="14519"/>
          <a:stretch/>
        </p:blipFill>
        <p:spPr>
          <a:xfrm>
            <a:off x="4837951" y="2322500"/>
            <a:ext cx="3584700" cy="2786549"/>
          </a:xfrm>
          <a:prstGeom prst="rect">
            <a:avLst/>
          </a:prstGeom>
          <a:noFill/>
          <a:ln>
            <a:noFill/>
          </a:ln>
        </p:spPr>
      </p:pic>
      <p:pic>
        <p:nvPicPr>
          <p:cNvPr id="169" name="Google Shape;169;p33"/>
          <p:cNvPicPr preferRelativeResize="0"/>
          <p:nvPr/>
        </p:nvPicPr>
        <p:blipFill>
          <a:blip r:embed="rId4">
            <a:alphaModFix/>
          </a:blip>
          <a:stretch>
            <a:fillRect/>
          </a:stretch>
        </p:blipFill>
        <p:spPr>
          <a:xfrm>
            <a:off x="5669633" y="1633738"/>
            <a:ext cx="2124540" cy="688775"/>
          </a:xfrm>
          <a:prstGeom prst="rect">
            <a:avLst/>
          </a:prstGeom>
          <a:noFill/>
          <a:ln>
            <a:noFill/>
          </a:ln>
        </p:spPr>
      </p:pic>
      <p:sp>
        <p:nvSpPr>
          <p:cNvPr id="170" name="Google Shape;170;p33"/>
          <p:cNvSpPr txBox="1"/>
          <p:nvPr/>
        </p:nvSpPr>
        <p:spPr>
          <a:xfrm>
            <a:off x="4745150" y="1152475"/>
            <a:ext cx="27399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1000"/>
              </a:spcAft>
              <a:buClr>
                <a:schemeClr val="dk2"/>
              </a:buClr>
              <a:buSzPts val="1600"/>
              <a:buFont typeface="EB Garamond"/>
              <a:buChar char="-"/>
            </a:pPr>
            <a:r>
              <a:rPr lang="en" sz="1600">
                <a:solidFill>
                  <a:schemeClr val="dk2"/>
                </a:solidFill>
                <a:latin typeface="EB Garamond"/>
                <a:ea typeface="EB Garamond"/>
                <a:cs typeface="EB Garamond"/>
                <a:sym typeface="EB Garamond"/>
              </a:rPr>
              <a:t>Mathematical Expression:</a:t>
            </a:r>
            <a:endParaRPr/>
          </a:p>
        </p:txBody>
      </p:sp>
      <p:sp>
        <p:nvSpPr>
          <p:cNvPr id="171" name="Google Shape;17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EB Garamond"/>
                <a:ea typeface="EB Garamond"/>
                <a:cs typeface="EB Garamond"/>
                <a:sym typeface="EB Garamond"/>
              </a:rPr>
              <a:t>ECI Calculation</a:t>
            </a:r>
            <a:endParaRPr/>
          </a:p>
          <a:p>
            <a:pPr indent="0" lvl="0" marL="0" rtl="0" algn="l">
              <a:spcBef>
                <a:spcPts val="0"/>
              </a:spcBef>
              <a:spcAft>
                <a:spcPts val="0"/>
              </a:spcAft>
              <a:buNone/>
            </a:pPr>
            <a:r>
              <a:t/>
            </a:r>
            <a:endParaRPr/>
          </a:p>
        </p:txBody>
      </p:sp>
      <p:sp>
        <p:nvSpPr>
          <p:cNvPr id="177" name="Google Shape;177;p34"/>
          <p:cNvSpPr txBox="1"/>
          <p:nvPr>
            <p:ph idx="1" type="body"/>
          </p:nvPr>
        </p:nvSpPr>
        <p:spPr>
          <a:xfrm>
            <a:off x="311700" y="1114900"/>
            <a:ext cx="8520600" cy="801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sz="1600">
                <a:latin typeface="EB Garamond"/>
                <a:ea typeface="EB Garamond"/>
                <a:cs typeface="EB Garamond"/>
                <a:sym typeface="EB Garamond"/>
              </a:rPr>
              <a:t>The calculation of ECI is based on the iterative correction between the </a:t>
            </a:r>
            <a:r>
              <a:rPr b="1" lang="en" sz="1600">
                <a:latin typeface="EB Garamond"/>
                <a:ea typeface="EB Garamond"/>
                <a:cs typeface="EB Garamond"/>
                <a:sym typeface="EB Garamond"/>
              </a:rPr>
              <a:t>diversity</a:t>
            </a:r>
            <a:r>
              <a:rPr lang="en" sz="1600">
                <a:latin typeface="EB Garamond"/>
                <a:ea typeface="EB Garamond"/>
                <a:cs typeface="EB Garamond"/>
                <a:sym typeface="EB Garamond"/>
              </a:rPr>
              <a:t> of a country product space and the </a:t>
            </a:r>
            <a:r>
              <a:rPr b="1" lang="en" sz="1600">
                <a:latin typeface="EB Garamond"/>
                <a:ea typeface="EB Garamond"/>
                <a:cs typeface="EB Garamond"/>
                <a:sym typeface="EB Garamond"/>
              </a:rPr>
              <a:t>ubiquity</a:t>
            </a:r>
            <a:r>
              <a:rPr lang="en" sz="1600">
                <a:latin typeface="EB Garamond"/>
                <a:ea typeface="EB Garamond"/>
                <a:cs typeface="EB Garamond"/>
                <a:sym typeface="EB Garamond"/>
              </a:rPr>
              <a:t> of the products that a country produces.</a:t>
            </a:r>
            <a:endParaRPr sz="1600">
              <a:latin typeface="EB Garamond"/>
              <a:ea typeface="EB Garamond"/>
              <a:cs typeface="EB Garamond"/>
              <a:sym typeface="EB Garamond"/>
            </a:endParaRPr>
          </a:p>
        </p:txBody>
      </p:sp>
      <p:sp>
        <p:nvSpPr>
          <p:cNvPr id="178" name="Google Shape;178;p34"/>
          <p:cNvSpPr txBox="1"/>
          <p:nvPr/>
        </p:nvSpPr>
        <p:spPr>
          <a:xfrm>
            <a:off x="504975" y="2013975"/>
            <a:ext cx="4209000" cy="267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EB Garamond"/>
                <a:ea typeface="EB Garamond"/>
                <a:cs typeface="EB Garamond"/>
                <a:sym typeface="EB Garamond"/>
              </a:rPr>
              <a:t>Diversity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120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A term defined for country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It measures how many products that a country is “dominantly” producing</a:t>
            </a:r>
            <a:endParaRPr sz="1600">
              <a:solidFill>
                <a:schemeClr val="dk2"/>
              </a:solidFill>
              <a:latin typeface="EB Garamond"/>
              <a:ea typeface="EB Garamond"/>
              <a:cs typeface="EB Garamond"/>
              <a:sym typeface="EB Garamond"/>
            </a:endParaRPr>
          </a:p>
          <a:p>
            <a:pPr indent="-349250" lvl="0" marL="457200" rtl="0" algn="l">
              <a:lnSpc>
                <a:spcPct val="115000"/>
              </a:lnSpc>
              <a:spcBef>
                <a:spcPts val="0"/>
              </a:spcBef>
              <a:spcAft>
                <a:spcPts val="0"/>
              </a:spcAft>
              <a:buClr>
                <a:schemeClr val="dk2"/>
              </a:buClr>
              <a:buSzPts val="1900"/>
              <a:buFont typeface="EB Garamond"/>
              <a:buChar char="-"/>
            </a:pPr>
            <a:r>
              <a:t/>
            </a:r>
            <a:endParaRPr sz="19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Drawback: it cannot tell whether the products being produced are high-end or low-end</a:t>
            </a:r>
            <a:endParaRPr sz="1600">
              <a:solidFill>
                <a:schemeClr val="dk2"/>
              </a:solidFill>
              <a:latin typeface="EB Garamond"/>
              <a:ea typeface="EB Garamond"/>
              <a:cs typeface="EB Garamond"/>
              <a:sym typeface="EB Garamond"/>
            </a:endParaRPr>
          </a:p>
          <a:p>
            <a:pPr indent="0" lvl="0" marL="914400" rtl="0" algn="l">
              <a:lnSpc>
                <a:spcPct val="115000"/>
              </a:lnSpc>
              <a:spcBef>
                <a:spcPts val="1200"/>
              </a:spcBef>
              <a:spcAft>
                <a:spcPts val="1000"/>
              </a:spcAft>
              <a:buNone/>
            </a:pPr>
            <a:r>
              <a:t/>
            </a:r>
            <a:endParaRPr/>
          </a:p>
        </p:txBody>
      </p:sp>
      <p:sp>
        <p:nvSpPr>
          <p:cNvPr id="179" name="Google Shape;179;p34"/>
          <p:cNvSpPr txBox="1"/>
          <p:nvPr/>
        </p:nvSpPr>
        <p:spPr>
          <a:xfrm>
            <a:off x="4935000" y="2013975"/>
            <a:ext cx="4209000" cy="267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EB Garamond"/>
                <a:ea typeface="EB Garamond"/>
                <a:cs typeface="EB Garamond"/>
                <a:sym typeface="EB Garamond"/>
              </a:rPr>
              <a:t>Ubiquity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120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A term defined for product</a:t>
            </a:r>
            <a:endParaRPr sz="16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It measures how many countries are “dominantly” producing a product</a:t>
            </a:r>
            <a:endParaRPr sz="2400">
              <a:solidFill>
                <a:schemeClr val="dk2"/>
              </a:solidFill>
              <a:latin typeface="EB Garamond"/>
              <a:ea typeface="EB Garamond"/>
              <a:cs typeface="EB Garamond"/>
              <a:sym typeface="EB Garamond"/>
            </a:endParaRPr>
          </a:p>
          <a:p>
            <a:pPr indent="-349250" lvl="0" marL="457200" rtl="0" algn="l">
              <a:lnSpc>
                <a:spcPct val="115000"/>
              </a:lnSpc>
              <a:spcBef>
                <a:spcPts val="0"/>
              </a:spcBef>
              <a:spcAft>
                <a:spcPts val="0"/>
              </a:spcAft>
              <a:buClr>
                <a:schemeClr val="dk2"/>
              </a:buClr>
              <a:buSzPts val="1900"/>
              <a:buFont typeface="EB Garamond"/>
              <a:buChar char="-"/>
            </a:pPr>
            <a:r>
              <a:t/>
            </a:r>
            <a:endParaRPr sz="19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Drawback: it cannot tell whether those countries are more or less developed </a:t>
            </a:r>
            <a:endParaRPr sz="1600">
              <a:solidFill>
                <a:schemeClr val="dk2"/>
              </a:solidFill>
              <a:latin typeface="EB Garamond"/>
              <a:ea typeface="EB Garamond"/>
              <a:cs typeface="EB Garamond"/>
              <a:sym typeface="EB Garamond"/>
            </a:endParaRPr>
          </a:p>
          <a:p>
            <a:pPr indent="0" lvl="0" marL="914400" rtl="0" algn="l">
              <a:lnSpc>
                <a:spcPct val="115000"/>
              </a:lnSpc>
              <a:spcBef>
                <a:spcPts val="1200"/>
              </a:spcBef>
              <a:spcAft>
                <a:spcPts val="1000"/>
              </a:spcAft>
              <a:buNone/>
            </a:pPr>
            <a:r>
              <a:t/>
            </a:r>
            <a:endParaRPr/>
          </a:p>
        </p:txBody>
      </p:sp>
      <p:pic>
        <p:nvPicPr>
          <p:cNvPr id="180" name="Google Shape;180;p34"/>
          <p:cNvPicPr preferRelativeResize="0"/>
          <p:nvPr/>
        </p:nvPicPr>
        <p:blipFill>
          <a:blip r:embed="rId3">
            <a:alphaModFix/>
          </a:blip>
          <a:stretch>
            <a:fillRect/>
          </a:stretch>
        </p:blipFill>
        <p:spPr>
          <a:xfrm>
            <a:off x="944600" y="3409350"/>
            <a:ext cx="2093224" cy="277850"/>
          </a:xfrm>
          <a:prstGeom prst="rect">
            <a:avLst/>
          </a:prstGeom>
          <a:noFill/>
          <a:ln>
            <a:noFill/>
          </a:ln>
        </p:spPr>
      </p:pic>
      <p:pic>
        <p:nvPicPr>
          <p:cNvPr id="181" name="Google Shape;181;p34"/>
          <p:cNvPicPr preferRelativeResize="0"/>
          <p:nvPr/>
        </p:nvPicPr>
        <p:blipFill>
          <a:blip r:embed="rId4">
            <a:alphaModFix/>
          </a:blip>
          <a:stretch>
            <a:fillRect/>
          </a:stretch>
        </p:blipFill>
        <p:spPr>
          <a:xfrm>
            <a:off x="5401060" y="3453317"/>
            <a:ext cx="2093391" cy="277850"/>
          </a:xfrm>
          <a:prstGeom prst="rect">
            <a:avLst/>
          </a:prstGeom>
          <a:noFill/>
          <a:ln>
            <a:noFill/>
          </a:ln>
        </p:spPr>
      </p:pic>
      <p:sp>
        <p:nvSpPr>
          <p:cNvPr id="182" name="Google Shape;18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Diversity &amp; Ubiquity Visualization</a:t>
            </a:r>
            <a:endParaRPr>
              <a:latin typeface="EB Garamond"/>
              <a:ea typeface="EB Garamond"/>
              <a:cs typeface="EB Garamond"/>
              <a:sym typeface="EB Garamond"/>
            </a:endParaRPr>
          </a:p>
        </p:txBody>
      </p:sp>
      <p:sp>
        <p:nvSpPr>
          <p:cNvPr id="188" name="Google Shape;18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189" name="Google Shape;189;p35"/>
          <p:cNvPicPr preferRelativeResize="0"/>
          <p:nvPr/>
        </p:nvPicPr>
        <p:blipFill rotWithShape="1">
          <a:blip r:embed="rId3">
            <a:alphaModFix/>
          </a:blip>
          <a:srcRect b="10746" l="0" r="0" t="12111"/>
          <a:stretch/>
        </p:blipFill>
        <p:spPr>
          <a:xfrm>
            <a:off x="1173913" y="1261950"/>
            <a:ext cx="6796175" cy="3555624"/>
          </a:xfrm>
          <a:prstGeom prst="rect">
            <a:avLst/>
          </a:prstGeom>
          <a:noFill/>
          <a:ln>
            <a:noFill/>
          </a:ln>
        </p:spPr>
      </p:pic>
      <p:sp>
        <p:nvSpPr>
          <p:cNvPr id="190" name="Google Shape;19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EB Garamond"/>
                <a:ea typeface="EB Garamond"/>
                <a:cs typeface="EB Garamond"/>
                <a:sym typeface="EB Garamond"/>
              </a:rPr>
              <a:t>ECI Calculation</a:t>
            </a:r>
            <a:endParaRPr/>
          </a:p>
        </p:txBody>
      </p:sp>
      <p:sp>
        <p:nvSpPr>
          <p:cNvPr id="196" name="Google Shape;196;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EB Garamond"/>
              <a:buChar char="-"/>
            </a:pPr>
            <a:r>
              <a:rPr lang="en" sz="1600">
                <a:latin typeface="EB Garamond"/>
                <a:ea typeface="EB Garamond"/>
                <a:cs typeface="EB Garamond"/>
                <a:sym typeface="EB Garamond"/>
              </a:rPr>
              <a:t>Since </a:t>
            </a:r>
            <a:r>
              <a:rPr b="1" lang="en" sz="1600">
                <a:latin typeface="EB Garamond"/>
                <a:ea typeface="EB Garamond"/>
                <a:cs typeface="EB Garamond"/>
                <a:sym typeface="EB Garamond"/>
              </a:rPr>
              <a:t>diversity</a:t>
            </a:r>
            <a:r>
              <a:rPr lang="en" sz="1600">
                <a:latin typeface="EB Garamond"/>
                <a:ea typeface="EB Garamond"/>
                <a:cs typeface="EB Garamond"/>
                <a:sym typeface="EB Garamond"/>
              </a:rPr>
              <a:t> and </a:t>
            </a:r>
            <a:r>
              <a:rPr b="1" lang="en" sz="1600">
                <a:latin typeface="EB Garamond"/>
                <a:ea typeface="EB Garamond"/>
                <a:cs typeface="EB Garamond"/>
                <a:sym typeface="EB Garamond"/>
              </a:rPr>
              <a:t>ubiquity</a:t>
            </a:r>
            <a:r>
              <a:rPr lang="en" sz="1600">
                <a:latin typeface="EB Garamond"/>
                <a:ea typeface="EB Garamond"/>
                <a:cs typeface="EB Garamond"/>
                <a:sym typeface="EB Garamond"/>
              </a:rPr>
              <a:t> can speak for each other, we can create a connection between these two quantities.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Modified diversity: </a:t>
            </a:r>
            <a:endParaRPr sz="1600">
              <a:latin typeface="EB Garamond"/>
              <a:ea typeface="EB Garamond"/>
              <a:cs typeface="EB Garamond"/>
              <a:sym typeface="EB Garamond"/>
            </a:endParaRPr>
          </a:p>
          <a:p>
            <a:pPr indent="0" lvl="0" marL="0" rtl="0" algn="l">
              <a:spcBef>
                <a:spcPts val="1000"/>
              </a:spcBef>
              <a:spcAft>
                <a:spcPts val="0"/>
              </a:spcAft>
              <a:buNone/>
            </a:pPr>
            <a:r>
              <a:t/>
            </a:r>
            <a:endParaRPr sz="9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Modified ubiquity: </a:t>
            </a:r>
            <a:endParaRPr sz="1600">
              <a:latin typeface="EB Garamond"/>
              <a:ea typeface="EB Garamond"/>
              <a:cs typeface="EB Garamond"/>
              <a:sym typeface="EB Garamond"/>
            </a:endParaRPr>
          </a:p>
          <a:p>
            <a:pPr indent="0" lvl="0" marL="0" rtl="0" algn="l">
              <a:spcBef>
                <a:spcPts val="1000"/>
              </a:spcBef>
              <a:spcAft>
                <a:spcPts val="0"/>
              </a:spcAft>
              <a:buNone/>
            </a:pPr>
            <a:r>
              <a:t/>
            </a:r>
            <a:endParaRPr>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ECI can be calculated by the standardization of solution of  the equation:</a:t>
            </a:r>
            <a:endParaRPr sz="1600">
              <a:latin typeface="EB Garamond"/>
              <a:ea typeface="EB Garamond"/>
              <a:cs typeface="EB Garamond"/>
              <a:sym typeface="EB Garamond"/>
            </a:endParaRPr>
          </a:p>
          <a:p>
            <a:pPr indent="0" lvl="0" marL="45720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1000"/>
              </a:spcAft>
              <a:buNone/>
            </a:pPr>
            <a:r>
              <a:t/>
            </a:r>
            <a:endParaRPr sz="1600">
              <a:latin typeface="EB Garamond"/>
              <a:ea typeface="EB Garamond"/>
              <a:cs typeface="EB Garamond"/>
              <a:sym typeface="EB Garamond"/>
            </a:endParaRPr>
          </a:p>
        </p:txBody>
      </p:sp>
      <p:pic>
        <p:nvPicPr>
          <p:cNvPr id="197" name="Google Shape;197;p36"/>
          <p:cNvPicPr preferRelativeResize="0"/>
          <p:nvPr/>
        </p:nvPicPr>
        <p:blipFill>
          <a:blip r:embed="rId3">
            <a:alphaModFix/>
          </a:blip>
          <a:stretch>
            <a:fillRect/>
          </a:stretch>
        </p:blipFill>
        <p:spPr>
          <a:xfrm>
            <a:off x="3424688" y="2031799"/>
            <a:ext cx="2294625" cy="463750"/>
          </a:xfrm>
          <a:prstGeom prst="rect">
            <a:avLst/>
          </a:prstGeom>
          <a:noFill/>
          <a:ln>
            <a:noFill/>
          </a:ln>
        </p:spPr>
      </p:pic>
      <p:pic>
        <p:nvPicPr>
          <p:cNvPr id="198" name="Google Shape;198;p36"/>
          <p:cNvPicPr preferRelativeResize="0"/>
          <p:nvPr/>
        </p:nvPicPr>
        <p:blipFill>
          <a:blip r:embed="rId4">
            <a:alphaModFix/>
          </a:blip>
          <a:stretch>
            <a:fillRect/>
          </a:stretch>
        </p:blipFill>
        <p:spPr>
          <a:xfrm>
            <a:off x="3424706" y="2803694"/>
            <a:ext cx="2294625" cy="463756"/>
          </a:xfrm>
          <a:prstGeom prst="rect">
            <a:avLst/>
          </a:prstGeom>
          <a:noFill/>
          <a:ln>
            <a:noFill/>
          </a:ln>
        </p:spPr>
      </p:pic>
      <p:pic>
        <p:nvPicPr>
          <p:cNvPr id="199" name="Google Shape;199;p36"/>
          <p:cNvPicPr preferRelativeResize="0"/>
          <p:nvPr/>
        </p:nvPicPr>
        <p:blipFill>
          <a:blip r:embed="rId5">
            <a:alphaModFix/>
          </a:blip>
          <a:stretch>
            <a:fillRect/>
          </a:stretch>
        </p:blipFill>
        <p:spPr>
          <a:xfrm>
            <a:off x="3424689" y="3792425"/>
            <a:ext cx="2294625" cy="1068319"/>
          </a:xfrm>
          <a:prstGeom prst="rect">
            <a:avLst/>
          </a:prstGeom>
          <a:noFill/>
          <a:ln>
            <a:noFill/>
          </a:ln>
        </p:spPr>
      </p:pic>
      <p:sp>
        <p:nvSpPr>
          <p:cNvPr id="200" name="Google Shape;20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World Map - Visualization</a:t>
            </a:r>
            <a:endParaRPr>
              <a:latin typeface="EB Garamond"/>
              <a:ea typeface="EB Garamond"/>
              <a:cs typeface="EB Garamond"/>
              <a:sym typeface="EB Garamond"/>
            </a:endParaRPr>
          </a:p>
        </p:txBody>
      </p:sp>
      <p:pic>
        <p:nvPicPr>
          <p:cNvPr id="206" name="Google Shape;206;p37"/>
          <p:cNvPicPr preferRelativeResize="0"/>
          <p:nvPr/>
        </p:nvPicPr>
        <p:blipFill>
          <a:blip r:embed="rId3">
            <a:alphaModFix/>
          </a:blip>
          <a:stretch>
            <a:fillRect/>
          </a:stretch>
        </p:blipFill>
        <p:spPr>
          <a:xfrm>
            <a:off x="311700" y="1170122"/>
            <a:ext cx="5927374" cy="3469853"/>
          </a:xfrm>
          <a:prstGeom prst="rect">
            <a:avLst/>
          </a:prstGeom>
          <a:noFill/>
          <a:ln>
            <a:noFill/>
          </a:ln>
        </p:spPr>
      </p:pic>
      <p:pic>
        <p:nvPicPr>
          <p:cNvPr id="207" name="Google Shape;207;p37"/>
          <p:cNvPicPr preferRelativeResize="0"/>
          <p:nvPr/>
        </p:nvPicPr>
        <p:blipFill>
          <a:blip r:embed="rId4">
            <a:alphaModFix/>
          </a:blip>
          <a:stretch>
            <a:fillRect/>
          </a:stretch>
        </p:blipFill>
        <p:spPr>
          <a:xfrm>
            <a:off x="6391474" y="1170125"/>
            <a:ext cx="2600125" cy="3319969"/>
          </a:xfrm>
          <a:prstGeom prst="rect">
            <a:avLst/>
          </a:prstGeom>
          <a:noFill/>
          <a:ln>
            <a:noFill/>
          </a:ln>
        </p:spPr>
      </p:pic>
      <p:sp>
        <p:nvSpPr>
          <p:cNvPr id="208" name="Google Shape;20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 </a:t>
            </a:r>
            <a:r>
              <a:rPr lang="en">
                <a:latin typeface="EB Garamond"/>
                <a:ea typeface="EB Garamond"/>
                <a:cs typeface="EB Garamond"/>
                <a:sym typeface="EB Garamond"/>
              </a:rPr>
              <a:t>Visualization</a:t>
            </a:r>
            <a:endParaRPr>
              <a:latin typeface="EB Garamond"/>
              <a:ea typeface="EB Garamond"/>
              <a:cs typeface="EB Garamond"/>
              <a:sym typeface="EB Garamond"/>
            </a:endParaRPr>
          </a:p>
        </p:txBody>
      </p:sp>
      <p:sp>
        <p:nvSpPr>
          <p:cNvPr id="214" name="Google Shape;214;p38"/>
          <p:cNvSpPr txBox="1"/>
          <p:nvPr>
            <p:ph idx="1" type="body"/>
          </p:nvPr>
        </p:nvSpPr>
        <p:spPr>
          <a:xfrm>
            <a:off x="311775" y="4235750"/>
            <a:ext cx="4080000" cy="4680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1200"/>
              </a:spcAft>
              <a:buNone/>
            </a:pPr>
            <a:r>
              <a:rPr lang="en" sz="1200">
                <a:latin typeface="EB Garamond"/>
                <a:ea typeface="EB Garamond"/>
                <a:cs typeface="EB Garamond"/>
                <a:sym typeface="EB Garamond"/>
              </a:rPr>
              <a:t>Export of  U.S.A. in 2018 (ECI = 1.55)		 </a:t>
            </a:r>
            <a:endParaRPr sz="1200">
              <a:latin typeface="EB Garamond"/>
              <a:ea typeface="EB Garamond"/>
              <a:cs typeface="EB Garamond"/>
              <a:sym typeface="EB Garamond"/>
            </a:endParaRPr>
          </a:p>
        </p:txBody>
      </p:sp>
      <p:pic>
        <p:nvPicPr>
          <p:cNvPr id="215" name="Google Shape;215;p38"/>
          <p:cNvPicPr preferRelativeResize="0"/>
          <p:nvPr/>
        </p:nvPicPr>
        <p:blipFill>
          <a:blip r:embed="rId3">
            <a:alphaModFix/>
          </a:blip>
          <a:stretch>
            <a:fillRect/>
          </a:stretch>
        </p:blipFill>
        <p:spPr>
          <a:xfrm>
            <a:off x="311700" y="1152475"/>
            <a:ext cx="4260301" cy="3078706"/>
          </a:xfrm>
          <a:prstGeom prst="rect">
            <a:avLst/>
          </a:prstGeom>
          <a:noFill/>
          <a:ln>
            <a:noFill/>
          </a:ln>
        </p:spPr>
      </p:pic>
      <p:pic>
        <p:nvPicPr>
          <p:cNvPr id="216" name="Google Shape;216;p38"/>
          <p:cNvPicPr preferRelativeResize="0"/>
          <p:nvPr/>
        </p:nvPicPr>
        <p:blipFill>
          <a:blip r:embed="rId4">
            <a:alphaModFix/>
          </a:blip>
          <a:stretch>
            <a:fillRect/>
          </a:stretch>
        </p:blipFill>
        <p:spPr>
          <a:xfrm>
            <a:off x="4675950" y="1152475"/>
            <a:ext cx="4260322" cy="3078700"/>
          </a:xfrm>
          <a:prstGeom prst="rect">
            <a:avLst/>
          </a:prstGeom>
          <a:noFill/>
          <a:ln>
            <a:noFill/>
          </a:ln>
        </p:spPr>
      </p:pic>
      <p:sp>
        <p:nvSpPr>
          <p:cNvPr id="217" name="Google Shape;217;p38"/>
          <p:cNvSpPr txBox="1"/>
          <p:nvPr>
            <p:ph idx="1" type="body"/>
          </p:nvPr>
        </p:nvSpPr>
        <p:spPr>
          <a:xfrm>
            <a:off x="4752225" y="4235725"/>
            <a:ext cx="4080000" cy="4680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sz="1200">
                <a:latin typeface="EB Garamond"/>
                <a:ea typeface="EB Garamond"/>
                <a:cs typeface="EB Garamond"/>
                <a:sym typeface="EB Garamond"/>
              </a:rPr>
              <a:t>   Export of Uzbekistan in 2018 (ECI  = -0.41)</a:t>
            </a:r>
            <a:endParaRPr sz="1200">
              <a:latin typeface="EB Garamond"/>
              <a:ea typeface="EB Garamond"/>
              <a:cs typeface="EB Garamond"/>
              <a:sym typeface="EB Garamond"/>
            </a:endParaRPr>
          </a:p>
        </p:txBody>
      </p:sp>
      <p:sp>
        <p:nvSpPr>
          <p:cNvPr id="218" name="Google Shape;21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vs PCI</a:t>
            </a:r>
            <a:endParaRPr>
              <a:latin typeface="EB Garamond"/>
              <a:ea typeface="EB Garamond"/>
              <a:cs typeface="EB Garamond"/>
              <a:sym typeface="EB Garamond"/>
            </a:endParaRPr>
          </a:p>
        </p:txBody>
      </p:sp>
      <p:sp>
        <p:nvSpPr>
          <p:cNvPr id="224" name="Google Shape;224;p39"/>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ECI : an index measures the diversity of the products that a country produces. A country produces more products with high ubiquity has a higher value.</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330200" lvl="0" marL="457200" rtl="0" algn="l">
              <a:spcBef>
                <a:spcPts val="1200"/>
              </a:spcBef>
              <a:spcAft>
                <a:spcPts val="0"/>
              </a:spcAft>
              <a:buSzPts val="1600"/>
              <a:buFont typeface="EB Garamond"/>
              <a:buChar char="-"/>
            </a:pPr>
            <a:r>
              <a:rPr lang="en" sz="1600">
                <a:latin typeface="EB Garamond"/>
                <a:ea typeface="EB Garamond"/>
                <a:cs typeface="EB Garamond"/>
                <a:sym typeface="EB Garamond"/>
              </a:rPr>
              <a:t>PCI: an index measures the knowledge contained in the production of a product. A product with more connections to the production of other products typically has a higher value.</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0" lvl="0" marL="0" rtl="0" algn="l">
              <a:spcBef>
                <a:spcPts val="1200"/>
              </a:spcBef>
              <a:spcAft>
                <a:spcPts val="1200"/>
              </a:spcAft>
              <a:buNone/>
            </a:pPr>
            <a:r>
              <a:t/>
            </a:r>
            <a:endParaRPr sz="1600">
              <a:latin typeface="EB Garamond"/>
              <a:ea typeface="EB Garamond"/>
              <a:cs typeface="EB Garamond"/>
              <a:sym typeface="EB Garamond"/>
            </a:endParaRPr>
          </a:p>
        </p:txBody>
      </p:sp>
      <p:pic>
        <p:nvPicPr>
          <p:cNvPr id="225" name="Google Shape;225;p39"/>
          <p:cNvPicPr preferRelativeResize="0"/>
          <p:nvPr/>
        </p:nvPicPr>
        <p:blipFill>
          <a:blip r:embed="rId3">
            <a:alphaModFix/>
          </a:blip>
          <a:stretch>
            <a:fillRect/>
          </a:stretch>
        </p:blipFill>
        <p:spPr>
          <a:xfrm>
            <a:off x="4878950" y="1152475"/>
            <a:ext cx="3626424" cy="3416409"/>
          </a:xfrm>
          <a:prstGeom prst="rect">
            <a:avLst/>
          </a:prstGeom>
          <a:noFill/>
          <a:ln>
            <a:noFill/>
          </a:ln>
        </p:spPr>
      </p:pic>
      <p:pic>
        <p:nvPicPr>
          <p:cNvPr id="226" name="Google Shape;226;p39"/>
          <p:cNvPicPr preferRelativeResize="0"/>
          <p:nvPr/>
        </p:nvPicPr>
        <p:blipFill>
          <a:blip r:embed="rId4">
            <a:alphaModFix/>
          </a:blip>
          <a:stretch>
            <a:fillRect/>
          </a:stretch>
        </p:blipFill>
        <p:spPr>
          <a:xfrm>
            <a:off x="4878950" y="1152476"/>
            <a:ext cx="3626416" cy="3416400"/>
          </a:xfrm>
          <a:prstGeom prst="rect">
            <a:avLst/>
          </a:prstGeom>
          <a:noFill/>
          <a:ln>
            <a:noFill/>
          </a:ln>
        </p:spPr>
      </p:pic>
      <p:sp>
        <p:nvSpPr>
          <p:cNvPr id="227" name="Google Shape;22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PCI Calculation &amp; Intuition</a:t>
            </a:r>
            <a:endParaRPr>
              <a:latin typeface="EB Garamond"/>
              <a:ea typeface="EB Garamond"/>
              <a:cs typeface="EB Garamond"/>
              <a:sym typeface="EB Garamond"/>
            </a:endParaRPr>
          </a:p>
        </p:txBody>
      </p:sp>
      <p:sp>
        <p:nvSpPr>
          <p:cNvPr id="233" name="Google Shape;23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22580" lvl="0" marL="457200" rtl="0" algn="l">
              <a:spcBef>
                <a:spcPts val="0"/>
              </a:spcBef>
              <a:spcAft>
                <a:spcPts val="0"/>
              </a:spcAft>
              <a:buSzPct val="100000"/>
              <a:buFont typeface="EB Garamond"/>
              <a:buChar char="-"/>
            </a:pPr>
            <a:r>
              <a:rPr lang="en" sz="1600">
                <a:latin typeface="EB Garamond"/>
                <a:ea typeface="EB Garamond"/>
                <a:cs typeface="EB Garamond"/>
                <a:sym typeface="EB Garamond"/>
              </a:rPr>
              <a:t>Modified diversity: </a:t>
            </a:r>
            <a:endParaRPr sz="1600">
              <a:latin typeface="EB Garamond"/>
              <a:ea typeface="EB Garamond"/>
              <a:cs typeface="EB Garamond"/>
              <a:sym typeface="EB Garamond"/>
            </a:endParaRPr>
          </a:p>
          <a:p>
            <a:pPr indent="0" lvl="0" marL="0" rtl="0" algn="l">
              <a:spcBef>
                <a:spcPts val="1000"/>
              </a:spcBef>
              <a:spcAft>
                <a:spcPts val="0"/>
              </a:spcAft>
              <a:buNone/>
            </a:pPr>
            <a:r>
              <a:t/>
            </a:r>
            <a:endParaRPr sz="900">
              <a:latin typeface="EB Garamond"/>
              <a:ea typeface="EB Garamond"/>
              <a:cs typeface="EB Garamond"/>
              <a:sym typeface="EB Garamond"/>
            </a:endParaRPr>
          </a:p>
          <a:p>
            <a:pPr indent="0" lvl="0" marL="0" rtl="0" algn="l">
              <a:spcBef>
                <a:spcPts val="1000"/>
              </a:spcBef>
              <a:spcAft>
                <a:spcPts val="0"/>
              </a:spcAft>
              <a:buClr>
                <a:schemeClr val="dk1"/>
              </a:buClr>
              <a:buSzPct val="122222"/>
              <a:buFont typeface="Arial"/>
              <a:buNone/>
            </a:pPr>
            <a:r>
              <a:t/>
            </a:r>
            <a:endParaRPr sz="900">
              <a:latin typeface="EB Garamond"/>
              <a:ea typeface="EB Garamond"/>
              <a:cs typeface="EB Garamond"/>
              <a:sym typeface="EB Garamond"/>
            </a:endParaRPr>
          </a:p>
          <a:p>
            <a:pPr indent="-322580" lvl="0" marL="457200" rtl="0" algn="l">
              <a:spcBef>
                <a:spcPts val="1000"/>
              </a:spcBef>
              <a:spcAft>
                <a:spcPts val="0"/>
              </a:spcAft>
              <a:buSzPct val="100000"/>
              <a:buFont typeface="EB Garamond"/>
              <a:buChar char="-"/>
            </a:pPr>
            <a:r>
              <a:rPr lang="en" sz="1600">
                <a:latin typeface="EB Garamond"/>
                <a:ea typeface="EB Garamond"/>
                <a:cs typeface="EB Garamond"/>
                <a:sym typeface="EB Garamond"/>
              </a:rPr>
              <a:t>Modified ubiquity: </a:t>
            </a:r>
            <a:endParaRPr sz="1600">
              <a:latin typeface="EB Garamond"/>
              <a:ea typeface="EB Garamond"/>
              <a:cs typeface="EB Garamond"/>
              <a:sym typeface="EB Garamond"/>
            </a:endParaRPr>
          </a:p>
          <a:p>
            <a:pPr indent="0" lvl="0" marL="0" rtl="0" algn="l">
              <a:spcBef>
                <a:spcPts val="1000"/>
              </a:spcBef>
              <a:spcAft>
                <a:spcPts val="0"/>
              </a:spcAft>
              <a:buNone/>
            </a:pPr>
            <a:r>
              <a:t/>
            </a:r>
            <a:endParaRPr>
              <a:latin typeface="EB Garamond"/>
              <a:ea typeface="EB Garamond"/>
              <a:cs typeface="EB Garamond"/>
              <a:sym typeface="EB Garamond"/>
            </a:endParaRPr>
          </a:p>
          <a:p>
            <a:pPr indent="0" lvl="0" marL="0" rtl="0" algn="l">
              <a:spcBef>
                <a:spcPts val="1000"/>
              </a:spcBef>
              <a:spcAft>
                <a:spcPts val="0"/>
              </a:spcAft>
              <a:buClr>
                <a:schemeClr val="dk1"/>
              </a:buClr>
              <a:buSzPct val="61111"/>
              <a:buFont typeface="Arial"/>
              <a:buNone/>
            </a:pPr>
            <a:r>
              <a:t/>
            </a:r>
            <a:endParaRPr>
              <a:latin typeface="EB Garamond"/>
              <a:ea typeface="EB Garamond"/>
              <a:cs typeface="EB Garamond"/>
              <a:sym typeface="EB Garamond"/>
            </a:endParaRPr>
          </a:p>
          <a:p>
            <a:pPr indent="-322580" lvl="0" marL="457200" rtl="0" algn="l">
              <a:spcBef>
                <a:spcPts val="1000"/>
              </a:spcBef>
              <a:spcAft>
                <a:spcPts val="0"/>
              </a:spcAft>
              <a:buSzPct val="100000"/>
              <a:buFont typeface="EB Garamond"/>
              <a:buChar char="-"/>
            </a:pPr>
            <a:r>
              <a:rPr lang="en" sz="1600">
                <a:latin typeface="EB Garamond"/>
                <a:ea typeface="EB Garamond"/>
                <a:cs typeface="EB Garamond"/>
                <a:sym typeface="EB Garamond"/>
              </a:rPr>
              <a:t>PCI can be calculated by the standardization of solution of  the equation:</a:t>
            </a:r>
            <a:endParaRPr sz="1600">
              <a:latin typeface="EB Garamond"/>
              <a:ea typeface="EB Garamond"/>
              <a:cs typeface="EB Garamond"/>
              <a:sym typeface="EB Garamond"/>
            </a:endParaRPr>
          </a:p>
          <a:p>
            <a:pPr indent="0" lvl="0" marL="457200" rtl="0" algn="l">
              <a:spcBef>
                <a:spcPts val="1000"/>
              </a:spcBef>
              <a:spcAft>
                <a:spcPts val="0"/>
              </a:spcAft>
              <a:buClr>
                <a:schemeClr val="dk1"/>
              </a:buClr>
              <a:buSzPct val="68750"/>
              <a:buFont typeface="Arial"/>
              <a:buNone/>
            </a:pPr>
            <a:r>
              <a:t/>
            </a:r>
            <a:endParaRPr sz="1600">
              <a:latin typeface="EB Garamond"/>
              <a:ea typeface="EB Garamond"/>
              <a:cs typeface="EB Garamond"/>
              <a:sym typeface="EB Garamond"/>
            </a:endParaRPr>
          </a:p>
          <a:p>
            <a:pPr indent="0" lvl="0" marL="0" rtl="0" algn="l">
              <a:spcBef>
                <a:spcPts val="1000"/>
              </a:spcBef>
              <a:spcAft>
                <a:spcPts val="0"/>
              </a:spcAft>
              <a:buClr>
                <a:schemeClr val="dk1"/>
              </a:buClr>
              <a:buSzPct val="68750"/>
              <a:buFont typeface="Arial"/>
              <a:buNone/>
            </a:pPr>
            <a:r>
              <a:t/>
            </a:r>
            <a:endParaRPr sz="1600">
              <a:latin typeface="EB Garamond"/>
              <a:ea typeface="EB Garamond"/>
              <a:cs typeface="EB Garamond"/>
              <a:sym typeface="EB Garamond"/>
            </a:endParaRPr>
          </a:p>
          <a:p>
            <a:pPr indent="0" lvl="0" marL="0" rtl="0" algn="l">
              <a:spcBef>
                <a:spcPts val="1000"/>
              </a:spcBef>
              <a:spcAft>
                <a:spcPts val="1200"/>
              </a:spcAft>
              <a:buNone/>
            </a:pPr>
            <a:r>
              <a:t/>
            </a:r>
            <a:endParaRPr>
              <a:latin typeface="EB Garamond"/>
              <a:ea typeface="EB Garamond"/>
              <a:cs typeface="EB Garamond"/>
              <a:sym typeface="EB Garamond"/>
            </a:endParaRPr>
          </a:p>
        </p:txBody>
      </p:sp>
      <p:pic>
        <p:nvPicPr>
          <p:cNvPr id="234" name="Google Shape;234;p40"/>
          <p:cNvPicPr preferRelativeResize="0"/>
          <p:nvPr/>
        </p:nvPicPr>
        <p:blipFill>
          <a:blip r:embed="rId3">
            <a:alphaModFix/>
          </a:blip>
          <a:stretch>
            <a:fillRect/>
          </a:stretch>
        </p:blipFill>
        <p:spPr>
          <a:xfrm>
            <a:off x="3424688" y="1504186"/>
            <a:ext cx="2294625" cy="463750"/>
          </a:xfrm>
          <a:prstGeom prst="rect">
            <a:avLst/>
          </a:prstGeom>
          <a:noFill/>
          <a:ln>
            <a:noFill/>
          </a:ln>
        </p:spPr>
      </p:pic>
      <p:pic>
        <p:nvPicPr>
          <p:cNvPr id="235" name="Google Shape;235;p40"/>
          <p:cNvPicPr preferRelativeResize="0"/>
          <p:nvPr/>
        </p:nvPicPr>
        <p:blipFill>
          <a:blip r:embed="rId4">
            <a:alphaModFix/>
          </a:blip>
          <a:stretch>
            <a:fillRect/>
          </a:stretch>
        </p:blipFill>
        <p:spPr>
          <a:xfrm>
            <a:off x="3424694" y="2454369"/>
            <a:ext cx="2294625" cy="463756"/>
          </a:xfrm>
          <a:prstGeom prst="rect">
            <a:avLst/>
          </a:prstGeom>
          <a:noFill/>
          <a:ln>
            <a:noFill/>
          </a:ln>
        </p:spPr>
      </p:pic>
      <p:pic>
        <p:nvPicPr>
          <p:cNvPr id="236" name="Google Shape;236;p40"/>
          <p:cNvPicPr preferRelativeResize="0"/>
          <p:nvPr/>
        </p:nvPicPr>
        <p:blipFill>
          <a:blip r:embed="rId5">
            <a:alphaModFix/>
          </a:blip>
          <a:stretch>
            <a:fillRect/>
          </a:stretch>
        </p:blipFill>
        <p:spPr>
          <a:xfrm>
            <a:off x="3238913" y="3469150"/>
            <a:ext cx="2762600" cy="1397300"/>
          </a:xfrm>
          <a:prstGeom prst="rect">
            <a:avLst/>
          </a:prstGeom>
          <a:noFill/>
          <a:ln>
            <a:noFill/>
          </a:ln>
        </p:spPr>
      </p:pic>
      <p:sp>
        <p:nvSpPr>
          <p:cNvPr id="237" name="Google Shape;237;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459725"/>
            <a:ext cx="665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Proximity &amp; Distance Intuition</a:t>
            </a:r>
            <a:endParaRPr>
              <a:latin typeface="EB Garamond"/>
              <a:ea typeface="EB Garamond"/>
              <a:cs typeface="EB Garamond"/>
              <a:sym typeface="EB Garamond"/>
            </a:endParaRPr>
          </a:p>
        </p:txBody>
      </p:sp>
      <p:sp>
        <p:nvSpPr>
          <p:cNvPr id="243" name="Google Shape;243;p41"/>
          <p:cNvSpPr txBox="1"/>
          <p:nvPr>
            <p:ph idx="1" type="body"/>
          </p:nvPr>
        </p:nvSpPr>
        <p:spPr>
          <a:xfrm>
            <a:off x="382075" y="1227425"/>
            <a:ext cx="6039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Products that require similar knowledge → More likely to be exported by a single country</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This probability of two products being exported by a country, can be used to define the proximity of industry verticals</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Collection of all proximities between industry groups forms a network defined as the product space, as illustrated in next slide</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On the other hand, products that are far away from each other in the product space likely require very different skills to produce → Distance</a:t>
            </a:r>
            <a:endParaRPr>
              <a:latin typeface="EB Garamond"/>
              <a:ea typeface="EB Garamond"/>
              <a:cs typeface="EB Garamond"/>
              <a:sym typeface="EB Garamond"/>
            </a:endParaRPr>
          </a:p>
        </p:txBody>
      </p:sp>
      <p:pic>
        <p:nvPicPr>
          <p:cNvPr id="244" name="Google Shape;244;p41"/>
          <p:cNvPicPr preferRelativeResize="0"/>
          <p:nvPr/>
        </p:nvPicPr>
        <p:blipFill>
          <a:blip r:embed="rId3">
            <a:alphaModFix/>
          </a:blip>
          <a:stretch>
            <a:fillRect/>
          </a:stretch>
        </p:blipFill>
        <p:spPr>
          <a:xfrm>
            <a:off x="6724500" y="1623400"/>
            <a:ext cx="2254500" cy="2254500"/>
          </a:xfrm>
          <a:prstGeom prst="rect">
            <a:avLst/>
          </a:prstGeom>
          <a:noFill/>
          <a:ln>
            <a:noFill/>
          </a:ln>
        </p:spPr>
      </p:pic>
      <p:sp>
        <p:nvSpPr>
          <p:cNvPr id="245" name="Google Shape;24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2174975" y="445025"/>
            <a:ext cx="665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Proximity &amp; Distance Intuition</a:t>
            </a:r>
            <a:endParaRPr>
              <a:latin typeface="EB Garamond"/>
              <a:ea typeface="EB Garamond"/>
              <a:cs typeface="EB Garamond"/>
              <a:sym typeface="EB Garamond"/>
            </a:endParaRPr>
          </a:p>
        </p:txBody>
      </p:sp>
      <p:sp>
        <p:nvSpPr>
          <p:cNvPr id="251" name="Google Shape;251;p42"/>
          <p:cNvSpPr txBox="1"/>
          <p:nvPr>
            <p:ph idx="1" type="body"/>
          </p:nvPr>
        </p:nvSpPr>
        <p:spPr>
          <a:xfrm>
            <a:off x="5643150" y="1491950"/>
            <a:ext cx="1704600" cy="34164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SzPct val="100000"/>
              <a:buFont typeface="EB Garamond"/>
              <a:buChar char="-"/>
            </a:pPr>
            <a:r>
              <a:rPr lang="en">
                <a:latin typeface="EB Garamond"/>
                <a:ea typeface="EB Garamond"/>
                <a:cs typeface="EB Garamond"/>
                <a:sym typeface="EB Garamond"/>
              </a:rPr>
              <a:t>How can we define proximity between countries or products in the ECI framework</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Char char="-"/>
            </a:pPr>
            <a:r>
              <a:rPr lang="en">
                <a:latin typeface="EB Garamond"/>
                <a:ea typeface="EB Garamond"/>
                <a:cs typeface="EB Garamond"/>
                <a:sym typeface="EB Garamond"/>
              </a:rPr>
              <a:t>A visualization may be helpful here</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Char char="-"/>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252" name="Google Shape;252;p42"/>
          <p:cNvPicPr preferRelativeResize="0"/>
          <p:nvPr/>
        </p:nvPicPr>
        <p:blipFill>
          <a:blip r:embed="rId3">
            <a:alphaModFix/>
          </a:blip>
          <a:stretch>
            <a:fillRect/>
          </a:stretch>
        </p:blipFill>
        <p:spPr>
          <a:xfrm>
            <a:off x="767350" y="137963"/>
            <a:ext cx="7609299" cy="4867576"/>
          </a:xfrm>
          <a:prstGeom prst="rect">
            <a:avLst/>
          </a:prstGeom>
          <a:noFill/>
          <a:ln>
            <a:noFill/>
          </a:ln>
        </p:spPr>
      </p:pic>
      <p:sp>
        <p:nvSpPr>
          <p:cNvPr id="253" name="Google Shape;25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Metrics for Proximity &amp; Distance</a:t>
            </a:r>
            <a:endParaRPr>
              <a:latin typeface="EB Garamond"/>
              <a:ea typeface="EB Garamond"/>
              <a:cs typeface="EB Garamond"/>
              <a:sym typeface="EB Garamond"/>
            </a:endParaRPr>
          </a:p>
        </p:txBody>
      </p:sp>
      <p:sp>
        <p:nvSpPr>
          <p:cNvPr id="259" name="Google Shape;259;p43"/>
          <p:cNvSpPr txBox="1"/>
          <p:nvPr>
            <p:ph idx="1" type="body"/>
          </p:nvPr>
        </p:nvSpPr>
        <p:spPr>
          <a:xfrm>
            <a:off x="311700" y="1152475"/>
            <a:ext cx="8520600" cy="90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Formally, proximity is defined as the conditional </a:t>
            </a:r>
            <a:r>
              <a:rPr lang="en">
                <a:latin typeface="EB Garamond"/>
                <a:ea typeface="EB Garamond"/>
                <a:cs typeface="EB Garamond"/>
                <a:sym typeface="EB Garamond"/>
              </a:rPr>
              <a:t>probability</a:t>
            </a:r>
            <a:r>
              <a:rPr lang="en">
                <a:latin typeface="EB Garamond"/>
                <a:ea typeface="EB Garamond"/>
                <a:cs typeface="EB Garamond"/>
                <a:sym typeface="EB Garamond"/>
              </a:rPr>
              <a:t> of </a:t>
            </a:r>
            <a:r>
              <a:rPr lang="en">
                <a:latin typeface="EB Garamond"/>
                <a:ea typeface="EB Garamond"/>
                <a:cs typeface="EB Garamond"/>
                <a:sym typeface="EB Garamond"/>
              </a:rPr>
              <a:t>exporting</a:t>
            </a:r>
            <a:r>
              <a:rPr lang="en">
                <a:latin typeface="EB Garamond"/>
                <a:ea typeface="EB Garamond"/>
                <a:cs typeface="EB Garamond"/>
                <a:sym typeface="EB Garamond"/>
              </a:rPr>
              <a:t> </a:t>
            </a:r>
            <a:r>
              <a:rPr i="1" lang="en">
                <a:latin typeface="EB Garamond"/>
                <a:ea typeface="EB Garamond"/>
                <a:cs typeface="EB Garamond"/>
                <a:sym typeface="EB Garamond"/>
              </a:rPr>
              <a:t>p</a:t>
            </a:r>
            <a:r>
              <a:rPr baseline="-25000" i="1" lang="en">
                <a:latin typeface="EB Garamond"/>
                <a:ea typeface="EB Garamond"/>
                <a:cs typeface="EB Garamond"/>
                <a:sym typeface="EB Garamond"/>
              </a:rPr>
              <a:t>1</a:t>
            </a:r>
            <a:r>
              <a:rPr i="1" lang="en">
                <a:latin typeface="EB Garamond"/>
                <a:ea typeface="EB Garamond"/>
                <a:cs typeface="EB Garamond"/>
                <a:sym typeface="EB Garamond"/>
              </a:rPr>
              <a:t> </a:t>
            </a:r>
            <a:r>
              <a:rPr lang="en">
                <a:latin typeface="EB Garamond"/>
                <a:ea typeface="EB Garamond"/>
                <a:cs typeface="EB Garamond"/>
                <a:sym typeface="EB Garamond"/>
              </a:rPr>
              <a:t>given the country produces </a:t>
            </a:r>
            <a:r>
              <a:rPr i="1" lang="en">
                <a:latin typeface="EB Garamond"/>
                <a:ea typeface="EB Garamond"/>
                <a:cs typeface="EB Garamond"/>
                <a:sym typeface="EB Garamond"/>
              </a:rPr>
              <a:t>p</a:t>
            </a:r>
            <a:r>
              <a:rPr baseline="-25000" lang="en">
                <a:latin typeface="EB Garamond"/>
                <a:ea typeface="EB Garamond"/>
                <a:cs typeface="EB Garamond"/>
                <a:sym typeface="EB Garamond"/>
              </a:rPr>
              <a:t>2</a:t>
            </a:r>
            <a:r>
              <a:rPr lang="en">
                <a:latin typeface="EB Garamond"/>
                <a:ea typeface="EB Garamond"/>
                <a:cs typeface="EB Garamond"/>
                <a:sym typeface="EB Garamond"/>
              </a:rPr>
              <a:t> and that of exporting </a:t>
            </a:r>
            <a:r>
              <a:rPr i="1" lang="en">
                <a:latin typeface="EB Garamond"/>
                <a:ea typeface="EB Garamond"/>
                <a:cs typeface="EB Garamond"/>
                <a:sym typeface="EB Garamond"/>
              </a:rPr>
              <a:t>p</a:t>
            </a:r>
            <a:r>
              <a:rPr baseline="-25000" lang="en">
                <a:latin typeface="EB Garamond"/>
                <a:ea typeface="EB Garamond"/>
                <a:cs typeface="EB Garamond"/>
                <a:sym typeface="EB Garamond"/>
              </a:rPr>
              <a:t>2</a:t>
            </a:r>
            <a:r>
              <a:rPr lang="en">
                <a:latin typeface="EB Garamond"/>
                <a:ea typeface="EB Garamond"/>
                <a:cs typeface="EB Garamond"/>
                <a:sym typeface="EB Garamond"/>
              </a:rPr>
              <a:t> given production of </a:t>
            </a:r>
            <a:r>
              <a:rPr i="1" lang="en">
                <a:latin typeface="EB Garamond"/>
                <a:ea typeface="EB Garamond"/>
                <a:cs typeface="EB Garamond"/>
                <a:sym typeface="EB Garamond"/>
              </a:rPr>
              <a:t>p</a:t>
            </a:r>
            <a:r>
              <a:rPr baseline="-25000" lang="en">
                <a:latin typeface="EB Garamond"/>
                <a:ea typeface="EB Garamond"/>
                <a:cs typeface="EB Garamond"/>
                <a:sym typeface="EB Garamond"/>
              </a:rPr>
              <a:t>1</a:t>
            </a:r>
            <a:endParaRPr>
              <a:latin typeface="EB Garamond"/>
              <a:ea typeface="EB Garamond"/>
              <a:cs typeface="EB Garamond"/>
              <a:sym typeface="EB Garamond"/>
            </a:endParaRPr>
          </a:p>
        </p:txBody>
      </p:sp>
      <p:pic>
        <p:nvPicPr>
          <p:cNvPr id="260" name="Google Shape;260;p43"/>
          <p:cNvPicPr preferRelativeResize="0"/>
          <p:nvPr/>
        </p:nvPicPr>
        <p:blipFill rotWithShape="1">
          <a:blip r:embed="rId3">
            <a:alphaModFix/>
          </a:blip>
          <a:srcRect b="54792" l="0" r="57432" t="0"/>
          <a:stretch/>
        </p:blipFill>
        <p:spPr>
          <a:xfrm>
            <a:off x="3361700" y="2060050"/>
            <a:ext cx="2420625" cy="572700"/>
          </a:xfrm>
          <a:prstGeom prst="rect">
            <a:avLst/>
          </a:prstGeom>
          <a:noFill/>
          <a:ln>
            <a:noFill/>
          </a:ln>
        </p:spPr>
      </p:pic>
      <p:sp>
        <p:nvSpPr>
          <p:cNvPr id="261" name="Google Shape;261;p43"/>
          <p:cNvSpPr txBox="1"/>
          <p:nvPr>
            <p:ph idx="1" type="body"/>
          </p:nvPr>
        </p:nvSpPr>
        <p:spPr>
          <a:xfrm>
            <a:off x="311700" y="2600275"/>
            <a:ext cx="8520600" cy="90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Similarly, distance is defined as the normalized level of connectedness between a product and all other products in its industry space</a:t>
            </a:r>
            <a:endParaRPr>
              <a:latin typeface="EB Garamond"/>
              <a:ea typeface="EB Garamond"/>
              <a:cs typeface="EB Garamond"/>
              <a:sym typeface="EB Garamond"/>
            </a:endParaRPr>
          </a:p>
        </p:txBody>
      </p:sp>
      <p:pic>
        <p:nvPicPr>
          <p:cNvPr id="262" name="Google Shape;262;p43"/>
          <p:cNvPicPr preferRelativeResize="0"/>
          <p:nvPr/>
        </p:nvPicPr>
        <p:blipFill rotWithShape="1">
          <a:blip r:embed="rId3">
            <a:alphaModFix/>
          </a:blip>
          <a:srcRect b="0" l="0" r="57432" t="54792"/>
          <a:stretch/>
        </p:blipFill>
        <p:spPr>
          <a:xfrm>
            <a:off x="3361700" y="3650825"/>
            <a:ext cx="2420601" cy="572700"/>
          </a:xfrm>
          <a:prstGeom prst="rect">
            <a:avLst/>
          </a:prstGeom>
          <a:noFill/>
          <a:ln>
            <a:noFill/>
          </a:ln>
        </p:spPr>
      </p:pic>
      <p:sp>
        <p:nvSpPr>
          <p:cNvPr id="263" name="Google Shape;26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Opportun</a:t>
            </a:r>
            <a:r>
              <a:rPr lang="en">
                <a:latin typeface="EB Garamond"/>
                <a:ea typeface="EB Garamond"/>
                <a:cs typeface="EB Garamond"/>
                <a:sym typeface="EB Garamond"/>
              </a:rPr>
              <a:t>ity Gain and the </a:t>
            </a:r>
            <a:r>
              <a:rPr lang="en">
                <a:latin typeface="EB Garamond"/>
                <a:ea typeface="EB Garamond"/>
                <a:cs typeface="EB Garamond"/>
                <a:sym typeface="EB Garamond"/>
              </a:rPr>
              <a:t>Suggested Development Vector (SDV)</a:t>
            </a:r>
            <a:endParaRPr>
              <a:latin typeface="EB Garamond"/>
              <a:ea typeface="EB Garamond"/>
              <a:cs typeface="EB Garamond"/>
              <a:sym typeface="EB Garamond"/>
            </a:endParaRPr>
          </a:p>
        </p:txBody>
      </p:sp>
      <p:sp>
        <p:nvSpPr>
          <p:cNvPr id="269" name="Google Shape;269;p44"/>
          <p:cNvSpPr txBox="1"/>
          <p:nvPr>
            <p:ph idx="1" type="body"/>
          </p:nvPr>
        </p:nvSpPr>
        <p:spPr>
          <a:xfrm>
            <a:off x="311700" y="1076275"/>
            <a:ext cx="8520600" cy="3462000"/>
          </a:xfrm>
          <a:prstGeom prst="rect">
            <a:avLst/>
          </a:prstGeom>
          <a:ln>
            <a:noFill/>
          </a:ln>
        </p:spPr>
        <p:txBody>
          <a:bodyPr anchorCtr="0" anchor="t" bIns="91425" lIns="91425" spcFirstLastPara="1" rIns="91425" wrap="square" tIns="91425">
            <a:noAutofit/>
          </a:bodyPr>
          <a:lstStyle/>
          <a:p>
            <a:pPr indent="-342900" lvl="0" marL="457200" rtl="0" algn="l">
              <a:lnSpc>
                <a:spcPct val="95000"/>
              </a:lnSpc>
              <a:spcBef>
                <a:spcPts val="0"/>
              </a:spcBef>
              <a:spcAft>
                <a:spcPts val="0"/>
              </a:spcAft>
              <a:buSzPts val="1800"/>
              <a:buFont typeface="EB Garamond"/>
              <a:buChar char="●"/>
            </a:pPr>
            <a:r>
              <a:rPr lang="en">
                <a:latin typeface="EB Garamond"/>
                <a:ea typeface="EB Garamond"/>
                <a:cs typeface="EB Garamond"/>
                <a:sym typeface="EB Garamond"/>
              </a:rPr>
              <a:t>We can define the opportunity gain as being the marginal increase in complex products that a country is exposed to upon taking on the production of a specific product</a:t>
            </a:r>
            <a:endParaRPr>
              <a:latin typeface="EB Garamond"/>
              <a:ea typeface="EB Garamond"/>
              <a:cs typeface="EB Garamond"/>
              <a:sym typeface="EB Garamond"/>
            </a:endParaRPr>
          </a:p>
          <a:p>
            <a:pPr indent="-342900" lvl="1" marL="914400" rtl="0" algn="l">
              <a:lnSpc>
                <a:spcPct val="95000"/>
              </a:lnSpc>
              <a:spcBef>
                <a:spcPts val="0"/>
              </a:spcBef>
              <a:spcAft>
                <a:spcPts val="0"/>
              </a:spcAft>
              <a:buSzPts val="1800"/>
              <a:buFont typeface="EB Garamond"/>
              <a:buChar char="○"/>
            </a:pPr>
            <a:r>
              <a:rPr lang="en" sz="1800">
                <a:latin typeface="EB Garamond"/>
                <a:ea typeface="EB Garamond"/>
                <a:cs typeface="EB Garamond"/>
                <a:sym typeface="EB Garamond"/>
              </a:rPr>
              <a:t>Therefore, the opportunity gain for an </a:t>
            </a:r>
            <a:r>
              <a:rPr lang="en" sz="1800">
                <a:latin typeface="EB Garamond"/>
                <a:ea typeface="EB Garamond"/>
                <a:cs typeface="EB Garamond"/>
                <a:sym typeface="EB Garamond"/>
              </a:rPr>
              <a:t>existing</a:t>
            </a:r>
            <a:r>
              <a:rPr lang="en" sz="1800">
                <a:latin typeface="EB Garamond"/>
                <a:ea typeface="EB Garamond"/>
                <a:cs typeface="EB Garamond"/>
                <a:sym typeface="EB Garamond"/>
              </a:rPr>
              <a:t> product would be 0</a:t>
            </a:r>
            <a:endParaRPr sz="1800">
              <a:latin typeface="EB Garamond"/>
              <a:ea typeface="EB Garamond"/>
              <a:cs typeface="EB Garamond"/>
              <a:sym typeface="EB Garamond"/>
            </a:endParaRPr>
          </a:p>
          <a:p>
            <a:pPr indent="-342900" lvl="1" marL="914400" rtl="0" algn="l">
              <a:lnSpc>
                <a:spcPct val="95000"/>
              </a:lnSpc>
              <a:spcBef>
                <a:spcPts val="0"/>
              </a:spcBef>
              <a:spcAft>
                <a:spcPts val="0"/>
              </a:spcAft>
              <a:buSzPts val="1800"/>
              <a:buFont typeface="EB Garamond"/>
              <a:buChar char="○"/>
            </a:pPr>
            <a:r>
              <a:rPr lang="en" sz="1800">
                <a:latin typeface="EB Garamond"/>
                <a:ea typeface="EB Garamond"/>
                <a:cs typeface="EB Garamond"/>
                <a:sym typeface="EB Garamond"/>
              </a:rPr>
              <a:t>On the other hand, investments in products that would lead exports in more profitable products to </a:t>
            </a:r>
            <a:r>
              <a:rPr lang="en" sz="1800">
                <a:latin typeface="EB Garamond"/>
                <a:ea typeface="EB Garamond"/>
                <a:cs typeface="EB Garamond"/>
                <a:sym typeface="EB Garamond"/>
              </a:rPr>
              <a:t>diminish</a:t>
            </a:r>
            <a:r>
              <a:rPr lang="en" sz="1800">
                <a:latin typeface="EB Garamond"/>
                <a:ea typeface="EB Garamond"/>
                <a:cs typeface="EB Garamond"/>
                <a:sym typeface="EB Garamond"/>
              </a:rPr>
              <a:t> would have a negative opportunity gain                                                                                    </a:t>
            </a:r>
            <a:r>
              <a:rPr lang="en" sz="1800">
                <a:solidFill>
                  <a:srgbClr val="FFFFFF"/>
                </a:solidFill>
                <a:latin typeface="EB Garamond"/>
                <a:ea typeface="EB Garamond"/>
                <a:cs typeface="EB Garamond"/>
                <a:sym typeface="EB Garamond"/>
              </a:rPr>
              <a:t>s</a:t>
            </a:r>
            <a:r>
              <a:rPr lang="en" sz="1800">
                <a:solidFill>
                  <a:srgbClr val="FFFFFF"/>
                </a:solidFill>
                <a:latin typeface="EB Garamond"/>
                <a:ea typeface="EB Garamond"/>
                <a:cs typeface="EB Garamond"/>
                <a:sym typeface="EB Garamond"/>
              </a:rPr>
              <a:t>sd</a:t>
            </a:r>
            <a:endParaRPr sz="1800">
              <a:solidFill>
                <a:srgbClr val="FFFFFF"/>
              </a:solidFill>
              <a:latin typeface="EB Garamond"/>
              <a:ea typeface="EB Garamond"/>
              <a:cs typeface="EB Garamond"/>
              <a:sym typeface="EB Garamond"/>
            </a:endParaRPr>
          </a:p>
          <a:p>
            <a:pPr indent="-342900" lvl="0" marL="457200" rtl="0" algn="l">
              <a:lnSpc>
                <a:spcPct val="95000"/>
              </a:lnSpc>
              <a:spcBef>
                <a:spcPts val="0"/>
              </a:spcBef>
              <a:spcAft>
                <a:spcPts val="0"/>
              </a:spcAft>
              <a:buSzPts val="1800"/>
              <a:buFont typeface="EB Garamond"/>
              <a:buChar char="●"/>
            </a:pPr>
            <a:r>
              <a:rPr lang="en">
                <a:latin typeface="EB Garamond"/>
                <a:ea typeface="EB Garamond"/>
                <a:cs typeface="EB Garamond"/>
                <a:sym typeface="EB Garamond"/>
              </a:rPr>
              <a:t>Formally, Opportunity Gain can be defined as the distance decrements in the product space from investing in a given vertical, weighted by their complexity</a:t>
            </a:r>
            <a:endParaRPr>
              <a:latin typeface="EB Garamond"/>
              <a:ea typeface="EB Garamond"/>
              <a:cs typeface="EB Garamond"/>
              <a:sym typeface="EB Garamond"/>
            </a:endParaRPr>
          </a:p>
          <a:p>
            <a:pPr indent="0" lvl="0" marL="0" rtl="0" algn="l">
              <a:lnSpc>
                <a:spcPct val="95000"/>
              </a:lnSpc>
              <a:spcBef>
                <a:spcPts val="1200"/>
              </a:spcBef>
              <a:spcAft>
                <a:spcPts val="0"/>
              </a:spcAft>
              <a:buNone/>
            </a:pPr>
            <a:r>
              <a:t/>
            </a:r>
            <a:endParaRPr>
              <a:latin typeface="EB Garamond"/>
              <a:ea typeface="EB Garamond"/>
              <a:cs typeface="EB Garamond"/>
              <a:sym typeface="EB Garamond"/>
            </a:endParaRPr>
          </a:p>
          <a:p>
            <a:pPr indent="0" lvl="0" marL="0" rtl="0" algn="l">
              <a:lnSpc>
                <a:spcPct val="95000"/>
              </a:lnSpc>
              <a:spcBef>
                <a:spcPts val="1200"/>
              </a:spcBef>
              <a:spcAft>
                <a:spcPts val="0"/>
              </a:spcAft>
              <a:buNone/>
            </a:pPr>
            <a:r>
              <a:t/>
            </a:r>
            <a:endParaRPr>
              <a:latin typeface="EB Garamond"/>
              <a:ea typeface="EB Garamond"/>
              <a:cs typeface="EB Garamond"/>
              <a:sym typeface="EB Garamond"/>
            </a:endParaRPr>
          </a:p>
          <a:p>
            <a:pPr indent="-342900" lvl="0" marL="457200" rtl="0" algn="l">
              <a:lnSpc>
                <a:spcPct val="95000"/>
              </a:lnSpc>
              <a:spcBef>
                <a:spcPts val="1200"/>
              </a:spcBef>
              <a:spcAft>
                <a:spcPts val="0"/>
              </a:spcAft>
              <a:buSzPts val="1800"/>
              <a:buFont typeface="EB Garamond"/>
              <a:buChar char="●"/>
            </a:pPr>
            <a:r>
              <a:rPr lang="en">
                <a:latin typeface="EB Garamond"/>
                <a:ea typeface="EB Garamond"/>
                <a:cs typeface="EB Garamond"/>
                <a:sym typeface="EB Garamond"/>
              </a:rPr>
              <a:t>If we were to rank various products by their opportunity gain on a per country basis, we arrive at the definition of the </a:t>
            </a:r>
            <a:r>
              <a:rPr b="1" lang="en">
                <a:latin typeface="EB Garamond"/>
                <a:ea typeface="EB Garamond"/>
                <a:cs typeface="EB Garamond"/>
                <a:sym typeface="EB Garamond"/>
              </a:rPr>
              <a:t>Suggested Development Vector</a:t>
            </a:r>
            <a:endParaRPr>
              <a:latin typeface="EB Garamond"/>
              <a:ea typeface="EB Garamond"/>
              <a:cs typeface="EB Garamond"/>
              <a:sym typeface="EB Garamond"/>
            </a:endParaRPr>
          </a:p>
        </p:txBody>
      </p:sp>
      <p:pic>
        <p:nvPicPr>
          <p:cNvPr id="270" name="Google Shape;270;p44"/>
          <p:cNvPicPr preferRelativeResize="0"/>
          <p:nvPr/>
        </p:nvPicPr>
        <p:blipFill>
          <a:blip r:embed="rId3">
            <a:alphaModFix/>
          </a:blip>
          <a:stretch>
            <a:fillRect/>
          </a:stretch>
        </p:blipFill>
        <p:spPr>
          <a:xfrm>
            <a:off x="1840225" y="3559406"/>
            <a:ext cx="5646063" cy="460288"/>
          </a:xfrm>
          <a:prstGeom prst="rect">
            <a:avLst/>
          </a:prstGeom>
          <a:noFill/>
          <a:ln>
            <a:noFill/>
          </a:ln>
        </p:spPr>
      </p:pic>
      <p:sp>
        <p:nvSpPr>
          <p:cNvPr id="271" name="Google Shape;27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Suggested Development Vector (SDV)</a:t>
            </a:r>
            <a:endParaRPr>
              <a:latin typeface="EB Garamond"/>
              <a:ea typeface="EB Garamond"/>
              <a:cs typeface="EB Garamond"/>
              <a:sym typeface="EB Garamond"/>
            </a:endParaRPr>
          </a:p>
        </p:txBody>
      </p:sp>
      <p:sp>
        <p:nvSpPr>
          <p:cNvPr id="277" name="Google Shape;277;p45"/>
          <p:cNvSpPr txBox="1"/>
          <p:nvPr/>
        </p:nvSpPr>
        <p:spPr>
          <a:xfrm>
            <a:off x="148350" y="2215650"/>
            <a:ext cx="82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78" name="Google Shape;278;p45"/>
          <p:cNvSpPr txBox="1"/>
          <p:nvPr/>
        </p:nvSpPr>
        <p:spPr>
          <a:xfrm>
            <a:off x="969450" y="954925"/>
            <a:ext cx="17112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Sectors are ranked based on the opportunity gain of investment in each</a:t>
            </a:r>
            <a:endParaRPr sz="1100">
              <a:latin typeface="EB Garamond"/>
              <a:ea typeface="EB Garamond"/>
              <a:cs typeface="EB Garamond"/>
              <a:sym typeface="EB Garamond"/>
            </a:endParaRPr>
          </a:p>
        </p:txBody>
      </p:sp>
      <p:sp>
        <p:nvSpPr>
          <p:cNvPr id="279" name="Google Shape;279;p45"/>
          <p:cNvSpPr txBox="1"/>
          <p:nvPr/>
        </p:nvSpPr>
        <p:spPr>
          <a:xfrm>
            <a:off x="1400975" y="4118675"/>
            <a:ext cx="33765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Nations such as Italy and Spain, which are more developed and have more complex economies, have fewer opportunity gain-positive industries, as most sectors have already been invested into (small marginal benefit!)</a:t>
            </a:r>
            <a:endParaRPr sz="1100">
              <a:latin typeface="EB Garamond"/>
              <a:ea typeface="EB Garamond"/>
              <a:cs typeface="EB Garamond"/>
              <a:sym typeface="EB Garamond"/>
            </a:endParaRPr>
          </a:p>
        </p:txBody>
      </p:sp>
      <p:sp>
        <p:nvSpPr>
          <p:cNvPr id="280" name="Google Shape;280;p45"/>
          <p:cNvSpPr txBox="1"/>
          <p:nvPr/>
        </p:nvSpPr>
        <p:spPr>
          <a:xfrm>
            <a:off x="5124125" y="870325"/>
            <a:ext cx="31584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On the other hand, we see a much higher count of </a:t>
            </a:r>
            <a:r>
              <a:rPr lang="en" sz="1100">
                <a:solidFill>
                  <a:schemeClr val="dk1"/>
                </a:solidFill>
                <a:latin typeface="EB Garamond"/>
                <a:ea typeface="EB Garamond"/>
                <a:cs typeface="EB Garamond"/>
                <a:sym typeface="EB Garamond"/>
              </a:rPr>
              <a:t>opportunity gain-positive industries among developing countries such as Nigeria and Turkey, as they have more room to grow out their complexity</a:t>
            </a:r>
            <a:endParaRPr sz="1100">
              <a:latin typeface="EB Garamond"/>
              <a:ea typeface="EB Garamond"/>
              <a:cs typeface="EB Garamond"/>
              <a:sym typeface="EB Garamond"/>
            </a:endParaRPr>
          </a:p>
        </p:txBody>
      </p:sp>
      <p:cxnSp>
        <p:nvCxnSpPr>
          <p:cNvPr id="281" name="Google Shape;281;p45"/>
          <p:cNvCxnSpPr/>
          <p:nvPr/>
        </p:nvCxnSpPr>
        <p:spPr>
          <a:xfrm flipH="1">
            <a:off x="1028825" y="1455850"/>
            <a:ext cx="207600" cy="237300"/>
          </a:xfrm>
          <a:prstGeom prst="straightConnector1">
            <a:avLst/>
          </a:prstGeom>
          <a:noFill/>
          <a:ln cap="flat" cmpd="sng" w="9525">
            <a:solidFill>
              <a:srgbClr val="0000FF"/>
            </a:solidFill>
            <a:prstDash val="solid"/>
            <a:round/>
            <a:headEnd len="med" w="med" type="none"/>
            <a:tailEnd len="med" w="med" type="triangle"/>
          </a:ln>
        </p:spPr>
      </p:cxnSp>
      <p:cxnSp>
        <p:nvCxnSpPr>
          <p:cNvPr id="282" name="Google Shape;282;p45"/>
          <p:cNvCxnSpPr/>
          <p:nvPr/>
        </p:nvCxnSpPr>
        <p:spPr>
          <a:xfrm rot="10800000">
            <a:off x="2185875" y="3946725"/>
            <a:ext cx="128700" cy="247200"/>
          </a:xfrm>
          <a:prstGeom prst="straightConnector1">
            <a:avLst/>
          </a:prstGeom>
          <a:noFill/>
          <a:ln cap="flat" cmpd="sng" w="9525">
            <a:solidFill>
              <a:srgbClr val="0000FF"/>
            </a:solidFill>
            <a:prstDash val="solid"/>
            <a:round/>
            <a:headEnd len="med" w="med" type="none"/>
            <a:tailEnd len="med" w="med" type="triangle"/>
          </a:ln>
        </p:spPr>
      </p:cxnSp>
      <p:cxnSp>
        <p:nvCxnSpPr>
          <p:cNvPr id="283" name="Google Shape;283;p45"/>
          <p:cNvCxnSpPr/>
          <p:nvPr/>
        </p:nvCxnSpPr>
        <p:spPr>
          <a:xfrm flipH="1" rot="10800000">
            <a:off x="3511425" y="3956625"/>
            <a:ext cx="108900" cy="247200"/>
          </a:xfrm>
          <a:prstGeom prst="straightConnector1">
            <a:avLst/>
          </a:prstGeom>
          <a:noFill/>
          <a:ln cap="flat" cmpd="sng" w="9525">
            <a:solidFill>
              <a:srgbClr val="0000FF"/>
            </a:solidFill>
            <a:prstDash val="solid"/>
            <a:round/>
            <a:headEnd len="med" w="med" type="none"/>
            <a:tailEnd len="med" w="med" type="triangle"/>
          </a:ln>
        </p:spPr>
      </p:cxnSp>
      <p:cxnSp>
        <p:nvCxnSpPr>
          <p:cNvPr id="284" name="Google Shape;284;p45"/>
          <p:cNvCxnSpPr/>
          <p:nvPr/>
        </p:nvCxnSpPr>
        <p:spPr>
          <a:xfrm flipH="1">
            <a:off x="5286125" y="1455850"/>
            <a:ext cx="207600" cy="237300"/>
          </a:xfrm>
          <a:prstGeom prst="straightConnector1">
            <a:avLst/>
          </a:prstGeom>
          <a:noFill/>
          <a:ln cap="flat" cmpd="sng" w="9525">
            <a:solidFill>
              <a:srgbClr val="0000FF"/>
            </a:solidFill>
            <a:prstDash val="solid"/>
            <a:round/>
            <a:headEnd len="med" w="med" type="none"/>
            <a:tailEnd len="med" w="med" type="triangle"/>
          </a:ln>
        </p:spPr>
      </p:cxnSp>
      <p:cxnSp>
        <p:nvCxnSpPr>
          <p:cNvPr id="285" name="Google Shape;285;p45"/>
          <p:cNvCxnSpPr/>
          <p:nvPr/>
        </p:nvCxnSpPr>
        <p:spPr>
          <a:xfrm>
            <a:off x="7824025" y="1450000"/>
            <a:ext cx="206100" cy="249000"/>
          </a:xfrm>
          <a:prstGeom prst="straightConnector1">
            <a:avLst/>
          </a:prstGeom>
          <a:noFill/>
          <a:ln cap="flat" cmpd="sng" w="9525">
            <a:solidFill>
              <a:srgbClr val="0000FF"/>
            </a:solidFill>
            <a:prstDash val="solid"/>
            <a:round/>
            <a:headEnd len="med" w="med" type="none"/>
            <a:tailEnd len="med" w="med" type="triangle"/>
          </a:ln>
        </p:spPr>
      </p:cxnSp>
      <p:sp>
        <p:nvSpPr>
          <p:cNvPr id="286" name="Google Shape;286;p45"/>
          <p:cNvSpPr txBox="1"/>
          <p:nvPr/>
        </p:nvSpPr>
        <p:spPr>
          <a:xfrm>
            <a:off x="4985225" y="4118675"/>
            <a:ext cx="3996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EB Garamond"/>
                <a:ea typeface="EB Garamond"/>
                <a:cs typeface="EB Garamond"/>
                <a:sym typeface="EB Garamond"/>
              </a:rPr>
              <a:t>The question then becomes how can we generate a sequential strategy for developing nations to take advantage of high opportunity-gain sectors?</a:t>
            </a:r>
            <a:endParaRPr b="1">
              <a:solidFill>
                <a:srgbClr val="FF0000"/>
              </a:solidFill>
              <a:latin typeface="EB Garamond"/>
              <a:ea typeface="EB Garamond"/>
              <a:cs typeface="EB Garamond"/>
              <a:sym typeface="EB Garamond"/>
            </a:endParaRPr>
          </a:p>
        </p:txBody>
      </p:sp>
      <p:sp>
        <p:nvSpPr>
          <p:cNvPr id="287" name="Google Shape;28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8" name="Google Shape;288;p45"/>
          <p:cNvPicPr preferRelativeResize="0"/>
          <p:nvPr/>
        </p:nvPicPr>
        <p:blipFill>
          <a:blip r:embed="rId3">
            <a:alphaModFix/>
          </a:blip>
          <a:stretch>
            <a:fillRect/>
          </a:stretch>
        </p:blipFill>
        <p:spPr>
          <a:xfrm>
            <a:off x="462500" y="1700650"/>
            <a:ext cx="8133709" cy="2255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Budgeted Greedy Development Strategy </a:t>
            </a:r>
            <a:endParaRPr>
              <a:latin typeface="EB Garamond"/>
              <a:ea typeface="EB Garamond"/>
              <a:cs typeface="EB Garamond"/>
              <a:sym typeface="EB Garamond"/>
            </a:endParaRPr>
          </a:p>
        </p:txBody>
      </p:sp>
      <p:sp>
        <p:nvSpPr>
          <p:cNvPr id="294" name="Google Shape;294;p46"/>
          <p:cNvSpPr txBox="1"/>
          <p:nvPr>
            <p:ph idx="1" type="body"/>
          </p:nvPr>
        </p:nvSpPr>
        <p:spPr>
          <a:xfrm>
            <a:off x="311700" y="1079600"/>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SDV is a </a:t>
            </a:r>
            <a:r>
              <a:rPr b="1" lang="en" sz="1600">
                <a:latin typeface="EB Garamond"/>
                <a:ea typeface="EB Garamond"/>
                <a:cs typeface="EB Garamond"/>
                <a:sym typeface="EB Garamond"/>
              </a:rPr>
              <a:t>qualitative</a:t>
            </a:r>
            <a:r>
              <a:rPr lang="en" sz="1600">
                <a:latin typeface="EB Garamond"/>
                <a:ea typeface="EB Garamond"/>
                <a:cs typeface="EB Garamond"/>
                <a:sym typeface="EB Garamond"/>
              </a:rPr>
              <a:t> method, which can be used to uncover products helpful for ECI improvement.</a:t>
            </a:r>
            <a:endParaRPr sz="1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Budgeted Greedy Development Strategy is a static </a:t>
            </a:r>
            <a:r>
              <a:rPr b="1" lang="en" sz="1600">
                <a:latin typeface="EB Garamond"/>
                <a:ea typeface="EB Garamond"/>
                <a:cs typeface="EB Garamond"/>
                <a:sym typeface="EB Garamond"/>
              </a:rPr>
              <a:t>quantitative</a:t>
            </a:r>
            <a:r>
              <a:rPr lang="en" sz="1600">
                <a:latin typeface="EB Garamond"/>
                <a:ea typeface="EB Garamond"/>
                <a:cs typeface="EB Garamond"/>
                <a:sym typeface="EB Garamond"/>
              </a:rPr>
              <a:t> method, which can be used to solve a budget allocation portfolio to improve ECI.</a:t>
            </a:r>
            <a:endParaRPr sz="16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330200" lvl="1" marL="914400" rtl="0" algn="l">
              <a:spcBef>
                <a:spcPts val="1000"/>
              </a:spcBef>
              <a:spcAft>
                <a:spcPts val="0"/>
              </a:spcAft>
              <a:buSzPts val="1600"/>
              <a:buFont typeface="EB Garamond"/>
              <a:buChar char="○"/>
            </a:pPr>
            <a:r>
              <a:rPr lang="en" sz="1600">
                <a:latin typeface="EB Garamond"/>
                <a:ea typeface="EB Garamond"/>
                <a:cs typeface="EB Garamond"/>
                <a:sym typeface="EB Garamond"/>
              </a:rPr>
              <a:t>Given the budget of investment, we formulate an optimization problem as follows and want to solve for an optimal budget allocation:</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914400" rtl="0" algn="l">
              <a:spcBef>
                <a:spcPts val="1000"/>
              </a:spcBef>
              <a:spcAft>
                <a:spcPts val="0"/>
              </a:spcAft>
              <a:buNone/>
            </a:pPr>
            <a:r>
              <a:rPr lang="en" sz="1600">
                <a:latin typeface="EB Garamond"/>
                <a:ea typeface="EB Garamond"/>
                <a:cs typeface="EB Garamond"/>
                <a:sym typeface="EB Garamond"/>
              </a:rPr>
              <a:t>where B is the budget,  P is the product space, k(x) is the eigenvector associated with the second largest of M</a:t>
            </a:r>
            <a:r>
              <a:rPr b="1" lang="en" sz="900">
                <a:latin typeface="EB Garamond"/>
                <a:ea typeface="EB Garamond"/>
                <a:cs typeface="EB Garamond"/>
                <a:sym typeface="EB Garamond"/>
              </a:rPr>
              <a:t>CC'</a:t>
            </a:r>
            <a:r>
              <a:rPr lang="en" sz="1600">
                <a:latin typeface="EB Garamond"/>
                <a:ea typeface="EB Garamond"/>
                <a:cs typeface="EB Garamond"/>
                <a:sym typeface="EB Garamond"/>
              </a:rPr>
              <a:t> after adding x to the original export vector, C is the country we are interested in.</a:t>
            </a:r>
            <a:endParaRPr sz="1600">
              <a:latin typeface="EB Garamond"/>
              <a:ea typeface="EB Garamond"/>
              <a:cs typeface="EB Garamond"/>
              <a:sym typeface="EB Garamond"/>
            </a:endParaRPr>
          </a:p>
          <a:p>
            <a:pPr indent="0" lvl="0" marL="914400" rtl="0" algn="l">
              <a:spcBef>
                <a:spcPts val="1000"/>
              </a:spcBef>
              <a:spcAft>
                <a:spcPts val="0"/>
              </a:spcAft>
              <a:buNone/>
            </a:pPr>
            <a:r>
              <a:t/>
            </a:r>
            <a:endParaRPr sz="1600">
              <a:latin typeface="EB Garamond"/>
              <a:ea typeface="EB Garamond"/>
              <a:cs typeface="EB Garamond"/>
              <a:sym typeface="EB Garamond"/>
            </a:endParaRPr>
          </a:p>
          <a:p>
            <a:pPr indent="0" lvl="0" marL="457200" rtl="0" algn="l">
              <a:spcBef>
                <a:spcPts val="10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sz="30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295" name="Google Shape;295;p46"/>
          <p:cNvPicPr preferRelativeResize="0"/>
          <p:nvPr/>
        </p:nvPicPr>
        <p:blipFill>
          <a:blip r:embed="rId3">
            <a:alphaModFix/>
          </a:blip>
          <a:stretch>
            <a:fillRect/>
          </a:stretch>
        </p:blipFill>
        <p:spPr>
          <a:xfrm>
            <a:off x="3251450" y="2978150"/>
            <a:ext cx="2533650" cy="1143000"/>
          </a:xfrm>
          <a:prstGeom prst="rect">
            <a:avLst/>
          </a:prstGeom>
          <a:noFill/>
          <a:ln>
            <a:noFill/>
          </a:ln>
        </p:spPr>
      </p:pic>
      <p:sp>
        <p:nvSpPr>
          <p:cNvPr id="296" name="Google Shape;29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Budgeted Greedy Development Strategy </a:t>
            </a:r>
            <a:endParaRPr>
              <a:latin typeface="EB Garamond"/>
              <a:ea typeface="EB Garamond"/>
              <a:cs typeface="EB Garamond"/>
              <a:sym typeface="EB Garamond"/>
            </a:endParaRPr>
          </a:p>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02" name="Google Shape;302;p47"/>
          <p:cNvSpPr txBox="1"/>
          <p:nvPr>
            <p:ph idx="1" type="body"/>
          </p:nvPr>
        </p:nvSpPr>
        <p:spPr>
          <a:xfrm>
            <a:off x="311700" y="1152475"/>
            <a:ext cx="8520600" cy="3667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The problem is hard to solve because it is non-linear and non-convex.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One idea to obtain a near-optimal and feasible solution is to use </a:t>
            </a:r>
            <a:r>
              <a:rPr b="1" lang="en" sz="1600">
                <a:latin typeface="EB Garamond"/>
                <a:ea typeface="EB Garamond"/>
                <a:cs typeface="EB Garamond"/>
                <a:sym typeface="EB Garamond"/>
              </a:rPr>
              <a:t>Greedy Algorithm.</a:t>
            </a:r>
            <a:endParaRPr b="1" sz="1600">
              <a:latin typeface="EB Garamond"/>
              <a:ea typeface="EB Garamond"/>
              <a:cs typeface="EB Garamond"/>
              <a:sym typeface="EB Garamond"/>
            </a:endParaRPr>
          </a:p>
          <a:p>
            <a:pPr indent="0" lvl="0" marL="0" rtl="0" algn="l">
              <a:spcBef>
                <a:spcPts val="1200"/>
              </a:spcBef>
              <a:spcAft>
                <a:spcPts val="0"/>
              </a:spcAft>
              <a:buNone/>
            </a:pPr>
            <a:r>
              <a:t/>
            </a:r>
            <a:endParaRPr b="1" sz="1200">
              <a:latin typeface="EB Garamond"/>
              <a:ea typeface="EB Garamond"/>
              <a:cs typeface="EB Garamond"/>
              <a:sym typeface="EB Garamond"/>
            </a:endParaRPr>
          </a:p>
          <a:p>
            <a:pPr indent="0" lvl="0" marL="0" rtl="0" algn="l">
              <a:spcBef>
                <a:spcPts val="1200"/>
              </a:spcBef>
              <a:spcAft>
                <a:spcPts val="0"/>
              </a:spcAft>
              <a:buNone/>
            </a:pPr>
            <a:r>
              <a:t/>
            </a:r>
            <a:endParaRPr b="1" sz="1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endParaRPr sz="1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r>
              <a:rPr lang="en" sz="1600">
                <a:latin typeface="EB Garamond"/>
                <a:ea typeface="EB Garamond"/>
                <a:cs typeface="EB Garamond"/>
                <a:sym typeface="EB Garamond"/>
              </a:rPr>
              <a:t> Algorithm abstract:</a:t>
            </a:r>
            <a:endParaRPr sz="1600">
              <a:latin typeface="EB Garamond"/>
              <a:ea typeface="EB Garamond"/>
              <a:cs typeface="EB Garamond"/>
              <a:sym typeface="EB Garamond"/>
            </a:endParaRPr>
          </a:p>
          <a:p>
            <a:pPr indent="-330200" lvl="0" marL="457200" rtl="0" algn="l">
              <a:spcBef>
                <a:spcPts val="1200"/>
              </a:spcBef>
              <a:spcAft>
                <a:spcPts val="0"/>
              </a:spcAft>
              <a:buSzPts val="1600"/>
              <a:buFont typeface="EB Garamond"/>
              <a:buChar char="●"/>
            </a:pPr>
            <a:r>
              <a:rPr lang="en" sz="1600">
                <a:latin typeface="EB Garamond"/>
                <a:ea typeface="EB Garamond"/>
                <a:cs typeface="EB Garamond"/>
                <a:sym typeface="EB Garamond"/>
              </a:rPr>
              <a:t>Divide the budget into multiple parts (shares).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For each part, search for the product that can result in an activation and maximize the current ECI. If there are no activations for all products, we increase one share.</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If we find there is an activation, we can still keep looking for the next activation, and calculate the ratio of ECI increment to budget used. This step depends on how many activations we want to foresee.</a:t>
            </a:r>
            <a:endParaRPr sz="1600">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03" name="Google Shape;303;p47"/>
          <p:cNvPicPr preferRelativeResize="0"/>
          <p:nvPr/>
        </p:nvPicPr>
        <p:blipFill>
          <a:blip r:embed="rId3">
            <a:alphaModFix/>
          </a:blip>
          <a:stretch>
            <a:fillRect/>
          </a:stretch>
        </p:blipFill>
        <p:spPr>
          <a:xfrm>
            <a:off x="2770750" y="1899348"/>
            <a:ext cx="3602501" cy="1186225"/>
          </a:xfrm>
          <a:prstGeom prst="rect">
            <a:avLst/>
          </a:prstGeom>
          <a:noFill/>
          <a:ln>
            <a:noFill/>
          </a:ln>
        </p:spPr>
      </p:pic>
      <p:sp>
        <p:nvSpPr>
          <p:cNvPr id="304" name="Google Shape;30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Why do we care about sensitivity analysis?</a:t>
            </a:r>
            <a:endParaRPr>
              <a:latin typeface="EB Garamond"/>
              <a:ea typeface="EB Garamond"/>
              <a:cs typeface="EB Garamond"/>
              <a:sym typeface="EB Garamond"/>
            </a:endParaRPr>
          </a:p>
        </p:txBody>
      </p:sp>
      <p:sp>
        <p:nvSpPr>
          <p:cNvPr id="310" name="Google Shape;310;p48"/>
          <p:cNvSpPr txBox="1"/>
          <p:nvPr>
            <p:ph idx="1" type="body"/>
          </p:nvPr>
        </p:nvSpPr>
        <p:spPr>
          <a:xfrm>
            <a:off x="0" y="1073750"/>
            <a:ext cx="5197200" cy="3885900"/>
          </a:xfrm>
          <a:prstGeom prst="rect">
            <a:avLst/>
          </a:prstGeom>
        </p:spPr>
        <p:txBody>
          <a:bodyPr anchorCtr="0" anchor="t" bIns="91425" lIns="91425" spcFirstLastPara="1" rIns="91425" wrap="square" tIns="91425">
            <a:normAutofit/>
          </a:bodyPr>
          <a:lstStyle/>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So we’ve created this ECI metric but we </a:t>
            </a:r>
            <a:r>
              <a:rPr lang="en" sz="1946">
                <a:solidFill>
                  <a:schemeClr val="dk1"/>
                </a:solidFill>
                <a:latin typeface="EB Garamond"/>
                <a:ea typeface="EB Garamond"/>
                <a:cs typeface="EB Garamond"/>
                <a:sym typeface="EB Garamond"/>
              </a:rPr>
              <a:t>haven't</a:t>
            </a:r>
            <a:r>
              <a:rPr lang="en" sz="1946">
                <a:solidFill>
                  <a:schemeClr val="dk1"/>
                </a:solidFill>
                <a:latin typeface="EB Garamond"/>
                <a:ea typeface="EB Garamond"/>
                <a:cs typeface="EB Garamond"/>
                <a:sym typeface="EB Garamond"/>
              </a:rPr>
              <a:t> built any intuition about its behavior under perturbations.</a:t>
            </a:r>
            <a:endParaRPr sz="1946">
              <a:solidFill>
                <a:schemeClr val="dk1"/>
              </a:solidFill>
              <a:latin typeface="EB Garamond"/>
              <a:ea typeface="EB Garamond"/>
              <a:cs typeface="EB Garamond"/>
              <a:sym typeface="EB Garamond"/>
            </a:endParaRPr>
          </a:p>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We’d like to understand how changes in the export data can change a country’s ECI score.</a:t>
            </a:r>
            <a:endParaRPr sz="1946">
              <a:solidFill>
                <a:schemeClr val="dk1"/>
              </a:solidFill>
              <a:latin typeface="EB Garamond"/>
              <a:ea typeface="EB Garamond"/>
              <a:cs typeface="EB Garamond"/>
              <a:sym typeface="EB Garamond"/>
            </a:endParaRPr>
          </a:p>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Is the ECI rank of a country very sensitive or insensitive to changes in a particular industry or group of products?</a:t>
            </a:r>
            <a:endParaRPr sz="1946">
              <a:solidFill>
                <a:schemeClr val="dk1"/>
              </a:solidFill>
              <a:latin typeface="EB Garamond"/>
              <a:ea typeface="EB Garamond"/>
              <a:cs typeface="EB Garamond"/>
              <a:sym typeface="EB Garamond"/>
            </a:endParaRPr>
          </a:p>
          <a:p>
            <a:pPr indent="0" lvl="0" marL="0" rtl="0" algn="l">
              <a:spcBef>
                <a:spcPts val="1000"/>
              </a:spcBef>
              <a:spcAft>
                <a:spcPts val="1200"/>
              </a:spcAft>
              <a:buNone/>
            </a:pPr>
            <a:r>
              <a:t/>
            </a:r>
            <a:endParaRPr>
              <a:latin typeface="EB Garamond"/>
              <a:ea typeface="EB Garamond"/>
              <a:cs typeface="EB Garamond"/>
              <a:sym typeface="EB Garamond"/>
            </a:endParaRPr>
          </a:p>
        </p:txBody>
      </p:sp>
      <p:pic>
        <p:nvPicPr>
          <p:cNvPr id="311" name="Google Shape;311;p48"/>
          <p:cNvPicPr preferRelativeResize="0"/>
          <p:nvPr/>
        </p:nvPicPr>
        <p:blipFill>
          <a:blip r:embed="rId3">
            <a:alphaModFix/>
          </a:blip>
          <a:stretch>
            <a:fillRect/>
          </a:stretch>
        </p:blipFill>
        <p:spPr>
          <a:xfrm>
            <a:off x="5345075" y="1363375"/>
            <a:ext cx="3494126" cy="2620600"/>
          </a:xfrm>
          <a:prstGeom prst="rect">
            <a:avLst/>
          </a:prstGeom>
          <a:noFill/>
          <a:ln>
            <a:noFill/>
          </a:ln>
        </p:spPr>
      </p:pic>
      <p:sp>
        <p:nvSpPr>
          <p:cNvPr id="312" name="Google Shape;31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Sensitivity Analysis</a:t>
            </a:r>
            <a:endParaRPr>
              <a:latin typeface="EB Garamond"/>
              <a:ea typeface="EB Garamond"/>
              <a:cs typeface="EB Garamond"/>
              <a:sym typeface="EB Garamond"/>
            </a:endParaRPr>
          </a:p>
        </p:txBody>
      </p:sp>
      <p:sp>
        <p:nvSpPr>
          <p:cNvPr id="318" name="Google Shape;318;p49"/>
          <p:cNvSpPr txBox="1"/>
          <p:nvPr>
            <p:ph idx="1" type="body"/>
          </p:nvPr>
        </p:nvSpPr>
        <p:spPr>
          <a:xfrm>
            <a:off x="0" y="1073750"/>
            <a:ext cx="5197200" cy="3885900"/>
          </a:xfrm>
          <a:prstGeom prst="rect">
            <a:avLst/>
          </a:prstGeom>
        </p:spPr>
        <p:txBody>
          <a:bodyPr anchorCtr="0" anchor="t" bIns="91425" lIns="91425" spcFirstLastPara="1" rIns="91425" wrap="square" tIns="91425">
            <a:normAutofit fontScale="40000" lnSpcReduction="20000"/>
          </a:bodyPr>
          <a:lstStyle/>
          <a:p>
            <a:pPr indent="-333907" lvl="0" marL="457200" rtl="0" algn="l">
              <a:spcBef>
                <a:spcPts val="1000"/>
              </a:spcBef>
              <a:spcAft>
                <a:spcPts val="0"/>
              </a:spcAft>
              <a:buClr>
                <a:srgbClr val="424242"/>
              </a:buClr>
              <a:buSzPct val="100000"/>
              <a:buFont typeface="EB Garamond"/>
              <a:buChar char="●"/>
            </a:pPr>
            <a:r>
              <a:rPr lang="en" sz="4146">
                <a:solidFill>
                  <a:schemeClr val="dk1"/>
                </a:solidFill>
                <a:latin typeface="EB Garamond"/>
                <a:ea typeface="EB Garamond"/>
                <a:cs typeface="EB Garamond"/>
                <a:sym typeface="EB Garamond"/>
              </a:rPr>
              <a:t>The broad aim of the sensitivity analysis section is to understand how sensitive a country is to instantaneous increments or decrements in export levels in various industries</a:t>
            </a:r>
            <a:endParaRPr sz="4146">
              <a:solidFill>
                <a:srgbClr val="424242"/>
              </a:solidFill>
              <a:latin typeface="EB Garamond"/>
              <a:ea typeface="EB Garamond"/>
              <a:cs typeface="EB Garamond"/>
              <a:sym typeface="EB Garamond"/>
            </a:endParaRPr>
          </a:p>
          <a:p>
            <a:pPr indent="-331367" lvl="0" marL="457200" rtl="0" algn="l">
              <a:spcBef>
                <a:spcPts val="1200"/>
              </a:spcBef>
              <a:spcAft>
                <a:spcPts val="0"/>
              </a:spcAft>
              <a:buClr>
                <a:schemeClr val="dk1"/>
              </a:buClr>
              <a:buSzPct val="97588"/>
              <a:buFont typeface="EB Garamond"/>
              <a:buChar char="●"/>
            </a:pPr>
            <a:r>
              <a:rPr lang="en" sz="4146">
                <a:solidFill>
                  <a:schemeClr val="dk1"/>
                </a:solidFill>
                <a:latin typeface="EB Garamond"/>
                <a:ea typeface="EB Garamond"/>
                <a:cs typeface="EB Garamond"/>
                <a:sym typeface="EB Garamond"/>
              </a:rPr>
              <a:t>Two areas of analysis: </a:t>
            </a:r>
            <a:endParaRPr sz="4146">
              <a:solidFill>
                <a:schemeClr val="dk1"/>
              </a:solidFill>
              <a:latin typeface="EB Garamond"/>
              <a:ea typeface="EB Garamond"/>
              <a:cs typeface="EB Garamond"/>
              <a:sym typeface="EB Garamond"/>
            </a:endParaRPr>
          </a:p>
          <a:p>
            <a:pPr indent="-333907" lvl="0" marL="914400" rtl="0" algn="l">
              <a:spcBef>
                <a:spcPts val="1000"/>
              </a:spcBef>
              <a:spcAft>
                <a:spcPts val="0"/>
              </a:spcAft>
              <a:buClr>
                <a:schemeClr val="dk1"/>
              </a:buClr>
              <a:buSzPct val="100000"/>
              <a:buFont typeface="EB Garamond"/>
              <a:buAutoNum type="arabicPeriod"/>
            </a:pPr>
            <a:r>
              <a:rPr lang="en" sz="4146">
                <a:solidFill>
                  <a:schemeClr val="dk1"/>
                </a:solidFill>
                <a:latin typeface="EB Garamond"/>
                <a:ea typeface="EB Garamond"/>
                <a:cs typeface="EB Garamond"/>
                <a:sym typeface="EB Garamond"/>
              </a:rPr>
              <a:t>the stability of a country’s ECI with respect to shocks in underlying export level  </a:t>
            </a:r>
            <a:endParaRPr sz="4146">
              <a:solidFill>
                <a:schemeClr val="dk1"/>
              </a:solidFill>
              <a:latin typeface="EB Garamond"/>
              <a:ea typeface="EB Garamond"/>
              <a:cs typeface="EB Garamond"/>
              <a:sym typeface="EB Garamond"/>
            </a:endParaRPr>
          </a:p>
          <a:p>
            <a:pPr indent="-333907" lvl="0" marL="914400" rtl="0" algn="l">
              <a:spcBef>
                <a:spcPts val="1000"/>
              </a:spcBef>
              <a:spcAft>
                <a:spcPts val="0"/>
              </a:spcAft>
              <a:buClr>
                <a:schemeClr val="dk1"/>
              </a:buClr>
              <a:buSzPct val="100000"/>
              <a:buFont typeface="EB Garamond"/>
              <a:buAutoNum type="arabicPeriod"/>
            </a:pPr>
            <a:r>
              <a:rPr lang="en" sz="4146">
                <a:solidFill>
                  <a:schemeClr val="dk1"/>
                </a:solidFill>
                <a:latin typeface="EB Garamond"/>
                <a:ea typeface="EB Garamond"/>
                <a:cs typeface="EB Garamond"/>
                <a:sym typeface="EB Garamond"/>
              </a:rPr>
              <a:t>the sensitivity of a country’s SDV to changes in export level </a:t>
            </a:r>
            <a:endParaRPr sz="4146">
              <a:solidFill>
                <a:schemeClr val="dk1"/>
              </a:solidFill>
              <a:latin typeface="EB Garamond"/>
              <a:ea typeface="EB Garamond"/>
              <a:cs typeface="EB Garamond"/>
              <a:sym typeface="EB Garamond"/>
            </a:endParaRPr>
          </a:p>
          <a:p>
            <a:pPr indent="-333907" lvl="0" marL="457200" rtl="0" algn="l">
              <a:spcBef>
                <a:spcPts val="1000"/>
              </a:spcBef>
              <a:spcAft>
                <a:spcPts val="0"/>
              </a:spcAft>
              <a:buClr>
                <a:schemeClr val="dk1"/>
              </a:buClr>
              <a:buSzPct val="100000"/>
              <a:buFont typeface="EB Garamond"/>
              <a:buChar char="●"/>
            </a:pPr>
            <a:r>
              <a:rPr lang="en" sz="4146">
                <a:solidFill>
                  <a:schemeClr val="dk1"/>
                </a:solidFill>
                <a:latin typeface="EB Garamond"/>
                <a:ea typeface="EB Garamond"/>
                <a:cs typeface="EB Garamond"/>
                <a:sym typeface="EB Garamond"/>
              </a:rPr>
              <a:t>ECI Sensitivity Analysis is conducted on all countries while as SDV sensitivity analysis is conducted on developed countries with well-diversified economies. </a:t>
            </a:r>
            <a:endParaRPr sz="4146">
              <a:solidFill>
                <a:schemeClr val="dk1"/>
              </a:solidFill>
              <a:latin typeface="EB Garamond"/>
              <a:ea typeface="EB Garamond"/>
              <a:cs typeface="EB Garamond"/>
              <a:sym typeface="EB Garamond"/>
            </a:endParaRPr>
          </a:p>
          <a:p>
            <a:pPr indent="0" lvl="0" marL="0" rtl="0" algn="l">
              <a:spcBef>
                <a:spcPts val="0"/>
              </a:spcBef>
              <a:spcAft>
                <a:spcPts val="1200"/>
              </a:spcAft>
              <a:buNone/>
            </a:pPr>
            <a:r>
              <a:t/>
            </a:r>
            <a:endParaRPr>
              <a:latin typeface="EB Garamond"/>
              <a:ea typeface="EB Garamond"/>
              <a:cs typeface="EB Garamond"/>
              <a:sym typeface="EB Garamond"/>
            </a:endParaRPr>
          </a:p>
        </p:txBody>
      </p:sp>
      <p:pic>
        <p:nvPicPr>
          <p:cNvPr id="319" name="Google Shape;319;p49"/>
          <p:cNvPicPr preferRelativeResize="0"/>
          <p:nvPr/>
        </p:nvPicPr>
        <p:blipFill>
          <a:blip r:embed="rId3">
            <a:alphaModFix/>
          </a:blip>
          <a:stretch>
            <a:fillRect/>
          </a:stretch>
        </p:blipFill>
        <p:spPr>
          <a:xfrm>
            <a:off x="5214375" y="445025"/>
            <a:ext cx="3816174" cy="2034875"/>
          </a:xfrm>
          <a:prstGeom prst="rect">
            <a:avLst/>
          </a:prstGeom>
          <a:noFill/>
          <a:ln>
            <a:noFill/>
          </a:ln>
        </p:spPr>
      </p:pic>
      <p:pic>
        <p:nvPicPr>
          <p:cNvPr id="320" name="Google Shape;320;p49"/>
          <p:cNvPicPr preferRelativeResize="0"/>
          <p:nvPr/>
        </p:nvPicPr>
        <p:blipFill>
          <a:blip r:embed="rId4">
            <a:alphaModFix/>
          </a:blip>
          <a:stretch>
            <a:fillRect/>
          </a:stretch>
        </p:blipFill>
        <p:spPr>
          <a:xfrm>
            <a:off x="5197200" y="2801013"/>
            <a:ext cx="3833350" cy="1752038"/>
          </a:xfrm>
          <a:prstGeom prst="rect">
            <a:avLst/>
          </a:prstGeom>
          <a:noFill/>
          <a:ln>
            <a:noFill/>
          </a:ln>
        </p:spPr>
      </p:pic>
      <p:sp>
        <p:nvSpPr>
          <p:cNvPr id="321" name="Google Shape;32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Contingency</a:t>
            </a:r>
            <a:r>
              <a:rPr lang="en">
                <a:latin typeface="EB Garamond"/>
                <a:ea typeface="EB Garamond"/>
                <a:cs typeface="EB Garamond"/>
                <a:sym typeface="EB Garamond"/>
              </a:rPr>
              <a:t> Strategy</a:t>
            </a:r>
            <a:endParaRPr>
              <a:latin typeface="EB Garamond"/>
              <a:ea typeface="EB Garamond"/>
              <a:cs typeface="EB Garamond"/>
              <a:sym typeface="EB Garamond"/>
            </a:endParaRPr>
          </a:p>
        </p:txBody>
      </p:sp>
      <p:sp>
        <p:nvSpPr>
          <p:cNvPr id="327" name="Google Shape;327;p50"/>
          <p:cNvSpPr txBox="1"/>
          <p:nvPr>
            <p:ph idx="1" type="body"/>
          </p:nvPr>
        </p:nvSpPr>
        <p:spPr>
          <a:xfrm>
            <a:off x="311700" y="1152475"/>
            <a:ext cx="5661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EB Garamond"/>
                <a:ea typeface="EB Garamond"/>
                <a:cs typeface="EB Garamond"/>
                <a:sym typeface="EB Garamond"/>
              </a:rPr>
              <a:t>Essential Question: How should a country react to drastic drawdown in exports from a important industry?</a:t>
            </a:r>
            <a:endParaRPr>
              <a:latin typeface="EB Garamond"/>
              <a:ea typeface="EB Garamond"/>
              <a:cs typeface="EB Garamond"/>
              <a:sym typeface="EB Garamond"/>
            </a:endParaRPr>
          </a:p>
          <a:p>
            <a:pPr indent="-342900" lvl="0" marL="457200" rtl="0" algn="l">
              <a:spcBef>
                <a:spcPts val="1200"/>
              </a:spcBef>
              <a:spcAft>
                <a:spcPts val="0"/>
              </a:spcAft>
              <a:buSzPts val="1800"/>
              <a:buFont typeface="EB Garamond"/>
              <a:buChar char="●"/>
            </a:pPr>
            <a:r>
              <a:rPr lang="en">
                <a:latin typeface="EB Garamond"/>
                <a:ea typeface="EB Garamond"/>
                <a:cs typeface="EB Garamond"/>
                <a:sym typeface="EB Garamond"/>
              </a:rPr>
              <a:t>When sudden geopolitical, or economic factors cause downturns, through the lens of ECI, we can suggest the industries that are optimal to invest in to maximize a recovery</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Intuitively the country should invest stimulative capital into </a:t>
            </a:r>
            <a:r>
              <a:rPr lang="en">
                <a:latin typeface="EB Garamond"/>
                <a:ea typeface="EB Garamond"/>
                <a:cs typeface="EB Garamond"/>
                <a:sym typeface="EB Garamond"/>
              </a:rPr>
              <a:t>industries</a:t>
            </a:r>
            <a:r>
              <a:rPr lang="en">
                <a:latin typeface="EB Garamond"/>
                <a:ea typeface="EB Garamond"/>
                <a:cs typeface="EB Garamond"/>
                <a:sym typeface="EB Garamond"/>
              </a:rPr>
              <a:t> that will “open as many doors as possible” into even more promising industries.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28" name="Google Shape;328;p50"/>
          <p:cNvPicPr preferRelativeResize="0"/>
          <p:nvPr/>
        </p:nvPicPr>
        <p:blipFill>
          <a:blip r:embed="rId3">
            <a:alphaModFix/>
          </a:blip>
          <a:stretch>
            <a:fillRect/>
          </a:stretch>
        </p:blipFill>
        <p:spPr>
          <a:xfrm>
            <a:off x="5973600" y="1629925"/>
            <a:ext cx="2825475" cy="1883650"/>
          </a:xfrm>
          <a:prstGeom prst="rect">
            <a:avLst/>
          </a:prstGeom>
          <a:noFill/>
          <a:ln>
            <a:noFill/>
          </a:ln>
        </p:spPr>
      </p:pic>
      <p:sp>
        <p:nvSpPr>
          <p:cNvPr id="329" name="Google Shape;32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SOI</a:t>
            </a:r>
            <a:endParaRPr>
              <a:latin typeface="EB Garamond"/>
              <a:ea typeface="EB Garamond"/>
              <a:cs typeface="EB Garamond"/>
              <a:sym typeface="EB Garamond"/>
            </a:endParaRPr>
          </a:p>
        </p:txBody>
      </p:sp>
      <p:sp>
        <p:nvSpPr>
          <p:cNvPr id="335" name="Google Shape;335;p51"/>
          <p:cNvSpPr txBox="1"/>
          <p:nvPr>
            <p:ph idx="1" type="body"/>
          </p:nvPr>
        </p:nvSpPr>
        <p:spPr>
          <a:xfrm>
            <a:off x="311700" y="1017725"/>
            <a:ext cx="6397800" cy="40230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n">
                <a:latin typeface="EB Garamond"/>
                <a:ea typeface="EB Garamond"/>
                <a:cs typeface="EB Garamond"/>
                <a:sym typeface="EB Garamond"/>
              </a:rPr>
              <a:t>How do we measure the effectiveness of our suggested development vector?</a:t>
            </a:r>
            <a:endParaRPr b="1">
              <a:latin typeface="EB Garamond"/>
              <a:ea typeface="EB Garamond"/>
              <a:cs typeface="EB Garamond"/>
              <a:sym typeface="EB Garamond"/>
            </a:endParaRPr>
          </a:p>
          <a:p>
            <a:pPr indent="-325755" lvl="0" marL="457200" rtl="0" algn="l">
              <a:spcBef>
                <a:spcPts val="1200"/>
              </a:spcBef>
              <a:spcAft>
                <a:spcPts val="0"/>
              </a:spcAft>
              <a:buSzPct val="100000"/>
              <a:buFont typeface="EB Garamond"/>
              <a:buChar char="●"/>
            </a:pPr>
            <a:r>
              <a:rPr lang="en">
                <a:latin typeface="EB Garamond"/>
                <a:ea typeface="EB Garamond"/>
                <a:cs typeface="EB Garamond"/>
                <a:sym typeface="EB Garamond"/>
              </a:rPr>
              <a:t>We define the Structural Optimality Index (SOI) as the R-Square obtained from regressing the country’s actual development over the suggested development strategy.</a:t>
            </a:r>
            <a:endParaRPr>
              <a:latin typeface="EB Garamond"/>
              <a:ea typeface="EB Garamond"/>
              <a:cs typeface="EB Garamond"/>
              <a:sym typeface="EB Garamond"/>
            </a:endParaRPr>
          </a:p>
          <a:p>
            <a:pPr indent="-325755"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25755" lvl="0" marL="457200" rtl="0" algn="l">
              <a:spcBef>
                <a:spcPts val="0"/>
              </a:spcBef>
              <a:spcAft>
                <a:spcPts val="0"/>
              </a:spcAft>
              <a:buSzPct val="100000"/>
              <a:buFont typeface="EB Garamond"/>
              <a:buChar char="●"/>
            </a:pPr>
            <a:r>
              <a:rPr lang="en">
                <a:latin typeface="EB Garamond"/>
                <a:ea typeface="EB Garamond"/>
                <a:cs typeface="EB Garamond"/>
                <a:sym typeface="EB Garamond"/>
              </a:rPr>
              <a:t>Actual development is quantified in terms of the export increase in major industry groups, and suggested development is represented by the opportunity gain of developing in specific groups, as previously calculated</a:t>
            </a:r>
            <a:endParaRPr>
              <a:latin typeface="EB Garamond"/>
              <a:ea typeface="EB Garamond"/>
              <a:cs typeface="EB Garamond"/>
              <a:sym typeface="EB Garamond"/>
            </a:endParaRPr>
          </a:p>
          <a:p>
            <a:pPr indent="-325755"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25755" lvl="0" marL="457200" rtl="0" algn="l">
              <a:spcBef>
                <a:spcPts val="0"/>
              </a:spcBef>
              <a:spcAft>
                <a:spcPts val="0"/>
              </a:spcAft>
              <a:buSzPct val="100000"/>
              <a:buFont typeface="EB Garamond"/>
              <a:buChar char="●"/>
            </a:pPr>
            <a:r>
              <a:rPr lang="en">
                <a:latin typeface="EB Garamond"/>
                <a:ea typeface="EB Garamond"/>
                <a:cs typeface="EB Garamond"/>
                <a:sym typeface="EB Garamond"/>
              </a:rPr>
              <a:t>This gives us a way of quantifying how the actual path of development adopted by a country lines up with the suggested path that we uncovered</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36" name="Google Shape;336;p51"/>
          <p:cNvPicPr preferRelativeResize="0"/>
          <p:nvPr/>
        </p:nvPicPr>
        <p:blipFill>
          <a:blip r:embed="rId3">
            <a:alphaModFix/>
          </a:blip>
          <a:stretch>
            <a:fillRect/>
          </a:stretch>
        </p:blipFill>
        <p:spPr>
          <a:xfrm>
            <a:off x="6709500" y="1792650"/>
            <a:ext cx="2129700" cy="2129700"/>
          </a:xfrm>
          <a:prstGeom prst="rect">
            <a:avLst/>
          </a:prstGeom>
          <a:noFill/>
          <a:ln>
            <a:noFill/>
          </a:ln>
        </p:spPr>
      </p:pic>
      <p:sp>
        <p:nvSpPr>
          <p:cNvPr id="337" name="Google Shape;33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Comparing ECI with other Macroeconomic Metrics</a:t>
            </a:r>
            <a:endParaRPr>
              <a:latin typeface="EB Garamond"/>
              <a:ea typeface="EB Garamond"/>
              <a:cs typeface="EB Garamond"/>
              <a:sym typeface="EB Garamond"/>
            </a:endParaRPr>
          </a:p>
        </p:txBody>
      </p:sp>
      <p:sp>
        <p:nvSpPr>
          <p:cNvPr id="343" name="Google Shape;343;p52"/>
          <p:cNvSpPr txBox="1"/>
          <p:nvPr>
            <p:ph idx="1" type="body"/>
          </p:nvPr>
        </p:nvSpPr>
        <p:spPr>
          <a:xfrm>
            <a:off x="4677950" y="1152475"/>
            <a:ext cx="4353900" cy="391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latin typeface="EB Garamond"/>
                <a:ea typeface="EB Garamond"/>
                <a:cs typeface="EB Garamond"/>
                <a:sym typeface="EB Garamond"/>
              </a:rPr>
              <a:t>We also want to understand how well ECI lines up with existing Macroeconomic metrics</a:t>
            </a:r>
            <a:endParaRPr>
              <a:latin typeface="EB Garamond"/>
              <a:ea typeface="EB Garamond"/>
              <a:cs typeface="EB Garamond"/>
              <a:sym typeface="EB Garamond"/>
            </a:endParaRPr>
          </a:p>
          <a:p>
            <a:pPr indent="-334328" lvl="0" marL="457200" rtl="0" algn="l">
              <a:spcBef>
                <a:spcPts val="1200"/>
              </a:spcBef>
              <a:spcAft>
                <a:spcPts val="0"/>
              </a:spcAft>
              <a:buSzPct val="100000"/>
              <a:buFont typeface="EB Garamond"/>
              <a:buChar char="●"/>
            </a:pPr>
            <a:r>
              <a:rPr lang="en">
                <a:latin typeface="EB Garamond"/>
                <a:ea typeface="EB Garamond"/>
                <a:cs typeface="EB Garamond"/>
                <a:sym typeface="EB Garamond"/>
              </a:rPr>
              <a:t>Solution: Regress SOI with other Macroeconomic metrics!</a:t>
            </a:r>
            <a:endParaRPr>
              <a:latin typeface="EB Garamond"/>
              <a:ea typeface="EB Garamond"/>
              <a:cs typeface="EB Garamond"/>
              <a:sym typeface="EB Garamond"/>
            </a:endParaRPr>
          </a:p>
          <a:p>
            <a:pPr indent="-334328"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Char char="●"/>
            </a:pPr>
            <a:r>
              <a:rPr lang="en">
                <a:latin typeface="EB Garamond"/>
                <a:ea typeface="EB Garamond"/>
                <a:cs typeface="EB Garamond"/>
                <a:sym typeface="EB Garamond"/>
              </a:rPr>
              <a:t>In fact, when we regressed net increase in GDP over 5 years with the SOI, we achieved a strong positive correlation that was significant at a 1% level</a:t>
            </a:r>
            <a:endParaRPr>
              <a:latin typeface="EB Garamond"/>
              <a:ea typeface="EB Garamond"/>
              <a:cs typeface="EB Garamond"/>
              <a:sym typeface="EB Garamond"/>
            </a:endParaRPr>
          </a:p>
          <a:p>
            <a:pPr indent="-334328"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Char char="●"/>
            </a:pPr>
            <a:r>
              <a:rPr b="1" lang="en">
                <a:latin typeface="EB Garamond"/>
                <a:ea typeface="EB Garamond"/>
                <a:cs typeface="EB Garamond"/>
                <a:sym typeface="EB Garamond"/>
              </a:rPr>
              <a:t>This shows that development based in complexity translates over to increases in GDP</a:t>
            </a:r>
            <a:endParaRPr b="1">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44" name="Google Shape;344;p52"/>
          <p:cNvPicPr preferRelativeResize="0"/>
          <p:nvPr/>
        </p:nvPicPr>
        <p:blipFill>
          <a:blip r:embed="rId3">
            <a:alphaModFix/>
          </a:blip>
          <a:stretch>
            <a:fillRect/>
          </a:stretch>
        </p:blipFill>
        <p:spPr>
          <a:xfrm>
            <a:off x="311700" y="1335375"/>
            <a:ext cx="4478501" cy="2983150"/>
          </a:xfrm>
          <a:prstGeom prst="rect">
            <a:avLst/>
          </a:prstGeom>
          <a:noFill/>
          <a:ln>
            <a:noFill/>
          </a:ln>
        </p:spPr>
      </p:pic>
      <p:sp>
        <p:nvSpPr>
          <p:cNvPr id="345" name="Google Shape;34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The Limitations of the ECI framework</a:t>
            </a:r>
            <a:endParaRPr>
              <a:latin typeface="EB Garamond"/>
              <a:ea typeface="EB Garamond"/>
              <a:cs typeface="EB Garamond"/>
              <a:sym typeface="EB Garamond"/>
            </a:endParaRPr>
          </a:p>
        </p:txBody>
      </p:sp>
      <p:sp>
        <p:nvSpPr>
          <p:cNvPr id="351" name="Google Shape;351;p53"/>
          <p:cNvSpPr txBox="1"/>
          <p:nvPr>
            <p:ph idx="1" type="body"/>
          </p:nvPr>
        </p:nvSpPr>
        <p:spPr>
          <a:xfrm>
            <a:off x="207850" y="944725"/>
            <a:ext cx="6056100" cy="39081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a:latin typeface="EB Garamond"/>
                <a:ea typeface="EB Garamond"/>
                <a:cs typeface="EB Garamond"/>
                <a:sym typeface="EB Garamond"/>
              </a:rPr>
              <a:t>Q1: Does export data fully capture the knowledge that is </a:t>
            </a:r>
            <a:r>
              <a:rPr b="1" lang="en">
                <a:latin typeface="EB Garamond"/>
                <a:ea typeface="EB Garamond"/>
                <a:cs typeface="EB Garamond"/>
                <a:sym typeface="EB Garamond"/>
              </a:rPr>
              <a:t>embedded</a:t>
            </a:r>
            <a:r>
              <a:rPr b="1" lang="en">
                <a:latin typeface="EB Garamond"/>
                <a:ea typeface="EB Garamond"/>
                <a:cs typeface="EB Garamond"/>
                <a:sym typeface="EB Garamond"/>
              </a:rPr>
              <a:t> in an economic system?</a:t>
            </a:r>
            <a:endParaRPr b="1">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ECI truly tries to measure the </a:t>
            </a:r>
            <a:r>
              <a:rPr lang="en">
                <a:solidFill>
                  <a:srgbClr val="6AA84F"/>
                </a:solidFill>
                <a:latin typeface="EB Garamond"/>
                <a:ea typeface="EB Garamond"/>
                <a:cs typeface="EB Garamond"/>
                <a:sym typeface="EB Garamond"/>
              </a:rPr>
              <a:t>capabilities</a:t>
            </a:r>
            <a:r>
              <a:rPr lang="en">
                <a:latin typeface="EB Garamond"/>
                <a:ea typeface="EB Garamond"/>
                <a:cs typeface="EB Garamond"/>
                <a:sym typeface="EB Garamond"/>
              </a:rPr>
              <a:t> that an economy has in aggregate, but they are, by </a:t>
            </a:r>
            <a:r>
              <a:rPr lang="en">
                <a:latin typeface="EB Garamond"/>
                <a:ea typeface="EB Garamond"/>
                <a:cs typeface="EB Garamond"/>
                <a:sym typeface="EB Garamond"/>
              </a:rPr>
              <a:t>definition</a:t>
            </a:r>
            <a:r>
              <a:rPr lang="en">
                <a:latin typeface="EB Garamond"/>
                <a:ea typeface="EB Garamond"/>
                <a:cs typeface="EB Garamond"/>
                <a:sym typeface="EB Garamond"/>
              </a:rPr>
              <a:t> intangible. The ECI solution is to proxy knowledge with the complexity of products, however </a:t>
            </a:r>
            <a:r>
              <a:rPr b="1" lang="en">
                <a:latin typeface="EB Garamond"/>
                <a:ea typeface="EB Garamond"/>
                <a:cs typeface="EB Garamond"/>
                <a:sym typeface="EB Garamond"/>
              </a:rPr>
              <a:t>services </a:t>
            </a:r>
            <a:r>
              <a:rPr lang="en">
                <a:latin typeface="EB Garamond"/>
                <a:ea typeface="EB Garamond"/>
                <a:cs typeface="EB Garamond"/>
                <a:sym typeface="EB Garamond"/>
              </a:rPr>
              <a:t>that a country provides also carries information about the knowledge embedded in an economy. Unfortunately the data only reflects exports of tangible products.</a:t>
            </a:r>
            <a:endParaRPr>
              <a:latin typeface="EB Garamond"/>
              <a:ea typeface="EB Garamond"/>
              <a:cs typeface="EB Garamond"/>
              <a:sym typeface="EB Garamond"/>
            </a:endParaRPr>
          </a:p>
          <a:p>
            <a:pPr indent="0" lvl="0" marL="0" rtl="0" algn="l">
              <a:spcBef>
                <a:spcPts val="1200"/>
              </a:spcBef>
              <a:spcAft>
                <a:spcPts val="0"/>
              </a:spcAft>
              <a:buNone/>
            </a:pPr>
            <a:r>
              <a:rPr b="1" lang="en">
                <a:latin typeface="EB Garamond"/>
                <a:ea typeface="EB Garamond"/>
                <a:cs typeface="EB Garamond"/>
                <a:sym typeface="EB Garamond"/>
              </a:rPr>
              <a:t>Q2: Does the binary definition of the Mcp matrix introduce a limitation in the analysis?</a:t>
            </a:r>
            <a:endParaRPr b="1">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The way in which we define the Mcp matrix is by denoting whether a country has or does not have a relative comparative advantage in the export of a product. The binary nature of this measure in some sense throws away much of the information we collect from the export data set. While it is useful in terms of defining an </a:t>
            </a:r>
            <a:r>
              <a:rPr lang="en">
                <a:latin typeface="EB Garamond"/>
                <a:ea typeface="EB Garamond"/>
                <a:cs typeface="EB Garamond"/>
                <a:sym typeface="EB Garamond"/>
              </a:rPr>
              <a:t>adjacency</a:t>
            </a:r>
            <a:r>
              <a:rPr lang="en">
                <a:latin typeface="EB Garamond"/>
                <a:ea typeface="EB Garamond"/>
                <a:cs typeface="EB Garamond"/>
                <a:sym typeface="EB Garamond"/>
              </a:rPr>
              <a:t> matrix of a graph, we may be able to get further insights if we loosen this restriction. </a:t>
            </a:r>
            <a:endParaRPr>
              <a:latin typeface="EB Garamond"/>
              <a:ea typeface="EB Garamond"/>
              <a:cs typeface="EB Garamond"/>
              <a:sym typeface="EB Garamond"/>
            </a:endParaRPr>
          </a:p>
        </p:txBody>
      </p:sp>
      <p:pic>
        <p:nvPicPr>
          <p:cNvPr id="352" name="Google Shape;352;p53"/>
          <p:cNvPicPr preferRelativeResize="0"/>
          <p:nvPr/>
        </p:nvPicPr>
        <p:blipFill>
          <a:blip r:embed="rId3">
            <a:alphaModFix/>
          </a:blip>
          <a:stretch>
            <a:fillRect/>
          </a:stretch>
        </p:blipFill>
        <p:spPr>
          <a:xfrm>
            <a:off x="6319300" y="1436300"/>
            <a:ext cx="2627701" cy="2627701"/>
          </a:xfrm>
          <a:prstGeom prst="rect">
            <a:avLst/>
          </a:prstGeom>
          <a:noFill/>
          <a:ln>
            <a:noFill/>
          </a:ln>
        </p:spPr>
      </p:pic>
      <p:sp>
        <p:nvSpPr>
          <p:cNvPr id="353" name="Google Shape;35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Possible Improvements</a:t>
            </a:r>
            <a:endParaRPr>
              <a:latin typeface="EB Garamond"/>
              <a:ea typeface="EB Garamond"/>
              <a:cs typeface="EB Garamond"/>
              <a:sym typeface="EB Garamond"/>
            </a:endParaRPr>
          </a:p>
        </p:txBody>
      </p:sp>
      <p:sp>
        <p:nvSpPr>
          <p:cNvPr id="359" name="Google Shape;359;p54"/>
          <p:cNvSpPr txBox="1"/>
          <p:nvPr>
            <p:ph idx="1" type="body"/>
          </p:nvPr>
        </p:nvSpPr>
        <p:spPr>
          <a:xfrm>
            <a:off x="311700" y="1152475"/>
            <a:ext cx="6771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a:latin typeface="EB Garamond"/>
                <a:ea typeface="EB Garamond"/>
                <a:cs typeface="EB Garamond"/>
                <a:sym typeface="EB Garamond"/>
              </a:rPr>
              <a:t>Idea 1: Convert to a continuous scale for the Mcp matrix. </a:t>
            </a:r>
            <a:endParaRPr b="1">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While moving away from the binary nature of the Mcp matrix seems like an </a:t>
            </a:r>
            <a:r>
              <a:rPr lang="en">
                <a:latin typeface="EB Garamond"/>
                <a:ea typeface="EB Garamond"/>
                <a:cs typeface="EB Garamond"/>
                <a:sym typeface="EB Garamond"/>
              </a:rPr>
              <a:t>interesting avenue, understanding its implications in the rest of the mathematics that is done to compute the ECI score is not trivial. Some theoretical issues needs to be considered in terms of tractability in order to show that conversion to a continuous scale results in a sensible metric. The authors of the ECI+ paper explore this issue and create a new metric they call ECI+</a:t>
            </a:r>
            <a:endParaRPr>
              <a:latin typeface="EB Garamond"/>
              <a:ea typeface="EB Garamond"/>
              <a:cs typeface="EB Garamond"/>
              <a:sym typeface="EB Garamond"/>
            </a:endParaRPr>
          </a:p>
          <a:p>
            <a:pPr indent="0" lvl="0" marL="0" rtl="0" algn="l">
              <a:spcBef>
                <a:spcPts val="1200"/>
              </a:spcBef>
              <a:spcAft>
                <a:spcPts val="0"/>
              </a:spcAft>
              <a:buNone/>
            </a:pPr>
            <a:r>
              <a:rPr b="1" lang="en">
                <a:latin typeface="EB Garamond"/>
                <a:ea typeface="EB Garamond"/>
                <a:cs typeface="EB Garamond"/>
                <a:sym typeface="EB Garamond"/>
              </a:rPr>
              <a:t>Idea 2: Can we model interactions between countries within the context of ECI?</a:t>
            </a:r>
            <a:endParaRPr b="1">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All of our analysis on a particular country is done independent of all other countries. In some sense we freeze all other countries as we analyze a particular one. </a:t>
            </a:r>
            <a:r>
              <a:rPr lang="en">
                <a:latin typeface="EB Garamond"/>
                <a:ea typeface="EB Garamond"/>
                <a:cs typeface="EB Garamond"/>
                <a:sym typeface="EB Garamond"/>
              </a:rPr>
              <a:t>Obviously</a:t>
            </a:r>
            <a:r>
              <a:rPr lang="en">
                <a:latin typeface="EB Garamond"/>
                <a:ea typeface="EB Garamond"/>
                <a:cs typeface="EB Garamond"/>
                <a:sym typeface="EB Garamond"/>
              </a:rPr>
              <a:t> in the context of sensitivity analysis, suggested development, etc. this is unrealistic. How countries evolve may impact the development of other countries. Finding an </a:t>
            </a:r>
            <a:r>
              <a:rPr lang="en">
                <a:latin typeface="EB Garamond"/>
                <a:ea typeface="EB Garamond"/>
                <a:cs typeface="EB Garamond"/>
                <a:sym typeface="EB Garamond"/>
              </a:rPr>
              <a:t>intelligent</a:t>
            </a:r>
            <a:r>
              <a:rPr lang="en">
                <a:latin typeface="EB Garamond"/>
                <a:ea typeface="EB Garamond"/>
                <a:cs typeface="EB Garamond"/>
                <a:sym typeface="EB Garamond"/>
              </a:rPr>
              <a:t> way to include this idea in our analysis may make our results far more realistic.</a:t>
            </a:r>
            <a:endParaRPr>
              <a:latin typeface="EB Garamond"/>
              <a:ea typeface="EB Garamond"/>
              <a:cs typeface="EB Garamond"/>
              <a:sym typeface="EB Garamond"/>
            </a:endParaRPr>
          </a:p>
        </p:txBody>
      </p:sp>
      <p:pic>
        <p:nvPicPr>
          <p:cNvPr id="360" name="Google Shape;360;p54"/>
          <p:cNvPicPr preferRelativeResize="0"/>
          <p:nvPr/>
        </p:nvPicPr>
        <p:blipFill>
          <a:blip r:embed="rId3">
            <a:alphaModFix/>
          </a:blip>
          <a:stretch>
            <a:fillRect/>
          </a:stretch>
        </p:blipFill>
        <p:spPr>
          <a:xfrm>
            <a:off x="7191100" y="1956388"/>
            <a:ext cx="1755900" cy="1808577"/>
          </a:xfrm>
          <a:prstGeom prst="rect">
            <a:avLst/>
          </a:prstGeom>
          <a:noFill/>
          <a:ln>
            <a:noFill/>
          </a:ln>
        </p:spPr>
      </p:pic>
      <p:sp>
        <p:nvSpPr>
          <p:cNvPr id="361" name="Google Shape;36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5"/>
          <p:cNvSpPr txBox="1"/>
          <p:nvPr>
            <p:ph type="ctrTitle"/>
          </p:nvPr>
        </p:nvSpPr>
        <p:spPr>
          <a:xfrm>
            <a:off x="311700" y="206250"/>
            <a:ext cx="8520600" cy="9996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Clr>
                <a:schemeClr val="dk1"/>
              </a:buClr>
              <a:buSzPts val="935"/>
              <a:buFont typeface="Arial"/>
              <a:buNone/>
            </a:pPr>
            <a:r>
              <a:rPr lang="en" sz="4000" u="sng">
                <a:solidFill>
                  <a:srgbClr val="000000"/>
                </a:solidFill>
                <a:latin typeface="EB Garamond"/>
                <a:ea typeface="EB Garamond"/>
                <a:cs typeface="EB Garamond"/>
                <a:sym typeface="EB Garamond"/>
                <a:hlinkClick r:id="rId3">
                  <a:extLst>
                    <a:ext uri="{A12FA001-AC4F-418D-AE19-62706E023703}">
                      <ahyp:hlinkClr val="tx"/>
                    </a:ext>
                  </a:extLst>
                </a:hlinkClick>
              </a:rPr>
              <a:t>https://kachanilab.ieor.columbia.edu/</a:t>
            </a:r>
            <a:endParaRPr sz="4000">
              <a:solidFill>
                <a:srgbClr val="000000"/>
              </a:solidFill>
              <a:latin typeface="EB Garamond"/>
              <a:ea typeface="EB Garamond"/>
              <a:cs typeface="EB Garamond"/>
              <a:sym typeface="EB Garamond"/>
            </a:endParaRPr>
          </a:p>
        </p:txBody>
      </p:sp>
      <p:sp>
        <p:nvSpPr>
          <p:cNvPr id="367" name="Google Shape;367;p55"/>
          <p:cNvSpPr txBox="1"/>
          <p:nvPr>
            <p:ph idx="1" type="subTitle"/>
          </p:nvPr>
        </p:nvSpPr>
        <p:spPr>
          <a:xfrm>
            <a:off x="311700" y="4605525"/>
            <a:ext cx="8520600" cy="346500"/>
          </a:xfrm>
          <a:prstGeom prst="rect">
            <a:avLst/>
          </a:prstGeom>
        </p:spPr>
        <p:txBody>
          <a:bodyPr anchorCtr="0" anchor="t" bIns="91425" lIns="91425" spcFirstLastPara="1" rIns="91425" wrap="square" tIns="91425">
            <a:normAutofit lnSpcReduction="20000"/>
          </a:bodyPr>
          <a:lstStyle/>
          <a:p>
            <a:pPr indent="0" lvl="0" marL="0" rtl="0" algn="l">
              <a:lnSpc>
                <a:spcPct val="80000"/>
              </a:lnSpc>
              <a:spcBef>
                <a:spcPts val="0"/>
              </a:spcBef>
              <a:spcAft>
                <a:spcPts val="0"/>
              </a:spcAft>
              <a:buSzPts val="935"/>
              <a:buNone/>
            </a:pPr>
            <a:r>
              <a:rPr lang="en" sz="1580">
                <a:latin typeface="EB Garamond"/>
                <a:ea typeface="EB Garamond"/>
                <a:cs typeface="EB Garamond"/>
                <a:sym typeface="EB Garamond"/>
              </a:rPr>
              <a:t>							</a:t>
            </a:r>
            <a:r>
              <a:rPr lang="en" sz="1580">
                <a:latin typeface="EB Garamond"/>
                <a:ea typeface="EB Garamond"/>
                <a:cs typeface="EB Garamond"/>
                <a:sym typeface="EB Garamond"/>
              </a:rPr>
              <a:t>										2021</a:t>
            </a:r>
            <a:endParaRPr sz="1580">
              <a:latin typeface="EB Garamond"/>
              <a:ea typeface="EB Garamond"/>
              <a:cs typeface="EB Garamond"/>
              <a:sym typeface="EB Garamond"/>
            </a:endParaRPr>
          </a:p>
        </p:txBody>
      </p:sp>
      <p:pic>
        <p:nvPicPr>
          <p:cNvPr id="368" name="Google Shape;368;p55"/>
          <p:cNvPicPr preferRelativeResize="0"/>
          <p:nvPr/>
        </p:nvPicPr>
        <p:blipFill>
          <a:blip r:embed="rId4">
            <a:alphaModFix/>
          </a:blip>
          <a:stretch>
            <a:fillRect/>
          </a:stretch>
        </p:blipFill>
        <p:spPr>
          <a:xfrm>
            <a:off x="1744425" y="1358250"/>
            <a:ext cx="6102221" cy="3094876"/>
          </a:xfrm>
          <a:prstGeom prst="rect">
            <a:avLst/>
          </a:prstGeom>
          <a:noFill/>
          <a:ln>
            <a:noFill/>
          </a:ln>
        </p:spPr>
      </p:pic>
      <p:sp>
        <p:nvSpPr>
          <p:cNvPr id="369" name="Google Shape;369;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graphicFrame>
        <p:nvGraphicFramePr>
          <p:cNvPr id="374" name="Google Shape;374;p5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2.47 trillion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1.87 trillion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375" name="Google Shape;375;p5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6.1.1 </a:t>
            </a:r>
            <a:r>
              <a:rPr b="1" lang="en" sz="2800">
                <a:solidFill>
                  <a:srgbClr val="424242"/>
                </a:solidFill>
                <a:latin typeface="Times New Roman"/>
                <a:ea typeface="Times New Roman"/>
                <a:cs typeface="Times New Roman"/>
                <a:sym typeface="Times New Roman"/>
              </a:rPr>
              <a:t>Brazil</a:t>
            </a:r>
            <a:endParaRPr b="1" sz="2800">
              <a:solidFill>
                <a:srgbClr val="424242"/>
              </a:solidFill>
              <a:latin typeface="Times New Roman"/>
              <a:ea typeface="Times New Roman"/>
              <a:cs typeface="Times New Roman"/>
              <a:sym typeface="Times New Roman"/>
            </a:endParaRPr>
          </a:p>
        </p:txBody>
      </p:sp>
      <p:pic>
        <p:nvPicPr>
          <p:cNvPr id="376" name="Google Shape;376;p56"/>
          <p:cNvPicPr preferRelativeResize="0"/>
          <p:nvPr/>
        </p:nvPicPr>
        <p:blipFill>
          <a:blip r:embed="rId3">
            <a:alphaModFix/>
          </a:blip>
          <a:stretch>
            <a:fillRect/>
          </a:stretch>
        </p:blipFill>
        <p:spPr>
          <a:xfrm>
            <a:off x="0" y="999300"/>
            <a:ext cx="3048001" cy="1934125"/>
          </a:xfrm>
          <a:prstGeom prst="rect">
            <a:avLst/>
          </a:prstGeom>
          <a:noFill/>
          <a:ln>
            <a:noFill/>
          </a:ln>
        </p:spPr>
      </p:pic>
      <p:pic>
        <p:nvPicPr>
          <p:cNvPr id="377" name="Google Shape;377;p56"/>
          <p:cNvPicPr preferRelativeResize="0"/>
          <p:nvPr/>
        </p:nvPicPr>
        <p:blipFill>
          <a:blip r:embed="rId4">
            <a:alphaModFix/>
          </a:blip>
          <a:stretch>
            <a:fillRect/>
          </a:stretch>
        </p:blipFill>
        <p:spPr>
          <a:xfrm>
            <a:off x="1304722" y="3305700"/>
            <a:ext cx="3769005" cy="1832825"/>
          </a:xfrm>
          <a:prstGeom prst="rect">
            <a:avLst/>
          </a:prstGeom>
          <a:noFill/>
          <a:ln>
            <a:noFill/>
          </a:ln>
        </p:spPr>
      </p:pic>
      <p:pic>
        <p:nvPicPr>
          <p:cNvPr id="378" name="Google Shape;378;p56"/>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379" name="Google Shape;379;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graphicFrame>
        <p:nvGraphicFramePr>
          <p:cNvPr id="384" name="Google Shape;384;p5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385" name="Google Shape;385;p5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6.1.2 </a:t>
            </a:r>
            <a:r>
              <a:rPr b="1" lang="en" sz="2800">
                <a:solidFill>
                  <a:srgbClr val="424242"/>
                </a:solidFill>
                <a:latin typeface="Times New Roman"/>
                <a:ea typeface="Times New Roman"/>
                <a:cs typeface="Times New Roman"/>
                <a:sym typeface="Times New Roman"/>
              </a:rPr>
              <a:t>Brazil</a:t>
            </a:r>
            <a:endParaRPr b="1" sz="2800">
              <a:solidFill>
                <a:srgbClr val="424242"/>
              </a:solidFill>
              <a:latin typeface="Times New Roman"/>
              <a:ea typeface="Times New Roman"/>
              <a:cs typeface="Times New Roman"/>
              <a:sym typeface="Times New Roman"/>
            </a:endParaRPr>
          </a:p>
        </p:txBody>
      </p:sp>
      <p:pic>
        <p:nvPicPr>
          <p:cNvPr id="386" name="Google Shape;386;p57"/>
          <p:cNvPicPr preferRelativeResize="0"/>
          <p:nvPr/>
        </p:nvPicPr>
        <p:blipFill>
          <a:blip r:embed="rId3">
            <a:alphaModFix/>
          </a:blip>
          <a:stretch>
            <a:fillRect/>
          </a:stretch>
        </p:blipFill>
        <p:spPr>
          <a:xfrm>
            <a:off x="0" y="999300"/>
            <a:ext cx="6095999" cy="2162045"/>
          </a:xfrm>
          <a:prstGeom prst="rect">
            <a:avLst/>
          </a:prstGeom>
          <a:noFill/>
          <a:ln>
            <a:noFill/>
          </a:ln>
        </p:spPr>
      </p:pic>
      <p:pic>
        <p:nvPicPr>
          <p:cNvPr id="387" name="Google Shape;387;p57"/>
          <p:cNvPicPr preferRelativeResize="0"/>
          <p:nvPr/>
        </p:nvPicPr>
        <p:blipFill rotWithShape="1">
          <a:blip r:embed="rId4">
            <a:alphaModFix/>
          </a:blip>
          <a:srcRect b="0" l="0" r="0" t="970"/>
          <a:stretch/>
        </p:blipFill>
        <p:spPr>
          <a:xfrm>
            <a:off x="6096000" y="1039650"/>
            <a:ext cx="3048000" cy="4103825"/>
          </a:xfrm>
          <a:prstGeom prst="rect">
            <a:avLst/>
          </a:prstGeom>
          <a:noFill/>
          <a:ln>
            <a:noFill/>
          </a:ln>
        </p:spPr>
      </p:pic>
      <p:pic>
        <p:nvPicPr>
          <p:cNvPr id="388" name="Google Shape;388;p57"/>
          <p:cNvPicPr preferRelativeResize="0"/>
          <p:nvPr/>
        </p:nvPicPr>
        <p:blipFill>
          <a:blip r:embed="rId5">
            <a:alphaModFix/>
          </a:blip>
          <a:stretch>
            <a:fillRect/>
          </a:stretch>
        </p:blipFill>
        <p:spPr>
          <a:xfrm>
            <a:off x="0" y="3161350"/>
            <a:ext cx="5950601" cy="1982125"/>
          </a:xfrm>
          <a:prstGeom prst="rect">
            <a:avLst/>
          </a:prstGeom>
          <a:noFill/>
          <a:ln>
            <a:noFill/>
          </a:ln>
        </p:spPr>
      </p:pic>
      <p:sp>
        <p:nvSpPr>
          <p:cNvPr id="389" name="Google Shape;389;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aphicFrame>
        <p:nvGraphicFramePr>
          <p:cNvPr id="394" name="Google Shape;394;p5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395" name="Google Shape;395;p5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6.1.3 </a:t>
            </a:r>
            <a:r>
              <a:rPr b="1" lang="en" sz="2800">
                <a:solidFill>
                  <a:srgbClr val="424242"/>
                </a:solidFill>
                <a:latin typeface="Times New Roman"/>
                <a:ea typeface="Times New Roman"/>
                <a:cs typeface="Times New Roman"/>
                <a:sym typeface="Times New Roman"/>
              </a:rPr>
              <a:t>Brazil</a:t>
            </a:r>
            <a:br>
              <a:rPr b="1" lang="en" sz="2800">
                <a:solidFill>
                  <a:srgbClr val="424242"/>
                </a:solidFill>
                <a:latin typeface="Times New Roman"/>
                <a:ea typeface="Times New Roman"/>
                <a:cs typeface="Times New Roman"/>
                <a:sym typeface="Times New Roman"/>
              </a:rPr>
            </a:br>
            <a:endParaRPr b="1" sz="2800">
              <a:solidFill>
                <a:srgbClr val="424242"/>
              </a:solidFill>
              <a:latin typeface="Times New Roman"/>
              <a:ea typeface="Times New Roman"/>
              <a:cs typeface="Times New Roman"/>
              <a:sym typeface="Times New Roman"/>
            </a:endParaRPr>
          </a:p>
        </p:txBody>
      </p:sp>
      <p:sp>
        <p:nvSpPr>
          <p:cNvPr id="396" name="Google Shape;396;p58"/>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397" name="Google Shape;397;p58"/>
          <p:cNvPicPr preferRelativeResize="0"/>
          <p:nvPr/>
        </p:nvPicPr>
        <p:blipFill rotWithShape="1">
          <a:blip r:embed="rId3">
            <a:alphaModFix/>
          </a:blip>
          <a:srcRect b="3388" l="0" r="0" t="1699"/>
          <a:stretch/>
        </p:blipFill>
        <p:spPr>
          <a:xfrm>
            <a:off x="-30438" y="1033938"/>
            <a:ext cx="4176098" cy="1975062"/>
          </a:xfrm>
          <a:prstGeom prst="rect">
            <a:avLst/>
          </a:prstGeom>
          <a:noFill/>
          <a:ln>
            <a:noFill/>
          </a:ln>
        </p:spPr>
      </p:pic>
      <p:pic>
        <p:nvPicPr>
          <p:cNvPr id="398" name="Google Shape;398;p58"/>
          <p:cNvPicPr preferRelativeResize="0"/>
          <p:nvPr/>
        </p:nvPicPr>
        <p:blipFill>
          <a:blip r:embed="rId4">
            <a:alphaModFix/>
          </a:blip>
          <a:stretch>
            <a:fillRect/>
          </a:stretch>
        </p:blipFill>
        <p:spPr>
          <a:xfrm>
            <a:off x="-9" y="3043650"/>
            <a:ext cx="4115233" cy="2099875"/>
          </a:xfrm>
          <a:prstGeom prst="rect">
            <a:avLst/>
          </a:prstGeom>
          <a:noFill/>
          <a:ln>
            <a:noFill/>
          </a:ln>
        </p:spPr>
      </p:pic>
      <p:pic>
        <p:nvPicPr>
          <p:cNvPr id="399" name="Google Shape;399;p58"/>
          <p:cNvPicPr preferRelativeResize="0"/>
          <p:nvPr/>
        </p:nvPicPr>
        <p:blipFill rotWithShape="1">
          <a:blip r:embed="rId5">
            <a:alphaModFix/>
          </a:blip>
          <a:srcRect b="0" l="0" r="11817" t="0"/>
          <a:stretch/>
        </p:blipFill>
        <p:spPr>
          <a:xfrm>
            <a:off x="4291075" y="1963545"/>
            <a:ext cx="4880799" cy="2215706"/>
          </a:xfrm>
          <a:prstGeom prst="rect">
            <a:avLst/>
          </a:prstGeom>
          <a:noFill/>
          <a:ln>
            <a:noFill/>
          </a:ln>
        </p:spPr>
      </p:pic>
      <p:sp>
        <p:nvSpPr>
          <p:cNvPr id="400" name="Google Shape;400;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graphicFrame>
        <p:nvGraphicFramePr>
          <p:cNvPr id="405" name="Google Shape;405;p5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9.57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13.6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42.2%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406" name="Google Shape;406;p5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 </a:t>
            </a:r>
            <a:r>
              <a:rPr b="1" lang="en" sz="2800">
                <a:solidFill>
                  <a:srgbClr val="424242"/>
                </a:solidFill>
                <a:latin typeface="Times New Roman"/>
                <a:ea typeface="Times New Roman"/>
                <a:cs typeface="Times New Roman"/>
                <a:sym typeface="Times New Roman"/>
              </a:rPr>
              <a:t>China</a:t>
            </a:r>
            <a:endParaRPr b="1" sz="2800">
              <a:solidFill>
                <a:srgbClr val="424242"/>
              </a:solidFill>
              <a:latin typeface="Times New Roman"/>
              <a:ea typeface="Times New Roman"/>
              <a:cs typeface="Times New Roman"/>
              <a:sym typeface="Times New Roman"/>
            </a:endParaRPr>
          </a:p>
        </p:txBody>
      </p:sp>
      <p:pic>
        <p:nvPicPr>
          <p:cNvPr id="407" name="Google Shape;407;p59"/>
          <p:cNvPicPr preferRelativeResize="0"/>
          <p:nvPr/>
        </p:nvPicPr>
        <p:blipFill>
          <a:blip r:embed="rId3">
            <a:alphaModFix/>
          </a:blip>
          <a:stretch>
            <a:fillRect/>
          </a:stretch>
        </p:blipFill>
        <p:spPr>
          <a:xfrm>
            <a:off x="16050" y="1052500"/>
            <a:ext cx="3031950" cy="1691000"/>
          </a:xfrm>
          <a:prstGeom prst="rect">
            <a:avLst/>
          </a:prstGeom>
          <a:noFill/>
          <a:ln>
            <a:noFill/>
          </a:ln>
        </p:spPr>
      </p:pic>
      <p:pic>
        <p:nvPicPr>
          <p:cNvPr id="408" name="Google Shape;408;p59"/>
          <p:cNvPicPr preferRelativeResize="0"/>
          <p:nvPr/>
        </p:nvPicPr>
        <p:blipFill>
          <a:blip r:embed="rId4">
            <a:alphaModFix/>
          </a:blip>
          <a:stretch>
            <a:fillRect/>
          </a:stretch>
        </p:blipFill>
        <p:spPr>
          <a:xfrm>
            <a:off x="1229172" y="3305700"/>
            <a:ext cx="3682507" cy="1837825"/>
          </a:xfrm>
          <a:prstGeom prst="rect">
            <a:avLst/>
          </a:prstGeom>
          <a:noFill/>
          <a:ln>
            <a:noFill/>
          </a:ln>
        </p:spPr>
      </p:pic>
      <p:pic>
        <p:nvPicPr>
          <p:cNvPr id="409" name="Google Shape;409;p59"/>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410" name="Google Shape;410;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graphicFrame>
        <p:nvGraphicFramePr>
          <p:cNvPr id="415" name="Google Shape;415;p6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16" name="Google Shape;416;p6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 </a:t>
            </a:r>
            <a:r>
              <a:rPr b="1" lang="en" sz="2800">
                <a:solidFill>
                  <a:srgbClr val="424242"/>
                </a:solidFill>
                <a:latin typeface="Times New Roman"/>
                <a:ea typeface="Times New Roman"/>
                <a:cs typeface="Times New Roman"/>
                <a:sym typeface="Times New Roman"/>
              </a:rPr>
              <a:t>China</a:t>
            </a:r>
            <a:endParaRPr b="1" sz="2800">
              <a:solidFill>
                <a:srgbClr val="424242"/>
              </a:solidFill>
              <a:latin typeface="Times New Roman"/>
              <a:ea typeface="Times New Roman"/>
              <a:cs typeface="Times New Roman"/>
              <a:sym typeface="Times New Roman"/>
            </a:endParaRPr>
          </a:p>
        </p:txBody>
      </p:sp>
      <p:pic>
        <p:nvPicPr>
          <p:cNvPr id="417" name="Google Shape;417;p60"/>
          <p:cNvPicPr preferRelativeResize="0"/>
          <p:nvPr/>
        </p:nvPicPr>
        <p:blipFill>
          <a:blip r:embed="rId3">
            <a:alphaModFix/>
          </a:blip>
          <a:stretch>
            <a:fillRect/>
          </a:stretch>
        </p:blipFill>
        <p:spPr>
          <a:xfrm>
            <a:off x="0" y="999300"/>
            <a:ext cx="5806951" cy="2181000"/>
          </a:xfrm>
          <a:prstGeom prst="rect">
            <a:avLst/>
          </a:prstGeom>
          <a:noFill/>
          <a:ln>
            <a:noFill/>
          </a:ln>
        </p:spPr>
      </p:pic>
      <p:pic>
        <p:nvPicPr>
          <p:cNvPr id="418" name="Google Shape;418;p60"/>
          <p:cNvPicPr preferRelativeResize="0"/>
          <p:nvPr/>
        </p:nvPicPr>
        <p:blipFill>
          <a:blip r:embed="rId4">
            <a:alphaModFix/>
          </a:blip>
          <a:stretch>
            <a:fillRect/>
          </a:stretch>
        </p:blipFill>
        <p:spPr>
          <a:xfrm>
            <a:off x="0" y="3180300"/>
            <a:ext cx="5574399" cy="1963200"/>
          </a:xfrm>
          <a:prstGeom prst="rect">
            <a:avLst/>
          </a:prstGeom>
          <a:noFill/>
          <a:ln>
            <a:noFill/>
          </a:ln>
        </p:spPr>
      </p:pic>
      <p:pic>
        <p:nvPicPr>
          <p:cNvPr id="419" name="Google Shape;419;p60"/>
          <p:cNvPicPr preferRelativeResize="0"/>
          <p:nvPr/>
        </p:nvPicPr>
        <p:blipFill>
          <a:blip r:embed="rId5">
            <a:alphaModFix/>
          </a:blip>
          <a:stretch>
            <a:fillRect/>
          </a:stretch>
        </p:blipFill>
        <p:spPr>
          <a:xfrm>
            <a:off x="5673500" y="999325"/>
            <a:ext cx="3470500" cy="4144175"/>
          </a:xfrm>
          <a:prstGeom prst="rect">
            <a:avLst/>
          </a:prstGeom>
          <a:noFill/>
          <a:ln>
            <a:noFill/>
          </a:ln>
        </p:spPr>
      </p:pic>
      <p:sp>
        <p:nvSpPr>
          <p:cNvPr id="420" name="Google Shape;420;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graphicFrame>
        <p:nvGraphicFramePr>
          <p:cNvPr id="425" name="Google Shape;425;p6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26" name="Google Shape;426;p6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 </a:t>
            </a:r>
            <a:r>
              <a:rPr b="1" lang="en" sz="2800">
                <a:solidFill>
                  <a:srgbClr val="424242"/>
                </a:solidFill>
                <a:latin typeface="Times New Roman"/>
                <a:ea typeface="Times New Roman"/>
                <a:cs typeface="Times New Roman"/>
                <a:sym typeface="Times New Roman"/>
              </a:rPr>
              <a:t>China</a:t>
            </a:r>
            <a:endParaRPr b="1" sz="2800">
              <a:solidFill>
                <a:srgbClr val="424242"/>
              </a:solidFill>
              <a:latin typeface="Times New Roman"/>
              <a:ea typeface="Times New Roman"/>
              <a:cs typeface="Times New Roman"/>
              <a:sym typeface="Times New Roman"/>
            </a:endParaRPr>
          </a:p>
        </p:txBody>
      </p:sp>
      <p:pic>
        <p:nvPicPr>
          <p:cNvPr id="427" name="Google Shape;427;p61"/>
          <p:cNvPicPr preferRelativeResize="0"/>
          <p:nvPr/>
        </p:nvPicPr>
        <p:blipFill>
          <a:blip r:embed="rId3">
            <a:alphaModFix/>
          </a:blip>
          <a:stretch>
            <a:fillRect/>
          </a:stretch>
        </p:blipFill>
        <p:spPr>
          <a:xfrm>
            <a:off x="87625" y="999300"/>
            <a:ext cx="4021925" cy="2081325"/>
          </a:xfrm>
          <a:prstGeom prst="rect">
            <a:avLst/>
          </a:prstGeom>
          <a:noFill/>
          <a:ln>
            <a:noFill/>
          </a:ln>
        </p:spPr>
      </p:pic>
      <p:pic>
        <p:nvPicPr>
          <p:cNvPr id="428" name="Google Shape;428;p61"/>
          <p:cNvPicPr preferRelativeResize="0"/>
          <p:nvPr/>
        </p:nvPicPr>
        <p:blipFill>
          <a:blip r:embed="rId4">
            <a:alphaModFix/>
          </a:blip>
          <a:stretch>
            <a:fillRect/>
          </a:stretch>
        </p:blipFill>
        <p:spPr>
          <a:xfrm>
            <a:off x="87625" y="3099175"/>
            <a:ext cx="4021925" cy="2034348"/>
          </a:xfrm>
          <a:prstGeom prst="rect">
            <a:avLst/>
          </a:prstGeom>
          <a:noFill/>
          <a:ln>
            <a:noFill/>
          </a:ln>
        </p:spPr>
      </p:pic>
      <p:pic>
        <p:nvPicPr>
          <p:cNvPr id="429" name="Google Shape;429;p61"/>
          <p:cNvPicPr preferRelativeResize="0"/>
          <p:nvPr/>
        </p:nvPicPr>
        <p:blipFill rotWithShape="1">
          <a:blip r:embed="rId5">
            <a:alphaModFix/>
          </a:blip>
          <a:srcRect b="0" l="0" r="12457" t="0"/>
          <a:stretch/>
        </p:blipFill>
        <p:spPr>
          <a:xfrm>
            <a:off x="4109550" y="1921276"/>
            <a:ext cx="5034450" cy="2300253"/>
          </a:xfrm>
          <a:prstGeom prst="rect">
            <a:avLst/>
          </a:prstGeom>
          <a:noFill/>
          <a:ln>
            <a:noFill/>
          </a:ln>
        </p:spPr>
      </p:pic>
      <p:sp>
        <p:nvSpPr>
          <p:cNvPr id="430" name="Google Shape;430;p61"/>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431" name="Google Shape;431;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graphicFrame>
        <p:nvGraphicFramePr>
          <p:cNvPr id="436" name="Google Shape;436;p6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381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331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-13%</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437" name="Google Shape;437;p6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6.3.1 </a:t>
            </a:r>
            <a:r>
              <a:rPr b="1" lang="en" sz="2800">
                <a:solidFill>
                  <a:srgbClr val="424242"/>
                </a:solidFill>
                <a:latin typeface="Times New Roman"/>
                <a:ea typeface="Times New Roman"/>
                <a:cs typeface="Times New Roman"/>
                <a:sym typeface="Times New Roman"/>
              </a:rPr>
              <a:t>Colombia</a:t>
            </a:r>
            <a:endParaRPr b="1" sz="2800">
              <a:solidFill>
                <a:srgbClr val="424242"/>
              </a:solidFill>
              <a:latin typeface="Times New Roman"/>
              <a:ea typeface="Times New Roman"/>
              <a:cs typeface="Times New Roman"/>
              <a:sym typeface="Times New Roman"/>
            </a:endParaRPr>
          </a:p>
        </p:txBody>
      </p:sp>
      <p:pic>
        <p:nvPicPr>
          <p:cNvPr id="438" name="Google Shape;438;p62"/>
          <p:cNvPicPr preferRelativeResize="0"/>
          <p:nvPr/>
        </p:nvPicPr>
        <p:blipFill>
          <a:blip r:embed="rId3">
            <a:alphaModFix/>
          </a:blip>
          <a:stretch>
            <a:fillRect/>
          </a:stretch>
        </p:blipFill>
        <p:spPr>
          <a:xfrm>
            <a:off x="0" y="1050225"/>
            <a:ext cx="2962650" cy="1959675"/>
          </a:xfrm>
          <a:prstGeom prst="rect">
            <a:avLst/>
          </a:prstGeom>
          <a:noFill/>
          <a:ln>
            <a:noFill/>
          </a:ln>
        </p:spPr>
      </p:pic>
      <p:pic>
        <p:nvPicPr>
          <p:cNvPr id="439" name="Google Shape;439;p62"/>
          <p:cNvPicPr preferRelativeResize="0"/>
          <p:nvPr/>
        </p:nvPicPr>
        <p:blipFill>
          <a:blip r:embed="rId4">
            <a:alphaModFix/>
          </a:blip>
          <a:stretch>
            <a:fillRect/>
          </a:stretch>
        </p:blipFill>
        <p:spPr>
          <a:xfrm>
            <a:off x="1199172" y="3305700"/>
            <a:ext cx="3820742" cy="1837825"/>
          </a:xfrm>
          <a:prstGeom prst="rect">
            <a:avLst/>
          </a:prstGeom>
          <a:noFill/>
          <a:ln>
            <a:noFill/>
          </a:ln>
        </p:spPr>
      </p:pic>
      <p:pic>
        <p:nvPicPr>
          <p:cNvPr id="440" name="Google Shape;440;p62"/>
          <p:cNvPicPr preferRelativeResize="0"/>
          <p:nvPr/>
        </p:nvPicPr>
        <p:blipFill>
          <a:blip r:embed="rId5">
            <a:alphaModFix/>
          </a:blip>
          <a:stretch>
            <a:fillRect/>
          </a:stretch>
        </p:blipFill>
        <p:spPr>
          <a:xfrm>
            <a:off x="3048000" y="1059250"/>
            <a:ext cx="3012635" cy="1959675"/>
          </a:xfrm>
          <a:prstGeom prst="rect">
            <a:avLst/>
          </a:prstGeom>
          <a:noFill/>
          <a:ln>
            <a:noFill/>
          </a:ln>
        </p:spPr>
      </p:pic>
      <p:sp>
        <p:nvSpPr>
          <p:cNvPr id="441" name="Google Shape;441;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aphicFrame>
        <p:nvGraphicFramePr>
          <p:cNvPr id="446" name="Google Shape;446;p6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47" name="Google Shape;447;p6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6.3.2 </a:t>
            </a:r>
            <a:r>
              <a:rPr b="1" lang="en" sz="2800">
                <a:solidFill>
                  <a:srgbClr val="424242"/>
                </a:solidFill>
                <a:latin typeface="Times New Roman"/>
                <a:ea typeface="Times New Roman"/>
                <a:cs typeface="Times New Roman"/>
                <a:sym typeface="Times New Roman"/>
              </a:rPr>
              <a:t>Colombia</a:t>
            </a:r>
            <a:endParaRPr b="1" sz="2800">
              <a:solidFill>
                <a:srgbClr val="424242"/>
              </a:solidFill>
              <a:latin typeface="Times New Roman"/>
              <a:ea typeface="Times New Roman"/>
              <a:cs typeface="Times New Roman"/>
              <a:sym typeface="Times New Roman"/>
            </a:endParaRPr>
          </a:p>
        </p:txBody>
      </p:sp>
      <p:pic>
        <p:nvPicPr>
          <p:cNvPr id="448" name="Google Shape;448;p63"/>
          <p:cNvPicPr preferRelativeResize="0"/>
          <p:nvPr/>
        </p:nvPicPr>
        <p:blipFill>
          <a:blip r:embed="rId3">
            <a:alphaModFix/>
          </a:blip>
          <a:stretch>
            <a:fillRect/>
          </a:stretch>
        </p:blipFill>
        <p:spPr>
          <a:xfrm>
            <a:off x="0" y="999300"/>
            <a:ext cx="6096001" cy="2153876"/>
          </a:xfrm>
          <a:prstGeom prst="rect">
            <a:avLst/>
          </a:prstGeom>
          <a:noFill/>
          <a:ln>
            <a:noFill/>
          </a:ln>
        </p:spPr>
      </p:pic>
      <p:pic>
        <p:nvPicPr>
          <p:cNvPr id="449" name="Google Shape;449;p63"/>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450" name="Google Shape;450;p63"/>
          <p:cNvPicPr preferRelativeResize="0"/>
          <p:nvPr/>
        </p:nvPicPr>
        <p:blipFill rotWithShape="1">
          <a:blip r:embed="rId5">
            <a:alphaModFix/>
          </a:blip>
          <a:srcRect b="0" l="1961" r="0" t="803"/>
          <a:stretch/>
        </p:blipFill>
        <p:spPr>
          <a:xfrm>
            <a:off x="6155775" y="1032800"/>
            <a:ext cx="2988225" cy="4110675"/>
          </a:xfrm>
          <a:prstGeom prst="rect">
            <a:avLst/>
          </a:prstGeom>
          <a:noFill/>
          <a:ln>
            <a:noFill/>
          </a:ln>
        </p:spPr>
      </p:pic>
      <p:sp>
        <p:nvSpPr>
          <p:cNvPr id="451" name="Google Shape;451;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graphicFrame>
        <p:nvGraphicFramePr>
          <p:cNvPr id="456" name="Google Shape;456;p6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457" name="Google Shape;457;p6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6.3.3</a:t>
            </a:r>
            <a:r>
              <a:rPr b="1" lang="en" sz="2800">
                <a:solidFill>
                  <a:srgbClr val="424242"/>
                </a:solidFill>
                <a:latin typeface="Times New Roman"/>
                <a:ea typeface="Times New Roman"/>
                <a:cs typeface="Times New Roman"/>
                <a:sym typeface="Times New Roman"/>
              </a:rPr>
              <a:t> Colombia</a:t>
            </a:r>
            <a:endParaRPr b="1" sz="2800">
              <a:solidFill>
                <a:srgbClr val="424242"/>
              </a:solidFill>
              <a:latin typeface="Times New Roman"/>
              <a:ea typeface="Times New Roman"/>
              <a:cs typeface="Times New Roman"/>
              <a:sym typeface="Times New Roman"/>
            </a:endParaRPr>
          </a:p>
        </p:txBody>
      </p:sp>
      <p:pic>
        <p:nvPicPr>
          <p:cNvPr id="458" name="Google Shape;458;p64"/>
          <p:cNvPicPr preferRelativeResize="0"/>
          <p:nvPr/>
        </p:nvPicPr>
        <p:blipFill>
          <a:blip r:embed="rId3">
            <a:alphaModFix/>
          </a:blip>
          <a:stretch>
            <a:fillRect/>
          </a:stretch>
        </p:blipFill>
        <p:spPr>
          <a:xfrm>
            <a:off x="126125" y="999300"/>
            <a:ext cx="4071050" cy="1998775"/>
          </a:xfrm>
          <a:prstGeom prst="rect">
            <a:avLst/>
          </a:prstGeom>
          <a:noFill/>
          <a:ln>
            <a:noFill/>
          </a:ln>
        </p:spPr>
      </p:pic>
      <p:pic>
        <p:nvPicPr>
          <p:cNvPr id="459" name="Google Shape;459;p64"/>
          <p:cNvPicPr preferRelativeResize="0"/>
          <p:nvPr/>
        </p:nvPicPr>
        <p:blipFill>
          <a:blip r:embed="rId4">
            <a:alphaModFix/>
          </a:blip>
          <a:stretch>
            <a:fillRect/>
          </a:stretch>
        </p:blipFill>
        <p:spPr>
          <a:xfrm>
            <a:off x="8150" y="3043625"/>
            <a:ext cx="4307004" cy="2145425"/>
          </a:xfrm>
          <a:prstGeom prst="rect">
            <a:avLst/>
          </a:prstGeom>
          <a:noFill/>
          <a:ln>
            <a:noFill/>
          </a:ln>
        </p:spPr>
      </p:pic>
      <p:sp>
        <p:nvSpPr>
          <p:cNvPr id="460" name="Google Shape;460;p6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461" name="Google Shape;461;p64"/>
          <p:cNvPicPr preferRelativeResize="0"/>
          <p:nvPr/>
        </p:nvPicPr>
        <p:blipFill rotWithShape="1">
          <a:blip r:embed="rId5">
            <a:alphaModFix/>
          </a:blip>
          <a:srcRect b="0" l="0" r="12281" t="0"/>
          <a:stretch/>
        </p:blipFill>
        <p:spPr>
          <a:xfrm>
            <a:off x="4450075" y="1998688"/>
            <a:ext cx="4704941" cy="2145424"/>
          </a:xfrm>
          <a:prstGeom prst="rect">
            <a:avLst/>
          </a:prstGeom>
          <a:noFill/>
          <a:ln>
            <a:noFill/>
          </a:ln>
        </p:spPr>
      </p:pic>
      <p:sp>
        <p:nvSpPr>
          <p:cNvPr id="462" name="Google Shape;462;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graphicFrame>
        <p:nvGraphicFramePr>
          <p:cNvPr id="467" name="Google Shape;467;p6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285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250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-13%</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468" name="Google Shape;468;p6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6.4.1</a:t>
            </a:r>
            <a:r>
              <a:rPr b="1" lang="en" sz="2800">
                <a:solidFill>
                  <a:srgbClr val="424242"/>
                </a:solidFill>
                <a:latin typeface="Times New Roman"/>
                <a:ea typeface="Times New Roman"/>
                <a:cs typeface="Times New Roman"/>
                <a:sym typeface="Times New Roman"/>
              </a:rPr>
              <a:t> Egypt</a:t>
            </a:r>
            <a:endParaRPr b="1" sz="2800">
              <a:solidFill>
                <a:srgbClr val="424242"/>
              </a:solidFill>
              <a:latin typeface="Times New Roman"/>
              <a:ea typeface="Times New Roman"/>
              <a:cs typeface="Times New Roman"/>
              <a:sym typeface="Times New Roman"/>
            </a:endParaRPr>
          </a:p>
        </p:txBody>
      </p:sp>
      <p:pic>
        <p:nvPicPr>
          <p:cNvPr id="469" name="Google Shape;469;p65"/>
          <p:cNvPicPr preferRelativeResize="0"/>
          <p:nvPr/>
        </p:nvPicPr>
        <p:blipFill>
          <a:blip r:embed="rId3">
            <a:alphaModFix/>
          </a:blip>
          <a:stretch>
            <a:fillRect/>
          </a:stretch>
        </p:blipFill>
        <p:spPr>
          <a:xfrm>
            <a:off x="38775" y="1041925"/>
            <a:ext cx="3009225" cy="2089750"/>
          </a:xfrm>
          <a:prstGeom prst="rect">
            <a:avLst/>
          </a:prstGeom>
          <a:noFill/>
          <a:ln>
            <a:noFill/>
          </a:ln>
        </p:spPr>
      </p:pic>
      <p:pic>
        <p:nvPicPr>
          <p:cNvPr id="470" name="Google Shape;470;p65"/>
          <p:cNvPicPr preferRelativeResize="0"/>
          <p:nvPr/>
        </p:nvPicPr>
        <p:blipFill>
          <a:blip r:embed="rId4">
            <a:alphaModFix/>
          </a:blip>
          <a:stretch>
            <a:fillRect/>
          </a:stretch>
        </p:blipFill>
        <p:spPr>
          <a:xfrm>
            <a:off x="1212347" y="3305675"/>
            <a:ext cx="3779287" cy="1837825"/>
          </a:xfrm>
          <a:prstGeom prst="rect">
            <a:avLst/>
          </a:prstGeom>
          <a:noFill/>
          <a:ln>
            <a:noFill/>
          </a:ln>
        </p:spPr>
      </p:pic>
      <p:pic>
        <p:nvPicPr>
          <p:cNvPr id="471" name="Google Shape;471;p65"/>
          <p:cNvPicPr preferRelativeResize="0"/>
          <p:nvPr/>
        </p:nvPicPr>
        <p:blipFill>
          <a:blip r:embed="rId5">
            <a:alphaModFix/>
          </a:blip>
          <a:stretch>
            <a:fillRect/>
          </a:stretch>
        </p:blipFill>
        <p:spPr>
          <a:xfrm>
            <a:off x="3048000" y="1015630"/>
            <a:ext cx="3048000" cy="1998869"/>
          </a:xfrm>
          <a:prstGeom prst="rect">
            <a:avLst/>
          </a:prstGeom>
          <a:noFill/>
          <a:ln>
            <a:noFill/>
          </a:ln>
        </p:spPr>
      </p:pic>
      <p:sp>
        <p:nvSpPr>
          <p:cNvPr id="472" name="Google Shape;472;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graphicFrame>
        <p:nvGraphicFramePr>
          <p:cNvPr id="477" name="Google Shape;477;p6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78" name="Google Shape;478;p6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6.4.2</a:t>
            </a:r>
            <a:r>
              <a:rPr b="1" lang="en" sz="2800">
                <a:solidFill>
                  <a:srgbClr val="424242"/>
                </a:solidFill>
                <a:latin typeface="Times New Roman"/>
                <a:ea typeface="Times New Roman"/>
                <a:cs typeface="Times New Roman"/>
                <a:sym typeface="Times New Roman"/>
              </a:rPr>
              <a:t> Egypt</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479" name="Google Shape;479;p66"/>
          <p:cNvPicPr preferRelativeResize="0"/>
          <p:nvPr/>
        </p:nvPicPr>
        <p:blipFill>
          <a:blip r:embed="rId3">
            <a:alphaModFix/>
          </a:blip>
          <a:stretch>
            <a:fillRect/>
          </a:stretch>
        </p:blipFill>
        <p:spPr>
          <a:xfrm>
            <a:off x="0" y="999300"/>
            <a:ext cx="6096001" cy="2153876"/>
          </a:xfrm>
          <a:prstGeom prst="rect">
            <a:avLst/>
          </a:prstGeom>
          <a:noFill/>
          <a:ln>
            <a:noFill/>
          </a:ln>
        </p:spPr>
      </p:pic>
      <p:pic>
        <p:nvPicPr>
          <p:cNvPr id="480" name="Google Shape;480;p66"/>
          <p:cNvPicPr preferRelativeResize="0"/>
          <p:nvPr/>
        </p:nvPicPr>
        <p:blipFill>
          <a:blip r:embed="rId4">
            <a:alphaModFix/>
          </a:blip>
          <a:stretch>
            <a:fillRect/>
          </a:stretch>
        </p:blipFill>
        <p:spPr>
          <a:xfrm>
            <a:off x="0" y="3180300"/>
            <a:ext cx="6095925" cy="1963175"/>
          </a:xfrm>
          <a:prstGeom prst="rect">
            <a:avLst/>
          </a:prstGeom>
          <a:noFill/>
          <a:ln>
            <a:noFill/>
          </a:ln>
        </p:spPr>
      </p:pic>
      <p:pic>
        <p:nvPicPr>
          <p:cNvPr id="481" name="Google Shape;481;p66"/>
          <p:cNvPicPr preferRelativeResize="0"/>
          <p:nvPr/>
        </p:nvPicPr>
        <p:blipFill>
          <a:blip r:embed="rId5">
            <a:alphaModFix/>
          </a:blip>
          <a:stretch>
            <a:fillRect/>
          </a:stretch>
        </p:blipFill>
        <p:spPr>
          <a:xfrm>
            <a:off x="6096000" y="999300"/>
            <a:ext cx="3048000" cy="4144175"/>
          </a:xfrm>
          <a:prstGeom prst="rect">
            <a:avLst/>
          </a:prstGeom>
          <a:noFill/>
          <a:ln>
            <a:noFill/>
          </a:ln>
        </p:spPr>
      </p:pic>
      <p:sp>
        <p:nvSpPr>
          <p:cNvPr id="482" name="Google Shape;482;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graphicFrame>
        <p:nvGraphicFramePr>
          <p:cNvPr id="487" name="Google Shape;487;p6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88" name="Google Shape;488;p6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6.4.3 Egypt</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489" name="Google Shape;489;p67"/>
          <p:cNvPicPr preferRelativeResize="0"/>
          <p:nvPr/>
        </p:nvPicPr>
        <p:blipFill>
          <a:blip r:embed="rId3">
            <a:alphaModFix/>
          </a:blip>
          <a:stretch>
            <a:fillRect/>
          </a:stretch>
        </p:blipFill>
        <p:spPr>
          <a:xfrm>
            <a:off x="0" y="999300"/>
            <a:ext cx="4033587" cy="2000525"/>
          </a:xfrm>
          <a:prstGeom prst="rect">
            <a:avLst/>
          </a:prstGeom>
          <a:noFill/>
          <a:ln>
            <a:noFill/>
          </a:ln>
        </p:spPr>
      </p:pic>
      <p:pic>
        <p:nvPicPr>
          <p:cNvPr id="490" name="Google Shape;490;p67"/>
          <p:cNvPicPr preferRelativeResize="0"/>
          <p:nvPr/>
        </p:nvPicPr>
        <p:blipFill>
          <a:blip r:embed="rId4">
            <a:alphaModFix/>
          </a:blip>
          <a:stretch>
            <a:fillRect/>
          </a:stretch>
        </p:blipFill>
        <p:spPr>
          <a:xfrm>
            <a:off x="0" y="3043625"/>
            <a:ext cx="4090374" cy="2099875"/>
          </a:xfrm>
          <a:prstGeom prst="rect">
            <a:avLst/>
          </a:prstGeom>
          <a:noFill/>
          <a:ln>
            <a:noFill/>
          </a:ln>
        </p:spPr>
      </p:pic>
      <p:sp>
        <p:nvSpPr>
          <p:cNvPr id="491" name="Google Shape;491;p67"/>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492" name="Google Shape;492;p67"/>
          <p:cNvPicPr preferRelativeResize="0"/>
          <p:nvPr/>
        </p:nvPicPr>
        <p:blipFill rotWithShape="1">
          <a:blip r:embed="rId5">
            <a:alphaModFix/>
          </a:blip>
          <a:srcRect b="0" l="0" r="12892" t="0"/>
          <a:stretch/>
        </p:blipFill>
        <p:spPr>
          <a:xfrm>
            <a:off x="4450075" y="2042561"/>
            <a:ext cx="4693924" cy="2155488"/>
          </a:xfrm>
          <a:prstGeom prst="rect">
            <a:avLst/>
          </a:prstGeom>
          <a:noFill/>
          <a:ln>
            <a:noFill/>
          </a:ln>
        </p:spPr>
      </p:pic>
      <p:sp>
        <p:nvSpPr>
          <p:cNvPr id="493" name="Google Shape;493;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graphicFrame>
        <p:nvGraphicFramePr>
          <p:cNvPr id="498" name="Google Shape;498;p6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2.8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2.77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499" name="Google Shape;499;p6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6.5.1 France</a:t>
            </a:r>
            <a:endParaRPr b="1" sz="2800">
              <a:solidFill>
                <a:srgbClr val="424242"/>
              </a:solidFill>
              <a:latin typeface="Times New Roman"/>
              <a:ea typeface="Times New Roman"/>
              <a:cs typeface="Times New Roman"/>
              <a:sym typeface="Times New Roman"/>
            </a:endParaRPr>
          </a:p>
        </p:txBody>
      </p:sp>
      <p:pic>
        <p:nvPicPr>
          <p:cNvPr id="500" name="Google Shape;500;p68"/>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501" name="Google Shape;501;p68"/>
          <p:cNvPicPr preferRelativeResize="0"/>
          <p:nvPr/>
        </p:nvPicPr>
        <p:blipFill>
          <a:blip r:embed="rId4">
            <a:alphaModFix/>
          </a:blip>
          <a:stretch>
            <a:fillRect/>
          </a:stretch>
        </p:blipFill>
        <p:spPr>
          <a:xfrm>
            <a:off x="1173447" y="3305700"/>
            <a:ext cx="3724014" cy="1837825"/>
          </a:xfrm>
          <a:prstGeom prst="rect">
            <a:avLst/>
          </a:prstGeom>
          <a:noFill/>
          <a:ln>
            <a:noFill/>
          </a:ln>
        </p:spPr>
      </p:pic>
      <p:pic>
        <p:nvPicPr>
          <p:cNvPr id="502" name="Google Shape;502;p68"/>
          <p:cNvPicPr preferRelativeResize="0"/>
          <p:nvPr/>
        </p:nvPicPr>
        <p:blipFill>
          <a:blip r:embed="rId5">
            <a:alphaModFix/>
          </a:blip>
          <a:stretch>
            <a:fillRect/>
          </a:stretch>
        </p:blipFill>
        <p:spPr>
          <a:xfrm>
            <a:off x="3048000" y="1046825"/>
            <a:ext cx="3048000" cy="1806633"/>
          </a:xfrm>
          <a:prstGeom prst="rect">
            <a:avLst/>
          </a:prstGeom>
          <a:noFill/>
          <a:ln>
            <a:noFill/>
          </a:ln>
        </p:spPr>
      </p:pic>
      <p:sp>
        <p:nvSpPr>
          <p:cNvPr id="503" name="Google Shape;503;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graphicFrame>
        <p:nvGraphicFramePr>
          <p:cNvPr id="508" name="Google Shape;508;p6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09" name="Google Shape;509;p6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6.5.2 France</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510" name="Google Shape;510;p69"/>
          <p:cNvPicPr preferRelativeResize="0"/>
          <p:nvPr/>
        </p:nvPicPr>
        <p:blipFill>
          <a:blip r:embed="rId3">
            <a:alphaModFix/>
          </a:blip>
          <a:stretch>
            <a:fillRect/>
          </a:stretch>
        </p:blipFill>
        <p:spPr>
          <a:xfrm>
            <a:off x="0" y="3180300"/>
            <a:ext cx="6096001" cy="1963175"/>
          </a:xfrm>
          <a:prstGeom prst="rect">
            <a:avLst/>
          </a:prstGeom>
          <a:noFill/>
          <a:ln>
            <a:noFill/>
          </a:ln>
        </p:spPr>
      </p:pic>
      <p:pic>
        <p:nvPicPr>
          <p:cNvPr id="511" name="Google Shape;511;p69"/>
          <p:cNvPicPr preferRelativeResize="0"/>
          <p:nvPr/>
        </p:nvPicPr>
        <p:blipFill>
          <a:blip r:embed="rId4">
            <a:alphaModFix/>
          </a:blip>
          <a:stretch>
            <a:fillRect/>
          </a:stretch>
        </p:blipFill>
        <p:spPr>
          <a:xfrm>
            <a:off x="0" y="935250"/>
            <a:ext cx="6096001" cy="2245050"/>
          </a:xfrm>
          <a:prstGeom prst="rect">
            <a:avLst/>
          </a:prstGeom>
          <a:noFill/>
          <a:ln>
            <a:noFill/>
          </a:ln>
        </p:spPr>
      </p:pic>
      <p:pic>
        <p:nvPicPr>
          <p:cNvPr id="512" name="Google Shape;512;p69"/>
          <p:cNvPicPr preferRelativeResize="0"/>
          <p:nvPr/>
        </p:nvPicPr>
        <p:blipFill rotWithShape="1">
          <a:blip r:embed="rId5">
            <a:alphaModFix/>
          </a:blip>
          <a:srcRect b="0" l="0" r="0" t="970"/>
          <a:stretch/>
        </p:blipFill>
        <p:spPr>
          <a:xfrm>
            <a:off x="6096000" y="1039650"/>
            <a:ext cx="3048000" cy="4103825"/>
          </a:xfrm>
          <a:prstGeom prst="rect">
            <a:avLst/>
          </a:prstGeom>
          <a:noFill/>
          <a:ln>
            <a:noFill/>
          </a:ln>
        </p:spPr>
      </p:pic>
      <p:sp>
        <p:nvSpPr>
          <p:cNvPr id="513" name="Google Shape;513;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graphicFrame>
        <p:nvGraphicFramePr>
          <p:cNvPr id="518" name="Google Shape;518;p7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519" name="Google Shape;519;p7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6.5.3 France</a:t>
            </a:r>
            <a:endParaRPr b="1" sz="2800">
              <a:solidFill>
                <a:srgbClr val="424242"/>
              </a:solidFill>
              <a:latin typeface="Times New Roman"/>
              <a:ea typeface="Times New Roman"/>
              <a:cs typeface="Times New Roman"/>
              <a:sym typeface="Times New Roman"/>
            </a:endParaRPr>
          </a:p>
        </p:txBody>
      </p:sp>
      <p:pic>
        <p:nvPicPr>
          <p:cNvPr id="520" name="Google Shape;520;p70"/>
          <p:cNvPicPr preferRelativeResize="0"/>
          <p:nvPr/>
        </p:nvPicPr>
        <p:blipFill>
          <a:blip r:embed="rId3">
            <a:alphaModFix/>
          </a:blip>
          <a:stretch>
            <a:fillRect/>
          </a:stretch>
        </p:blipFill>
        <p:spPr>
          <a:xfrm>
            <a:off x="0" y="999300"/>
            <a:ext cx="4119288" cy="2044325"/>
          </a:xfrm>
          <a:prstGeom prst="rect">
            <a:avLst/>
          </a:prstGeom>
          <a:noFill/>
          <a:ln>
            <a:noFill/>
          </a:ln>
        </p:spPr>
      </p:pic>
      <p:pic>
        <p:nvPicPr>
          <p:cNvPr id="521" name="Google Shape;521;p70"/>
          <p:cNvPicPr preferRelativeResize="0"/>
          <p:nvPr/>
        </p:nvPicPr>
        <p:blipFill>
          <a:blip r:embed="rId4">
            <a:alphaModFix/>
          </a:blip>
          <a:stretch>
            <a:fillRect/>
          </a:stretch>
        </p:blipFill>
        <p:spPr>
          <a:xfrm>
            <a:off x="0" y="3043625"/>
            <a:ext cx="4107108" cy="2099875"/>
          </a:xfrm>
          <a:prstGeom prst="rect">
            <a:avLst/>
          </a:prstGeom>
          <a:noFill/>
          <a:ln>
            <a:noFill/>
          </a:ln>
        </p:spPr>
      </p:pic>
      <p:sp>
        <p:nvSpPr>
          <p:cNvPr id="522" name="Google Shape;522;p70"/>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523" name="Google Shape;523;p70"/>
          <p:cNvPicPr preferRelativeResize="0"/>
          <p:nvPr/>
        </p:nvPicPr>
        <p:blipFill rotWithShape="1">
          <a:blip r:embed="rId5">
            <a:alphaModFix/>
          </a:blip>
          <a:srcRect b="0" l="0" r="12381" t="0"/>
          <a:stretch/>
        </p:blipFill>
        <p:spPr>
          <a:xfrm>
            <a:off x="4450075" y="1970474"/>
            <a:ext cx="4693924" cy="2142926"/>
          </a:xfrm>
          <a:prstGeom prst="rect">
            <a:avLst/>
          </a:prstGeom>
          <a:noFill/>
          <a:ln>
            <a:noFill/>
          </a:ln>
        </p:spPr>
      </p:pic>
      <p:sp>
        <p:nvSpPr>
          <p:cNvPr id="524" name="Google Shape;524;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graphicFrame>
        <p:nvGraphicFramePr>
          <p:cNvPr id="529" name="Google Shape;529;p7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3.9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5.8%</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530" name="Google Shape;530;p7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6.6.1 Germany</a:t>
            </a:r>
            <a:endParaRPr b="1" sz="2800">
              <a:solidFill>
                <a:srgbClr val="424242"/>
              </a:solidFill>
              <a:latin typeface="Times New Roman"/>
              <a:ea typeface="Times New Roman"/>
              <a:cs typeface="Times New Roman"/>
              <a:sym typeface="Times New Roman"/>
            </a:endParaRPr>
          </a:p>
        </p:txBody>
      </p:sp>
      <p:pic>
        <p:nvPicPr>
          <p:cNvPr id="531" name="Google Shape;531;p71"/>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532" name="Google Shape;532;p71"/>
          <p:cNvPicPr preferRelativeResize="0"/>
          <p:nvPr/>
        </p:nvPicPr>
        <p:blipFill>
          <a:blip r:embed="rId4">
            <a:alphaModFix/>
          </a:blip>
          <a:stretch>
            <a:fillRect/>
          </a:stretch>
        </p:blipFill>
        <p:spPr>
          <a:xfrm>
            <a:off x="1154397" y="3305697"/>
            <a:ext cx="3737599" cy="1837825"/>
          </a:xfrm>
          <a:prstGeom prst="rect">
            <a:avLst/>
          </a:prstGeom>
          <a:noFill/>
          <a:ln>
            <a:noFill/>
          </a:ln>
        </p:spPr>
      </p:pic>
      <p:pic>
        <p:nvPicPr>
          <p:cNvPr id="533" name="Google Shape;533;p71"/>
          <p:cNvPicPr preferRelativeResize="0"/>
          <p:nvPr/>
        </p:nvPicPr>
        <p:blipFill>
          <a:blip r:embed="rId5">
            <a:alphaModFix/>
          </a:blip>
          <a:stretch>
            <a:fillRect/>
          </a:stretch>
        </p:blipFill>
        <p:spPr>
          <a:xfrm>
            <a:off x="3048000" y="1046825"/>
            <a:ext cx="3048000" cy="1806633"/>
          </a:xfrm>
          <a:prstGeom prst="rect">
            <a:avLst/>
          </a:prstGeom>
          <a:noFill/>
          <a:ln>
            <a:noFill/>
          </a:ln>
        </p:spPr>
      </p:pic>
      <p:sp>
        <p:nvSpPr>
          <p:cNvPr id="534" name="Google Shape;534;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graphicFrame>
        <p:nvGraphicFramePr>
          <p:cNvPr id="539" name="Google Shape;539;p7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40" name="Google Shape;540;p7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6.6.2 Germany</a:t>
            </a:r>
            <a:endParaRPr b="1" sz="2800">
              <a:solidFill>
                <a:srgbClr val="424242"/>
              </a:solidFill>
              <a:latin typeface="Times New Roman"/>
              <a:ea typeface="Times New Roman"/>
              <a:cs typeface="Times New Roman"/>
              <a:sym typeface="Times New Roman"/>
            </a:endParaRPr>
          </a:p>
        </p:txBody>
      </p:sp>
      <p:pic>
        <p:nvPicPr>
          <p:cNvPr id="541" name="Google Shape;541;p72"/>
          <p:cNvPicPr preferRelativeResize="0"/>
          <p:nvPr/>
        </p:nvPicPr>
        <p:blipFill>
          <a:blip r:embed="rId3">
            <a:alphaModFix/>
          </a:blip>
          <a:stretch>
            <a:fillRect/>
          </a:stretch>
        </p:blipFill>
        <p:spPr>
          <a:xfrm>
            <a:off x="0" y="3180300"/>
            <a:ext cx="6096001" cy="1963175"/>
          </a:xfrm>
          <a:prstGeom prst="rect">
            <a:avLst/>
          </a:prstGeom>
          <a:noFill/>
          <a:ln>
            <a:noFill/>
          </a:ln>
        </p:spPr>
      </p:pic>
      <p:pic>
        <p:nvPicPr>
          <p:cNvPr id="542" name="Google Shape;542;p72"/>
          <p:cNvPicPr preferRelativeResize="0"/>
          <p:nvPr/>
        </p:nvPicPr>
        <p:blipFill>
          <a:blip r:embed="rId4">
            <a:alphaModFix/>
          </a:blip>
          <a:stretch>
            <a:fillRect/>
          </a:stretch>
        </p:blipFill>
        <p:spPr>
          <a:xfrm>
            <a:off x="0" y="1033075"/>
            <a:ext cx="6077165" cy="2147225"/>
          </a:xfrm>
          <a:prstGeom prst="rect">
            <a:avLst/>
          </a:prstGeom>
          <a:noFill/>
          <a:ln>
            <a:noFill/>
          </a:ln>
        </p:spPr>
      </p:pic>
      <p:pic>
        <p:nvPicPr>
          <p:cNvPr id="543" name="Google Shape;543;p72"/>
          <p:cNvPicPr preferRelativeResize="0"/>
          <p:nvPr/>
        </p:nvPicPr>
        <p:blipFill>
          <a:blip r:embed="rId5">
            <a:alphaModFix/>
          </a:blip>
          <a:stretch>
            <a:fillRect/>
          </a:stretch>
        </p:blipFill>
        <p:spPr>
          <a:xfrm>
            <a:off x="6096000" y="999300"/>
            <a:ext cx="3048000" cy="4144175"/>
          </a:xfrm>
          <a:prstGeom prst="rect">
            <a:avLst/>
          </a:prstGeom>
          <a:noFill/>
          <a:ln>
            <a:noFill/>
          </a:ln>
        </p:spPr>
      </p:pic>
      <p:sp>
        <p:nvSpPr>
          <p:cNvPr id="544" name="Google Shape;544;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graphicFrame>
        <p:nvGraphicFramePr>
          <p:cNvPr id="549" name="Google Shape;549;p7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550" name="Google Shape;550;p7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6.6.3 Germany</a:t>
            </a:r>
            <a:endParaRPr b="1" sz="2800">
              <a:solidFill>
                <a:srgbClr val="424242"/>
              </a:solidFill>
              <a:latin typeface="Times New Roman"/>
              <a:ea typeface="Times New Roman"/>
              <a:cs typeface="Times New Roman"/>
              <a:sym typeface="Times New Roman"/>
            </a:endParaRPr>
          </a:p>
        </p:txBody>
      </p:sp>
      <p:pic>
        <p:nvPicPr>
          <p:cNvPr id="551" name="Google Shape;551;p73"/>
          <p:cNvPicPr preferRelativeResize="0"/>
          <p:nvPr/>
        </p:nvPicPr>
        <p:blipFill>
          <a:blip r:embed="rId3">
            <a:alphaModFix/>
          </a:blip>
          <a:stretch>
            <a:fillRect/>
          </a:stretch>
        </p:blipFill>
        <p:spPr>
          <a:xfrm>
            <a:off x="0" y="999300"/>
            <a:ext cx="4066581" cy="2044325"/>
          </a:xfrm>
          <a:prstGeom prst="rect">
            <a:avLst/>
          </a:prstGeom>
          <a:noFill/>
          <a:ln>
            <a:noFill/>
          </a:ln>
        </p:spPr>
      </p:pic>
      <p:pic>
        <p:nvPicPr>
          <p:cNvPr id="552" name="Google Shape;552;p73"/>
          <p:cNvPicPr preferRelativeResize="0"/>
          <p:nvPr/>
        </p:nvPicPr>
        <p:blipFill>
          <a:blip r:embed="rId4">
            <a:alphaModFix/>
          </a:blip>
          <a:stretch>
            <a:fillRect/>
          </a:stretch>
        </p:blipFill>
        <p:spPr>
          <a:xfrm>
            <a:off x="0" y="3043625"/>
            <a:ext cx="4169317" cy="2099875"/>
          </a:xfrm>
          <a:prstGeom prst="rect">
            <a:avLst/>
          </a:prstGeom>
          <a:noFill/>
          <a:ln>
            <a:noFill/>
          </a:ln>
        </p:spPr>
      </p:pic>
      <p:sp>
        <p:nvSpPr>
          <p:cNvPr id="553" name="Google Shape;553;p73"/>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554" name="Google Shape;554;p73"/>
          <p:cNvPicPr preferRelativeResize="0"/>
          <p:nvPr/>
        </p:nvPicPr>
        <p:blipFill rotWithShape="1">
          <a:blip r:embed="rId5">
            <a:alphaModFix/>
          </a:blip>
          <a:srcRect b="0" l="0" r="13300" t="0"/>
          <a:stretch/>
        </p:blipFill>
        <p:spPr>
          <a:xfrm>
            <a:off x="4450075" y="2013575"/>
            <a:ext cx="4693924" cy="2165682"/>
          </a:xfrm>
          <a:prstGeom prst="rect">
            <a:avLst/>
          </a:prstGeom>
          <a:noFill/>
          <a:ln>
            <a:noFill/>
          </a:ln>
        </p:spPr>
      </p:pic>
      <p:sp>
        <p:nvSpPr>
          <p:cNvPr id="555" name="Google Shape;555;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graphicFrame>
        <p:nvGraphicFramePr>
          <p:cNvPr id="560" name="Google Shape;560;p7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239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218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561" name="Google Shape;561;p7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6.7.1 Greece</a:t>
            </a:r>
            <a:endParaRPr b="1" sz="2800">
              <a:solidFill>
                <a:srgbClr val="424242"/>
              </a:solidFill>
              <a:latin typeface="Times New Roman"/>
              <a:ea typeface="Times New Roman"/>
              <a:cs typeface="Times New Roman"/>
              <a:sym typeface="Times New Roman"/>
            </a:endParaRPr>
          </a:p>
        </p:txBody>
      </p:sp>
      <p:pic>
        <p:nvPicPr>
          <p:cNvPr id="562" name="Google Shape;562;p74"/>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563" name="Google Shape;563;p74"/>
          <p:cNvPicPr preferRelativeResize="0"/>
          <p:nvPr/>
        </p:nvPicPr>
        <p:blipFill>
          <a:blip r:embed="rId4">
            <a:alphaModFix/>
          </a:blip>
          <a:stretch>
            <a:fillRect/>
          </a:stretch>
        </p:blipFill>
        <p:spPr>
          <a:xfrm>
            <a:off x="1085497" y="3305697"/>
            <a:ext cx="3878526" cy="1851275"/>
          </a:xfrm>
          <a:prstGeom prst="rect">
            <a:avLst/>
          </a:prstGeom>
          <a:noFill/>
          <a:ln>
            <a:noFill/>
          </a:ln>
        </p:spPr>
      </p:pic>
      <p:pic>
        <p:nvPicPr>
          <p:cNvPr id="564" name="Google Shape;564;p74"/>
          <p:cNvPicPr preferRelativeResize="0"/>
          <p:nvPr/>
        </p:nvPicPr>
        <p:blipFill>
          <a:blip r:embed="rId5">
            <a:alphaModFix/>
          </a:blip>
          <a:stretch>
            <a:fillRect/>
          </a:stretch>
        </p:blipFill>
        <p:spPr>
          <a:xfrm>
            <a:off x="3048000" y="1072900"/>
            <a:ext cx="3005284" cy="1822550"/>
          </a:xfrm>
          <a:prstGeom prst="rect">
            <a:avLst/>
          </a:prstGeom>
          <a:noFill/>
          <a:ln>
            <a:noFill/>
          </a:ln>
        </p:spPr>
      </p:pic>
      <p:sp>
        <p:nvSpPr>
          <p:cNvPr id="565" name="Google Shape;565;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graphicFrame>
        <p:nvGraphicFramePr>
          <p:cNvPr id="570" name="Google Shape;570;p7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71" name="Google Shape;571;p7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6.7.2 Greece</a:t>
            </a:r>
            <a:endParaRPr b="1" sz="2800">
              <a:solidFill>
                <a:srgbClr val="424242"/>
              </a:solidFill>
              <a:latin typeface="Times New Roman"/>
              <a:ea typeface="Times New Roman"/>
              <a:cs typeface="Times New Roman"/>
              <a:sym typeface="Times New Roman"/>
            </a:endParaRPr>
          </a:p>
        </p:txBody>
      </p:sp>
      <p:pic>
        <p:nvPicPr>
          <p:cNvPr id="572" name="Google Shape;572;p75"/>
          <p:cNvPicPr preferRelativeResize="0"/>
          <p:nvPr/>
        </p:nvPicPr>
        <p:blipFill>
          <a:blip r:embed="rId3">
            <a:alphaModFix/>
          </a:blip>
          <a:stretch>
            <a:fillRect/>
          </a:stretch>
        </p:blipFill>
        <p:spPr>
          <a:xfrm>
            <a:off x="1" y="999300"/>
            <a:ext cx="6096001" cy="2153880"/>
          </a:xfrm>
          <a:prstGeom prst="rect">
            <a:avLst/>
          </a:prstGeom>
          <a:noFill/>
          <a:ln>
            <a:noFill/>
          </a:ln>
        </p:spPr>
      </p:pic>
      <p:pic>
        <p:nvPicPr>
          <p:cNvPr id="573" name="Google Shape;573;p75"/>
          <p:cNvPicPr preferRelativeResize="0"/>
          <p:nvPr/>
        </p:nvPicPr>
        <p:blipFill>
          <a:blip r:embed="rId4">
            <a:alphaModFix/>
          </a:blip>
          <a:stretch>
            <a:fillRect/>
          </a:stretch>
        </p:blipFill>
        <p:spPr>
          <a:xfrm>
            <a:off x="0" y="3153175"/>
            <a:ext cx="6096001" cy="1990300"/>
          </a:xfrm>
          <a:prstGeom prst="rect">
            <a:avLst/>
          </a:prstGeom>
          <a:noFill/>
          <a:ln>
            <a:noFill/>
          </a:ln>
        </p:spPr>
      </p:pic>
      <p:pic>
        <p:nvPicPr>
          <p:cNvPr id="574" name="Google Shape;574;p75"/>
          <p:cNvPicPr preferRelativeResize="0"/>
          <p:nvPr/>
        </p:nvPicPr>
        <p:blipFill rotWithShape="1">
          <a:blip r:embed="rId5">
            <a:alphaModFix/>
          </a:blip>
          <a:srcRect b="0" l="1739" r="0" t="0"/>
          <a:stretch/>
        </p:blipFill>
        <p:spPr>
          <a:xfrm>
            <a:off x="6148950" y="999300"/>
            <a:ext cx="2995050" cy="4144175"/>
          </a:xfrm>
          <a:prstGeom prst="rect">
            <a:avLst/>
          </a:prstGeom>
          <a:noFill/>
          <a:ln>
            <a:noFill/>
          </a:ln>
        </p:spPr>
      </p:pic>
      <p:sp>
        <p:nvSpPr>
          <p:cNvPr id="575" name="Google Shape;575;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graphicFrame>
        <p:nvGraphicFramePr>
          <p:cNvPr id="580" name="Google Shape;580;p7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81" name="Google Shape;581;p7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6.7.3 Greece</a:t>
            </a:r>
            <a:endParaRPr b="1" sz="2800">
              <a:solidFill>
                <a:srgbClr val="424242"/>
              </a:solidFill>
              <a:latin typeface="Times New Roman"/>
              <a:ea typeface="Times New Roman"/>
              <a:cs typeface="Times New Roman"/>
              <a:sym typeface="Times New Roman"/>
            </a:endParaRPr>
          </a:p>
        </p:txBody>
      </p:sp>
      <p:pic>
        <p:nvPicPr>
          <p:cNvPr id="582" name="Google Shape;582;p76"/>
          <p:cNvPicPr preferRelativeResize="0"/>
          <p:nvPr/>
        </p:nvPicPr>
        <p:blipFill>
          <a:blip r:embed="rId3">
            <a:alphaModFix/>
          </a:blip>
          <a:stretch>
            <a:fillRect/>
          </a:stretch>
        </p:blipFill>
        <p:spPr>
          <a:xfrm>
            <a:off x="0" y="999300"/>
            <a:ext cx="4145436" cy="2044325"/>
          </a:xfrm>
          <a:prstGeom prst="rect">
            <a:avLst/>
          </a:prstGeom>
          <a:noFill/>
          <a:ln>
            <a:noFill/>
          </a:ln>
        </p:spPr>
      </p:pic>
      <p:pic>
        <p:nvPicPr>
          <p:cNvPr id="583" name="Google Shape;583;p76"/>
          <p:cNvPicPr preferRelativeResize="0"/>
          <p:nvPr/>
        </p:nvPicPr>
        <p:blipFill>
          <a:blip r:embed="rId4">
            <a:alphaModFix/>
          </a:blip>
          <a:stretch>
            <a:fillRect/>
          </a:stretch>
        </p:blipFill>
        <p:spPr>
          <a:xfrm>
            <a:off x="0" y="3043625"/>
            <a:ext cx="4159980" cy="2099875"/>
          </a:xfrm>
          <a:prstGeom prst="rect">
            <a:avLst/>
          </a:prstGeom>
          <a:noFill/>
          <a:ln>
            <a:noFill/>
          </a:ln>
        </p:spPr>
      </p:pic>
      <p:sp>
        <p:nvSpPr>
          <p:cNvPr id="584" name="Google Shape;584;p76"/>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585" name="Google Shape;585;p76"/>
          <p:cNvPicPr preferRelativeResize="0"/>
          <p:nvPr/>
        </p:nvPicPr>
        <p:blipFill rotWithShape="1">
          <a:blip r:embed="rId5">
            <a:alphaModFix/>
          </a:blip>
          <a:srcRect b="0" l="0" r="12072" t="0"/>
          <a:stretch/>
        </p:blipFill>
        <p:spPr>
          <a:xfrm>
            <a:off x="4450075" y="2090350"/>
            <a:ext cx="4693924" cy="2135436"/>
          </a:xfrm>
          <a:prstGeom prst="rect">
            <a:avLst/>
          </a:prstGeom>
          <a:noFill/>
          <a:ln>
            <a:noFill/>
          </a:ln>
        </p:spPr>
      </p:pic>
      <p:sp>
        <p:nvSpPr>
          <p:cNvPr id="586" name="Google Shape;586;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graphicFrame>
        <p:nvGraphicFramePr>
          <p:cNvPr id="591" name="Google Shape;591;p7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912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1042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14.2%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592" name="Google Shape;592;p7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6.8.1 Indonesia</a:t>
            </a:r>
            <a:endParaRPr b="1" sz="2800">
              <a:solidFill>
                <a:srgbClr val="424242"/>
              </a:solidFill>
              <a:latin typeface="Times New Roman"/>
              <a:ea typeface="Times New Roman"/>
              <a:cs typeface="Times New Roman"/>
              <a:sym typeface="Times New Roman"/>
            </a:endParaRPr>
          </a:p>
        </p:txBody>
      </p:sp>
      <p:pic>
        <p:nvPicPr>
          <p:cNvPr id="593" name="Google Shape;593;p77"/>
          <p:cNvPicPr preferRelativeResize="0"/>
          <p:nvPr/>
        </p:nvPicPr>
        <p:blipFill>
          <a:blip r:embed="rId3">
            <a:alphaModFix/>
          </a:blip>
          <a:stretch>
            <a:fillRect/>
          </a:stretch>
        </p:blipFill>
        <p:spPr>
          <a:xfrm>
            <a:off x="0" y="1044003"/>
            <a:ext cx="3048000" cy="1642046"/>
          </a:xfrm>
          <a:prstGeom prst="rect">
            <a:avLst/>
          </a:prstGeom>
          <a:noFill/>
          <a:ln>
            <a:noFill/>
          </a:ln>
        </p:spPr>
      </p:pic>
      <p:pic>
        <p:nvPicPr>
          <p:cNvPr id="594" name="Google Shape;594;p77"/>
          <p:cNvPicPr preferRelativeResize="0"/>
          <p:nvPr/>
        </p:nvPicPr>
        <p:blipFill>
          <a:blip r:embed="rId4">
            <a:alphaModFix/>
          </a:blip>
          <a:stretch>
            <a:fillRect/>
          </a:stretch>
        </p:blipFill>
        <p:spPr>
          <a:xfrm>
            <a:off x="1157700" y="3305697"/>
            <a:ext cx="3828224" cy="1837825"/>
          </a:xfrm>
          <a:prstGeom prst="rect">
            <a:avLst/>
          </a:prstGeom>
          <a:noFill/>
          <a:ln>
            <a:noFill/>
          </a:ln>
        </p:spPr>
      </p:pic>
      <p:pic>
        <p:nvPicPr>
          <p:cNvPr id="595" name="Google Shape;595;p77"/>
          <p:cNvPicPr preferRelativeResize="0"/>
          <p:nvPr/>
        </p:nvPicPr>
        <p:blipFill>
          <a:blip r:embed="rId5">
            <a:alphaModFix/>
          </a:blip>
          <a:stretch>
            <a:fillRect/>
          </a:stretch>
        </p:blipFill>
        <p:spPr>
          <a:xfrm>
            <a:off x="3048000" y="1046825"/>
            <a:ext cx="3048000" cy="1878767"/>
          </a:xfrm>
          <a:prstGeom prst="rect">
            <a:avLst/>
          </a:prstGeom>
          <a:noFill/>
          <a:ln>
            <a:noFill/>
          </a:ln>
        </p:spPr>
      </p:pic>
      <p:sp>
        <p:nvSpPr>
          <p:cNvPr id="596" name="Google Shape;596;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graphicFrame>
        <p:nvGraphicFramePr>
          <p:cNvPr id="601" name="Google Shape;601;p7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02" name="Google Shape;602;p7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6.8.2 Indonesia</a:t>
            </a:r>
            <a:endParaRPr b="1" sz="2800">
              <a:solidFill>
                <a:srgbClr val="424242"/>
              </a:solidFill>
              <a:latin typeface="Times New Roman"/>
              <a:ea typeface="Times New Roman"/>
              <a:cs typeface="Times New Roman"/>
              <a:sym typeface="Times New Roman"/>
            </a:endParaRPr>
          </a:p>
        </p:txBody>
      </p:sp>
      <p:pic>
        <p:nvPicPr>
          <p:cNvPr id="603" name="Google Shape;603;p78"/>
          <p:cNvPicPr preferRelativeResize="0"/>
          <p:nvPr/>
        </p:nvPicPr>
        <p:blipFill>
          <a:blip r:embed="rId3">
            <a:alphaModFix/>
          </a:blip>
          <a:stretch>
            <a:fillRect/>
          </a:stretch>
        </p:blipFill>
        <p:spPr>
          <a:xfrm>
            <a:off x="0" y="1006489"/>
            <a:ext cx="6096001" cy="2173810"/>
          </a:xfrm>
          <a:prstGeom prst="rect">
            <a:avLst/>
          </a:prstGeom>
          <a:noFill/>
          <a:ln>
            <a:noFill/>
          </a:ln>
        </p:spPr>
      </p:pic>
      <p:pic>
        <p:nvPicPr>
          <p:cNvPr id="604" name="Google Shape;604;p78"/>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605" name="Google Shape;605;p78"/>
          <p:cNvPicPr preferRelativeResize="0"/>
          <p:nvPr/>
        </p:nvPicPr>
        <p:blipFill rotWithShape="1">
          <a:blip r:embed="rId5">
            <a:alphaModFix/>
          </a:blip>
          <a:srcRect b="0" l="0" r="0" t="970"/>
          <a:stretch/>
        </p:blipFill>
        <p:spPr>
          <a:xfrm>
            <a:off x="6096000" y="1039650"/>
            <a:ext cx="3048000" cy="4103825"/>
          </a:xfrm>
          <a:prstGeom prst="rect">
            <a:avLst/>
          </a:prstGeom>
          <a:noFill/>
          <a:ln>
            <a:noFill/>
          </a:ln>
        </p:spPr>
      </p:pic>
      <p:sp>
        <p:nvSpPr>
          <p:cNvPr id="606" name="Google Shape;606;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graphicFrame>
        <p:nvGraphicFramePr>
          <p:cNvPr id="611" name="Google Shape;611;p7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R cap="flat" cmpd="sng" w="9525">
                      <a:solidFill>
                        <a:srgbClr val="9E9E9E">
                          <a:alpha val="0"/>
                        </a:srgbClr>
                      </a:solidFill>
                      <a:prstDash val="solid"/>
                      <a:round/>
                      <a:headEnd len="sm" w="sm" type="none"/>
                      <a:tailEnd len="sm" w="sm" type="none"/>
                    </a:lnR>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12" name="Google Shape;612;p7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6.8.3 Indonesia</a:t>
            </a:r>
            <a:endParaRPr b="1" sz="2800">
              <a:solidFill>
                <a:srgbClr val="424242"/>
              </a:solidFill>
              <a:latin typeface="Times New Roman"/>
              <a:ea typeface="Times New Roman"/>
              <a:cs typeface="Times New Roman"/>
              <a:sym typeface="Times New Roman"/>
            </a:endParaRPr>
          </a:p>
        </p:txBody>
      </p:sp>
      <p:pic>
        <p:nvPicPr>
          <p:cNvPr id="613" name="Google Shape;613;p79"/>
          <p:cNvPicPr preferRelativeResize="0"/>
          <p:nvPr/>
        </p:nvPicPr>
        <p:blipFill>
          <a:blip r:embed="rId3">
            <a:alphaModFix/>
          </a:blip>
          <a:stretch>
            <a:fillRect/>
          </a:stretch>
        </p:blipFill>
        <p:spPr>
          <a:xfrm>
            <a:off x="0" y="999300"/>
            <a:ext cx="4081021" cy="2044325"/>
          </a:xfrm>
          <a:prstGeom prst="rect">
            <a:avLst/>
          </a:prstGeom>
          <a:noFill/>
          <a:ln>
            <a:noFill/>
          </a:ln>
        </p:spPr>
      </p:pic>
      <p:pic>
        <p:nvPicPr>
          <p:cNvPr id="614" name="Google Shape;614;p79"/>
          <p:cNvPicPr preferRelativeResize="0"/>
          <p:nvPr/>
        </p:nvPicPr>
        <p:blipFill>
          <a:blip r:embed="rId4">
            <a:alphaModFix/>
          </a:blip>
          <a:stretch>
            <a:fillRect/>
          </a:stretch>
        </p:blipFill>
        <p:spPr>
          <a:xfrm>
            <a:off x="0" y="3043625"/>
            <a:ext cx="4160279" cy="2099875"/>
          </a:xfrm>
          <a:prstGeom prst="rect">
            <a:avLst/>
          </a:prstGeom>
          <a:noFill/>
          <a:ln>
            <a:noFill/>
          </a:ln>
        </p:spPr>
      </p:pic>
      <p:sp>
        <p:nvSpPr>
          <p:cNvPr id="615" name="Google Shape;615;p79"/>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616" name="Google Shape;616;p79"/>
          <p:cNvPicPr preferRelativeResize="0"/>
          <p:nvPr/>
        </p:nvPicPr>
        <p:blipFill rotWithShape="1">
          <a:blip r:embed="rId5">
            <a:alphaModFix/>
          </a:blip>
          <a:srcRect b="0" l="0" r="11871" t="0"/>
          <a:stretch/>
        </p:blipFill>
        <p:spPr>
          <a:xfrm>
            <a:off x="4366100" y="1987100"/>
            <a:ext cx="4777901" cy="2168600"/>
          </a:xfrm>
          <a:prstGeom prst="rect">
            <a:avLst/>
          </a:prstGeom>
          <a:noFill/>
          <a:ln>
            <a:noFill/>
          </a:ln>
        </p:spPr>
      </p:pic>
      <p:sp>
        <p:nvSpPr>
          <p:cNvPr id="617" name="Google Shape;617;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graphicFrame>
        <p:nvGraphicFramePr>
          <p:cNvPr id="622" name="Google Shape;622;p8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2.1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2.08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-2.7%</a:t>
                      </a:r>
                      <a:endParaRPr>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623" name="Google Shape;623;p8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6.9.1 Italy</a:t>
            </a:r>
            <a:endParaRPr b="1" sz="2800">
              <a:solidFill>
                <a:srgbClr val="424242"/>
              </a:solidFill>
              <a:latin typeface="Times New Roman"/>
              <a:ea typeface="Times New Roman"/>
              <a:cs typeface="Times New Roman"/>
              <a:sym typeface="Times New Roman"/>
            </a:endParaRPr>
          </a:p>
        </p:txBody>
      </p:sp>
      <p:pic>
        <p:nvPicPr>
          <p:cNvPr id="624" name="Google Shape;624;p80"/>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625" name="Google Shape;625;p80"/>
          <p:cNvPicPr preferRelativeResize="0"/>
          <p:nvPr/>
        </p:nvPicPr>
        <p:blipFill>
          <a:blip r:embed="rId4">
            <a:alphaModFix/>
          </a:blip>
          <a:stretch>
            <a:fillRect/>
          </a:stretch>
        </p:blipFill>
        <p:spPr>
          <a:xfrm>
            <a:off x="1124700" y="3305700"/>
            <a:ext cx="3799985" cy="1851275"/>
          </a:xfrm>
          <a:prstGeom prst="rect">
            <a:avLst/>
          </a:prstGeom>
          <a:noFill/>
          <a:ln>
            <a:noFill/>
          </a:ln>
        </p:spPr>
      </p:pic>
      <p:pic>
        <p:nvPicPr>
          <p:cNvPr id="626" name="Google Shape;626;p80"/>
          <p:cNvPicPr preferRelativeResize="0"/>
          <p:nvPr/>
        </p:nvPicPr>
        <p:blipFill>
          <a:blip r:embed="rId5">
            <a:alphaModFix/>
          </a:blip>
          <a:stretch>
            <a:fillRect/>
          </a:stretch>
        </p:blipFill>
        <p:spPr>
          <a:xfrm>
            <a:off x="3048000" y="1044175"/>
            <a:ext cx="3052643" cy="1851275"/>
          </a:xfrm>
          <a:prstGeom prst="rect">
            <a:avLst/>
          </a:prstGeom>
          <a:noFill/>
          <a:ln>
            <a:noFill/>
          </a:ln>
        </p:spPr>
      </p:pic>
      <p:sp>
        <p:nvSpPr>
          <p:cNvPr id="627" name="Google Shape;627;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graphicFrame>
        <p:nvGraphicFramePr>
          <p:cNvPr id="632" name="Google Shape;632;p8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33" name="Google Shape;633;p8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6.9.2 Italy</a:t>
            </a:r>
            <a:endParaRPr b="1" sz="2800">
              <a:solidFill>
                <a:srgbClr val="424242"/>
              </a:solidFill>
              <a:latin typeface="Times New Roman"/>
              <a:ea typeface="Times New Roman"/>
              <a:cs typeface="Times New Roman"/>
              <a:sym typeface="Times New Roman"/>
            </a:endParaRPr>
          </a:p>
        </p:txBody>
      </p:sp>
      <p:pic>
        <p:nvPicPr>
          <p:cNvPr id="634" name="Google Shape;634;p81"/>
          <p:cNvPicPr preferRelativeResize="0"/>
          <p:nvPr/>
        </p:nvPicPr>
        <p:blipFill>
          <a:blip r:embed="rId3">
            <a:alphaModFix/>
          </a:blip>
          <a:stretch>
            <a:fillRect/>
          </a:stretch>
        </p:blipFill>
        <p:spPr>
          <a:xfrm>
            <a:off x="0" y="999300"/>
            <a:ext cx="6096001" cy="2153886"/>
          </a:xfrm>
          <a:prstGeom prst="rect">
            <a:avLst/>
          </a:prstGeom>
          <a:noFill/>
          <a:ln>
            <a:noFill/>
          </a:ln>
        </p:spPr>
      </p:pic>
      <p:pic>
        <p:nvPicPr>
          <p:cNvPr id="635" name="Google Shape;635;p81"/>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636" name="Google Shape;636;p81"/>
          <p:cNvPicPr preferRelativeResize="0"/>
          <p:nvPr/>
        </p:nvPicPr>
        <p:blipFill rotWithShape="1">
          <a:blip r:embed="rId5">
            <a:alphaModFix/>
          </a:blip>
          <a:srcRect b="0" l="0" r="0" t="970"/>
          <a:stretch/>
        </p:blipFill>
        <p:spPr>
          <a:xfrm>
            <a:off x="6136800" y="1039650"/>
            <a:ext cx="3007200" cy="4103825"/>
          </a:xfrm>
          <a:prstGeom prst="rect">
            <a:avLst/>
          </a:prstGeom>
          <a:noFill/>
          <a:ln>
            <a:noFill/>
          </a:ln>
        </p:spPr>
      </p:pic>
      <p:sp>
        <p:nvSpPr>
          <p:cNvPr id="637" name="Google Shape;637;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graphicFrame>
        <p:nvGraphicFramePr>
          <p:cNvPr id="642" name="Google Shape;642;p8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43" name="Google Shape;643;p8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6.9.3 Italy</a:t>
            </a:r>
            <a:endParaRPr b="1" sz="2800">
              <a:solidFill>
                <a:srgbClr val="424242"/>
              </a:solidFill>
              <a:latin typeface="Times New Roman"/>
              <a:ea typeface="Times New Roman"/>
              <a:cs typeface="Times New Roman"/>
              <a:sym typeface="Times New Roman"/>
            </a:endParaRPr>
          </a:p>
        </p:txBody>
      </p:sp>
      <p:pic>
        <p:nvPicPr>
          <p:cNvPr id="644" name="Google Shape;644;p82"/>
          <p:cNvPicPr preferRelativeResize="0"/>
          <p:nvPr/>
        </p:nvPicPr>
        <p:blipFill>
          <a:blip r:embed="rId3">
            <a:alphaModFix/>
          </a:blip>
          <a:stretch>
            <a:fillRect/>
          </a:stretch>
        </p:blipFill>
        <p:spPr>
          <a:xfrm>
            <a:off x="0" y="999300"/>
            <a:ext cx="4096424" cy="2044325"/>
          </a:xfrm>
          <a:prstGeom prst="rect">
            <a:avLst/>
          </a:prstGeom>
          <a:noFill/>
          <a:ln>
            <a:noFill/>
          </a:ln>
        </p:spPr>
      </p:pic>
      <p:pic>
        <p:nvPicPr>
          <p:cNvPr id="645" name="Google Shape;645;p82"/>
          <p:cNvPicPr preferRelativeResize="0"/>
          <p:nvPr/>
        </p:nvPicPr>
        <p:blipFill>
          <a:blip r:embed="rId4">
            <a:alphaModFix/>
          </a:blip>
          <a:stretch>
            <a:fillRect/>
          </a:stretch>
        </p:blipFill>
        <p:spPr>
          <a:xfrm>
            <a:off x="0" y="3043625"/>
            <a:ext cx="4167691" cy="2099875"/>
          </a:xfrm>
          <a:prstGeom prst="rect">
            <a:avLst/>
          </a:prstGeom>
          <a:noFill/>
          <a:ln>
            <a:noFill/>
          </a:ln>
        </p:spPr>
      </p:pic>
      <p:sp>
        <p:nvSpPr>
          <p:cNvPr id="646" name="Google Shape;646;p82"/>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647" name="Google Shape;647;p82"/>
          <p:cNvPicPr preferRelativeResize="0"/>
          <p:nvPr/>
        </p:nvPicPr>
        <p:blipFill rotWithShape="1">
          <a:blip r:embed="rId5">
            <a:alphaModFix/>
          </a:blip>
          <a:srcRect b="0" l="0" r="11708" t="0"/>
          <a:stretch/>
        </p:blipFill>
        <p:spPr>
          <a:xfrm>
            <a:off x="4450075" y="2021450"/>
            <a:ext cx="4646249" cy="2099875"/>
          </a:xfrm>
          <a:prstGeom prst="rect">
            <a:avLst/>
          </a:prstGeom>
          <a:noFill/>
          <a:ln>
            <a:noFill/>
          </a:ln>
        </p:spPr>
      </p:pic>
      <p:sp>
        <p:nvSpPr>
          <p:cNvPr id="648" name="Google Shape;648;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graphicFrame>
        <p:nvGraphicFramePr>
          <p:cNvPr id="653" name="Google Shape;653;p8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5.1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4.9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-3.6%</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654" name="Google Shape;654;p8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6.10.1 Japan</a:t>
            </a:r>
            <a:endParaRPr b="1" sz="2800">
              <a:solidFill>
                <a:srgbClr val="424242"/>
              </a:solidFill>
              <a:latin typeface="Times New Roman"/>
              <a:ea typeface="Times New Roman"/>
              <a:cs typeface="Times New Roman"/>
              <a:sym typeface="Times New Roman"/>
            </a:endParaRPr>
          </a:p>
        </p:txBody>
      </p:sp>
      <p:pic>
        <p:nvPicPr>
          <p:cNvPr id="655" name="Google Shape;655;p83"/>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656" name="Google Shape;656;p83"/>
          <p:cNvPicPr preferRelativeResize="0"/>
          <p:nvPr/>
        </p:nvPicPr>
        <p:blipFill>
          <a:blip r:embed="rId4">
            <a:alphaModFix/>
          </a:blip>
          <a:stretch>
            <a:fillRect/>
          </a:stretch>
        </p:blipFill>
        <p:spPr>
          <a:xfrm>
            <a:off x="1213772" y="3305697"/>
            <a:ext cx="3696249" cy="1837800"/>
          </a:xfrm>
          <a:prstGeom prst="rect">
            <a:avLst/>
          </a:prstGeom>
          <a:noFill/>
          <a:ln>
            <a:noFill/>
          </a:ln>
        </p:spPr>
      </p:pic>
      <p:pic>
        <p:nvPicPr>
          <p:cNvPr id="657" name="Google Shape;657;p83"/>
          <p:cNvPicPr preferRelativeResize="0"/>
          <p:nvPr/>
        </p:nvPicPr>
        <p:blipFill>
          <a:blip r:embed="rId5">
            <a:alphaModFix/>
          </a:blip>
          <a:stretch>
            <a:fillRect/>
          </a:stretch>
        </p:blipFill>
        <p:spPr>
          <a:xfrm>
            <a:off x="3095050" y="1046825"/>
            <a:ext cx="3000950" cy="1778750"/>
          </a:xfrm>
          <a:prstGeom prst="rect">
            <a:avLst/>
          </a:prstGeom>
          <a:noFill/>
          <a:ln>
            <a:noFill/>
          </a:ln>
        </p:spPr>
      </p:pic>
      <p:sp>
        <p:nvSpPr>
          <p:cNvPr id="658" name="Google Shape;658;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graphicFrame>
        <p:nvGraphicFramePr>
          <p:cNvPr id="663" name="Google Shape;663;p8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64" name="Google Shape;664;p8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6.10.2 Japan</a:t>
            </a:r>
            <a:endParaRPr b="1" sz="2800">
              <a:solidFill>
                <a:srgbClr val="424242"/>
              </a:solidFill>
              <a:latin typeface="Times New Roman"/>
              <a:ea typeface="Times New Roman"/>
              <a:cs typeface="Times New Roman"/>
              <a:sym typeface="Times New Roman"/>
            </a:endParaRPr>
          </a:p>
        </p:txBody>
      </p:sp>
      <p:pic>
        <p:nvPicPr>
          <p:cNvPr id="665" name="Google Shape;665;p84"/>
          <p:cNvPicPr preferRelativeResize="0"/>
          <p:nvPr/>
        </p:nvPicPr>
        <p:blipFill>
          <a:blip r:embed="rId3">
            <a:alphaModFix/>
          </a:blip>
          <a:stretch>
            <a:fillRect/>
          </a:stretch>
        </p:blipFill>
        <p:spPr>
          <a:xfrm>
            <a:off x="0" y="3180300"/>
            <a:ext cx="6096001" cy="1963200"/>
          </a:xfrm>
          <a:prstGeom prst="rect">
            <a:avLst/>
          </a:prstGeom>
          <a:noFill/>
          <a:ln>
            <a:noFill/>
          </a:ln>
        </p:spPr>
      </p:pic>
      <p:pic>
        <p:nvPicPr>
          <p:cNvPr id="666" name="Google Shape;666;p84"/>
          <p:cNvPicPr preferRelativeResize="0"/>
          <p:nvPr/>
        </p:nvPicPr>
        <p:blipFill>
          <a:blip r:embed="rId4">
            <a:alphaModFix/>
          </a:blip>
          <a:stretch>
            <a:fillRect/>
          </a:stretch>
        </p:blipFill>
        <p:spPr>
          <a:xfrm>
            <a:off x="2" y="1006470"/>
            <a:ext cx="6096001" cy="2173832"/>
          </a:xfrm>
          <a:prstGeom prst="rect">
            <a:avLst/>
          </a:prstGeom>
          <a:noFill/>
          <a:ln>
            <a:noFill/>
          </a:ln>
        </p:spPr>
      </p:pic>
      <p:pic>
        <p:nvPicPr>
          <p:cNvPr id="667" name="Google Shape;667;p84"/>
          <p:cNvPicPr preferRelativeResize="0"/>
          <p:nvPr/>
        </p:nvPicPr>
        <p:blipFill rotWithShape="1">
          <a:blip r:embed="rId5">
            <a:alphaModFix/>
          </a:blip>
          <a:srcRect b="0" l="0" r="0" t="1468"/>
          <a:stretch/>
        </p:blipFill>
        <p:spPr>
          <a:xfrm>
            <a:off x="6096000" y="1060175"/>
            <a:ext cx="3048000" cy="4083300"/>
          </a:xfrm>
          <a:prstGeom prst="rect">
            <a:avLst/>
          </a:prstGeom>
          <a:noFill/>
          <a:ln>
            <a:noFill/>
          </a:ln>
        </p:spPr>
      </p:pic>
      <p:sp>
        <p:nvSpPr>
          <p:cNvPr id="668" name="Google Shape;668;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graphicFrame>
        <p:nvGraphicFramePr>
          <p:cNvPr id="673" name="Google Shape;673;p8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674" name="Google Shape;674;p8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6.10.3 Japan</a:t>
            </a:r>
            <a:endParaRPr b="1" sz="2800">
              <a:solidFill>
                <a:srgbClr val="424242"/>
              </a:solidFill>
              <a:latin typeface="Times New Roman"/>
              <a:ea typeface="Times New Roman"/>
              <a:cs typeface="Times New Roman"/>
              <a:sym typeface="Times New Roman"/>
            </a:endParaRPr>
          </a:p>
        </p:txBody>
      </p:sp>
      <p:pic>
        <p:nvPicPr>
          <p:cNvPr id="675" name="Google Shape;675;p85"/>
          <p:cNvPicPr preferRelativeResize="0"/>
          <p:nvPr/>
        </p:nvPicPr>
        <p:blipFill>
          <a:blip r:embed="rId3">
            <a:alphaModFix/>
          </a:blip>
          <a:stretch>
            <a:fillRect/>
          </a:stretch>
        </p:blipFill>
        <p:spPr>
          <a:xfrm>
            <a:off x="0" y="999300"/>
            <a:ext cx="4052406" cy="2044325"/>
          </a:xfrm>
          <a:prstGeom prst="rect">
            <a:avLst/>
          </a:prstGeom>
          <a:noFill/>
          <a:ln>
            <a:noFill/>
          </a:ln>
        </p:spPr>
      </p:pic>
      <p:pic>
        <p:nvPicPr>
          <p:cNvPr id="676" name="Google Shape;676;p85"/>
          <p:cNvPicPr preferRelativeResize="0"/>
          <p:nvPr/>
        </p:nvPicPr>
        <p:blipFill>
          <a:blip r:embed="rId4">
            <a:alphaModFix/>
          </a:blip>
          <a:stretch>
            <a:fillRect/>
          </a:stretch>
        </p:blipFill>
        <p:spPr>
          <a:xfrm>
            <a:off x="0" y="3043625"/>
            <a:ext cx="4054429" cy="2099875"/>
          </a:xfrm>
          <a:prstGeom prst="rect">
            <a:avLst/>
          </a:prstGeom>
          <a:noFill/>
          <a:ln>
            <a:noFill/>
          </a:ln>
        </p:spPr>
      </p:pic>
      <p:sp>
        <p:nvSpPr>
          <p:cNvPr id="677" name="Google Shape;677;p85"/>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678" name="Google Shape;678;p85"/>
          <p:cNvPicPr preferRelativeResize="0"/>
          <p:nvPr/>
        </p:nvPicPr>
        <p:blipFill rotWithShape="1">
          <a:blip r:embed="rId5">
            <a:alphaModFix/>
          </a:blip>
          <a:srcRect b="0" l="0" r="12488" t="0"/>
          <a:stretch/>
        </p:blipFill>
        <p:spPr>
          <a:xfrm>
            <a:off x="4052400" y="1907801"/>
            <a:ext cx="5091600" cy="2327187"/>
          </a:xfrm>
          <a:prstGeom prst="rect">
            <a:avLst/>
          </a:prstGeom>
          <a:noFill/>
          <a:ln>
            <a:noFill/>
          </a:ln>
        </p:spPr>
      </p:pic>
      <p:sp>
        <p:nvSpPr>
          <p:cNvPr id="679" name="Google Shape;679;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graphicFrame>
        <p:nvGraphicFramePr>
          <p:cNvPr id="684" name="Google Shape;684;p8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323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358 million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10.9%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685" name="Google Shape;685;p8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6.11.1 Malaysia</a:t>
            </a:r>
            <a:endParaRPr b="1" sz="2800">
              <a:solidFill>
                <a:srgbClr val="424242"/>
              </a:solidFill>
              <a:latin typeface="Times New Roman"/>
              <a:ea typeface="Times New Roman"/>
              <a:cs typeface="Times New Roman"/>
              <a:sym typeface="Times New Roman"/>
            </a:endParaRPr>
          </a:p>
        </p:txBody>
      </p:sp>
      <p:pic>
        <p:nvPicPr>
          <p:cNvPr id="686" name="Google Shape;686;p86"/>
          <p:cNvPicPr preferRelativeResize="0"/>
          <p:nvPr/>
        </p:nvPicPr>
        <p:blipFill>
          <a:blip r:embed="rId3">
            <a:alphaModFix/>
          </a:blip>
          <a:stretch>
            <a:fillRect/>
          </a:stretch>
        </p:blipFill>
        <p:spPr>
          <a:xfrm>
            <a:off x="0" y="1015067"/>
            <a:ext cx="3048001" cy="1737658"/>
          </a:xfrm>
          <a:prstGeom prst="rect">
            <a:avLst/>
          </a:prstGeom>
          <a:noFill/>
          <a:ln>
            <a:noFill/>
          </a:ln>
        </p:spPr>
      </p:pic>
      <p:pic>
        <p:nvPicPr>
          <p:cNvPr id="687" name="Google Shape;687;p86"/>
          <p:cNvPicPr preferRelativeResize="0"/>
          <p:nvPr/>
        </p:nvPicPr>
        <p:blipFill>
          <a:blip r:embed="rId4">
            <a:alphaModFix/>
          </a:blip>
          <a:stretch>
            <a:fillRect/>
          </a:stretch>
        </p:blipFill>
        <p:spPr>
          <a:xfrm>
            <a:off x="1162521" y="3305700"/>
            <a:ext cx="3806871" cy="1837800"/>
          </a:xfrm>
          <a:prstGeom prst="rect">
            <a:avLst/>
          </a:prstGeom>
          <a:noFill/>
          <a:ln>
            <a:noFill/>
          </a:ln>
        </p:spPr>
      </p:pic>
      <p:pic>
        <p:nvPicPr>
          <p:cNvPr id="688" name="Google Shape;688;p86"/>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689" name="Google Shape;689;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graphicFrame>
        <p:nvGraphicFramePr>
          <p:cNvPr id="694" name="Google Shape;694;p8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95" name="Google Shape;695;p8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6.11.2 Malaysia</a:t>
            </a:r>
            <a:endParaRPr b="1" sz="2800">
              <a:solidFill>
                <a:srgbClr val="424242"/>
              </a:solidFill>
              <a:latin typeface="Times New Roman"/>
              <a:ea typeface="Times New Roman"/>
              <a:cs typeface="Times New Roman"/>
              <a:sym typeface="Times New Roman"/>
            </a:endParaRPr>
          </a:p>
        </p:txBody>
      </p:sp>
      <p:pic>
        <p:nvPicPr>
          <p:cNvPr id="696" name="Google Shape;696;p87"/>
          <p:cNvPicPr preferRelativeResize="0"/>
          <p:nvPr/>
        </p:nvPicPr>
        <p:blipFill>
          <a:blip r:embed="rId3">
            <a:alphaModFix/>
          </a:blip>
          <a:stretch>
            <a:fillRect/>
          </a:stretch>
        </p:blipFill>
        <p:spPr>
          <a:xfrm>
            <a:off x="1" y="999301"/>
            <a:ext cx="6116138" cy="2181000"/>
          </a:xfrm>
          <a:prstGeom prst="rect">
            <a:avLst/>
          </a:prstGeom>
          <a:noFill/>
          <a:ln>
            <a:noFill/>
          </a:ln>
        </p:spPr>
      </p:pic>
      <p:pic>
        <p:nvPicPr>
          <p:cNvPr id="697" name="Google Shape;697;p87"/>
          <p:cNvPicPr preferRelativeResize="0"/>
          <p:nvPr/>
        </p:nvPicPr>
        <p:blipFill>
          <a:blip r:embed="rId4">
            <a:alphaModFix/>
          </a:blip>
          <a:stretch>
            <a:fillRect/>
          </a:stretch>
        </p:blipFill>
        <p:spPr>
          <a:xfrm>
            <a:off x="0" y="3180300"/>
            <a:ext cx="6116149" cy="1963200"/>
          </a:xfrm>
          <a:prstGeom prst="rect">
            <a:avLst/>
          </a:prstGeom>
          <a:noFill/>
          <a:ln>
            <a:noFill/>
          </a:ln>
        </p:spPr>
      </p:pic>
      <p:pic>
        <p:nvPicPr>
          <p:cNvPr id="698" name="Google Shape;698;p87"/>
          <p:cNvPicPr preferRelativeResize="0"/>
          <p:nvPr/>
        </p:nvPicPr>
        <p:blipFill rotWithShape="1">
          <a:blip r:embed="rId5">
            <a:alphaModFix/>
          </a:blip>
          <a:srcRect b="0" l="2439" r="0" t="1303"/>
          <a:stretch/>
        </p:blipFill>
        <p:spPr>
          <a:xfrm>
            <a:off x="6189975" y="1053325"/>
            <a:ext cx="2954025" cy="4090150"/>
          </a:xfrm>
          <a:prstGeom prst="rect">
            <a:avLst/>
          </a:prstGeom>
          <a:noFill/>
          <a:ln>
            <a:noFill/>
          </a:ln>
        </p:spPr>
      </p:pic>
      <p:sp>
        <p:nvSpPr>
          <p:cNvPr id="699" name="Google Shape;699;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graphicFrame>
        <p:nvGraphicFramePr>
          <p:cNvPr id="704" name="Google Shape;704;p8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705" name="Google Shape;705;p8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6.11.3 Malaysia</a:t>
            </a:r>
            <a:endParaRPr b="1" sz="2800">
              <a:solidFill>
                <a:srgbClr val="424242"/>
              </a:solidFill>
              <a:latin typeface="Times New Roman"/>
              <a:ea typeface="Times New Roman"/>
              <a:cs typeface="Times New Roman"/>
              <a:sym typeface="Times New Roman"/>
            </a:endParaRPr>
          </a:p>
        </p:txBody>
      </p:sp>
      <p:pic>
        <p:nvPicPr>
          <p:cNvPr id="706" name="Google Shape;706;p88"/>
          <p:cNvPicPr preferRelativeResize="0"/>
          <p:nvPr/>
        </p:nvPicPr>
        <p:blipFill>
          <a:blip r:embed="rId3">
            <a:alphaModFix/>
          </a:blip>
          <a:stretch>
            <a:fillRect/>
          </a:stretch>
        </p:blipFill>
        <p:spPr>
          <a:xfrm>
            <a:off x="0" y="999300"/>
            <a:ext cx="3980341" cy="2044325"/>
          </a:xfrm>
          <a:prstGeom prst="rect">
            <a:avLst/>
          </a:prstGeom>
          <a:noFill/>
          <a:ln>
            <a:noFill/>
          </a:ln>
        </p:spPr>
      </p:pic>
      <p:pic>
        <p:nvPicPr>
          <p:cNvPr id="707" name="Google Shape;707;p88"/>
          <p:cNvPicPr preferRelativeResize="0"/>
          <p:nvPr/>
        </p:nvPicPr>
        <p:blipFill>
          <a:blip r:embed="rId4">
            <a:alphaModFix/>
          </a:blip>
          <a:stretch>
            <a:fillRect/>
          </a:stretch>
        </p:blipFill>
        <p:spPr>
          <a:xfrm>
            <a:off x="0" y="3043625"/>
            <a:ext cx="4106582" cy="2099875"/>
          </a:xfrm>
          <a:prstGeom prst="rect">
            <a:avLst/>
          </a:prstGeom>
          <a:noFill/>
          <a:ln>
            <a:noFill/>
          </a:ln>
        </p:spPr>
      </p:pic>
      <p:sp>
        <p:nvSpPr>
          <p:cNvPr id="708" name="Google Shape;708;p88"/>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709" name="Google Shape;709;p88"/>
          <p:cNvPicPr preferRelativeResize="0"/>
          <p:nvPr/>
        </p:nvPicPr>
        <p:blipFill rotWithShape="1">
          <a:blip r:embed="rId5">
            <a:alphaModFix/>
          </a:blip>
          <a:srcRect b="0" l="659" r="11530" t="0"/>
          <a:stretch/>
        </p:blipFill>
        <p:spPr>
          <a:xfrm>
            <a:off x="4106575" y="1716925"/>
            <a:ext cx="5035099" cy="2295525"/>
          </a:xfrm>
          <a:prstGeom prst="rect">
            <a:avLst/>
          </a:prstGeom>
          <a:noFill/>
          <a:ln>
            <a:noFill/>
          </a:ln>
        </p:spPr>
      </p:pic>
      <p:sp>
        <p:nvSpPr>
          <p:cNvPr id="710" name="Google Shape;710;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graphicFrame>
        <p:nvGraphicFramePr>
          <p:cNvPr id="715" name="Google Shape;715;p8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1.27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1.22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716" name="Google Shape;716;p8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6.12.1 Mexico</a:t>
            </a:r>
            <a:endParaRPr b="1" sz="2800">
              <a:solidFill>
                <a:srgbClr val="424242"/>
              </a:solidFill>
              <a:latin typeface="Times New Roman"/>
              <a:ea typeface="Times New Roman"/>
              <a:cs typeface="Times New Roman"/>
              <a:sym typeface="Times New Roman"/>
            </a:endParaRPr>
          </a:p>
        </p:txBody>
      </p:sp>
      <p:pic>
        <p:nvPicPr>
          <p:cNvPr id="717" name="Google Shape;717;p89"/>
          <p:cNvPicPr preferRelativeResize="0"/>
          <p:nvPr/>
        </p:nvPicPr>
        <p:blipFill>
          <a:blip r:embed="rId3">
            <a:alphaModFix/>
          </a:blip>
          <a:stretch>
            <a:fillRect/>
          </a:stretch>
        </p:blipFill>
        <p:spPr>
          <a:xfrm>
            <a:off x="0" y="1050225"/>
            <a:ext cx="2962650" cy="1959675"/>
          </a:xfrm>
          <a:prstGeom prst="rect">
            <a:avLst/>
          </a:prstGeom>
          <a:noFill/>
          <a:ln>
            <a:noFill/>
          </a:ln>
        </p:spPr>
      </p:pic>
      <p:pic>
        <p:nvPicPr>
          <p:cNvPr id="718" name="Google Shape;718;p89"/>
          <p:cNvPicPr preferRelativeResize="0"/>
          <p:nvPr/>
        </p:nvPicPr>
        <p:blipFill>
          <a:blip r:embed="rId4">
            <a:alphaModFix/>
          </a:blip>
          <a:stretch>
            <a:fillRect/>
          </a:stretch>
        </p:blipFill>
        <p:spPr>
          <a:xfrm>
            <a:off x="1097271" y="3305696"/>
            <a:ext cx="3848978" cy="1837800"/>
          </a:xfrm>
          <a:prstGeom prst="rect">
            <a:avLst/>
          </a:prstGeom>
          <a:noFill/>
          <a:ln>
            <a:noFill/>
          </a:ln>
        </p:spPr>
      </p:pic>
      <p:pic>
        <p:nvPicPr>
          <p:cNvPr id="719" name="Google Shape;719;p89"/>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720" name="Google Shape;720;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graphicFrame>
        <p:nvGraphicFramePr>
          <p:cNvPr id="725" name="Google Shape;725;p9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26" name="Google Shape;726;p9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6.12.2 Mexico</a:t>
            </a:r>
            <a:endParaRPr b="1" sz="2800">
              <a:solidFill>
                <a:srgbClr val="424242"/>
              </a:solidFill>
              <a:latin typeface="Times New Roman"/>
              <a:ea typeface="Times New Roman"/>
              <a:cs typeface="Times New Roman"/>
              <a:sym typeface="Times New Roman"/>
            </a:endParaRPr>
          </a:p>
        </p:txBody>
      </p:sp>
      <p:pic>
        <p:nvPicPr>
          <p:cNvPr id="727" name="Google Shape;727;p90"/>
          <p:cNvPicPr preferRelativeResize="0"/>
          <p:nvPr/>
        </p:nvPicPr>
        <p:blipFill>
          <a:blip r:embed="rId3">
            <a:alphaModFix/>
          </a:blip>
          <a:stretch>
            <a:fillRect/>
          </a:stretch>
        </p:blipFill>
        <p:spPr>
          <a:xfrm>
            <a:off x="0" y="1026425"/>
            <a:ext cx="6096001" cy="2024100"/>
          </a:xfrm>
          <a:prstGeom prst="rect">
            <a:avLst/>
          </a:prstGeom>
          <a:noFill/>
          <a:ln>
            <a:noFill/>
          </a:ln>
        </p:spPr>
      </p:pic>
      <p:pic>
        <p:nvPicPr>
          <p:cNvPr id="728" name="Google Shape;728;p90"/>
          <p:cNvPicPr preferRelativeResize="0"/>
          <p:nvPr/>
        </p:nvPicPr>
        <p:blipFill>
          <a:blip r:embed="rId4">
            <a:alphaModFix/>
          </a:blip>
          <a:stretch>
            <a:fillRect/>
          </a:stretch>
        </p:blipFill>
        <p:spPr>
          <a:xfrm>
            <a:off x="0" y="3180300"/>
            <a:ext cx="5950601" cy="1963200"/>
          </a:xfrm>
          <a:prstGeom prst="rect">
            <a:avLst/>
          </a:prstGeom>
          <a:noFill/>
          <a:ln>
            <a:noFill/>
          </a:ln>
        </p:spPr>
      </p:pic>
      <p:pic>
        <p:nvPicPr>
          <p:cNvPr id="729" name="Google Shape;729;p90"/>
          <p:cNvPicPr preferRelativeResize="0"/>
          <p:nvPr/>
        </p:nvPicPr>
        <p:blipFill rotWithShape="1">
          <a:blip r:embed="rId5">
            <a:alphaModFix/>
          </a:blip>
          <a:srcRect b="0" l="0" r="0" t="1156"/>
          <a:stretch/>
        </p:blipFill>
        <p:spPr>
          <a:xfrm>
            <a:off x="6095975" y="1073850"/>
            <a:ext cx="3048025" cy="4069650"/>
          </a:xfrm>
          <a:prstGeom prst="rect">
            <a:avLst/>
          </a:prstGeom>
          <a:noFill/>
          <a:ln>
            <a:noFill/>
          </a:ln>
        </p:spPr>
      </p:pic>
      <p:sp>
        <p:nvSpPr>
          <p:cNvPr id="730" name="Google Shape;730;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graphicFrame>
        <p:nvGraphicFramePr>
          <p:cNvPr id="735" name="Google Shape;735;p9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736" name="Google Shape;736;p9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6.12.3 Mexico</a:t>
            </a:r>
            <a:endParaRPr b="1" sz="2800">
              <a:solidFill>
                <a:srgbClr val="424242"/>
              </a:solidFill>
              <a:latin typeface="Times New Roman"/>
              <a:ea typeface="Times New Roman"/>
              <a:cs typeface="Times New Roman"/>
              <a:sym typeface="Times New Roman"/>
            </a:endParaRPr>
          </a:p>
        </p:txBody>
      </p:sp>
      <p:pic>
        <p:nvPicPr>
          <p:cNvPr id="737" name="Google Shape;737;p91"/>
          <p:cNvPicPr preferRelativeResize="0"/>
          <p:nvPr/>
        </p:nvPicPr>
        <p:blipFill>
          <a:blip r:embed="rId3">
            <a:alphaModFix/>
          </a:blip>
          <a:stretch>
            <a:fillRect/>
          </a:stretch>
        </p:blipFill>
        <p:spPr>
          <a:xfrm>
            <a:off x="130575" y="758675"/>
            <a:ext cx="4024987" cy="2044325"/>
          </a:xfrm>
          <a:prstGeom prst="rect">
            <a:avLst/>
          </a:prstGeom>
          <a:noFill/>
          <a:ln>
            <a:noFill/>
          </a:ln>
        </p:spPr>
      </p:pic>
      <p:pic>
        <p:nvPicPr>
          <p:cNvPr id="738" name="Google Shape;738;p91"/>
          <p:cNvPicPr preferRelativeResize="0"/>
          <p:nvPr/>
        </p:nvPicPr>
        <p:blipFill>
          <a:blip r:embed="rId4">
            <a:alphaModFix/>
          </a:blip>
          <a:stretch>
            <a:fillRect/>
          </a:stretch>
        </p:blipFill>
        <p:spPr>
          <a:xfrm>
            <a:off x="130575" y="2899250"/>
            <a:ext cx="4155542" cy="2099875"/>
          </a:xfrm>
          <a:prstGeom prst="rect">
            <a:avLst/>
          </a:prstGeom>
          <a:noFill/>
          <a:ln>
            <a:noFill/>
          </a:ln>
        </p:spPr>
      </p:pic>
      <p:sp>
        <p:nvSpPr>
          <p:cNvPr id="739" name="Google Shape;739;p91"/>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740" name="Google Shape;740;p91"/>
          <p:cNvPicPr preferRelativeResize="0"/>
          <p:nvPr/>
        </p:nvPicPr>
        <p:blipFill rotWithShape="1">
          <a:blip r:embed="rId5">
            <a:alphaModFix/>
          </a:blip>
          <a:srcRect b="0" l="0" r="12088" t="0"/>
          <a:stretch/>
        </p:blipFill>
        <p:spPr>
          <a:xfrm>
            <a:off x="4155550" y="1906785"/>
            <a:ext cx="5119024" cy="2329227"/>
          </a:xfrm>
          <a:prstGeom prst="rect">
            <a:avLst/>
          </a:prstGeom>
          <a:noFill/>
          <a:ln>
            <a:noFill/>
          </a:ln>
        </p:spPr>
      </p:pic>
      <p:sp>
        <p:nvSpPr>
          <p:cNvPr id="741" name="Google Shape;741;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graphicFrame>
        <p:nvGraphicFramePr>
          <p:cNvPr id="746" name="Google Shape;746;p9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106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117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10.4%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747" name="Google Shape;747;p9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6.13.1 Morocco</a:t>
            </a:r>
            <a:endParaRPr b="1" sz="2800">
              <a:solidFill>
                <a:srgbClr val="424242"/>
              </a:solidFill>
              <a:latin typeface="Times New Roman"/>
              <a:ea typeface="Times New Roman"/>
              <a:cs typeface="Times New Roman"/>
              <a:sym typeface="Times New Roman"/>
            </a:endParaRPr>
          </a:p>
        </p:txBody>
      </p:sp>
      <p:pic>
        <p:nvPicPr>
          <p:cNvPr id="748" name="Google Shape;748;p92"/>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749" name="Google Shape;749;p92"/>
          <p:cNvPicPr preferRelativeResize="0"/>
          <p:nvPr/>
        </p:nvPicPr>
        <p:blipFill>
          <a:blip r:embed="rId4">
            <a:alphaModFix/>
          </a:blip>
          <a:stretch>
            <a:fillRect/>
          </a:stretch>
        </p:blipFill>
        <p:spPr>
          <a:xfrm>
            <a:off x="1181522" y="3305697"/>
            <a:ext cx="3765132" cy="1837825"/>
          </a:xfrm>
          <a:prstGeom prst="rect">
            <a:avLst/>
          </a:prstGeom>
          <a:noFill/>
          <a:ln>
            <a:noFill/>
          </a:ln>
        </p:spPr>
      </p:pic>
      <p:pic>
        <p:nvPicPr>
          <p:cNvPr id="750" name="Google Shape;750;p92"/>
          <p:cNvPicPr preferRelativeResize="0"/>
          <p:nvPr/>
        </p:nvPicPr>
        <p:blipFill>
          <a:blip r:embed="rId5">
            <a:alphaModFix/>
          </a:blip>
          <a:stretch>
            <a:fillRect/>
          </a:stretch>
        </p:blipFill>
        <p:spPr>
          <a:xfrm>
            <a:off x="3048000" y="1003800"/>
            <a:ext cx="3048000" cy="1837825"/>
          </a:xfrm>
          <a:prstGeom prst="rect">
            <a:avLst/>
          </a:prstGeom>
          <a:noFill/>
          <a:ln>
            <a:noFill/>
          </a:ln>
        </p:spPr>
      </p:pic>
      <p:sp>
        <p:nvSpPr>
          <p:cNvPr id="751" name="Google Shape;751;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graphicFrame>
        <p:nvGraphicFramePr>
          <p:cNvPr id="756" name="Google Shape;756;p9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57" name="Google Shape;757;p9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6.13.2 Morocco</a:t>
            </a:r>
            <a:endParaRPr b="1" sz="2800">
              <a:solidFill>
                <a:srgbClr val="424242"/>
              </a:solidFill>
              <a:latin typeface="Times New Roman"/>
              <a:ea typeface="Times New Roman"/>
              <a:cs typeface="Times New Roman"/>
              <a:sym typeface="Times New Roman"/>
            </a:endParaRPr>
          </a:p>
        </p:txBody>
      </p:sp>
      <p:pic>
        <p:nvPicPr>
          <p:cNvPr id="758" name="Google Shape;758;p93"/>
          <p:cNvPicPr preferRelativeResize="0"/>
          <p:nvPr/>
        </p:nvPicPr>
        <p:blipFill>
          <a:blip r:embed="rId3">
            <a:alphaModFix/>
          </a:blip>
          <a:stretch>
            <a:fillRect/>
          </a:stretch>
        </p:blipFill>
        <p:spPr>
          <a:xfrm>
            <a:off x="48550" y="999300"/>
            <a:ext cx="6047450" cy="2181000"/>
          </a:xfrm>
          <a:prstGeom prst="rect">
            <a:avLst/>
          </a:prstGeom>
          <a:noFill/>
          <a:ln>
            <a:noFill/>
          </a:ln>
        </p:spPr>
      </p:pic>
      <p:pic>
        <p:nvPicPr>
          <p:cNvPr id="759" name="Google Shape;759;p93"/>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760" name="Google Shape;760;p93"/>
          <p:cNvPicPr preferRelativeResize="0"/>
          <p:nvPr/>
        </p:nvPicPr>
        <p:blipFill rotWithShape="1">
          <a:blip r:embed="rId5">
            <a:alphaModFix/>
          </a:blip>
          <a:srcRect b="0" l="0" r="0" t="1536"/>
          <a:stretch/>
        </p:blipFill>
        <p:spPr>
          <a:xfrm>
            <a:off x="6096000" y="1062800"/>
            <a:ext cx="3048000" cy="4080675"/>
          </a:xfrm>
          <a:prstGeom prst="rect">
            <a:avLst/>
          </a:prstGeom>
          <a:noFill/>
          <a:ln>
            <a:noFill/>
          </a:ln>
        </p:spPr>
      </p:pic>
      <p:sp>
        <p:nvSpPr>
          <p:cNvPr id="761" name="Google Shape;761;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graphicFrame>
        <p:nvGraphicFramePr>
          <p:cNvPr id="766" name="Google Shape;766;p9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767" name="Google Shape;767;p9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6.13.3 Morocco</a:t>
            </a:r>
            <a:endParaRPr b="1" sz="2800">
              <a:solidFill>
                <a:srgbClr val="424242"/>
              </a:solidFill>
              <a:latin typeface="Times New Roman"/>
              <a:ea typeface="Times New Roman"/>
              <a:cs typeface="Times New Roman"/>
              <a:sym typeface="Times New Roman"/>
            </a:endParaRPr>
          </a:p>
        </p:txBody>
      </p:sp>
      <p:pic>
        <p:nvPicPr>
          <p:cNvPr id="768" name="Google Shape;768;p94"/>
          <p:cNvPicPr preferRelativeResize="0"/>
          <p:nvPr/>
        </p:nvPicPr>
        <p:blipFill>
          <a:blip r:embed="rId3">
            <a:alphaModFix/>
          </a:blip>
          <a:stretch>
            <a:fillRect/>
          </a:stretch>
        </p:blipFill>
        <p:spPr>
          <a:xfrm>
            <a:off x="0" y="999300"/>
            <a:ext cx="4095848" cy="2044325"/>
          </a:xfrm>
          <a:prstGeom prst="rect">
            <a:avLst/>
          </a:prstGeom>
          <a:noFill/>
          <a:ln>
            <a:noFill/>
          </a:ln>
        </p:spPr>
      </p:pic>
      <p:pic>
        <p:nvPicPr>
          <p:cNvPr id="769" name="Google Shape;769;p94"/>
          <p:cNvPicPr preferRelativeResize="0"/>
          <p:nvPr/>
        </p:nvPicPr>
        <p:blipFill>
          <a:blip r:embed="rId4">
            <a:alphaModFix/>
          </a:blip>
          <a:stretch>
            <a:fillRect/>
          </a:stretch>
        </p:blipFill>
        <p:spPr>
          <a:xfrm>
            <a:off x="0" y="3043625"/>
            <a:ext cx="4199750" cy="2099875"/>
          </a:xfrm>
          <a:prstGeom prst="rect">
            <a:avLst/>
          </a:prstGeom>
          <a:noFill/>
          <a:ln>
            <a:noFill/>
          </a:ln>
        </p:spPr>
      </p:pic>
      <p:sp>
        <p:nvSpPr>
          <p:cNvPr id="770" name="Google Shape;770;p9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771" name="Google Shape;771;p94"/>
          <p:cNvPicPr preferRelativeResize="0"/>
          <p:nvPr/>
        </p:nvPicPr>
        <p:blipFill rotWithShape="1">
          <a:blip r:embed="rId5">
            <a:alphaModFix/>
          </a:blip>
          <a:srcRect b="0" l="0" r="11669" t="0"/>
          <a:stretch/>
        </p:blipFill>
        <p:spPr>
          <a:xfrm>
            <a:off x="4450075" y="1873275"/>
            <a:ext cx="4637224" cy="2099876"/>
          </a:xfrm>
          <a:prstGeom prst="rect">
            <a:avLst/>
          </a:prstGeom>
          <a:noFill/>
          <a:ln>
            <a:noFill/>
          </a:ln>
        </p:spPr>
      </p:pic>
      <p:sp>
        <p:nvSpPr>
          <p:cNvPr id="772" name="Google Shape;772;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graphicFrame>
        <p:nvGraphicFramePr>
          <p:cNvPr id="777" name="Google Shape;777;p9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524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585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11.7%</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778" name="Google Shape;778;p9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6.14.1 Poland</a:t>
            </a:r>
            <a:endParaRPr b="1" sz="2800">
              <a:solidFill>
                <a:srgbClr val="424242"/>
              </a:solidFill>
              <a:latin typeface="Times New Roman"/>
              <a:ea typeface="Times New Roman"/>
              <a:cs typeface="Times New Roman"/>
              <a:sym typeface="Times New Roman"/>
            </a:endParaRPr>
          </a:p>
        </p:txBody>
      </p:sp>
      <p:pic>
        <p:nvPicPr>
          <p:cNvPr id="779" name="Google Shape;779;p95"/>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780" name="Google Shape;780;p95"/>
          <p:cNvPicPr preferRelativeResize="0"/>
          <p:nvPr/>
        </p:nvPicPr>
        <p:blipFill>
          <a:blip r:embed="rId4">
            <a:alphaModFix/>
          </a:blip>
          <a:stretch>
            <a:fillRect/>
          </a:stretch>
        </p:blipFill>
        <p:spPr>
          <a:xfrm>
            <a:off x="1142325" y="3305696"/>
            <a:ext cx="3827355" cy="1851275"/>
          </a:xfrm>
          <a:prstGeom prst="rect">
            <a:avLst/>
          </a:prstGeom>
          <a:noFill/>
          <a:ln>
            <a:noFill/>
          </a:ln>
        </p:spPr>
      </p:pic>
      <p:pic>
        <p:nvPicPr>
          <p:cNvPr id="781" name="Google Shape;781;p95"/>
          <p:cNvPicPr preferRelativeResize="0"/>
          <p:nvPr/>
        </p:nvPicPr>
        <p:blipFill>
          <a:blip r:embed="rId5">
            <a:alphaModFix/>
          </a:blip>
          <a:stretch>
            <a:fillRect/>
          </a:stretch>
        </p:blipFill>
        <p:spPr>
          <a:xfrm>
            <a:off x="3103900" y="1106800"/>
            <a:ext cx="2949375" cy="1788650"/>
          </a:xfrm>
          <a:prstGeom prst="rect">
            <a:avLst/>
          </a:prstGeom>
          <a:noFill/>
          <a:ln>
            <a:noFill/>
          </a:ln>
        </p:spPr>
      </p:pic>
      <p:sp>
        <p:nvSpPr>
          <p:cNvPr id="782" name="Google Shape;782;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graphicFrame>
        <p:nvGraphicFramePr>
          <p:cNvPr id="787" name="Google Shape;787;p9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88" name="Google Shape;788;p9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6.14.2 Poland</a:t>
            </a:r>
            <a:endParaRPr b="1" sz="2800">
              <a:solidFill>
                <a:srgbClr val="424242"/>
              </a:solidFill>
              <a:latin typeface="Times New Roman"/>
              <a:ea typeface="Times New Roman"/>
              <a:cs typeface="Times New Roman"/>
              <a:sym typeface="Times New Roman"/>
            </a:endParaRPr>
          </a:p>
        </p:txBody>
      </p:sp>
      <p:pic>
        <p:nvPicPr>
          <p:cNvPr id="789" name="Google Shape;789;p96"/>
          <p:cNvPicPr preferRelativeResize="0"/>
          <p:nvPr/>
        </p:nvPicPr>
        <p:blipFill>
          <a:blip r:embed="rId3">
            <a:alphaModFix/>
          </a:blip>
          <a:stretch>
            <a:fillRect/>
          </a:stretch>
        </p:blipFill>
        <p:spPr>
          <a:xfrm>
            <a:off x="0" y="999300"/>
            <a:ext cx="6096001" cy="2153882"/>
          </a:xfrm>
          <a:prstGeom prst="rect">
            <a:avLst/>
          </a:prstGeom>
          <a:noFill/>
          <a:ln>
            <a:noFill/>
          </a:ln>
        </p:spPr>
      </p:pic>
      <p:pic>
        <p:nvPicPr>
          <p:cNvPr id="790" name="Google Shape;790;p96"/>
          <p:cNvPicPr preferRelativeResize="0"/>
          <p:nvPr/>
        </p:nvPicPr>
        <p:blipFill>
          <a:blip r:embed="rId4">
            <a:alphaModFix/>
          </a:blip>
          <a:stretch>
            <a:fillRect/>
          </a:stretch>
        </p:blipFill>
        <p:spPr>
          <a:xfrm>
            <a:off x="0" y="3180300"/>
            <a:ext cx="6096001" cy="1990325"/>
          </a:xfrm>
          <a:prstGeom prst="rect">
            <a:avLst/>
          </a:prstGeom>
          <a:noFill/>
          <a:ln>
            <a:noFill/>
          </a:ln>
        </p:spPr>
      </p:pic>
      <p:pic>
        <p:nvPicPr>
          <p:cNvPr id="791" name="Google Shape;791;p96"/>
          <p:cNvPicPr preferRelativeResize="0"/>
          <p:nvPr/>
        </p:nvPicPr>
        <p:blipFill rotWithShape="1">
          <a:blip r:embed="rId5">
            <a:alphaModFix/>
          </a:blip>
          <a:srcRect b="1186" l="0" r="0" t="0"/>
          <a:stretch/>
        </p:blipFill>
        <p:spPr>
          <a:xfrm>
            <a:off x="6096000" y="1075600"/>
            <a:ext cx="3048000" cy="4095025"/>
          </a:xfrm>
          <a:prstGeom prst="rect">
            <a:avLst/>
          </a:prstGeom>
          <a:noFill/>
          <a:ln>
            <a:noFill/>
          </a:ln>
        </p:spPr>
      </p:pic>
      <p:sp>
        <p:nvSpPr>
          <p:cNvPr id="792" name="Google Shape;792;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graphicFrame>
        <p:nvGraphicFramePr>
          <p:cNvPr id="797" name="Google Shape;797;p9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98" name="Google Shape;798;p9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6.14.3 Poland</a:t>
            </a:r>
            <a:endParaRPr b="1" sz="2800">
              <a:solidFill>
                <a:srgbClr val="424242"/>
              </a:solidFill>
              <a:latin typeface="Times New Roman"/>
              <a:ea typeface="Times New Roman"/>
              <a:cs typeface="Times New Roman"/>
              <a:sym typeface="Times New Roman"/>
            </a:endParaRPr>
          </a:p>
        </p:txBody>
      </p:sp>
      <p:pic>
        <p:nvPicPr>
          <p:cNvPr id="799" name="Google Shape;799;p97"/>
          <p:cNvPicPr preferRelativeResize="0"/>
          <p:nvPr/>
        </p:nvPicPr>
        <p:blipFill>
          <a:blip r:embed="rId3">
            <a:alphaModFix/>
          </a:blip>
          <a:stretch>
            <a:fillRect/>
          </a:stretch>
        </p:blipFill>
        <p:spPr>
          <a:xfrm>
            <a:off x="0" y="999300"/>
            <a:ext cx="3969332" cy="2044325"/>
          </a:xfrm>
          <a:prstGeom prst="rect">
            <a:avLst/>
          </a:prstGeom>
          <a:noFill/>
          <a:ln>
            <a:noFill/>
          </a:ln>
        </p:spPr>
      </p:pic>
      <p:pic>
        <p:nvPicPr>
          <p:cNvPr id="800" name="Google Shape;800;p97"/>
          <p:cNvPicPr preferRelativeResize="0"/>
          <p:nvPr/>
        </p:nvPicPr>
        <p:blipFill rotWithShape="1">
          <a:blip r:embed="rId4">
            <a:alphaModFix/>
          </a:blip>
          <a:srcRect b="1942" l="0" r="0" t="0"/>
          <a:stretch/>
        </p:blipFill>
        <p:spPr>
          <a:xfrm>
            <a:off x="0" y="3043625"/>
            <a:ext cx="4216349" cy="2099875"/>
          </a:xfrm>
          <a:prstGeom prst="rect">
            <a:avLst/>
          </a:prstGeom>
          <a:noFill/>
          <a:ln>
            <a:noFill/>
          </a:ln>
        </p:spPr>
      </p:pic>
      <p:sp>
        <p:nvSpPr>
          <p:cNvPr id="801" name="Google Shape;801;p97"/>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802" name="Google Shape;802;p97"/>
          <p:cNvPicPr preferRelativeResize="0"/>
          <p:nvPr/>
        </p:nvPicPr>
        <p:blipFill rotWithShape="1">
          <a:blip r:embed="rId5">
            <a:alphaModFix/>
          </a:blip>
          <a:srcRect b="0" l="0" r="12381" t="0"/>
          <a:stretch/>
        </p:blipFill>
        <p:spPr>
          <a:xfrm>
            <a:off x="3969325" y="1722961"/>
            <a:ext cx="5174674" cy="2362389"/>
          </a:xfrm>
          <a:prstGeom prst="rect">
            <a:avLst/>
          </a:prstGeom>
          <a:noFill/>
          <a:ln>
            <a:noFill/>
          </a:ln>
        </p:spPr>
      </p:pic>
      <p:sp>
        <p:nvSpPr>
          <p:cNvPr id="803" name="Google Shape;803;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graphicFrame>
        <p:nvGraphicFramePr>
          <p:cNvPr id="808" name="Google Shape;808;p9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226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240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6%</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809" name="Google Shape;809;p9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6.15.1 Portugal</a:t>
            </a:r>
            <a:endParaRPr b="1" sz="2800">
              <a:solidFill>
                <a:srgbClr val="424242"/>
              </a:solidFill>
              <a:latin typeface="Times New Roman"/>
              <a:ea typeface="Times New Roman"/>
              <a:cs typeface="Times New Roman"/>
              <a:sym typeface="Times New Roman"/>
            </a:endParaRPr>
          </a:p>
        </p:txBody>
      </p:sp>
      <p:pic>
        <p:nvPicPr>
          <p:cNvPr id="810" name="Google Shape;810;p98"/>
          <p:cNvPicPr preferRelativeResize="0"/>
          <p:nvPr/>
        </p:nvPicPr>
        <p:blipFill>
          <a:blip r:embed="rId3">
            <a:alphaModFix/>
          </a:blip>
          <a:stretch>
            <a:fillRect/>
          </a:stretch>
        </p:blipFill>
        <p:spPr>
          <a:xfrm>
            <a:off x="0" y="1072912"/>
            <a:ext cx="3048000" cy="1851263"/>
          </a:xfrm>
          <a:prstGeom prst="rect">
            <a:avLst/>
          </a:prstGeom>
          <a:noFill/>
          <a:ln>
            <a:noFill/>
          </a:ln>
        </p:spPr>
      </p:pic>
      <p:pic>
        <p:nvPicPr>
          <p:cNvPr id="811" name="Google Shape;811;p98"/>
          <p:cNvPicPr preferRelativeResize="0"/>
          <p:nvPr/>
        </p:nvPicPr>
        <p:blipFill>
          <a:blip r:embed="rId4">
            <a:alphaModFix/>
          </a:blip>
          <a:stretch>
            <a:fillRect/>
          </a:stretch>
        </p:blipFill>
        <p:spPr>
          <a:xfrm>
            <a:off x="1173100" y="3305700"/>
            <a:ext cx="3813074" cy="1851275"/>
          </a:xfrm>
          <a:prstGeom prst="rect">
            <a:avLst/>
          </a:prstGeom>
          <a:noFill/>
          <a:ln>
            <a:noFill/>
          </a:ln>
        </p:spPr>
      </p:pic>
      <p:pic>
        <p:nvPicPr>
          <p:cNvPr id="812" name="Google Shape;812;p98"/>
          <p:cNvPicPr preferRelativeResize="0"/>
          <p:nvPr/>
        </p:nvPicPr>
        <p:blipFill>
          <a:blip r:embed="rId5">
            <a:alphaModFix/>
          </a:blip>
          <a:stretch>
            <a:fillRect/>
          </a:stretch>
        </p:blipFill>
        <p:spPr>
          <a:xfrm>
            <a:off x="3048000" y="1044175"/>
            <a:ext cx="3052643" cy="1851275"/>
          </a:xfrm>
          <a:prstGeom prst="rect">
            <a:avLst/>
          </a:prstGeom>
          <a:noFill/>
          <a:ln>
            <a:noFill/>
          </a:ln>
        </p:spPr>
      </p:pic>
      <p:sp>
        <p:nvSpPr>
          <p:cNvPr id="813" name="Google Shape;813;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graphicFrame>
        <p:nvGraphicFramePr>
          <p:cNvPr id="818" name="Google Shape;818;p9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19" name="Google Shape;819;p9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6.15.2 Portugal</a:t>
            </a:r>
            <a:endParaRPr b="1" sz="2800">
              <a:solidFill>
                <a:srgbClr val="424242"/>
              </a:solidFill>
              <a:latin typeface="Times New Roman"/>
              <a:ea typeface="Times New Roman"/>
              <a:cs typeface="Times New Roman"/>
              <a:sym typeface="Times New Roman"/>
            </a:endParaRPr>
          </a:p>
        </p:txBody>
      </p:sp>
      <p:pic>
        <p:nvPicPr>
          <p:cNvPr id="820" name="Google Shape;820;p99"/>
          <p:cNvPicPr preferRelativeResize="0"/>
          <p:nvPr/>
        </p:nvPicPr>
        <p:blipFill>
          <a:blip r:embed="rId3">
            <a:alphaModFix/>
          </a:blip>
          <a:stretch>
            <a:fillRect/>
          </a:stretch>
        </p:blipFill>
        <p:spPr>
          <a:xfrm>
            <a:off x="0" y="999300"/>
            <a:ext cx="6096001" cy="2181000"/>
          </a:xfrm>
          <a:prstGeom prst="rect">
            <a:avLst/>
          </a:prstGeom>
          <a:noFill/>
          <a:ln>
            <a:noFill/>
          </a:ln>
        </p:spPr>
      </p:pic>
      <p:pic>
        <p:nvPicPr>
          <p:cNvPr id="821" name="Google Shape;821;p99"/>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822" name="Google Shape;822;p99"/>
          <p:cNvPicPr preferRelativeResize="0"/>
          <p:nvPr/>
        </p:nvPicPr>
        <p:blipFill rotWithShape="1">
          <a:blip r:embed="rId5">
            <a:alphaModFix/>
          </a:blip>
          <a:srcRect b="0" l="2306" r="0" t="1536"/>
          <a:stretch/>
        </p:blipFill>
        <p:spPr>
          <a:xfrm>
            <a:off x="6166225" y="1062800"/>
            <a:ext cx="2977775" cy="4080700"/>
          </a:xfrm>
          <a:prstGeom prst="rect">
            <a:avLst/>
          </a:prstGeom>
          <a:noFill/>
          <a:ln>
            <a:noFill/>
          </a:ln>
        </p:spPr>
      </p:pic>
      <p:sp>
        <p:nvSpPr>
          <p:cNvPr id="823" name="Google Shape;823;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graphicFrame>
        <p:nvGraphicFramePr>
          <p:cNvPr id="828" name="Google Shape;828;p10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29" name="Google Shape;829;p10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6.15.3 Portugal</a:t>
            </a:r>
            <a:endParaRPr b="1" sz="2800">
              <a:solidFill>
                <a:srgbClr val="424242"/>
              </a:solidFill>
              <a:latin typeface="Times New Roman"/>
              <a:ea typeface="Times New Roman"/>
              <a:cs typeface="Times New Roman"/>
              <a:sym typeface="Times New Roman"/>
            </a:endParaRPr>
          </a:p>
        </p:txBody>
      </p:sp>
      <p:pic>
        <p:nvPicPr>
          <p:cNvPr id="830" name="Google Shape;830;p100"/>
          <p:cNvPicPr preferRelativeResize="0"/>
          <p:nvPr/>
        </p:nvPicPr>
        <p:blipFill>
          <a:blip r:embed="rId3">
            <a:alphaModFix/>
          </a:blip>
          <a:stretch>
            <a:fillRect/>
          </a:stretch>
        </p:blipFill>
        <p:spPr>
          <a:xfrm>
            <a:off x="0" y="999300"/>
            <a:ext cx="4073450" cy="2044325"/>
          </a:xfrm>
          <a:prstGeom prst="rect">
            <a:avLst/>
          </a:prstGeom>
          <a:noFill/>
          <a:ln>
            <a:noFill/>
          </a:ln>
        </p:spPr>
      </p:pic>
      <p:pic>
        <p:nvPicPr>
          <p:cNvPr id="831" name="Google Shape;831;p100"/>
          <p:cNvPicPr preferRelativeResize="0"/>
          <p:nvPr/>
        </p:nvPicPr>
        <p:blipFill>
          <a:blip r:embed="rId4">
            <a:alphaModFix/>
          </a:blip>
          <a:stretch>
            <a:fillRect/>
          </a:stretch>
        </p:blipFill>
        <p:spPr>
          <a:xfrm>
            <a:off x="0" y="3043625"/>
            <a:ext cx="4129754" cy="2099875"/>
          </a:xfrm>
          <a:prstGeom prst="rect">
            <a:avLst/>
          </a:prstGeom>
          <a:noFill/>
          <a:ln>
            <a:noFill/>
          </a:ln>
        </p:spPr>
      </p:pic>
      <p:sp>
        <p:nvSpPr>
          <p:cNvPr id="832" name="Google Shape;832;p100"/>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833" name="Google Shape;833;p100"/>
          <p:cNvPicPr preferRelativeResize="0"/>
          <p:nvPr/>
        </p:nvPicPr>
        <p:blipFill rotWithShape="1">
          <a:blip r:embed="rId5">
            <a:alphaModFix/>
          </a:blip>
          <a:srcRect b="0" l="0" r="12519" t="0"/>
          <a:stretch/>
        </p:blipFill>
        <p:spPr>
          <a:xfrm>
            <a:off x="4450075" y="1998298"/>
            <a:ext cx="4693924" cy="2146199"/>
          </a:xfrm>
          <a:prstGeom prst="rect">
            <a:avLst/>
          </a:prstGeom>
          <a:noFill/>
          <a:ln>
            <a:noFill/>
          </a:ln>
        </p:spPr>
      </p:pic>
      <p:sp>
        <p:nvSpPr>
          <p:cNvPr id="834" name="Google Shape;834;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graphicFrame>
        <p:nvGraphicFramePr>
          <p:cNvPr id="839" name="Google Shape;839;p10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746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786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840" name="Google Shape;840;p10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6.16.1 Saudi Arabia</a:t>
            </a:r>
            <a:endParaRPr b="1" sz="2800">
              <a:solidFill>
                <a:srgbClr val="424242"/>
              </a:solidFill>
              <a:latin typeface="Times New Roman"/>
              <a:ea typeface="Times New Roman"/>
              <a:cs typeface="Times New Roman"/>
              <a:sym typeface="Times New Roman"/>
            </a:endParaRPr>
          </a:p>
        </p:txBody>
      </p:sp>
      <p:pic>
        <p:nvPicPr>
          <p:cNvPr id="841" name="Google Shape;841;p101"/>
          <p:cNvPicPr preferRelativeResize="0"/>
          <p:nvPr/>
        </p:nvPicPr>
        <p:blipFill>
          <a:blip r:embed="rId3">
            <a:alphaModFix/>
          </a:blip>
          <a:stretch>
            <a:fillRect/>
          </a:stretch>
        </p:blipFill>
        <p:spPr>
          <a:xfrm>
            <a:off x="0" y="1050225"/>
            <a:ext cx="2962650" cy="1959675"/>
          </a:xfrm>
          <a:prstGeom prst="rect">
            <a:avLst/>
          </a:prstGeom>
          <a:noFill/>
          <a:ln>
            <a:noFill/>
          </a:ln>
        </p:spPr>
      </p:pic>
      <p:pic>
        <p:nvPicPr>
          <p:cNvPr id="842" name="Google Shape;842;p101"/>
          <p:cNvPicPr preferRelativeResize="0"/>
          <p:nvPr/>
        </p:nvPicPr>
        <p:blipFill>
          <a:blip r:embed="rId4">
            <a:alphaModFix/>
          </a:blip>
          <a:stretch>
            <a:fillRect/>
          </a:stretch>
        </p:blipFill>
        <p:spPr>
          <a:xfrm>
            <a:off x="1110300" y="3305697"/>
            <a:ext cx="3800483" cy="1837825"/>
          </a:xfrm>
          <a:prstGeom prst="rect">
            <a:avLst/>
          </a:prstGeom>
          <a:noFill/>
          <a:ln>
            <a:noFill/>
          </a:ln>
        </p:spPr>
      </p:pic>
      <p:pic>
        <p:nvPicPr>
          <p:cNvPr id="843" name="Google Shape;843;p101"/>
          <p:cNvPicPr preferRelativeResize="0"/>
          <p:nvPr/>
        </p:nvPicPr>
        <p:blipFill>
          <a:blip r:embed="rId5">
            <a:alphaModFix/>
          </a:blip>
          <a:stretch>
            <a:fillRect/>
          </a:stretch>
        </p:blipFill>
        <p:spPr>
          <a:xfrm>
            <a:off x="3048000" y="1059250"/>
            <a:ext cx="3012635" cy="1959675"/>
          </a:xfrm>
          <a:prstGeom prst="rect">
            <a:avLst/>
          </a:prstGeom>
          <a:noFill/>
          <a:ln>
            <a:noFill/>
          </a:ln>
        </p:spPr>
      </p:pic>
      <p:sp>
        <p:nvSpPr>
          <p:cNvPr id="844" name="Google Shape;844;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graphicFrame>
        <p:nvGraphicFramePr>
          <p:cNvPr id="849" name="Google Shape;849;p10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50" name="Google Shape;850;p10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6.16.2 Saudi Arabia</a:t>
            </a:r>
            <a:endParaRPr b="1" sz="2800">
              <a:solidFill>
                <a:srgbClr val="424242"/>
              </a:solidFill>
              <a:latin typeface="Times New Roman"/>
              <a:ea typeface="Times New Roman"/>
              <a:cs typeface="Times New Roman"/>
              <a:sym typeface="Times New Roman"/>
            </a:endParaRPr>
          </a:p>
        </p:txBody>
      </p:sp>
      <p:pic>
        <p:nvPicPr>
          <p:cNvPr id="851" name="Google Shape;851;p102"/>
          <p:cNvPicPr preferRelativeResize="0"/>
          <p:nvPr/>
        </p:nvPicPr>
        <p:blipFill>
          <a:blip r:embed="rId3">
            <a:alphaModFix/>
          </a:blip>
          <a:stretch>
            <a:fillRect/>
          </a:stretch>
        </p:blipFill>
        <p:spPr>
          <a:xfrm>
            <a:off x="0" y="1026426"/>
            <a:ext cx="6096001" cy="2153874"/>
          </a:xfrm>
          <a:prstGeom prst="rect">
            <a:avLst/>
          </a:prstGeom>
          <a:noFill/>
          <a:ln>
            <a:noFill/>
          </a:ln>
        </p:spPr>
      </p:pic>
      <p:pic>
        <p:nvPicPr>
          <p:cNvPr id="852" name="Google Shape;852;p102"/>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853" name="Google Shape;853;p102"/>
          <p:cNvPicPr preferRelativeResize="0"/>
          <p:nvPr/>
        </p:nvPicPr>
        <p:blipFill rotWithShape="1">
          <a:blip r:embed="rId5">
            <a:alphaModFix/>
          </a:blip>
          <a:srcRect b="0" l="5429" r="1918" t="0"/>
          <a:stretch/>
        </p:blipFill>
        <p:spPr>
          <a:xfrm>
            <a:off x="6281125" y="975250"/>
            <a:ext cx="2776700" cy="4192300"/>
          </a:xfrm>
          <a:prstGeom prst="rect">
            <a:avLst/>
          </a:prstGeom>
          <a:noFill/>
          <a:ln>
            <a:noFill/>
          </a:ln>
        </p:spPr>
      </p:pic>
      <p:sp>
        <p:nvSpPr>
          <p:cNvPr id="854" name="Google Shape;854;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graphicFrame>
        <p:nvGraphicFramePr>
          <p:cNvPr id="859" name="Google Shape;859;p10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60" name="Google Shape;860;p10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6.16.3 Saudi Arabia</a:t>
            </a:r>
            <a:endParaRPr b="1" sz="2800">
              <a:solidFill>
                <a:srgbClr val="424242"/>
              </a:solidFill>
              <a:latin typeface="Times New Roman"/>
              <a:ea typeface="Times New Roman"/>
              <a:cs typeface="Times New Roman"/>
              <a:sym typeface="Times New Roman"/>
            </a:endParaRPr>
          </a:p>
        </p:txBody>
      </p:sp>
      <p:pic>
        <p:nvPicPr>
          <p:cNvPr id="861" name="Google Shape;861;p103"/>
          <p:cNvPicPr preferRelativeResize="0"/>
          <p:nvPr/>
        </p:nvPicPr>
        <p:blipFill rotWithShape="1">
          <a:blip r:embed="rId3">
            <a:alphaModFix/>
          </a:blip>
          <a:srcRect b="1913" l="0" r="0" t="0"/>
          <a:stretch/>
        </p:blipFill>
        <p:spPr>
          <a:xfrm>
            <a:off x="0" y="999300"/>
            <a:ext cx="4132614" cy="2044325"/>
          </a:xfrm>
          <a:prstGeom prst="rect">
            <a:avLst/>
          </a:prstGeom>
          <a:noFill/>
          <a:ln>
            <a:noFill/>
          </a:ln>
        </p:spPr>
      </p:pic>
      <p:pic>
        <p:nvPicPr>
          <p:cNvPr id="862" name="Google Shape;862;p103"/>
          <p:cNvPicPr preferRelativeResize="0"/>
          <p:nvPr/>
        </p:nvPicPr>
        <p:blipFill>
          <a:blip r:embed="rId4">
            <a:alphaModFix/>
          </a:blip>
          <a:stretch>
            <a:fillRect/>
          </a:stretch>
        </p:blipFill>
        <p:spPr>
          <a:xfrm>
            <a:off x="0" y="3043625"/>
            <a:ext cx="4207118" cy="2099875"/>
          </a:xfrm>
          <a:prstGeom prst="rect">
            <a:avLst/>
          </a:prstGeom>
          <a:noFill/>
          <a:ln>
            <a:noFill/>
          </a:ln>
        </p:spPr>
      </p:pic>
      <p:sp>
        <p:nvSpPr>
          <p:cNvPr id="863" name="Google Shape;863;p103"/>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864" name="Google Shape;864;p103"/>
          <p:cNvPicPr preferRelativeResize="0"/>
          <p:nvPr/>
        </p:nvPicPr>
        <p:blipFill rotWithShape="1">
          <a:blip r:embed="rId5">
            <a:alphaModFix/>
          </a:blip>
          <a:srcRect b="0" l="0" r="12557" t="0"/>
          <a:stretch/>
        </p:blipFill>
        <p:spPr>
          <a:xfrm>
            <a:off x="4132625" y="1933205"/>
            <a:ext cx="4976351" cy="2276382"/>
          </a:xfrm>
          <a:prstGeom prst="rect">
            <a:avLst/>
          </a:prstGeom>
          <a:noFill/>
          <a:ln>
            <a:noFill/>
          </a:ln>
        </p:spPr>
      </p:pic>
      <p:sp>
        <p:nvSpPr>
          <p:cNvPr id="865" name="Google Shape;865;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graphicFrame>
        <p:nvGraphicFramePr>
          <p:cNvPr id="870" name="Google Shape;870;p10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307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364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18%</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871" name="Google Shape;871;p10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6.17.1 Singapore</a:t>
            </a:r>
            <a:endParaRPr b="1" sz="2800">
              <a:solidFill>
                <a:srgbClr val="424242"/>
              </a:solidFill>
              <a:latin typeface="Times New Roman"/>
              <a:ea typeface="Times New Roman"/>
              <a:cs typeface="Times New Roman"/>
              <a:sym typeface="Times New Roman"/>
            </a:endParaRPr>
          </a:p>
        </p:txBody>
      </p:sp>
      <p:pic>
        <p:nvPicPr>
          <p:cNvPr id="872" name="Google Shape;872;p104"/>
          <p:cNvPicPr preferRelativeResize="0"/>
          <p:nvPr/>
        </p:nvPicPr>
        <p:blipFill>
          <a:blip r:embed="rId3">
            <a:alphaModFix/>
          </a:blip>
          <a:stretch>
            <a:fillRect/>
          </a:stretch>
        </p:blipFill>
        <p:spPr>
          <a:xfrm>
            <a:off x="0" y="1043997"/>
            <a:ext cx="3048000" cy="1642053"/>
          </a:xfrm>
          <a:prstGeom prst="rect">
            <a:avLst/>
          </a:prstGeom>
          <a:noFill/>
          <a:ln>
            <a:noFill/>
          </a:ln>
        </p:spPr>
      </p:pic>
      <p:pic>
        <p:nvPicPr>
          <p:cNvPr id="873" name="Google Shape;873;p104"/>
          <p:cNvPicPr preferRelativeResize="0"/>
          <p:nvPr/>
        </p:nvPicPr>
        <p:blipFill>
          <a:blip r:embed="rId4">
            <a:alphaModFix/>
          </a:blip>
          <a:stretch>
            <a:fillRect/>
          </a:stretch>
        </p:blipFill>
        <p:spPr>
          <a:xfrm>
            <a:off x="1208975" y="3305700"/>
            <a:ext cx="3689365" cy="1837825"/>
          </a:xfrm>
          <a:prstGeom prst="rect">
            <a:avLst/>
          </a:prstGeom>
          <a:noFill/>
          <a:ln>
            <a:noFill/>
          </a:ln>
        </p:spPr>
      </p:pic>
      <p:pic>
        <p:nvPicPr>
          <p:cNvPr id="874" name="Google Shape;874;p104"/>
          <p:cNvPicPr preferRelativeResize="0"/>
          <p:nvPr/>
        </p:nvPicPr>
        <p:blipFill>
          <a:blip r:embed="rId5">
            <a:alphaModFix/>
          </a:blip>
          <a:stretch>
            <a:fillRect/>
          </a:stretch>
        </p:blipFill>
        <p:spPr>
          <a:xfrm>
            <a:off x="3048000" y="1046825"/>
            <a:ext cx="3048000" cy="1878767"/>
          </a:xfrm>
          <a:prstGeom prst="rect">
            <a:avLst/>
          </a:prstGeom>
          <a:noFill/>
          <a:ln>
            <a:noFill/>
          </a:ln>
        </p:spPr>
      </p:pic>
      <p:sp>
        <p:nvSpPr>
          <p:cNvPr id="875" name="Google Shape;875;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graphicFrame>
        <p:nvGraphicFramePr>
          <p:cNvPr id="880" name="Google Shape;880;p10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81" name="Google Shape;881;p10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6.17.2 Singapore</a:t>
            </a:r>
            <a:endParaRPr b="1" sz="2800">
              <a:solidFill>
                <a:srgbClr val="424242"/>
              </a:solidFill>
              <a:latin typeface="Times New Roman"/>
              <a:ea typeface="Times New Roman"/>
              <a:cs typeface="Times New Roman"/>
              <a:sym typeface="Times New Roman"/>
            </a:endParaRPr>
          </a:p>
        </p:txBody>
      </p:sp>
      <p:pic>
        <p:nvPicPr>
          <p:cNvPr id="882" name="Google Shape;882;p105"/>
          <p:cNvPicPr preferRelativeResize="0"/>
          <p:nvPr/>
        </p:nvPicPr>
        <p:blipFill>
          <a:blip r:embed="rId3">
            <a:alphaModFix/>
          </a:blip>
          <a:stretch>
            <a:fillRect/>
          </a:stretch>
        </p:blipFill>
        <p:spPr>
          <a:xfrm>
            <a:off x="0" y="950500"/>
            <a:ext cx="6096001" cy="2229800"/>
          </a:xfrm>
          <a:prstGeom prst="rect">
            <a:avLst/>
          </a:prstGeom>
          <a:noFill/>
          <a:ln>
            <a:noFill/>
          </a:ln>
        </p:spPr>
      </p:pic>
      <p:pic>
        <p:nvPicPr>
          <p:cNvPr id="883" name="Google Shape;883;p105"/>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884" name="Google Shape;884;p105"/>
          <p:cNvPicPr preferRelativeResize="0"/>
          <p:nvPr/>
        </p:nvPicPr>
        <p:blipFill rotWithShape="1">
          <a:blip r:embed="rId5">
            <a:alphaModFix/>
          </a:blip>
          <a:srcRect b="0" l="3251" r="0" t="1536"/>
          <a:stretch/>
        </p:blipFill>
        <p:spPr>
          <a:xfrm>
            <a:off x="6176300" y="1062800"/>
            <a:ext cx="2967700" cy="4080700"/>
          </a:xfrm>
          <a:prstGeom prst="rect">
            <a:avLst/>
          </a:prstGeom>
          <a:noFill/>
          <a:ln>
            <a:noFill/>
          </a:ln>
        </p:spPr>
      </p:pic>
      <p:sp>
        <p:nvSpPr>
          <p:cNvPr id="885" name="Google Shape;885;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graphicFrame>
        <p:nvGraphicFramePr>
          <p:cNvPr id="890" name="Google Shape;890;p10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891" name="Google Shape;891;p10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6.17.3 Singapore</a:t>
            </a:r>
            <a:endParaRPr b="1" sz="2800">
              <a:solidFill>
                <a:srgbClr val="424242"/>
              </a:solidFill>
              <a:latin typeface="Times New Roman"/>
              <a:ea typeface="Times New Roman"/>
              <a:cs typeface="Times New Roman"/>
              <a:sym typeface="Times New Roman"/>
            </a:endParaRPr>
          </a:p>
        </p:txBody>
      </p:sp>
      <p:pic>
        <p:nvPicPr>
          <p:cNvPr id="892" name="Google Shape;892;p106"/>
          <p:cNvPicPr preferRelativeResize="0"/>
          <p:nvPr/>
        </p:nvPicPr>
        <p:blipFill>
          <a:blip r:embed="rId3">
            <a:alphaModFix/>
          </a:blip>
          <a:stretch>
            <a:fillRect/>
          </a:stretch>
        </p:blipFill>
        <p:spPr>
          <a:xfrm>
            <a:off x="0" y="999300"/>
            <a:ext cx="4137714" cy="2044325"/>
          </a:xfrm>
          <a:prstGeom prst="rect">
            <a:avLst/>
          </a:prstGeom>
          <a:noFill/>
          <a:ln>
            <a:noFill/>
          </a:ln>
        </p:spPr>
      </p:pic>
      <p:pic>
        <p:nvPicPr>
          <p:cNvPr id="893" name="Google Shape;893;p106"/>
          <p:cNvPicPr preferRelativeResize="0"/>
          <p:nvPr/>
        </p:nvPicPr>
        <p:blipFill>
          <a:blip r:embed="rId4">
            <a:alphaModFix/>
          </a:blip>
          <a:stretch>
            <a:fillRect/>
          </a:stretch>
        </p:blipFill>
        <p:spPr>
          <a:xfrm>
            <a:off x="0" y="3043625"/>
            <a:ext cx="4191483" cy="2099875"/>
          </a:xfrm>
          <a:prstGeom prst="rect">
            <a:avLst/>
          </a:prstGeom>
          <a:noFill/>
          <a:ln>
            <a:noFill/>
          </a:ln>
        </p:spPr>
      </p:pic>
      <p:sp>
        <p:nvSpPr>
          <p:cNvPr id="894" name="Google Shape;894;p106"/>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895" name="Google Shape;895;p106"/>
          <p:cNvPicPr preferRelativeResize="0"/>
          <p:nvPr/>
        </p:nvPicPr>
        <p:blipFill rotWithShape="1">
          <a:blip r:embed="rId5">
            <a:alphaModFix/>
          </a:blip>
          <a:srcRect b="0" l="0" r="12142" t="0"/>
          <a:stretch/>
        </p:blipFill>
        <p:spPr>
          <a:xfrm>
            <a:off x="4191475" y="1946756"/>
            <a:ext cx="4952526" cy="2249281"/>
          </a:xfrm>
          <a:prstGeom prst="rect">
            <a:avLst/>
          </a:prstGeom>
          <a:noFill/>
          <a:ln>
            <a:noFill/>
          </a:ln>
        </p:spPr>
      </p:pic>
      <p:sp>
        <p:nvSpPr>
          <p:cNvPr id="896" name="Google Shape;896;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graphicFrame>
        <p:nvGraphicFramePr>
          <p:cNvPr id="901" name="Google Shape;901;p10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366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368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0.4%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902" name="Google Shape;902;p10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6.18.1 South Africa</a:t>
            </a:r>
            <a:endParaRPr b="1" sz="2800">
              <a:solidFill>
                <a:srgbClr val="424242"/>
              </a:solidFill>
              <a:latin typeface="Times New Roman"/>
              <a:ea typeface="Times New Roman"/>
              <a:cs typeface="Times New Roman"/>
              <a:sym typeface="Times New Roman"/>
            </a:endParaRPr>
          </a:p>
        </p:txBody>
      </p:sp>
      <p:pic>
        <p:nvPicPr>
          <p:cNvPr id="903" name="Google Shape;903;p107"/>
          <p:cNvPicPr preferRelativeResize="0"/>
          <p:nvPr/>
        </p:nvPicPr>
        <p:blipFill>
          <a:blip r:embed="rId3">
            <a:alphaModFix/>
          </a:blip>
          <a:stretch>
            <a:fillRect/>
          </a:stretch>
        </p:blipFill>
        <p:spPr>
          <a:xfrm>
            <a:off x="0" y="999308"/>
            <a:ext cx="3048000" cy="2116667"/>
          </a:xfrm>
          <a:prstGeom prst="rect">
            <a:avLst/>
          </a:prstGeom>
          <a:noFill/>
          <a:ln>
            <a:noFill/>
          </a:ln>
        </p:spPr>
      </p:pic>
      <p:pic>
        <p:nvPicPr>
          <p:cNvPr id="904" name="Google Shape;904;p107"/>
          <p:cNvPicPr preferRelativeResize="0"/>
          <p:nvPr/>
        </p:nvPicPr>
        <p:blipFill>
          <a:blip r:embed="rId4">
            <a:alphaModFix/>
          </a:blip>
          <a:stretch>
            <a:fillRect/>
          </a:stretch>
        </p:blipFill>
        <p:spPr>
          <a:xfrm>
            <a:off x="1193600" y="3305700"/>
            <a:ext cx="3717105" cy="1837825"/>
          </a:xfrm>
          <a:prstGeom prst="rect">
            <a:avLst/>
          </a:prstGeom>
          <a:noFill/>
          <a:ln>
            <a:noFill/>
          </a:ln>
        </p:spPr>
      </p:pic>
      <p:pic>
        <p:nvPicPr>
          <p:cNvPr id="905" name="Google Shape;905;p107"/>
          <p:cNvPicPr preferRelativeResize="0"/>
          <p:nvPr/>
        </p:nvPicPr>
        <p:blipFill>
          <a:blip r:embed="rId5">
            <a:alphaModFix/>
          </a:blip>
          <a:stretch>
            <a:fillRect/>
          </a:stretch>
        </p:blipFill>
        <p:spPr>
          <a:xfrm>
            <a:off x="3095625" y="1046875"/>
            <a:ext cx="3000375" cy="1967625"/>
          </a:xfrm>
          <a:prstGeom prst="rect">
            <a:avLst/>
          </a:prstGeom>
          <a:noFill/>
          <a:ln>
            <a:noFill/>
          </a:ln>
        </p:spPr>
      </p:pic>
      <p:sp>
        <p:nvSpPr>
          <p:cNvPr id="906" name="Google Shape;906;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graphicFrame>
        <p:nvGraphicFramePr>
          <p:cNvPr id="911" name="Google Shape;911;p10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12" name="Google Shape;912;p10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6.18.2 South Africa</a:t>
            </a:r>
            <a:endParaRPr b="1" sz="2800">
              <a:solidFill>
                <a:srgbClr val="424242"/>
              </a:solidFill>
              <a:latin typeface="Times New Roman"/>
              <a:ea typeface="Times New Roman"/>
              <a:cs typeface="Times New Roman"/>
              <a:sym typeface="Times New Roman"/>
            </a:endParaRPr>
          </a:p>
        </p:txBody>
      </p:sp>
      <p:pic>
        <p:nvPicPr>
          <p:cNvPr id="913" name="Google Shape;913;p108"/>
          <p:cNvPicPr preferRelativeResize="0"/>
          <p:nvPr/>
        </p:nvPicPr>
        <p:blipFill>
          <a:blip r:embed="rId3">
            <a:alphaModFix/>
          </a:blip>
          <a:stretch>
            <a:fillRect/>
          </a:stretch>
        </p:blipFill>
        <p:spPr>
          <a:xfrm>
            <a:off x="0" y="999300"/>
            <a:ext cx="6096001" cy="2181000"/>
          </a:xfrm>
          <a:prstGeom prst="rect">
            <a:avLst/>
          </a:prstGeom>
          <a:noFill/>
          <a:ln>
            <a:noFill/>
          </a:ln>
        </p:spPr>
      </p:pic>
      <p:pic>
        <p:nvPicPr>
          <p:cNvPr id="914" name="Google Shape;914;p108"/>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915" name="Google Shape;915;p108"/>
          <p:cNvPicPr preferRelativeResize="0"/>
          <p:nvPr/>
        </p:nvPicPr>
        <p:blipFill>
          <a:blip r:embed="rId5">
            <a:alphaModFix/>
          </a:blip>
          <a:stretch>
            <a:fillRect/>
          </a:stretch>
        </p:blipFill>
        <p:spPr>
          <a:xfrm>
            <a:off x="6096000" y="999325"/>
            <a:ext cx="3048000" cy="4144175"/>
          </a:xfrm>
          <a:prstGeom prst="rect">
            <a:avLst/>
          </a:prstGeom>
          <a:noFill/>
          <a:ln>
            <a:noFill/>
          </a:ln>
        </p:spPr>
      </p:pic>
      <p:sp>
        <p:nvSpPr>
          <p:cNvPr id="916" name="Google Shape;916;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graphicFrame>
        <p:nvGraphicFramePr>
          <p:cNvPr id="921" name="Google Shape;921;p10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922" name="Google Shape;922;p10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6.18.3 South Africa</a:t>
            </a:r>
            <a:endParaRPr b="1" sz="2800">
              <a:solidFill>
                <a:srgbClr val="424242"/>
              </a:solidFill>
              <a:latin typeface="Times New Roman"/>
              <a:ea typeface="Times New Roman"/>
              <a:cs typeface="Times New Roman"/>
              <a:sym typeface="Times New Roman"/>
            </a:endParaRPr>
          </a:p>
        </p:txBody>
      </p:sp>
      <p:pic>
        <p:nvPicPr>
          <p:cNvPr id="923" name="Google Shape;923;p109"/>
          <p:cNvPicPr preferRelativeResize="0"/>
          <p:nvPr/>
        </p:nvPicPr>
        <p:blipFill>
          <a:blip r:embed="rId3">
            <a:alphaModFix/>
          </a:blip>
          <a:stretch>
            <a:fillRect/>
          </a:stretch>
        </p:blipFill>
        <p:spPr>
          <a:xfrm>
            <a:off x="0" y="999300"/>
            <a:ext cx="4095925" cy="2044325"/>
          </a:xfrm>
          <a:prstGeom prst="rect">
            <a:avLst/>
          </a:prstGeom>
          <a:noFill/>
          <a:ln>
            <a:noFill/>
          </a:ln>
        </p:spPr>
      </p:pic>
      <p:pic>
        <p:nvPicPr>
          <p:cNvPr id="924" name="Google Shape;924;p109"/>
          <p:cNvPicPr preferRelativeResize="0"/>
          <p:nvPr/>
        </p:nvPicPr>
        <p:blipFill>
          <a:blip r:embed="rId4">
            <a:alphaModFix/>
          </a:blip>
          <a:stretch>
            <a:fillRect/>
          </a:stretch>
        </p:blipFill>
        <p:spPr>
          <a:xfrm>
            <a:off x="0" y="3043625"/>
            <a:ext cx="4162518" cy="2099875"/>
          </a:xfrm>
          <a:prstGeom prst="rect">
            <a:avLst/>
          </a:prstGeom>
          <a:noFill/>
          <a:ln>
            <a:noFill/>
          </a:ln>
        </p:spPr>
      </p:pic>
      <p:sp>
        <p:nvSpPr>
          <p:cNvPr id="925" name="Google Shape;925;p109"/>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926" name="Google Shape;926;p109"/>
          <p:cNvPicPr preferRelativeResize="0"/>
          <p:nvPr/>
        </p:nvPicPr>
        <p:blipFill rotWithShape="1">
          <a:blip r:embed="rId5">
            <a:alphaModFix/>
          </a:blip>
          <a:srcRect b="0" l="0" r="12557" t="0"/>
          <a:stretch/>
        </p:blipFill>
        <p:spPr>
          <a:xfrm>
            <a:off x="4095925" y="1856350"/>
            <a:ext cx="5078025" cy="2322900"/>
          </a:xfrm>
          <a:prstGeom prst="rect">
            <a:avLst/>
          </a:prstGeom>
          <a:noFill/>
          <a:ln>
            <a:noFill/>
          </a:ln>
        </p:spPr>
      </p:pic>
      <p:sp>
        <p:nvSpPr>
          <p:cNvPr id="927" name="Google Shape;927;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graphicFrame>
        <p:nvGraphicFramePr>
          <p:cNvPr id="932" name="Google Shape;932;p11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1.3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1.6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933" name="Google Shape;933;p11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6.19.1 South Korea</a:t>
            </a:r>
            <a:endParaRPr b="1" sz="2800">
              <a:solidFill>
                <a:srgbClr val="424242"/>
              </a:solidFill>
              <a:latin typeface="Times New Roman"/>
              <a:ea typeface="Times New Roman"/>
              <a:cs typeface="Times New Roman"/>
              <a:sym typeface="Times New Roman"/>
            </a:endParaRPr>
          </a:p>
        </p:txBody>
      </p:sp>
      <p:pic>
        <p:nvPicPr>
          <p:cNvPr id="934" name="Google Shape;934;p110"/>
          <p:cNvPicPr preferRelativeResize="0"/>
          <p:nvPr/>
        </p:nvPicPr>
        <p:blipFill>
          <a:blip r:embed="rId3">
            <a:alphaModFix/>
          </a:blip>
          <a:stretch>
            <a:fillRect/>
          </a:stretch>
        </p:blipFill>
        <p:spPr>
          <a:xfrm>
            <a:off x="0" y="1004300"/>
            <a:ext cx="3048001" cy="1731700"/>
          </a:xfrm>
          <a:prstGeom prst="rect">
            <a:avLst/>
          </a:prstGeom>
          <a:noFill/>
          <a:ln>
            <a:noFill/>
          </a:ln>
        </p:spPr>
      </p:pic>
      <p:pic>
        <p:nvPicPr>
          <p:cNvPr id="935" name="Google Shape;935;p110"/>
          <p:cNvPicPr preferRelativeResize="0"/>
          <p:nvPr/>
        </p:nvPicPr>
        <p:blipFill>
          <a:blip r:embed="rId4">
            <a:alphaModFix/>
          </a:blip>
          <a:stretch>
            <a:fillRect/>
          </a:stretch>
        </p:blipFill>
        <p:spPr>
          <a:xfrm>
            <a:off x="1170175" y="3305700"/>
            <a:ext cx="3648219" cy="1837825"/>
          </a:xfrm>
          <a:prstGeom prst="rect">
            <a:avLst/>
          </a:prstGeom>
          <a:noFill/>
          <a:ln>
            <a:noFill/>
          </a:ln>
        </p:spPr>
      </p:pic>
      <p:pic>
        <p:nvPicPr>
          <p:cNvPr id="936" name="Google Shape;936;p110"/>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937" name="Google Shape;937;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graphicFrame>
        <p:nvGraphicFramePr>
          <p:cNvPr id="942" name="Google Shape;942;p11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43" name="Google Shape;943;p11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6.19.2 South Korea</a:t>
            </a:r>
            <a:endParaRPr b="1" sz="2800">
              <a:solidFill>
                <a:srgbClr val="424242"/>
              </a:solidFill>
              <a:latin typeface="Times New Roman"/>
              <a:ea typeface="Times New Roman"/>
              <a:cs typeface="Times New Roman"/>
              <a:sym typeface="Times New Roman"/>
            </a:endParaRPr>
          </a:p>
        </p:txBody>
      </p:sp>
      <p:pic>
        <p:nvPicPr>
          <p:cNvPr id="944" name="Google Shape;944;p111"/>
          <p:cNvPicPr preferRelativeResize="0"/>
          <p:nvPr/>
        </p:nvPicPr>
        <p:blipFill>
          <a:blip r:embed="rId3">
            <a:alphaModFix/>
          </a:blip>
          <a:stretch>
            <a:fillRect/>
          </a:stretch>
        </p:blipFill>
        <p:spPr>
          <a:xfrm>
            <a:off x="-11575" y="3180300"/>
            <a:ext cx="6107575" cy="1963200"/>
          </a:xfrm>
          <a:prstGeom prst="rect">
            <a:avLst/>
          </a:prstGeom>
          <a:noFill/>
          <a:ln>
            <a:noFill/>
          </a:ln>
        </p:spPr>
      </p:pic>
      <p:pic>
        <p:nvPicPr>
          <p:cNvPr id="945" name="Google Shape;945;p111"/>
          <p:cNvPicPr preferRelativeResize="0"/>
          <p:nvPr/>
        </p:nvPicPr>
        <p:blipFill>
          <a:blip r:embed="rId4">
            <a:alphaModFix/>
          </a:blip>
          <a:stretch>
            <a:fillRect/>
          </a:stretch>
        </p:blipFill>
        <p:spPr>
          <a:xfrm>
            <a:off x="0" y="1014400"/>
            <a:ext cx="6073793" cy="2165900"/>
          </a:xfrm>
          <a:prstGeom prst="rect">
            <a:avLst/>
          </a:prstGeom>
          <a:noFill/>
          <a:ln>
            <a:noFill/>
          </a:ln>
        </p:spPr>
      </p:pic>
      <p:pic>
        <p:nvPicPr>
          <p:cNvPr id="946" name="Google Shape;946;p111"/>
          <p:cNvPicPr preferRelativeResize="0"/>
          <p:nvPr/>
        </p:nvPicPr>
        <p:blipFill>
          <a:blip r:embed="rId5">
            <a:alphaModFix/>
          </a:blip>
          <a:stretch>
            <a:fillRect/>
          </a:stretch>
        </p:blipFill>
        <p:spPr>
          <a:xfrm>
            <a:off x="6096000" y="1014400"/>
            <a:ext cx="3048000" cy="4129100"/>
          </a:xfrm>
          <a:prstGeom prst="rect">
            <a:avLst/>
          </a:prstGeom>
          <a:noFill/>
          <a:ln>
            <a:noFill/>
          </a:ln>
        </p:spPr>
      </p:pic>
      <p:sp>
        <p:nvSpPr>
          <p:cNvPr id="947" name="Google Shape;947;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graphicFrame>
        <p:nvGraphicFramePr>
          <p:cNvPr id="952" name="Google Shape;952;p11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53" name="Google Shape;953;p11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6.19.3 South Korea</a:t>
            </a:r>
            <a:endParaRPr b="1" sz="2800">
              <a:solidFill>
                <a:srgbClr val="424242"/>
              </a:solidFill>
              <a:latin typeface="Times New Roman"/>
              <a:ea typeface="Times New Roman"/>
              <a:cs typeface="Times New Roman"/>
              <a:sym typeface="Times New Roman"/>
            </a:endParaRPr>
          </a:p>
        </p:txBody>
      </p:sp>
      <p:pic>
        <p:nvPicPr>
          <p:cNvPr id="954" name="Google Shape;954;p112"/>
          <p:cNvPicPr preferRelativeResize="0"/>
          <p:nvPr/>
        </p:nvPicPr>
        <p:blipFill>
          <a:blip r:embed="rId3">
            <a:alphaModFix/>
          </a:blip>
          <a:stretch>
            <a:fillRect/>
          </a:stretch>
        </p:blipFill>
        <p:spPr>
          <a:xfrm>
            <a:off x="0" y="999300"/>
            <a:ext cx="3854117" cy="2048700"/>
          </a:xfrm>
          <a:prstGeom prst="rect">
            <a:avLst/>
          </a:prstGeom>
          <a:noFill/>
          <a:ln>
            <a:noFill/>
          </a:ln>
        </p:spPr>
      </p:pic>
      <p:pic>
        <p:nvPicPr>
          <p:cNvPr id="955" name="Google Shape;955;p112"/>
          <p:cNvPicPr preferRelativeResize="0"/>
          <p:nvPr/>
        </p:nvPicPr>
        <p:blipFill>
          <a:blip r:embed="rId4">
            <a:alphaModFix/>
          </a:blip>
          <a:stretch>
            <a:fillRect/>
          </a:stretch>
        </p:blipFill>
        <p:spPr>
          <a:xfrm>
            <a:off x="0" y="3048000"/>
            <a:ext cx="4149642" cy="2095500"/>
          </a:xfrm>
          <a:prstGeom prst="rect">
            <a:avLst/>
          </a:prstGeom>
          <a:noFill/>
          <a:ln>
            <a:noFill/>
          </a:ln>
        </p:spPr>
      </p:pic>
      <p:sp>
        <p:nvSpPr>
          <p:cNvPr id="956" name="Google Shape;956;p112"/>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957" name="Google Shape;957;p112"/>
          <p:cNvPicPr preferRelativeResize="0"/>
          <p:nvPr/>
        </p:nvPicPr>
        <p:blipFill rotWithShape="1">
          <a:blip r:embed="rId5">
            <a:alphaModFix/>
          </a:blip>
          <a:srcRect b="0" l="0" r="12557" t="0"/>
          <a:stretch/>
        </p:blipFill>
        <p:spPr>
          <a:xfrm>
            <a:off x="4149650" y="1933475"/>
            <a:ext cx="4975174" cy="2275849"/>
          </a:xfrm>
          <a:prstGeom prst="rect">
            <a:avLst/>
          </a:prstGeom>
          <a:noFill/>
          <a:ln>
            <a:noFill/>
          </a:ln>
        </p:spPr>
      </p:pic>
      <p:sp>
        <p:nvSpPr>
          <p:cNvPr id="958" name="Google Shape;958;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graphicFrame>
        <p:nvGraphicFramePr>
          <p:cNvPr id="963" name="Google Shape;963;p11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1.35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1.42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4.7%</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964" name="Google Shape;964;p11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6.20.1 Spain</a:t>
            </a:r>
            <a:endParaRPr b="1" sz="2800">
              <a:solidFill>
                <a:srgbClr val="424242"/>
              </a:solidFill>
              <a:latin typeface="Times New Roman"/>
              <a:ea typeface="Times New Roman"/>
              <a:cs typeface="Times New Roman"/>
              <a:sym typeface="Times New Roman"/>
            </a:endParaRPr>
          </a:p>
        </p:txBody>
      </p:sp>
      <p:pic>
        <p:nvPicPr>
          <p:cNvPr id="965" name="Google Shape;965;p113"/>
          <p:cNvPicPr preferRelativeResize="0"/>
          <p:nvPr/>
        </p:nvPicPr>
        <p:blipFill>
          <a:blip r:embed="rId3">
            <a:alphaModFix/>
          </a:blip>
          <a:stretch>
            <a:fillRect/>
          </a:stretch>
        </p:blipFill>
        <p:spPr>
          <a:xfrm>
            <a:off x="51000" y="1035525"/>
            <a:ext cx="2997001" cy="1650525"/>
          </a:xfrm>
          <a:prstGeom prst="rect">
            <a:avLst/>
          </a:prstGeom>
          <a:noFill/>
          <a:ln>
            <a:noFill/>
          </a:ln>
        </p:spPr>
      </p:pic>
      <p:pic>
        <p:nvPicPr>
          <p:cNvPr id="966" name="Google Shape;966;p113"/>
          <p:cNvPicPr preferRelativeResize="0"/>
          <p:nvPr/>
        </p:nvPicPr>
        <p:blipFill>
          <a:blip r:embed="rId4">
            <a:alphaModFix/>
          </a:blip>
          <a:stretch>
            <a:fillRect/>
          </a:stretch>
        </p:blipFill>
        <p:spPr>
          <a:xfrm>
            <a:off x="1195825" y="3305697"/>
            <a:ext cx="3744483" cy="1837825"/>
          </a:xfrm>
          <a:prstGeom prst="rect">
            <a:avLst/>
          </a:prstGeom>
          <a:noFill/>
          <a:ln>
            <a:noFill/>
          </a:ln>
        </p:spPr>
      </p:pic>
      <p:pic>
        <p:nvPicPr>
          <p:cNvPr id="967" name="Google Shape;967;p113"/>
          <p:cNvPicPr preferRelativeResize="0"/>
          <p:nvPr/>
        </p:nvPicPr>
        <p:blipFill>
          <a:blip r:embed="rId5">
            <a:alphaModFix/>
          </a:blip>
          <a:stretch>
            <a:fillRect/>
          </a:stretch>
        </p:blipFill>
        <p:spPr>
          <a:xfrm>
            <a:off x="3099000" y="1034875"/>
            <a:ext cx="2997000" cy="1915725"/>
          </a:xfrm>
          <a:prstGeom prst="rect">
            <a:avLst/>
          </a:prstGeom>
          <a:noFill/>
          <a:ln>
            <a:noFill/>
          </a:ln>
        </p:spPr>
      </p:pic>
      <p:sp>
        <p:nvSpPr>
          <p:cNvPr id="968" name="Google Shape;968;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graphicFrame>
        <p:nvGraphicFramePr>
          <p:cNvPr id="973" name="Google Shape;973;p11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74" name="Google Shape;974;p11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6.20.2 Spain</a:t>
            </a:r>
            <a:endParaRPr b="1" sz="2800">
              <a:solidFill>
                <a:srgbClr val="424242"/>
              </a:solidFill>
              <a:latin typeface="Times New Roman"/>
              <a:ea typeface="Times New Roman"/>
              <a:cs typeface="Times New Roman"/>
              <a:sym typeface="Times New Roman"/>
            </a:endParaRPr>
          </a:p>
        </p:txBody>
      </p:sp>
      <p:pic>
        <p:nvPicPr>
          <p:cNvPr id="975" name="Google Shape;975;p114"/>
          <p:cNvPicPr preferRelativeResize="0"/>
          <p:nvPr/>
        </p:nvPicPr>
        <p:blipFill>
          <a:blip r:embed="rId3">
            <a:alphaModFix/>
          </a:blip>
          <a:stretch>
            <a:fillRect/>
          </a:stretch>
        </p:blipFill>
        <p:spPr>
          <a:xfrm>
            <a:off x="1" y="1026424"/>
            <a:ext cx="6096001" cy="2153876"/>
          </a:xfrm>
          <a:prstGeom prst="rect">
            <a:avLst/>
          </a:prstGeom>
          <a:noFill/>
          <a:ln>
            <a:noFill/>
          </a:ln>
        </p:spPr>
      </p:pic>
      <p:pic>
        <p:nvPicPr>
          <p:cNvPr id="976" name="Google Shape;976;p114"/>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977" name="Google Shape;977;p114"/>
          <p:cNvPicPr preferRelativeResize="0"/>
          <p:nvPr/>
        </p:nvPicPr>
        <p:blipFill rotWithShape="1">
          <a:blip r:embed="rId5">
            <a:alphaModFix/>
          </a:blip>
          <a:srcRect b="818" l="3874" r="0" t="1763"/>
          <a:stretch/>
        </p:blipFill>
        <p:spPr>
          <a:xfrm>
            <a:off x="6166225" y="1072375"/>
            <a:ext cx="2977775" cy="4036925"/>
          </a:xfrm>
          <a:prstGeom prst="rect">
            <a:avLst/>
          </a:prstGeom>
          <a:noFill/>
          <a:ln>
            <a:noFill/>
          </a:ln>
        </p:spPr>
      </p:pic>
      <p:sp>
        <p:nvSpPr>
          <p:cNvPr id="978" name="Google Shape;978;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graphicFrame>
        <p:nvGraphicFramePr>
          <p:cNvPr id="983" name="Google Shape;983;p11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84" name="Google Shape;984;p11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6.20.3 Spain</a:t>
            </a:r>
            <a:endParaRPr b="1" sz="2800">
              <a:solidFill>
                <a:srgbClr val="424242"/>
              </a:solidFill>
              <a:latin typeface="Times New Roman"/>
              <a:ea typeface="Times New Roman"/>
              <a:cs typeface="Times New Roman"/>
              <a:sym typeface="Times New Roman"/>
            </a:endParaRPr>
          </a:p>
        </p:txBody>
      </p:sp>
      <p:pic>
        <p:nvPicPr>
          <p:cNvPr id="985" name="Google Shape;985;p115"/>
          <p:cNvPicPr preferRelativeResize="0"/>
          <p:nvPr/>
        </p:nvPicPr>
        <p:blipFill>
          <a:blip r:embed="rId3">
            <a:alphaModFix/>
          </a:blip>
          <a:stretch>
            <a:fillRect/>
          </a:stretch>
        </p:blipFill>
        <p:spPr>
          <a:xfrm>
            <a:off x="0" y="999300"/>
            <a:ext cx="4115999" cy="2044325"/>
          </a:xfrm>
          <a:prstGeom prst="rect">
            <a:avLst/>
          </a:prstGeom>
          <a:noFill/>
          <a:ln>
            <a:noFill/>
          </a:ln>
        </p:spPr>
      </p:pic>
      <p:pic>
        <p:nvPicPr>
          <p:cNvPr id="986" name="Google Shape;986;p115"/>
          <p:cNvPicPr preferRelativeResize="0"/>
          <p:nvPr/>
        </p:nvPicPr>
        <p:blipFill>
          <a:blip r:embed="rId4">
            <a:alphaModFix/>
          </a:blip>
          <a:stretch>
            <a:fillRect/>
          </a:stretch>
        </p:blipFill>
        <p:spPr>
          <a:xfrm>
            <a:off x="0" y="3043625"/>
            <a:ext cx="4199751" cy="2099875"/>
          </a:xfrm>
          <a:prstGeom prst="rect">
            <a:avLst/>
          </a:prstGeom>
          <a:noFill/>
          <a:ln>
            <a:noFill/>
          </a:ln>
        </p:spPr>
      </p:pic>
      <p:sp>
        <p:nvSpPr>
          <p:cNvPr id="987" name="Google Shape;987;p115"/>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988" name="Google Shape;988;p115"/>
          <p:cNvPicPr preferRelativeResize="0"/>
          <p:nvPr/>
        </p:nvPicPr>
        <p:blipFill rotWithShape="1">
          <a:blip r:embed="rId5">
            <a:alphaModFix/>
          </a:blip>
          <a:srcRect b="0" l="0" r="12702" t="0"/>
          <a:stretch/>
        </p:blipFill>
        <p:spPr>
          <a:xfrm>
            <a:off x="4199750" y="1938631"/>
            <a:ext cx="4944251" cy="2265545"/>
          </a:xfrm>
          <a:prstGeom prst="rect">
            <a:avLst/>
          </a:prstGeom>
          <a:noFill/>
          <a:ln>
            <a:noFill/>
          </a:ln>
        </p:spPr>
      </p:pic>
      <p:sp>
        <p:nvSpPr>
          <p:cNvPr id="989" name="Google Shape;989;p1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graphicFrame>
        <p:nvGraphicFramePr>
          <p:cNvPr id="994" name="Google Shape;994;p11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420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504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20%</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995" name="Google Shape;995;p11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6.21.1 Thailand</a:t>
            </a:r>
            <a:endParaRPr b="1" sz="2800">
              <a:solidFill>
                <a:srgbClr val="424242"/>
              </a:solidFill>
              <a:latin typeface="Times New Roman"/>
              <a:ea typeface="Times New Roman"/>
              <a:cs typeface="Times New Roman"/>
              <a:sym typeface="Times New Roman"/>
            </a:endParaRPr>
          </a:p>
        </p:txBody>
      </p:sp>
      <p:pic>
        <p:nvPicPr>
          <p:cNvPr id="996" name="Google Shape;996;p116"/>
          <p:cNvPicPr preferRelativeResize="0"/>
          <p:nvPr/>
        </p:nvPicPr>
        <p:blipFill>
          <a:blip r:embed="rId3">
            <a:alphaModFix/>
          </a:blip>
          <a:stretch>
            <a:fillRect/>
          </a:stretch>
        </p:blipFill>
        <p:spPr>
          <a:xfrm>
            <a:off x="0" y="1044003"/>
            <a:ext cx="3048000" cy="1642046"/>
          </a:xfrm>
          <a:prstGeom prst="rect">
            <a:avLst/>
          </a:prstGeom>
          <a:noFill/>
          <a:ln>
            <a:noFill/>
          </a:ln>
        </p:spPr>
      </p:pic>
      <p:pic>
        <p:nvPicPr>
          <p:cNvPr id="997" name="Google Shape;997;p116"/>
          <p:cNvPicPr preferRelativeResize="0"/>
          <p:nvPr/>
        </p:nvPicPr>
        <p:blipFill>
          <a:blip r:embed="rId4">
            <a:alphaModFix/>
          </a:blip>
          <a:stretch>
            <a:fillRect/>
          </a:stretch>
        </p:blipFill>
        <p:spPr>
          <a:xfrm>
            <a:off x="1125210" y="3305700"/>
            <a:ext cx="3745264" cy="1837825"/>
          </a:xfrm>
          <a:prstGeom prst="rect">
            <a:avLst/>
          </a:prstGeom>
          <a:noFill/>
          <a:ln>
            <a:noFill/>
          </a:ln>
        </p:spPr>
      </p:pic>
      <p:pic>
        <p:nvPicPr>
          <p:cNvPr id="998" name="Google Shape;998;p116"/>
          <p:cNvPicPr preferRelativeResize="0"/>
          <p:nvPr/>
        </p:nvPicPr>
        <p:blipFill>
          <a:blip r:embed="rId5">
            <a:alphaModFix/>
          </a:blip>
          <a:stretch>
            <a:fillRect/>
          </a:stretch>
        </p:blipFill>
        <p:spPr>
          <a:xfrm>
            <a:off x="3114435" y="1087775"/>
            <a:ext cx="2981566" cy="1837825"/>
          </a:xfrm>
          <a:prstGeom prst="rect">
            <a:avLst/>
          </a:prstGeom>
          <a:noFill/>
          <a:ln>
            <a:noFill/>
          </a:ln>
        </p:spPr>
      </p:pic>
      <p:sp>
        <p:nvSpPr>
          <p:cNvPr id="999" name="Google Shape;999;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graphicFrame>
        <p:nvGraphicFramePr>
          <p:cNvPr id="1004" name="Google Shape;1004;p11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05" name="Google Shape;1005;p11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6.21.2 Thailand</a:t>
            </a:r>
            <a:endParaRPr b="1" sz="2800">
              <a:solidFill>
                <a:srgbClr val="424242"/>
              </a:solidFill>
              <a:latin typeface="Times New Roman"/>
              <a:ea typeface="Times New Roman"/>
              <a:cs typeface="Times New Roman"/>
              <a:sym typeface="Times New Roman"/>
            </a:endParaRPr>
          </a:p>
        </p:txBody>
      </p:sp>
      <p:pic>
        <p:nvPicPr>
          <p:cNvPr id="1006" name="Google Shape;1006;p117"/>
          <p:cNvPicPr preferRelativeResize="0"/>
          <p:nvPr/>
        </p:nvPicPr>
        <p:blipFill>
          <a:blip r:embed="rId3">
            <a:alphaModFix/>
          </a:blip>
          <a:stretch>
            <a:fillRect/>
          </a:stretch>
        </p:blipFill>
        <p:spPr>
          <a:xfrm>
            <a:off x="143625" y="1057700"/>
            <a:ext cx="5952375" cy="2122600"/>
          </a:xfrm>
          <a:prstGeom prst="rect">
            <a:avLst/>
          </a:prstGeom>
          <a:noFill/>
          <a:ln>
            <a:noFill/>
          </a:ln>
        </p:spPr>
      </p:pic>
      <p:pic>
        <p:nvPicPr>
          <p:cNvPr id="1007" name="Google Shape;1007;p117"/>
          <p:cNvPicPr preferRelativeResize="0"/>
          <p:nvPr/>
        </p:nvPicPr>
        <p:blipFill>
          <a:blip r:embed="rId4">
            <a:alphaModFix/>
          </a:blip>
          <a:stretch>
            <a:fillRect/>
          </a:stretch>
        </p:blipFill>
        <p:spPr>
          <a:xfrm>
            <a:off x="0" y="3180300"/>
            <a:ext cx="6096001" cy="1963175"/>
          </a:xfrm>
          <a:prstGeom prst="rect">
            <a:avLst/>
          </a:prstGeom>
          <a:noFill/>
          <a:ln>
            <a:noFill/>
          </a:ln>
        </p:spPr>
      </p:pic>
      <p:pic>
        <p:nvPicPr>
          <p:cNvPr id="1008" name="Google Shape;1008;p117"/>
          <p:cNvPicPr preferRelativeResize="0"/>
          <p:nvPr/>
        </p:nvPicPr>
        <p:blipFill rotWithShape="1">
          <a:blip r:embed="rId5">
            <a:alphaModFix/>
          </a:blip>
          <a:srcRect b="996" l="2638" r="0" t="1405"/>
          <a:stretch/>
        </p:blipFill>
        <p:spPr>
          <a:xfrm>
            <a:off x="6176300" y="1057700"/>
            <a:ext cx="2967700" cy="4044750"/>
          </a:xfrm>
          <a:prstGeom prst="rect">
            <a:avLst/>
          </a:prstGeom>
          <a:noFill/>
          <a:ln>
            <a:noFill/>
          </a:ln>
        </p:spPr>
      </p:pic>
      <p:sp>
        <p:nvSpPr>
          <p:cNvPr id="1009" name="Google Shape;1009;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graphicFrame>
        <p:nvGraphicFramePr>
          <p:cNvPr id="1014" name="Google Shape;1014;p11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015" name="Google Shape;1015;p11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6.21.3 Thailand</a:t>
            </a:r>
            <a:endParaRPr b="1" sz="2800">
              <a:solidFill>
                <a:srgbClr val="424242"/>
              </a:solidFill>
              <a:latin typeface="Times New Roman"/>
              <a:ea typeface="Times New Roman"/>
              <a:cs typeface="Times New Roman"/>
              <a:sym typeface="Times New Roman"/>
            </a:endParaRPr>
          </a:p>
        </p:txBody>
      </p:sp>
      <p:pic>
        <p:nvPicPr>
          <p:cNvPr id="1016" name="Google Shape;1016;p118"/>
          <p:cNvPicPr preferRelativeResize="0"/>
          <p:nvPr/>
        </p:nvPicPr>
        <p:blipFill>
          <a:blip r:embed="rId3">
            <a:alphaModFix/>
          </a:blip>
          <a:stretch>
            <a:fillRect/>
          </a:stretch>
        </p:blipFill>
        <p:spPr>
          <a:xfrm>
            <a:off x="0" y="999300"/>
            <a:ext cx="4088650" cy="2044325"/>
          </a:xfrm>
          <a:prstGeom prst="rect">
            <a:avLst/>
          </a:prstGeom>
          <a:noFill/>
          <a:ln>
            <a:noFill/>
          </a:ln>
        </p:spPr>
      </p:pic>
      <p:pic>
        <p:nvPicPr>
          <p:cNvPr id="1017" name="Google Shape;1017;p118"/>
          <p:cNvPicPr preferRelativeResize="0"/>
          <p:nvPr/>
        </p:nvPicPr>
        <p:blipFill>
          <a:blip r:embed="rId4">
            <a:alphaModFix/>
          </a:blip>
          <a:stretch>
            <a:fillRect/>
          </a:stretch>
        </p:blipFill>
        <p:spPr>
          <a:xfrm>
            <a:off x="0" y="3043625"/>
            <a:ext cx="4204012" cy="2090350"/>
          </a:xfrm>
          <a:prstGeom prst="rect">
            <a:avLst/>
          </a:prstGeom>
          <a:noFill/>
          <a:ln>
            <a:noFill/>
          </a:ln>
        </p:spPr>
      </p:pic>
      <p:sp>
        <p:nvSpPr>
          <p:cNvPr id="1018" name="Google Shape;1018;p118"/>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019" name="Google Shape;1019;p118"/>
          <p:cNvPicPr preferRelativeResize="0"/>
          <p:nvPr/>
        </p:nvPicPr>
        <p:blipFill rotWithShape="1">
          <a:blip r:embed="rId5">
            <a:alphaModFix/>
          </a:blip>
          <a:srcRect b="0" l="0" r="12296" t="0"/>
          <a:stretch/>
        </p:blipFill>
        <p:spPr>
          <a:xfrm>
            <a:off x="4204000" y="1947596"/>
            <a:ext cx="4940001" cy="2247617"/>
          </a:xfrm>
          <a:prstGeom prst="rect">
            <a:avLst/>
          </a:prstGeom>
          <a:noFill/>
          <a:ln>
            <a:noFill/>
          </a:ln>
        </p:spPr>
      </p:pic>
      <p:sp>
        <p:nvSpPr>
          <p:cNvPr id="1020" name="Google Shape;1020;p1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graphicFrame>
        <p:nvGraphicFramePr>
          <p:cNvPr id="1025" name="Google Shape;1025;p11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950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770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-18.9%</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026" name="Google Shape;1026;p11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6.22.1 Turkey</a:t>
            </a:r>
            <a:endParaRPr b="1" sz="2800">
              <a:solidFill>
                <a:srgbClr val="424242"/>
              </a:solidFill>
              <a:latin typeface="Times New Roman"/>
              <a:ea typeface="Times New Roman"/>
              <a:cs typeface="Times New Roman"/>
              <a:sym typeface="Times New Roman"/>
            </a:endParaRPr>
          </a:p>
        </p:txBody>
      </p:sp>
      <p:pic>
        <p:nvPicPr>
          <p:cNvPr id="1027" name="Google Shape;1027;p119"/>
          <p:cNvPicPr preferRelativeResize="0"/>
          <p:nvPr/>
        </p:nvPicPr>
        <p:blipFill>
          <a:blip r:embed="rId3">
            <a:alphaModFix/>
          </a:blip>
          <a:stretch>
            <a:fillRect/>
          </a:stretch>
        </p:blipFill>
        <p:spPr>
          <a:xfrm>
            <a:off x="0" y="1071225"/>
            <a:ext cx="3048000" cy="1678611"/>
          </a:xfrm>
          <a:prstGeom prst="rect">
            <a:avLst/>
          </a:prstGeom>
          <a:noFill/>
          <a:ln>
            <a:noFill/>
          </a:ln>
        </p:spPr>
      </p:pic>
      <p:pic>
        <p:nvPicPr>
          <p:cNvPr id="1028" name="Google Shape;1028;p119"/>
          <p:cNvPicPr preferRelativeResize="0"/>
          <p:nvPr/>
        </p:nvPicPr>
        <p:blipFill>
          <a:blip r:embed="rId4">
            <a:alphaModFix/>
          </a:blip>
          <a:stretch>
            <a:fillRect/>
          </a:stretch>
        </p:blipFill>
        <p:spPr>
          <a:xfrm>
            <a:off x="1170501" y="3305697"/>
            <a:ext cx="3828224" cy="1837825"/>
          </a:xfrm>
          <a:prstGeom prst="rect">
            <a:avLst/>
          </a:prstGeom>
          <a:noFill/>
          <a:ln>
            <a:noFill/>
          </a:ln>
        </p:spPr>
      </p:pic>
      <p:pic>
        <p:nvPicPr>
          <p:cNvPr id="1029" name="Google Shape;1029;p119"/>
          <p:cNvPicPr preferRelativeResize="0"/>
          <p:nvPr/>
        </p:nvPicPr>
        <p:blipFill>
          <a:blip r:embed="rId5">
            <a:alphaModFix/>
          </a:blip>
          <a:stretch>
            <a:fillRect/>
          </a:stretch>
        </p:blipFill>
        <p:spPr>
          <a:xfrm>
            <a:off x="3120500" y="1071225"/>
            <a:ext cx="2975500" cy="1901975"/>
          </a:xfrm>
          <a:prstGeom prst="rect">
            <a:avLst/>
          </a:prstGeom>
          <a:noFill/>
          <a:ln>
            <a:noFill/>
          </a:ln>
        </p:spPr>
      </p:pic>
      <p:sp>
        <p:nvSpPr>
          <p:cNvPr id="1030" name="Google Shape;1030;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graphicFrame>
        <p:nvGraphicFramePr>
          <p:cNvPr id="1035" name="Google Shape;1035;p12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36" name="Google Shape;1036;p12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6.22.2 Turkey</a:t>
            </a:r>
            <a:endParaRPr b="1" sz="2800">
              <a:solidFill>
                <a:srgbClr val="424242"/>
              </a:solidFill>
              <a:latin typeface="Times New Roman"/>
              <a:ea typeface="Times New Roman"/>
              <a:cs typeface="Times New Roman"/>
              <a:sym typeface="Times New Roman"/>
            </a:endParaRPr>
          </a:p>
        </p:txBody>
      </p:sp>
      <p:pic>
        <p:nvPicPr>
          <p:cNvPr id="1037" name="Google Shape;1037;p120"/>
          <p:cNvPicPr preferRelativeResize="0"/>
          <p:nvPr/>
        </p:nvPicPr>
        <p:blipFill>
          <a:blip r:embed="rId3">
            <a:alphaModFix/>
          </a:blip>
          <a:stretch>
            <a:fillRect/>
          </a:stretch>
        </p:blipFill>
        <p:spPr>
          <a:xfrm>
            <a:off x="68400" y="1026425"/>
            <a:ext cx="6027599" cy="2153875"/>
          </a:xfrm>
          <a:prstGeom prst="rect">
            <a:avLst/>
          </a:prstGeom>
          <a:noFill/>
          <a:ln>
            <a:noFill/>
          </a:ln>
        </p:spPr>
      </p:pic>
      <p:pic>
        <p:nvPicPr>
          <p:cNvPr id="1038" name="Google Shape;1038;p120"/>
          <p:cNvPicPr preferRelativeResize="0"/>
          <p:nvPr/>
        </p:nvPicPr>
        <p:blipFill>
          <a:blip r:embed="rId4">
            <a:alphaModFix/>
          </a:blip>
          <a:stretch>
            <a:fillRect/>
          </a:stretch>
        </p:blipFill>
        <p:spPr>
          <a:xfrm>
            <a:off x="0" y="3207425"/>
            <a:ext cx="6096001" cy="1936050"/>
          </a:xfrm>
          <a:prstGeom prst="rect">
            <a:avLst/>
          </a:prstGeom>
          <a:noFill/>
          <a:ln>
            <a:noFill/>
          </a:ln>
        </p:spPr>
      </p:pic>
      <p:pic>
        <p:nvPicPr>
          <p:cNvPr id="1039" name="Google Shape;1039;p120"/>
          <p:cNvPicPr preferRelativeResize="0"/>
          <p:nvPr/>
        </p:nvPicPr>
        <p:blipFill rotWithShape="1">
          <a:blip r:embed="rId5">
            <a:alphaModFix/>
          </a:blip>
          <a:srcRect b="984" l="3985" r="0" t="659"/>
          <a:stretch/>
        </p:blipFill>
        <p:spPr>
          <a:xfrm>
            <a:off x="6217350" y="1026425"/>
            <a:ext cx="2926650" cy="4076025"/>
          </a:xfrm>
          <a:prstGeom prst="rect">
            <a:avLst/>
          </a:prstGeom>
          <a:noFill/>
          <a:ln>
            <a:noFill/>
          </a:ln>
        </p:spPr>
      </p:pic>
      <p:sp>
        <p:nvSpPr>
          <p:cNvPr id="1040" name="Google Shape;1040;p1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graphicFrame>
        <p:nvGraphicFramePr>
          <p:cNvPr id="1045" name="Google Shape;1045;p12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046" name="Google Shape;1046;p12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6.22.3 Turkey</a:t>
            </a:r>
            <a:endParaRPr b="1" sz="2800">
              <a:solidFill>
                <a:srgbClr val="424242"/>
              </a:solidFill>
              <a:latin typeface="Times New Roman"/>
              <a:ea typeface="Times New Roman"/>
              <a:cs typeface="Times New Roman"/>
              <a:sym typeface="Times New Roman"/>
            </a:endParaRPr>
          </a:p>
        </p:txBody>
      </p:sp>
      <p:pic>
        <p:nvPicPr>
          <p:cNvPr id="1047" name="Google Shape;1047;p121"/>
          <p:cNvPicPr preferRelativeResize="0"/>
          <p:nvPr/>
        </p:nvPicPr>
        <p:blipFill>
          <a:blip r:embed="rId3">
            <a:alphaModFix/>
          </a:blip>
          <a:stretch>
            <a:fillRect/>
          </a:stretch>
        </p:blipFill>
        <p:spPr>
          <a:xfrm>
            <a:off x="0" y="999300"/>
            <a:ext cx="4074403" cy="2044325"/>
          </a:xfrm>
          <a:prstGeom prst="rect">
            <a:avLst/>
          </a:prstGeom>
          <a:noFill/>
          <a:ln>
            <a:noFill/>
          </a:ln>
        </p:spPr>
      </p:pic>
      <p:pic>
        <p:nvPicPr>
          <p:cNvPr id="1048" name="Google Shape;1048;p121"/>
          <p:cNvPicPr preferRelativeResize="0"/>
          <p:nvPr/>
        </p:nvPicPr>
        <p:blipFill>
          <a:blip r:embed="rId4">
            <a:alphaModFix/>
          </a:blip>
          <a:stretch>
            <a:fillRect/>
          </a:stretch>
        </p:blipFill>
        <p:spPr>
          <a:xfrm>
            <a:off x="0" y="3043625"/>
            <a:ext cx="4199751" cy="2099875"/>
          </a:xfrm>
          <a:prstGeom prst="rect">
            <a:avLst/>
          </a:prstGeom>
          <a:noFill/>
          <a:ln>
            <a:noFill/>
          </a:ln>
        </p:spPr>
      </p:pic>
      <p:sp>
        <p:nvSpPr>
          <p:cNvPr id="1049" name="Google Shape;1049;p121"/>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050" name="Google Shape;1050;p121"/>
          <p:cNvPicPr preferRelativeResize="0"/>
          <p:nvPr/>
        </p:nvPicPr>
        <p:blipFill rotWithShape="1">
          <a:blip r:embed="rId5">
            <a:alphaModFix/>
          </a:blip>
          <a:srcRect b="0" l="0" r="12656" t="0"/>
          <a:stretch/>
        </p:blipFill>
        <p:spPr>
          <a:xfrm>
            <a:off x="4121150" y="1931935"/>
            <a:ext cx="5022851" cy="2300340"/>
          </a:xfrm>
          <a:prstGeom prst="rect">
            <a:avLst/>
          </a:prstGeom>
          <a:noFill/>
          <a:ln>
            <a:noFill/>
          </a:ln>
        </p:spPr>
      </p:pic>
      <p:sp>
        <p:nvSpPr>
          <p:cNvPr id="1051" name="Google Shape;1051;p1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graphicFrame>
        <p:nvGraphicFramePr>
          <p:cNvPr id="1056" name="Google Shape;1056;p12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390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414 million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6.2%</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057" name="Google Shape;1057;p12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6.23.1 United Arab Emirates</a:t>
            </a:r>
            <a:endParaRPr b="1" sz="2800">
              <a:solidFill>
                <a:srgbClr val="424242"/>
              </a:solidFill>
              <a:latin typeface="Times New Roman"/>
              <a:ea typeface="Times New Roman"/>
              <a:cs typeface="Times New Roman"/>
              <a:sym typeface="Times New Roman"/>
            </a:endParaRPr>
          </a:p>
        </p:txBody>
      </p:sp>
      <p:pic>
        <p:nvPicPr>
          <p:cNvPr id="1058" name="Google Shape;1058;p122"/>
          <p:cNvPicPr preferRelativeResize="0"/>
          <p:nvPr/>
        </p:nvPicPr>
        <p:blipFill>
          <a:blip r:embed="rId3">
            <a:alphaModFix/>
          </a:blip>
          <a:stretch>
            <a:fillRect/>
          </a:stretch>
        </p:blipFill>
        <p:spPr>
          <a:xfrm>
            <a:off x="0" y="1029574"/>
            <a:ext cx="3048001" cy="2123726"/>
          </a:xfrm>
          <a:prstGeom prst="rect">
            <a:avLst/>
          </a:prstGeom>
          <a:noFill/>
          <a:ln>
            <a:noFill/>
          </a:ln>
        </p:spPr>
      </p:pic>
      <p:pic>
        <p:nvPicPr>
          <p:cNvPr id="1059" name="Google Shape;1059;p122"/>
          <p:cNvPicPr preferRelativeResize="0"/>
          <p:nvPr/>
        </p:nvPicPr>
        <p:blipFill>
          <a:blip r:embed="rId4">
            <a:alphaModFix/>
          </a:blip>
          <a:stretch>
            <a:fillRect/>
          </a:stretch>
        </p:blipFill>
        <p:spPr>
          <a:xfrm>
            <a:off x="1099159" y="3310696"/>
            <a:ext cx="3754225" cy="1832825"/>
          </a:xfrm>
          <a:prstGeom prst="rect">
            <a:avLst/>
          </a:prstGeom>
          <a:noFill/>
          <a:ln>
            <a:noFill/>
          </a:ln>
        </p:spPr>
      </p:pic>
      <p:pic>
        <p:nvPicPr>
          <p:cNvPr id="1060" name="Google Shape;1060;p122"/>
          <p:cNvPicPr preferRelativeResize="0"/>
          <p:nvPr/>
        </p:nvPicPr>
        <p:blipFill>
          <a:blip r:embed="rId5">
            <a:alphaModFix/>
          </a:blip>
          <a:stretch>
            <a:fillRect/>
          </a:stretch>
        </p:blipFill>
        <p:spPr>
          <a:xfrm>
            <a:off x="3056025" y="999300"/>
            <a:ext cx="3031950" cy="1934125"/>
          </a:xfrm>
          <a:prstGeom prst="rect">
            <a:avLst/>
          </a:prstGeom>
          <a:noFill/>
          <a:ln>
            <a:noFill/>
          </a:ln>
        </p:spPr>
      </p:pic>
      <p:sp>
        <p:nvSpPr>
          <p:cNvPr id="1061" name="Google Shape;1061;p1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graphicFrame>
        <p:nvGraphicFramePr>
          <p:cNvPr id="1066" name="Google Shape;1066;p12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67" name="Google Shape;1067;p12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6.23.2 United Arab Emirates</a:t>
            </a:r>
            <a:endParaRPr b="1" sz="2800">
              <a:solidFill>
                <a:srgbClr val="424242"/>
              </a:solidFill>
              <a:latin typeface="Times New Roman"/>
              <a:ea typeface="Times New Roman"/>
              <a:cs typeface="Times New Roman"/>
              <a:sym typeface="Times New Roman"/>
            </a:endParaRPr>
          </a:p>
        </p:txBody>
      </p:sp>
      <p:pic>
        <p:nvPicPr>
          <p:cNvPr id="1068" name="Google Shape;1068;p123"/>
          <p:cNvPicPr preferRelativeResize="0"/>
          <p:nvPr/>
        </p:nvPicPr>
        <p:blipFill>
          <a:blip r:embed="rId3">
            <a:alphaModFix/>
          </a:blip>
          <a:stretch>
            <a:fillRect/>
          </a:stretch>
        </p:blipFill>
        <p:spPr>
          <a:xfrm>
            <a:off x="-4" y="999300"/>
            <a:ext cx="6137426" cy="2168525"/>
          </a:xfrm>
          <a:prstGeom prst="rect">
            <a:avLst/>
          </a:prstGeom>
          <a:noFill/>
          <a:ln>
            <a:noFill/>
          </a:ln>
        </p:spPr>
      </p:pic>
      <p:pic>
        <p:nvPicPr>
          <p:cNvPr id="1069" name="Google Shape;1069;p123"/>
          <p:cNvPicPr preferRelativeResize="0"/>
          <p:nvPr/>
        </p:nvPicPr>
        <p:blipFill>
          <a:blip r:embed="rId4">
            <a:alphaModFix/>
          </a:blip>
          <a:stretch>
            <a:fillRect/>
          </a:stretch>
        </p:blipFill>
        <p:spPr>
          <a:xfrm>
            <a:off x="-25" y="3180300"/>
            <a:ext cx="6096026" cy="1963200"/>
          </a:xfrm>
          <a:prstGeom prst="rect">
            <a:avLst/>
          </a:prstGeom>
          <a:noFill/>
          <a:ln>
            <a:noFill/>
          </a:ln>
        </p:spPr>
      </p:pic>
      <p:pic>
        <p:nvPicPr>
          <p:cNvPr id="1070" name="Google Shape;1070;p123"/>
          <p:cNvPicPr preferRelativeResize="0"/>
          <p:nvPr/>
        </p:nvPicPr>
        <p:blipFill rotWithShape="1">
          <a:blip r:embed="rId5">
            <a:alphaModFix/>
          </a:blip>
          <a:srcRect b="823" l="0" r="0" t="0"/>
          <a:stretch/>
        </p:blipFill>
        <p:spPr>
          <a:xfrm>
            <a:off x="6096000" y="1058525"/>
            <a:ext cx="3004075" cy="4050775"/>
          </a:xfrm>
          <a:prstGeom prst="rect">
            <a:avLst/>
          </a:prstGeom>
          <a:noFill/>
          <a:ln>
            <a:noFill/>
          </a:ln>
        </p:spPr>
      </p:pic>
      <p:sp>
        <p:nvSpPr>
          <p:cNvPr id="1071" name="Google Shape;1071;p1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graphicFrame>
        <p:nvGraphicFramePr>
          <p:cNvPr id="1076" name="Google Shape;1076;p12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hMerge="1"/>
                <a:tc vMerge="1"/>
              </a:tr>
            </a:tbl>
          </a:graphicData>
        </a:graphic>
      </p:graphicFrame>
      <p:sp>
        <p:nvSpPr>
          <p:cNvPr id="1077" name="Google Shape;1077;p12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6.23.3 United Arab Emirates</a:t>
            </a:r>
            <a:endParaRPr b="1" sz="2800">
              <a:solidFill>
                <a:srgbClr val="424242"/>
              </a:solidFill>
              <a:latin typeface="Times New Roman"/>
              <a:ea typeface="Times New Roman"/>
              <a:cs typeface="Times New Roman"/>
              <a:sym typeface="Times New Roman"/>
            </a:endParaRPr>
          </a:p>
        </p:txBody>
      </p:sp>
      <p:pic>
        <p:nvPicPr>
          <p:cNvPr id="1078" name="Google Shape;1078;p124"/>
          <p:cNvPicPr preferRelativeResize="0"/>
          <p:nvPr/>
        </p:nvPicPr>
        <p:blipFill>
          <a:blip r:embed="rId3">
            <a:alphaModFix/>
          </a:blip>
          <a:stretch>
            <a:fillRect/>
          </a:stretch>
        </p:blipFill>
        <p:spPr>
          <a:xfrm>
            <a:off x="0" y="999300"/>
            <a:ext cx="4088650" cy="2044325"/>
          </a:xfrm>
          <a:prstGeom prst="rect">
            <a:avLst/>
          </a:prstGeom>
          <a:noFill/>
          <a:ln>
            <a:noFill/>
          </a:ln>
        </p:spPr>
      </p:pic>
      <p:pic>
        <p:nvPicPr>
          <p:cNvPr id="1079" name="Google Shape;1079;p124"/>
          <p:cNvPicPr preferRelativeResize="0"/>
          <p:nvPr/>
        </p:nvPicPr>
        <p:blipFill>
          <a:blip r:embed="rId4">
            <a:alphaModFix/>
          </a:blip>
          <a:stretch>
            <a:fillRect/>
          </a:stretch>
        </p:blipFill>
        <p:spPr>
          <a:xfrm>
            <a:off x="0" y="3043625"/>
            <a:ext cx="4424164" cy="2099875"/>
          </a:xfrm>
          <a:prstGeom prst="rect">
            <a:avLst/>
          </a:prstGeom>
          <a:noFill/>
          <a:ln>
            <a:noFill/>
          </a:ln>
        </p:spPr>
      </p:pic>
      <p:sp>
        <p:nvSpPr>
          <p:cNvPr id="1080" name="Google Shape;1080;p124"/>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081" name="Google Shape;1081;p124"/>
          <p:cNvPicPr preferRelativeResize="0"/>
          <p:nvPr/>
        </p:nvPicPr>
        <p:blipFill rotWithShape="1">
          <a:blip r:embed="rId5">
            <a:alphaModFix/>
          </a:blip>
          <a:srcRect b="0" l="0" r="12350" t="0"/>
          <a:stretch/>
        </p:blipFill>
        <p:spPr>
          <a:xfrm>
            <a:off x="4424175" y="1967324"/>
            <a:ext cx="4719825" cy="2154001"/>
          </a:xfrm>
          <a:prstGeom prst="rect">
            <a:avLst/>
          </a:prstGeom>
          <a:noFill/>
          <a:ln>
            <a:noFill/>
          </a:ln>
        </p:spPr>
      </p:pic>
      <p:sp>
        <p:nvSpPr>
          <p:cNvPr id="1082" name="Google Shape;1082;p1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graphicFrame>
        <p:nvGraphicFramePr>
          <p:cNvPr id="1087" name="Google Shape;1087;p12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2013: 16.8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PPP 2018: 20.5 trillion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22.4%</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txBody>
                  <a:tcPr marT="91425" marB="91425" marR="91425" marL="91425"/>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088" name="Google Shape;1088;p12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6.24.1 The United States of America</a:t>
            </a:r>
            <a:endParaRPr b="1" sz="2800">
              <a:solidFill>
                <a:srgbClr val="424242"/>
              </a:solidFill>
              <a:latin typeface="Times New Roman"/>
              <a:ea typeface="Times New Roman"/>
              <a:cs typeface="Times New Roman"/>
              <a:sym typeface="Times New Roman"/>
            </a:endParaRPr>
          </a:p>
        </p:txBody>
      </p:sp>
      <p:pic>
        <p:nvPicPr>
          <p:cNvPr id="1089" name="Google Shape;1089;p125"/>
          <p:cNvPicPr preferRelativeResize="0"/>
          <p:nvPr/>
        </p:nvPicPr>
        <p:blipFill>
          <a:blip r:embed="rId3">
            <a:alphaModFix/>
          </a:blip>
          <a:stretch>
            <a:fillRect/>
          </a:stretch>
        </p:blipFill>
        <p:spPr>
          <a:xfrm>
            <a:off x="0" y="1052507"/>
            <a:ext cx="3048000" cy="1569318"/>
          </a:xfrm>
          <a:prstGeom prst="rect">
            <a:avLst/>
          </a:prstGeom>
          <a:noFill/>
          <a:ln>
            <a:noFill/>
          </a:ln>
        </p:spPr>
      </p:pic>
      <p:pic>
        <p:nvPicPr>
          <p:cNvPr id="1090" name="Google Shape;1090;p125"/>
          <p:cNvPicPr preferRelativeResize="0"/>
          <p:nvPr/>
        </p:nvPicPr>
        <p:blipFill>
          <a:blip r:embed="rId4">
            <a:alphaModFix/>
          </a:blip>
          <a:stretch>
            <a:fillRect/>
          </a:stretch>
        </p:blipFill>
        <p:spPr>
          <a:xfrm>
            <a:off x="1170950" y="3342050"/>
            <a:ext cx="3861700" cy="1801450"/>
          </a:xfrm>
          <a:prstGeom prst="rect">
            <a:avLst/>
          </a:prstGeom>
          <a:noFill/>
          <a:ln>
            <a:noFill/>
          </a:ln>
        </p:spPr>
      </p:pic>
      <p:pic>
        <p:nvPicPr>
          <p:cNvPr id="1091" name="Google Shape;1091;p125"/>
          <p:cNvPicPr preferRelativeResize="0"/>
          <p:nvPr/>
        </p:nvPicPr>
        <p:blipFill>
          <a:blip r:embed="rId5">
            <a:alphaModFix/>
          </a:blip>
          <a:stretch>
            <a:fillRect/>
          </a:stretch>
        </p:blipFill>
        <p:spPr>
          <a:xfrm>
            <a:off x="3123700" y="1091700"/>
            <a:ext cx="2972300" cy="1761750"/>
          </a:xfrm>
          <a:prstGeom prst="rect">
            <a:avLst/>
          </a:prstGeom>
          <a:noFill/>
          <a:ln>
            <a:noFill/>
          </a:ln>
        </p:spPr>
      </p:pic>
      <p:sp>
        <p:nvSpPr>
          <p:cNvPr id="1092" name="Google Shape;1092;p1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graphicFrame>
        <p:nvGraphicFramePr>
          <p:cNvPr id="1097" name="Google Shape;1097;p12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98" name="Google Shape;1098;p12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6.24.2 The United States of America</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1099" name="Google Shape;1099;p126"/>
          <p:cNvPicPr preferRelativeResize="0"/>
          <p:nvPr/>
        </p:nvPicPr>
        <p:blipFill>
          <a:blip r:embed="rId3">
            <a:alphaModFix/>
          </a:blip>
          <a:stretch>
            <a:fillRect/>
          </a:stretch>
        </p:blipFill>
        <p:spPr>
          <a:xfrm>
            <a:off x="0" y="999300"/>
            <a:ext cx="6096001" cy="2181000"/>
          </a:xfrm>
          <a:prstGeom prst="rect">
            <a:avLst/>
          </a:prstGeom>
          <a:noFill/>
          <a:ln>
            <a:noFill/>
          </a:ln>
        </p:spPr>
      </p:pic>
      <p:pic>
        <p:nvPicPr>
          <p:cNvPr id="1100" name="Google Shape;1100;p126"/>
          <p:cNvPicPr preferRelativeResize="0"/>
          <p:nvPr/>
        </p:nvPicPr>
        <p:blipFill>
          <a:blip r:embed="rId4">
            <a:alphaModFix/>
          </a:blip>
          <a:stretch>
            <a:fillRect/>
          </a:stretch>
        </p:blipFill>
        <p:spPr>
          <a:xfrm>
            <a:off x="0" y="3180300"/>
            <a:ext cx="6096001" cy="1963200"/>
          </a:xfrm>
          <a:prstGeom prst="rect">
            <a:avLst/>
          </a:prstGeom>
          <a:noFill/>
          <a:ln>
            <a:noFill/>
          </a:ln>
        </p:spPr>
      </p:pic>
      <p:pic>
        <p:nvPicPr>
          <p:cNvPr id="1101" name="Google Shape;1101;p126"/>
          <p:cNvPicPr preferRelativeResize="0"/>
          <p:nvPr/>
        </p:nvPicPr>
        <p:blipFill>
          <a:blip r:embed="rId5">
            <a:alphaModFix/>
          </a:blip>
          <a:stretch>
            <a:fillRect/>
          </a:stretch>
        </p:blipFill>
        <p:spPr>
          <a:xfrm>
            <a:off x="6096000" y="999325"/>
            <a:ext cx="3048000" cy="4144175"/>
          </a:xfrm>
          <a:prstGeom prst="rect">
            <a:avLst/>
          </a:prstGeom>
          <a:noFill/>
          <a:ln>
            <a:noFill/>
          </a:ln>
        </p:spPr>
      </p:pic>
      <p:sp>
        <p:nvSpPr>
          <p:cNvPr id="1102" name="Google Shape;1102;p1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graphicFrame>
        <p:nvGraphicFramePr>
          <p:cNvPr id="1107" name="Google Shape;1107;p12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08" name="Google Shape;1108;p12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24242"/>
                </a:solidFill>
                <a:latin typeface="Times New Roman"/>
                <a:ea typeface="Times New Roman"/>
                <a:cs typeface="Times New Roman"/>
                <a:sym typeface="Times New Roman"/>
              </a:rPr>
              <a:t>6.24.3 The United States of America</a:t>
            </a:r>
            <a:endParaRPr b="1"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800">
              <a:solidFill>
                <a:srgbClr val="424242"/>
              </a:solidFill>
              <a:latin typeface="Times New Roman"/>
              <a:ea typeface="Times New Roman"/>
              <a:cs typeface="Times New Roman"/>
              <a:sym typeface="Times New Roman"/>
            </a:endParaRPr>
          </a:p>
        </p:txBody>
      </p:sp>
      <p:pic>
        <p:nvPicPr>
          <p:cNvPr id="1109" name="Google Shape;1109;p127"/>
          <p:cNvPicPr preferRelativeResize="0"/>
          <p:nvPr/>
        </p:nvPicPr>
        <p:blipFill>
          <a:blip r:embed="rId3">
            <a:alphaModFix/>
          </a:blip>
          <a:stretch>
            <a:fillRect/>
          </a:stretch>
        </p:blipFill>
        <p:spPr>
          <a:xfrm>
            <a:off x="0" y="999300"/>
            <a:ext cx="4363650" cy="2044325"/>
          </a:xfrm>
          <a:prstGeom prst="rect">
            <a:avLst/>
          </a:prstGeom>
          <a:noFill/>
          <a:ln>
            <a:noFill/>
          </a:ln>
        </p:spPr>
      </p:pic>
      <p:pic>
        <p:nvPicPr>
          <p:cNvPr id="1110" name="Google Shape;1110;p127"/>
          <p:cNvPicPr preferRelativeResize="0"/>
          <p:nvPr/>
        </p:nvPicPr>
        <p:blipFill>
          <a:blip r:embed="rId4">
            <a:alphaModFix/>
          </a:blip>
          <a:stretch>
            <a:fillRect/>
          </a:stretch>
        </p:blipFill>
        <p:spPr>
          <a:xfrm>
            <a:off x="0" y="3112284"/>
            <a:ext cx="4363650" cy="2031216"/>
          </a:xfrm>
          <a:prstGeom prst="rect">
            <a:avLst/>
          </a:prstGeom>
          <a:noFill/>
          <a:ln>
            <a:noFill/>
          </a:ln>
        </p:spPr>
      </p:pic>
      <p:sp>
        <p:nvSpPr>
          <p:cNvPr id="1111" name="Google Shape;1111;p127"/>
          <p:cNvSpPr txBox="1"/>
          <p:nvPr/>
        </p:nvSpPr>
        <p:spPr>
          <a:xfrm>
            <a:off x="8512500" y="4179250"/>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112" name="Google Shape;1112;p127"/>
          <p:cNvPicPr preferRelativeResize="0"/>
          <p:nvPr/>
        </p:nvPicPr>
        <p:blipFill rotWithShape="1">
          <a:blip r:embed="rId5">
            <a:alphaModFix/>
          </a:blip>
          <a:srcRect b="0" l="0" r="12862" t="0"/>
          <a:stretch/>
        </p:blipFill>
        <p:spPr>
          <a:xfrm>
            <a:off x="4450074" y="1994026"/>
            <a:ext cx="4693924" cy="2154748"/>
          </a:xfrm>
          <a:prstGeom prst="rect">
            <a:avLst/>
          </a:prstGeom>
          <a:noFill/>
          <a:ln>
            <a:noFill/>
          </a:ln>
        </p:spPr>
      </p:pic>
      <p:sp>
        <p:nvSpPr>
          <p:cNvPr id="1113" name="Google Shape;1113;p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graphicFrame>
        <p:nvGraphicFramePr>
          <p:cNvPr id="1118" name="Google Shape;1118;p12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Growth over period: 2.36%</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Canada on the industry group level. The product classification system we adopt allows us to measure the realized industry development for various industry groups and to observe that Canada consistently relied on developing the Transportation industry during the period, while its developed counterparts and emerging economies around the globe have adopted much more complex and progressive paths. </a:t>
                      </a:r>
                      <a:endParaRPr b="1"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RID]</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19" name="Google Shape;1119;p12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6.25.1 </a:t>
            </a:r>
            <a:r>
              <a:rPr lang="en" sz="2800">
                <a:solidFill>
                  <a:srgbClr val="424242"/>
                </a:solidFill>
                <a:latin typeface="Times New Roman"/>
                <a:ea typeface="Times New Roman"/>
                <a:cs typeface="Times New Roman"/>
                <a:sym typeface="Times New Roman"/>
              </a:rPr>
              <a:t>Canada</a:t>
            </a:r>
            <a:endParaRPr sz="2800">
              <a:solidFill>
                <a:srgbClr val="424242"/>
              </a:solidFill>
              <a:latin typeface="Times New Roman"/>
              <a:ea typeface="Times New Roman"/>
              <a:cs typeface="Times New Roman"/>
              <a:sym typeface="Times New Roman"/>
            </a:endParaRPr>
          </a:p>
        </p:txBody>
      </p:sp>
      <p:pic>
        <p:nvPicPr>
          <p:cNvPr id="1120" name="Google Shape;1120;p128"/>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1121" name="Google Shape;1121;p128"/>
          <p:cNvPicPr preferRelativeResize="0"/>
          <p:nvPr/>
        </p:nvPicPr>
        <p:blipFill>
          <a:blip r:embed="rId4">
            <a:alphaModFix/>
          </a:blip>
          <a:stretch>
            <a:fillRect/>
          </a:stretch>
        </p:blipFill>
        <p:spPr>
          <a:xfrm>
            <a:off x="3048000" y="999302"/>
            <a:ext cx="3048000" cy="2306400"/>
          </a:xfrm>
          <a:prstGeom prst="rect">
            <a:avLst/>
          </a:prstGeom>
          <a:noFill/>
          <a:ln>
            <a:noFill/>
          </a:ln>
        </p:spPr>
      </p:pic>
      <p:pic>
        <p:nvPicPr>
          <p:cNvPr id="1122" name="Google Shape;1122;p128"/>
          <p:cNvPicPr preferRelativeResize="0"/>
          <p:nvPr/>
        </p:nvPicPr>
        <p:blipFill rotWithShape="1">
          <a:blip r:embed="rId5">
            <a:alphaModFix/>
          </a:blip>
          <a:srcRect b="47592" l="0" r="0" t="0"/>
          <a:stretch/>
        </p:blipFill>
        <p:spPr>
          <a:xfrm>
            <a:off x="1109097" y="3305700"/>
            <a:ext cx="1645425" cy="1837800"/>
          </a:xfrm>
          <a:prstGeom prst="rect">
            <a:avLst/>
          </a:prstGeom>
          <a:noFill/>
          <a:ln>
            <a:noFill/>
          </a:ln>
        </p:spPr>
      </p:pic>
      <p:pic>
        <p:nvPicPr>
          <p:cNvPr id="1123" name="Google Shape;1123;p128"/>
          <p:cNvPicPr preferRelativeResize="0"/>
          <p:nvPr/>
        </p:nvPicPr>
        <p:blipFill rotWithShape="1">
          <a:blip r:embed="rId5">
            <a:alphaModFix/>
          </a:blip>
          <a:srcRect b="1103" l="0" r="0" t="52538"/>
          <a:stretch/>
        </p:blipFill>
        <p:spPr>
          <a:xfrm>
            <a:off x="2692537" y="3517927"/>
            <a:ext cx="1645425" cy="1625601"/>
          </a:xfrm>
          <a:prstGeom prst="rect">
            <a:avLst/>
          </a:prstGeom>
          <a:noFill/>
          <a:ln>
            <a:noFill/>
          </a:ln>
        </p:spPr>
      </p:pic>
      <p:pic>
        <p:nvPicPr>
          <p:cNvPr id="1124" name="Google Shape;1124;p128"/>
          <p:cNvPicPr preferRelativeResize="0"/>
          <p:nvPr/>
        </p:nvPicPr>
        <p:blipFill rotWithShape="1">
          <a:blip r:embed="rId5">
            <a:alphaModFix/>
          </a:blip>
          <a:srcRect b="94385" l="0" r="0" t="0"/>
          <a:stretch/>
        </p:blipFill>
        <p:spPr>
          <a:xfrm>
            <a:off x="2692525" y="3328349"/>
            <a:ext cx="1584372" cy="189575"/>
          </a:xfrm>
          <a:prstGeom prst="rect">
            <a:avLst/>
          </a:prstGeom>
          <a:noFill/>
          <a:ln>
            <a:noFill/>
          </a:ln>
        </p:spPr>
      </p:pic>
      <p:sp>
        <p:nvSpPr>
          <p:cNvPr id="1125" name="Google Shape;1125;p1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graphicFrame>
        <p:nvGraphicFramePr>
          <p:cNvPr id="1130" name="Google Shape;1130;p12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sp>
        <p:nvSpPr>
          <p:cNvPr id="1131" name="Google Shape;1131;p12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6.25.2 </a:t>
            </a:r>
            <a:r>
              <a:rPr lang="en" sz="2800">
                <a:solidFill>
                  <a:srgbClr val="424242"/>
                </a:solidFill>
                <a:latin typeface="Times New Roman"/>
                <a:ea typeface="Times New Roman"/>
                <a:cs typeface="Times New Roman"/>
                <a:sym typeface="Times New Roman"/>
              </a:rPr>
              <a:t>Canada</a:t>
            </a:r>
            <a:endParaRPr sz="2800">
              <a:solidFill>
                <a:srgbClr val="424242"/>
              </a:solidFill>
              <a:latin typeface="Times New Roman"/>
              <a:ea typeface="Times New Roman"/>
              <a:cs typeface="Times New Roman"/>
              <a:sym typeface="Times New Roman"/>
            </a:endParaRPr>
          </a:p>
        </p:txBody>
      </p:sp>
      <p:pic>
        <p:nvPicPr>
          <p:cNvPr id="1132" name="Google Shape;1132;p129"/>
          <p:cNvPicPr preferRelativeResize="0"/>
          <p:nvPr/>
        </p:nvPicPr>
        <p:blipFill>
          <a:blip r:embed="rId3">
            <a:alphaModFix/>
          </a:blip>
          <a:stretch>
            <a:fillRect/>
          </a:stretch>
        </p:blipFill>
        <p:spPr>
          <a:xfrm>
            <a:off x="0" y="999300"/>
            <a:ext cx="6096000" cy="2181000"/>
          </a:xfrm>
          <a:prstGeom prst="rect">
            <a:avLst/>
          </a:prstGeom>
          <a:noFill/>
          <a:ln>
            <a:noFill/>
          </a:ln>
        </p:spPr>
      </p:pic>
      <p:pic>
        <p:nvPicPr>
          <p:cNvPr id="1133" name="Google Shape;1133;p129"/>
          <p:cNvPicPr preferRelativeResize="0"/>
          <p:nvPr/>
        </p:nvPicPr>
        <p:blipFill rotWithShape="1">
          <a:blip r:embed="rId4">
            <a:alphaModFix/>
          </a:blip>
          <a:srcRect b="10048" l="833" r="0" t="0"/>
          <a:stretch/>
        </p:blipFill>
        <p:spPr>
          <a:xfrm>
            <a:off x="0" y="3180300"/>
            <a:ext cx="6095999" cy="1832850"/>
          </a:xfrm>
          <a:prstGeom prst="rect">
            <a:avLst/>
          </a:prstGeom>
          <a:noFill/>
          <a:ln>
            <a:noFill/>
          </a:ln>
        </p:spPr>
      </p:pic>
      <p:pic>
        <p:nvPicPr>
          <p:cNvPr id="1134" name="Google Shape;1134;p129"/>
          <p:cNvPicPr preferRelativeResize="0"/>
          <p:nvPr/>
        </p:nvPicPr>
        <p:blipFill rotWithShape="1">
          <a:blip r:embed="rId5">
            <a:alphaModFix/>
          </a:blip>
          <a:srcRect b="0" l="32314" r="46082" t="0"/>
          <a:stretch/>
        </p:blipFill>
        <p:spPr>
          <a:xfrm>
            <a:off x="6996717" y="999300"/>
            <a:ext cx="2147281" cy="4144175"/>
          </a:xfrm>
          <a:prstGeom prst="rect">
            <a:avLst/>
          </a:prstGeom>
          <a:noFill/>
          <a:ln>
            <a:noFill/>
          </a:ln>
        </p:spPr>
      </p:pic>
      <p:pic>
        <p:nvPicPr>
          <p:cNvPr id="1135" name="Google Shape;1135;p129"/>
          <p:cNvPicPr preferRelativeResize="0"/>
          <p:nvPr/>
        </p:nvPicPr>
        <p:blipFill rotWithShape="1">
          <a:blip r:embed="rId6">
            <a:alphaModFix/>
          </a:blip>
          <a:srcRect b="0" l="0" r="69340" t="970"/>
          <a:stretch/>
        </p:blipFill>
        <p:spPr>
          <a:xfrm>
            <a:off x="6096000" y="1093625"/>
            <a:ext cx="900725" cy="4049875"/>
          </a:xfrm>
          <a:prstGeom prst="rect">
            <a:avLst/>
          </a:prstGeom>
          <a:noFill/>
          <a:ln>
            <a:noFill/>
          </a:ln>
        </p:spPr>
      </p:pic>
      <p:sp>
        <p:nvSpPr>
          <p:cNvPr id="1136" name="Google Shape;1136;p1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graphicFrame>
        <p:nvGraphicFramePr>
          <p:cNvPr id="1141" name="Google Shape;1141;p13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42" name="Google Shape;1142;p13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6.25.3 </a:t>
            </a:r>
            <a:r>
              <a:rPr lang="en" sz="2800">
                <a:solidFill>
                  <a:srgbClr val="424242"/>
                </a:solidFill>
                <a:latin typeface="Times New Roman"/>
                <a:ea typeface="Times New Roman"/>
                <a:cs typeface="Times New Roman"/>
                <a:sym typeface="Times New Roman"/>
              </a:rPr>
              <a:t>Canada  </a:t>
            </a:r>
            <a:endParaRPr sz="2800">
              <a:solidFill>
                <a:srgbClr val="424242"/>
              </a:solidFill>
              <a:latin typeface="Times New Roman"/>
              <a:ea typeface="Times New Roman"/>
              <a:cs typeface="Times New Roman"/>
              <a:sym typeface="Times New Roman"/>
            </a:endParaRPr>
          </a:p>
        </p:txBody>
      </p:sp>
      <p:pic>
        <p:nvPicPr>
          <p:cNvPr id="1143" name="Google Shape;1143;p130"/>
          <p:cNvPicPr preferRelativeResize="0"/>
          <p:nvPr/>
        </p:nvPicPr>
        <p:blipFill>
          <a:blip r:embed="rId3">
            <a:alphaModFix/>
          </a:blip>
          <a:stretch>
            <a:fillRect/>
          </a:stretch>
        </p:blipFill>
        <p:spPr>
          <a:xfrm>
            <a:off x="0" y="999300"/>
            <a:ext cx="4450074" cy="2044325"/>
          </a:xfrm>
          <a:prstGeom prst="rect">
            <a:avLst/>
          </a:prstGeom>
          <a:noFill/>
          <a:ln>
            <a:noFill/>
          </a:ln>
        </p:spPr>
      </p:pic>
      <p:pic>
        <p:nvPicPr>
          <p:cNvPr id="1144" name="Google Shape;1144;p130"/>
          <p:cNvPicPr preferRelativeResize="0"/>
          <p:nvPr/>
        </p:nvPicPr>
        <p:blipFill>
          <a:blip r:embed="rId4">
            <a:alphaModFix/>
          </a:blip>
          <a:stretch>
            <a:fillRect/>
          </a:stretch>
        </p:blipFill>
        <p:spPr>
          <a:xfrm>
            <a:off x="0" y="3043625"/>
            <a:ext cx="4450074" cy="2099875"/>
          </a:xfrm>
          <a:prstGeom prst="rect">
            <a:avLst/>
          </a:prstGeom>
          <a:noFill/>
          <a:ln>
            <a:noFill/>
          </a:ln>
        </p:spPr>
      </p:pic>
      <p:pic>
        <p:nvPicPr>
          <p:cNvPr id="1145" name="Google Shape;1145;p130"/>
          <p:cNvPicPr preferRelativeResize="0"/>
          <p:nvPr/>
        </p:nvPicPr>
        <p:blipFill rotWithShape="1">
          <a:blip r:embed="rId5">
            <a:alphaModFix/>
          </a:blip>
          <a:srcRect b="0" l="1681" r="1681" t="0"/>
          <a:stretch/>
        </p:blipFill>
        <p:spPr>
          <a:xfrm>
            <a:off x="4450075" y="2146961"/>
            <a:ext cx="4618375" cy="1848875"/>
          </a:xfrm>
          <a:prstGeom prst="rect">
            <a:avLst/>
          </a:prstGeom>
          <a:noFill/>
          <a:ln>
            <a:noFill/>
          </a:ln>
        </p:spPr>
      </p:pic>
      <p:sp>
        <p:nvSpPr>
          <p:cNvPr id="1146" name="Google Shape;1146;p1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graphicFrame>
        <p:nvGraphicFramePr>
          <p:cNvPr id="1151" name="Google Shape;1151;p131"/>
          <p:cNvGraphicFramePr/>
          <p:nvPr/>
        </p:nvGraphicFramePr>
        <p:xfrm>
          <a:off x="368707" y="881036"/>
          <a:ext cx="3000000" cy="3000000"/>
        </p:xfrm>
        <a:graphic>
          <a:graphicData uri="http://schemas.openxmlformats.org/drawingml/2006/table">
            <a:tbl>
              <a:tblPr>
                <a:noFill/>
                <a:tableStyleId>{86D11D6D-23B2-4238-A28D-41E66CAD4618}</a:tableStyleId>
              </a:tblPr>
              <a:tblGrid>
                <a:gridCol w="2925100"/>
                <a:gridCol w="2925100"/>
                <a:gridCol w="29251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GDP Growth over period: 3.09%</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just">
                        <a:spcBef>
                          <a:spcPts val="0"/>
                        </a:spcBef>
                        <a:spcAft>
                          <a:spcPts val="0"/>
                        </a:spcAft>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Chile on the industry group level. The product classification system we adopt allows us to measure the realized industry development for various industry groups and to observe that Chile consistently relied on developing the Services and Utilities and Transportation industries during the period, while its developed counterparts and emerging economies around the globe adopted much more complex and progressive paths. </a:t>
                      </a:r>
                      <a:endParaRPr b="1"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[TABLE RDI]</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52" name="Google Shape;1152;p13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6.26.1 Chile</a:t>
            </a:r>
            <a:endParaRPr sz="2800">
              <a:solidFill>
                <a:srgbClr val="424242"/>
              </a:solidFill>
              <a:latin typeface="Times New Roman"/>
              <a:ea typeface="Times New Roman"/>
              <a:cs typeface="Times New Roman"/>
              <a:sym typeface="Times New Roman"/>
            </a:endParaRPr>
          </a:p>
        </p:txBody>
      </p:sp>
      <p:pic>
        <p:nvPicPr>
          <p:cNvPr id="1153" name="Google Shape;1153;p131"/>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1154" name="Google Shape;1154;p131"/>
          <p:cNvPicPr preferRelativeResize="0"/>
          <p:nvPr/>
        </p:nvPicPr>
        <p:blipFill>
          <a:blip r:embed="rId4">
            <a:alphaModFix/>
          </a:blip>
          <a:stretch>
            <a:fillRect/>
          </a:stretch>
        </p:blipFill>
        <p:spPr>
          <a:xfrm>
            <a:off x="3048000" y="999300"/>
            <a:ext cx="3048000" cy="2306400"/>
          </a:xfrm>
          <a:prstGeom prst="rect">
            <a:avLst/>
          </a:prstGeom>
          <a:noFill/>
          <a:ln>
            <a:noFill/>
          </a:ln>
        </p:spPr>
      </p:pic>
      <p:pic>
        <p:nvPicPr>
          <p:cNvPr id="1155" name="Google Shape;1155;p131"/>
          <p:cNvPicPr preferRelativeResize="0"/>
          <p:nvPr/>
        </p:nvPicPr>
        <p:blipFill rotWithShape="1">
          <a:blip r:embed="rId5">
            <a:alphaModFix/>
          </a:blip>
          <a:srcRect b="48731" l="0" r="0" t="0"/>
          <a:stretch/>
        </p:blipFill>
        <p:spPr>
          <a:xfrm>
            <a:off x="882250" y="3305700"/>
            <a:ext cx="1731201" cy="1812875"/>
          </a:xfrm>
          <a:prstGeom prst="rect">
            <a:avLst/>
          </a:prstGeom>
          <a:noFill/>
          <a:ln>
            <a:noFill/>
          </a:ln>
        </p:spPr>
      </p:pic>
      <p:pic>
        <p:nvPicPr>
          <p:cNvPr id="1156" name="Google Shape;1156;p131"/>
          <p:cNvPicPr preferRelativeResize="0"/>
          <p:nvPr/>
        </p:nvPicPr>
        <p:blipFill rotWithShape="1">
          <a:blip r:embed="rId5">
            <a:alphaModFix/>
          </a:blip>
          <a:srcRect b="0" l="0" r="0" t="51269"/>
          <a:stretch/>
        </p:blipFill>
        <p:spPr>
          <a:xfrm>
            <a:off x="2563725" y="3535201"/>
            <a:ext cx="1588675" cy="1581175"/>
          </a:xfrm>
          <a:prstGeom prst="rect">
            <a:avLst/>
          </a:prstGeom>
          <a:noFill/>
          <a:ln>
            <a:noFill/>
          </a:ln>
        </p:spPr>
      </p:pic>
      <p:pic>
        <p:nvPicPr>
          <p:cNvPr id="1157" name="Google Shape;1157;p131"/>
          <p:cNvPicPr preferRelativeResize="0"/>
          <p:nvPr/>
        </p:nvPicPr>
        <p:blipFill rotWithShape="1">
          <a:blip r:embed="rId5">
            <a:alphaModFix/>
          </a:blip>
          <a:srcRect b="93510" l="0" r="0" t="0"/>
          <a:stretch/>
        </p:blipFill>
        <p:spPr>
          <a:xfrm>
            <a:off x="2563732" y="3305700"/>
            <a:ext cx="1731200" cy="229500"/>
          </a:xfrm>
          <a:prstGeom prst="rect">
            <a:avLst/>
          </a:prstGeom>
          <a:noFill/>
          <a:ln>
            <a:noFill/>
          </a:ln>
        </p:spPr>
      </p:pic>
      <p:sp>
        <p:nvSpPr>
          <p:cNvPr id="1158" name="Google Shape;1158;p1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graphicFrame>
        <p:nvGraphicFramePr>
          <p:cNvPr id="1163" name="Google Shape;1163;p13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tc>
                <a:tc hMerge="1"/>
                <a:tc vMerge="1"/>
              </a:tr>
            </a:tbl>
          </a:graphicData>
        </a:graphic>
      </p:graphicFrame>
      <p:pic>
        <p:nvPicPr>
          <p:cNvPr id="1164" name="Google Shape;1164;p132"/>
          <p:cNvPicPr preferRelativeResize="0"/>
          <p:nvPr/>
        </p:nvPicPr>
        <p:blipFill rotWithShape="1">
          <a:blip r:embed="rId3">
            <a:alphaModFix/>
          </a:blip>
          <a:srcRect b="0" l="71318" r="0" t="0"/>
          <a:stretch/>
        </p:blipFill>
        <p:spPr>
          <a:xfrm>
            <a:off x="6813176" y="999300"/>
            <a:ext cx="2330825" cy="4144175"/>
          </a:xfrm>
          <a:prstGeom prst="rect">
            <a:avLst/>
          </a:prstGeom>
          <a:noFill/>
          <a:ln>
            <a:noFill/>
          </a:ln>
        </p:spPr>
      </p:pic>
      <p:pic>
        <p:nvPicPr>
          <p:cNvPr id="1165" name="Google Shape;1165;p132"/>
          <p:cNvPicPr preferRelativeResize="0"/>
          <p:nvPr/>
        </p:nvPicPr>
        <p:blipFill rotWithShape="1">
          <a:blip r:embed="rId3">
            <a:alphaModFix/>
          </a:blip>
          <a:srcRect b="0" l="0" r="86327" t="0"/>
          <a:stretch/>
        </p:blipFill>
        <p:spPr>
          <a:xfrm>
            <a:off x="6029175" y="999300"/>
            <a:ext cx="784000" cy="4144175"/>
          </a:xfrm>
          <a:prstGeom prst="rect">
            <a:avLst/>
          </a:prstGeom>
          <a:noFill/>
          <a:ln>
            <a:noFill/>
          </a:ln>
        </p:spPr>
      </p:pic>
      <p:pic>
        <p:nvPicPr>
          <p:cNvPr id="1166" name="Google Shape;1166;p132"/>
          <p:cNvPicPr preferRelativeResize="0"/>
          <p:nvPr/>
        </p:nvPicPr>
        <p:blipFill>
          <a:blip r:embed="rId4">
            <a:alphaModFix/>
          </a:blip>
          <a:stretch>
            <a:fillRect/>
          </a:stretch>
        </p:blipFill>
        <p:spPr>
          <a:xfrm>
            <a:off x="-23800" y="999300"/>
            <a:ext cx="5981700" cy="2181000"/>
          </a:xfrm>
          <a:prstGeom prst="rect">
            <a:avLst/>
          </a:prstGeom>
          <a:noFill/>
          <a:ln>
            <a:noFill/>
          </a:ln>
        </p:spPr>
      </p:pic>
      <p:pic>
        <p:nvPicPr>
          <p:cNvPr id="1167" name="Google Shape;1167;p132"/>
          <p:cNvPicPr preferRelativeResize="0"/>
          <p:nvPr/>
        </p:nvPicPr>
        <p:blipFill rotWithShape="1">
          <a:blip r:embed="rId5">
            <a:alphaModFix/>
          </a:blip>
          <a:srcRect b="9551" l="1497" r="0" t="0"/>
          <a:stretch/>
        </p:blipFill>
        <p:spPr>
          <a:xfrm>
            <a:off x="0" y="3180300"/>
            <a:ext cx="5934075" cy="1981200"/>
          </a:xfrm>
          <a:prstGeom prst="rect">
            <a:avLst/>
          </a:prstGeom>
          <a:noFill/>
          <a:ln>
            <a:noFill/>
          </a:ln>
        </p:spPr>
      </p:pic>
      <p:sp>
        <p:nvSpPr>
          <p:cNvPr id="1168" name="Google Shape;1168;p132"/>
          <p:cNvSpPr txBox="1"/>
          <p:nvPr/>
        </p:nvSpPr>
        <p:spPr>
          <a:xfrm>
            <a:off x="0" y="-4"/>
            <a:ext cx="7030500" cy="7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6.26.2 Chile  </a:t>
            </a:r>
            <a:endParaRPr sz="2800">
              <a:solidFill>
                <a:srgbClr val="424242"/>
              </a:solidFill>
              <a:latin typeface="Times New Roman"/>
              <a:ea typeface="Times New Roman"/>
              <a:cs typeface="Times New Roman"/>
              <a:sym typeface="Times New Roman"/>
            </a:endParaRPr>
          </a:p>
        </p:txBody>
      </p:sp>
      <p:sp>
        <p:nvSpPr>
          <p:cNvPr id="1169" name="Google Shape;1169;p1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graphicFrame>
        <p:nvGraphicFramePr>
          <p:cNvPr id="1174" name="Google Shape;1174;p13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75" name="Google Shape;1175;p133"/>
          <p:cNvSpPr txBox="1"/>
          <p:nvPr/>
        </p:nvSpPr>
        <p:spPr>
          <a:xfrm>
            <a:off x="0" y="-4"/>
            <a:ext cx="7030500" cy="7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6.26.3 Chile  </a:t>
            </a:r>
            <a:endParaRPr sz="2800">
              <a:solidFill>
                <a:srgbClr val="424242"/>
              </a:solidFill>
              <a:latin typeface="Times New Roman"/>
              <a:ea typeface="Times New Roman"/>
              <a:cs typeface="Times New Roman"/>
              <a:sym typeface="Times New Roman"/>
            </a:endParaRPr>
          </a:p>
        </p:txBody>
      </p:sp>
      <p:pic>
        <p:nvPicPr>
          <p:cNvPr id="1176" name="Google Shape;1176;p133"/>
          <p:cNvPicPr preferRelativeResize="0"/>
          <p:nvPr/>
        </p:nvPicPr>
        <p:blipFill>
          <a:blip r:embed="rId3">
            <a:alphaModFix/>
          </a:blip>
          <a:stretch>
            <a:fillRect/>
          </a:stretch>
        </p:blipFill>
        <p:spPr>
          <a:xfrm>
            <a:off x="0" y="999300"/>
            <a:ext cx="4450074" cy="2044325"/>
          </a:xfrm>
          <a:prstGeom prst="rect">
            <a:avLst/>
          </a:prstGeom>
          <a:noFill/>
          <a:ln>
            <a:noFill/>
          </a:ln>
        </p:spPr>
      </p:pic>
      <p:pic>
        <p:nvPicPr>
          <p:cNvPr id="1177" name="Google Shape;1177;p133"/>
          <p:cNvPicPr preferRelativeResize="0"/>
          <p:nvPr/>
        </p:nvPicPr>
        <p:blipFill>
          <a:blip r:embed="rId4">
            <a:alphaModFix/>
          </a:blip>
          <a:stretch>
            <a:fillRect/>
          </a:stretch>
        </p:blipFill>
        <p:spPr>
          <a:xfrm>
            <a:off x="0" y="3043625"/>
            <a:ext cx="4450074" cy="2099875"/>
          </a:xfrm>
          <a:prstGeom prst="rect">
            <a:avLst/>
          </a:prstGeom>
          <a:noFill/>
          <a:ln>
            <a:noFill/>
          </a:ln>
        </p:spPr>
      </p:pic>
      <p:pic>
        <p:nvPicPr>
          <p:cNvPr id="1178" name="Google Shape;1178;p133"/>
          <p:cNvPicPr preferRelativeResize="0"/>
          <p:nvPr/>
        </p:nvPicPr>
        <p:blipFill>
          <a:blip r:embed="rId5">
            <a:alphaModFix/>
          </a:blip>
          <a:stretch>
            <a:fillRect/>
          </a:stretch>
        </p:blipFill>
        <p:spPr>
          <a:xfrm>
            <a:off x="4572000" y="2232022"/>
            <a:ext cx="4450074" cy="1660157"/>
          </a:xfrm>
          <a:prstGeom prst="rect">
            <a:avLst/>
          </a:prstGeom>
          <a:noFill/>
          <a:ln>
            <a:noFill/>
          </a:ln>
        </p:spPr>
      </p:pic>
      <p:sp>
        <p:nvSpPr>
          <p:cNvPr id="1179" name="Google Shape;1179;p1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graphicFrame>
        <p:nvGraphicFramePr>
          <p:cNvPr id="1184" name="Google Shape;1184;p13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3.57%</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Denmark on the industry group level. The product classification system we adopt allows us to measure the realized industry development for various industry groups and to observe that Denmark consistently relied on developing the Food and Preparations, Wood Products, and Chemicals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85" name="Google Shape;1185;p13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6.27.1 Denmark</a:t>
            </a:r>
            <a:endParaRPr sz="2800">
              <a:solidFill>
                <a:srgbClr val="424242"/>
              </a:solidFill>
              <a:latin typeface="Times New Roman"/>
              <a:ea typeface="Times New Roman"/>
              <a:cs typeface="Times New Roman"/>
              <a:sym typeface="Times New Roman"/>
            </a:endParaRPr>
          </a:p>
        </p:txBody>
      </p:sp>
      <p:pic>
        <p:nvPicPr>
          <p:cNvPr id="1186" name="Google Shape;1186;p134"/>
          <p:cNvPicPr preferRelativeResize="0"/>
          <p:nvPr/>
        </p:nvPicPr>
        <p:blipFill>
          <a:blip r:embed="rId3">
            <a:alphaModFix/>
          </a:blip>
          <a:stretch>
            <a:fillRect/>
          </a:stretch>
        </p:blipFill>
        <p:spPr>
          <a:xfrm>
            <a:off x="0" y="999300"/>
            <a:ext cx="3048000" cy="2306400"/>
          </a:xfrm>
          <a:prstGeom prst="rect">
            <a:avLst/>
          </a:prstGeom>
          <a:noFill/>
          <a:ln>
            <a:noFill/>
          </a:ln>
        </p:spPr>
      </p:pic>
      <p:pic>
        <p:nvPicPr>
          <p:cNvPr id="1187" name="Google Shape;1187;p134"/>
          <p:cNvPicPr preferRelativeResize="0"/>
          <p:nvPr/>
        </p:nvPicPr>
        <p:blipFill>
          <a:blip r:embed="rId4">
            <a:alphaModFix/>
          </a:blip>
          <a:stretch>
            <a:fillRect/>
          </a:stretch>
        </p:blipFill>
        <p:spPr>
          <a:xfrm>
            <a:off x="3048000" y="999300"/>
            <a:ext cx="3048000" cy="2306400"/>
          </a:xfrm>
          <a:prstGeom prst="rect">
            <a:avLst/>
          </a:prstGeom>
          <a:noFill/>
          <a:ln>
            <a:noFill/>
          </a:ln>
        </p:spPr>
      </p:pic>
      <p:pic>
        <p:nvPicPr>
          <p:cNvPr id="1188" name="Google Shape;1188;p134"/>
          <p:cNvPicPr preferRelativeResize="0"/>
          <p:nvPr/>
        </p:nvPicPr>
        <p:blipFill rotWithShape="1">
          <a:blip r:embed="rId5">
            <a:alphaModFix/>
          </a:blip>
          <a:srcRect b="48849" l="0" r="0" t="0"/>
          <a:stretch/>
        </p:blipFill>
        <p:spPr>
          <a:xfrm>
            <a:off x="1309550" y="3305700"/>
            <a:ext cx="1738459" cy="1837800"/>
          </a:xfrm>
          <a:prstGeom prst="rect">
            <a:avLst/>
          </a:prstGeom>
          <a:noFill/>
          <a:ln>
            <a:noFill/>
          </a:ln>
        </p:spPr>
      </p:pic>
      <p:pic>
        <p:nvPicPr>
          <p:cNvPr id="1189" name="Google Shape;1189;p134"/>
          <p:cNvPicPr preferRelativeResize="0"/>
          <p:nvPr/>
        </p:nvPicPr>
        <p:blipFill rotWithShape="1">
          <a:blip r:embed="rId5">
            <a:alphaModFix/>
          </a:blip>
          <a:srcRect b="0" l="0" r="0" t="52930"/>
          <a:stretch/>
        </p:blipFill>
        <p:spPr>
          <a:xfrm>
            <a:off x="3048000" y="3545044"/>
            <a:ext cx="1616075" cy="1572081"/>
          </a:xfrm>
          <a:prstGeom prst="rect">
            <a:avLst/>
          </a:prstGeom>
          <a:noFill/>
          <a:ln>
            <a:noFill/>
          </a:ln>
        </p:spPr>
      </p:pic>
      <p:pic>
        <p:nvPicPr>
          <p:cNvPr id="1190" name="Google Shape;1190;p134"/>
          <p:cNvPicPr preferRelativeResize="0"/>
          <p:nvPr/>
        </p:nvPicPr>
        <p:blipFill rotWithShape="1">
          <a:blip r:embed="rId5">
            <a:alphaModFix/>
          </a:blip>
          <a:srcRect b="94884" l="0" r="0" t="0"/>
          <a:stretch/>
        </p:blipFill>
        <p:spPr>
          <a:xfrm>
            <a:off x="3047987" y="3344800"/>
            <a:ext cx="1524000" cy="161143"/>
          </a:xfrm>
          <a:prstGeom prst="rect">
            <a:avLst/>
          </a:prstGeom>
          <a:noFill/>
          <a:ln>
            <a:noFill/>
          </a:ln>
        </p:spPr>
      </p:pic>
      <p:sp>
        <p:nvSpPr>
          <p:cNvPr id="1191" name="Google Shape;1191;p1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graphicFrame>
        <p:nvGraphicFramePr>
          <p:cNvPr id="1196" name="Google Shape;1196;p13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197" name="Google Shape;1197;p135"/>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pic>
        <p:nvPicPr>
          <p:cNvPr id="1198" name="Google Shape;1198;p135"/>
          <p:cNvPicPr preferRelativeResize="0"/>
          <p:nvPr/>
        </p:nvPicPr>
        <p:blipFill>
          <a:blip r:embed="rId4">
            <a:alphaModFix/>
          </a:blip>
          <a:stretch>
            <a:fillRect/>
          </a:stretch>
        </p:blipFill>
        <p:spPr>
          <a:xfrm>
            <a:off x="123825" y="1093625"/>
            <a:ext cx="5972175" cy="2038350"/>
          </a:xfrm>
          <a:prstGeom prst="rect">
            <a:avLst/>
          </a:prstGeom>
          <a:noFill/>
          <a:ln>
            <a:noFill/>
          </a:ln>
        </p:spPr>
      </p:pic>
      <p:pic>
        <p:nvPicPr>
          <p:cNvPr id="1199" name="Google Shape;1199;p135"/>
          <p:cNvPicPr preferRelativeResize="0"/>
          <p:nvPr/>
        </p:nvPicPr>
        <p:blipFill rotWithShape="1">
          <a:blip r:embed="rId5">
            <a:alphaModFix/>
          </a:blip>
          <a:srcRect b="10730" l="2657" r="0" t="0"/>
          <a:stretch/>
        </p:blipFill>
        <p:spPr>
          <a:xfrm>
            <a:off x="0" y="3131975"/>
            <a:ext cx="5972175" cy="1868168"/>
          </a:xfrm>
          <a:prstGeom prst="rect">
            <a:avLst/>
          </a:prstGeom>
          <a:noFill/>
          <a:ln>
            <a:noFill/>
          </a:ln>
        </p:spPr>
      </p:pic>
      <p:pic>
        <p:nvPicPr>
          <p:cNvPr id="1200" name="Google Shape;1200;p135"/>
          <p:cNvPicPr preferRelativeResize="0"/>
          <p:nvPr/>
        </p:nvPicPr>
        <p:blipFill rotWithShape="1">
          <a:blip r:embed="rId6">
            <a:alphaModFix/>
          </a:blip>
          <a:srcRect b="0" l="77667" r="0" t="0"/>
          <a:stretch/>
        </p:blipFill>
        <p:spPr>
          <a:xfrm>
            <a:off x="6897398" y="1046475"/>
            <a:ext cx="2246602" cy="4144175"/>
          </a:xfrm>
          <a:prstGeom prst="rect">
            <a:avLst/>
          </a:prstGeom>
          <a:noFill/>
          <a:ln>
            <a:noFill/>
          </a:ln>
        </p:spPr>
      </p:pic>
      <p:sp>
        <p:nvSpPr>
          <p:cNvPr id="1201" name="Google Shape;1201;p13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6.27.2 Denmark  </a:t>
            </a:r>
            <a:endParaRPr sz="2800">
              <a:solidFill>
                <a:srgbClr val="424242"/>
              </a:solidFill>
              <a:latin typeface="Times New Roman"/>
              <a:ea typeface="Times New Roman"/>
              <a:cs typeface="Times New Roman"/>
              <a:sym typeface="Times New Roman"/>
            </a:endParaRPr>
          </a:p>
        </p:txBody>
      </p:sp>
      <p:sp>
        <p:nvSpPr>
          <p:cNvPr id="1202" name="Google Shape;1202;p1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graphicFrame>
        <p:nvGraphicFramePr>
          <p:cNvPr id="1207" name="Google Shape;1207;p13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208" name="Google Shape;1208;p136"/>
          <p:cNvPicPr preferRelativeResize="0"/>
          <p:nvPr/>
        </p:nvPicPr>
        <p:blipFill>
          <a:blip r:embed="rId3">
            <a:alphaModFix/>
          </a:blip>
          <a:stretch>
            <a:fillRect/>
          </a:stretch>
        </p:blipFill>
        <p:spPr>
          <a:xfrm>
            <a:off x="0" y="999300"/>
            <a:ext cx="4450074" cy="2099875"/>
          </a:xfrm>
          <a:prstGeom prst="rect">
            <a:avLst/>
          </a:prstGeom>
          <a:noFill/>
          <a:ln>
            <a:noFill/>
          </a:ln>
        </p:spPr>
      </p:pic>
      <p:pic>
        <p:nvPicPr>
          <p:cNvPr id="1209" name="Google Shape;1209;p136"/>
          <p:cNvPicPr preferRelativeResize="0"/>
          <p:nvPr/>
        </p:nvPicPr>
        <p:blipFill>
          <a:blip r:embed="rId4">
            <a:alphaModFix/>
          </a:blip>
          <a:stretch>
            <a:fillRect/>
          </a:stretch>
        </p:blipFill>
        <p:spPr>
          <a:xfrm>
            <a:off x="0" y="3043625"/>
            <a:ext cx="4450074" cy="2099875"/>
          </a:xfrm>
          <a:prstGeom prst="rect">
            <a:avLst/>
          </a:prstGeom>
          <a:noFill/>
          <a:ln>
            <a:noFill/>
          </a:ln>
        </p:spPr>
      </p:pic>
      <p:pic>
        <p:nvPicPr>
          <p:cNvPr id="1210" name="Google Shape;1210;p136"/>
          <p:cNvPicPr preferRelativeResize="0"/>
          <p:nvPr/>
        </p:nvPicPr>
        <p:blipFill>
          <a:blip r:embed="rId5">
            <a:alphaModFix/>
          </a:blip>
          <a:stretch>
            <a:fillRect/>
          </a:stretch>
        </p:blipFill>
        <p:spPr>
          <a:xfrm>
            <a:off x="4450074" y="2133355"/>
            <a:ext cx="4693926" cy="1876090"/>
          </a:xfrm>
          <a:prstGeom prst="rect">
            <a:avLst/>
          </a:prstGeom>
          <a:noFill/>
          <a:ln>
            <a:noFill/>
          </a:ln>
        </p:spPr>
      </p:pic>
      <p:sp>
        <p:nvSpPr>
          <p:cNvPr id="1211" name="Google Shape;1211;p13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6.27.3 Denmark  </a:t>
            </a:r>
            <a:endParaRPr sz="2800">
              <a:solidFill>
                <a:srgbClr val="424242"/>
              </a:solidFill>
              <a:latin typeface="Times New Roman"/>
              <a:ea typeface="Times New Roman"/>
              <a:cs typeface="Times New Roman"/>
              <a:sym typeface="Times New Roman"/>
            </a:endParaRPr>
          </a:p>
        </p:txBody>
      </p:sp>
      <p:sp>
        <p:nvSpPr>
          <p:cNvPr id="1212" name="Google Shape;1212;p1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graphicFrame>
        <p:nvGraphicFramePr>
          <p:cNvPr id="1217" name="Google Shape;1217;p13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5.26%</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Ghana on the industry group level. The product classification system we adopt allows us to measure the realized industry development for various industry groups and to observe that Ghana consistently relied on developing the Transportation, Daily Instruments, Machinery and Construction, and High-Complexity Products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218" name="Google Shape;1218;p13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6.28.1 Ghana</a:t>
            </a:r>
            <a:endParaRPr sz="2800">
              <a:solidFill>
                <a:srgbClr val="424242"/>
              </a:solidFill>
              <a:latin typeface="Times New Roman"/>
              <a:ea typeface="Times New Roman"/>
              <a:cs typeface="Times New Roman"/>
              <a:sym typeface="Times New Roman"/>
            </a:endParaRPr>
          </a:p>
        </p:txBody>
      </p:sp>
      <p:pic>
        <p:nvPicPr>
          <p:cNvPr id="1219" name="Google Shape;1219;p137"/>
          <p:cNvPicPr preferRelativeResize="0"/>
          <p:nvPr/>
        </p:nvPicPr>
        <p:blipFill rotWithShape="1">
          <a:blip r:embed="rId3">
            <a:alphaModFix/>
          </a:blip>
          <a:srcRect b="94884" l="0" r="0" t="0"/>
          <a:stretch/>
        </p:blipFill>
        <p:spPr>
          <a:xfrm>
            <a:off x="3047987" y="3344800"/>
            <a:ext cx="1524000" cy="161143"/>
          </a:xfrm>
          <a:prstGeom prst="rect">
            <a:avLst/>
          </a:prstGeom>
          <a:noFill/>
          <a:ln>
            <a:noFill/>
          </a:ln>
        </p:spPr>
      </p:pic>
      <p:pic>
        <p:nvPicPr>
          <p:cNvPr id="1220" name="Google Shape;1220;p137"/>
          <p:cNvPicPr preferRelativeResize="0"/>
          <p:nvPr/>
        </p:nvPicPr>
        <p:blipFill>
          <a:blip r:embed="rId4">
            <a:alphaModFix/>
          </a:blip>
          <a:stretch>
            <a:fillRect/>
          </a:stretch>
        </p:blipFill>
        <p:spPr>
          <a:xfrm>
            <a:off x="0" y="999300"/>
            <a:ext cx="3048000" cy="2306400"/>
          </a:xfrm>
          <a:prstGeom prst="rect">
            <a:avLst/>
          </a:prstGeom>
          <a:noFill/>
          <a:ln>
            <a:noFill/>
          </a:ln>
        </p:spPr>
      </p:pic>
      <p:pic>
        <p:nvPicPr>
          <p:cNvPr id="1221" name="Google Shape;1221;p137"/>
          <p:cNvPicPr preferRelativeResize="0"/>
          <p:nvPr/>
        </p:nvPicPr>
        <p:blipFill rotWithShape="1">
          <a:blip r:embed="rId5">
            <a:alphaModFix/>
          </a:blip>
          <a:srcRect b="3166" l="0" r="0" t="0"/>
          <a:stretch/>
        </p:blipFill>
        <p:spPr>
          <a:xfrm>
            <a:off x="3048000" y="999300"/>
            <a:ext cx="3048000" cy="2172025"/>
          </a:xfrm>
          <a:prstGeom prst="rect">
            <a:avLst/>
          </a:prstGeom>
          <a:noFill/>
          <a:ln>
            <a:noFill/>
          </a:ln>
        </p:spPr>
      </p:pic>
      <p:pic>
        <p:nvPicPr>
          <p:cNvPr id="1222" name="Google Shape;1222;p137"/>
          <p:cNvPicPr preferRelativeResize="0"/>
          <p:nvPr/>
        </p:nvPicPr>
        <p:blipFill rotWithShape="1">
          <a:blip r:embed="rId6">
            <a:alphaModFix/>
          </a:blip>
          <a:srcRect b="47890" l="0" r="0" t="0"/>
          <a:stretch/>
        </p:blipFill>
        <p:spPr>
          <a:xfrm>
            <a:off x="1378765" y="3344800"/>
            <a:ext cx="1669235" cy="1798700"/>
          </a:xfrm>
          <a:prstGeom prst="rect">
            <a:avLst/>
          </a:prstGeom>
          <a:noFill/>
          <a:ln>
            <a:noFill/>
          </a:ln>
        </p:spPr>
      </p:pic>
      <p:pic>
        <p:nvPicPr>
          <p:cNvPr id="1223" name="Google Shape;1223;p137"/>
          <p:cNvPicPr preferRelativeResize="0"/>
          <p:nvPr/>
        </p:nvPicPr>
        <p:blipFill rotWithShape="1">
          <a:blip r:embed="rId6">
            <a:alphaModFix/>
          </a:blip>
          <a:srcRect b="0" l="0" r="0" t="53271"/>
          <a:stretch/>
        </p:blipFill>
        <p:spPr>
          <a:xfrm>
            <a:off x="2975375" y="3545042"/>
            <a:ext cx="1669225" cy="1612883"/>
          </a:xfrm>
          <a:prstGeom prst="rect">
            <a:avLst/>
          </a:prstGeom>
          <a:noFill/>
          <a:ln>
            <a:noFill/>
          </a:ln>
        </p:spPr>
      </p:pic>
      <p:sp>
        <p:nvSpPr>
          <p:cNvPr id="1224" name="Google Shape;1224;p1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graphicFrame>
        <p:nvGraphicFramePr>
          <p:cNvPr id="1229" name="Google Shape;1229;p13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230" name="Google Shape;1230;p138"/>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1231" name="Google Shape;1231;p13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6.28.2 Ghana  </a:t>
            </a:r>
            <a:endParaRPr sz="2800">
              <a:solidFill>
                <a:srgbClr val="424242"/>
              </a:solidFill>
              <a:latin typeface="Times New Roman"/>
              <a:ea typeface="Times New Roman"/>
              <a:cs typeface="Times New Roman"/>
              <a:sym typeface="Times New Roman"/>
            </a:endParaRPr>
          </a:p>
        </p:txBody>
      </p:sp>
      <p:pic>
        <p:nvPicPr>
          <p:cNvPr id="1232" name="Google Shape;1232;p138"/>
          <p:cNvPicPr preferRelativeResize="0"/>
          <p:nvPr/>
        </p:nvPicPr>
        <p:blipFill>
          <a:blip r:embed="rId4">
            <a:alphaModFix/>
          </a:blip>
          <a:stretch>
            <a:fillRect/>
          </a:stretch>
        </p:blipFill>
        <p:spPr>
          <a:xfrm>
            <a:off x="119063" y="1117900"/>
            <a:ext cx="5734050" cy="1895475"/>
          </a:xfrm>
          <a:prstGeom prst="rect">
            <a:avLst/>
          </a:prstGeom>
          <a:noFill/>
          <a:ln>
            <a:noFill/>
          </a:ln>
        </p:spPr>
      </p:pic>
      <p:pic>
        <p:nvPicPr>
          <p:cNvPr id="1233" name="Google Shape;1233;p138"/>
          <p:cNvPicPr preferRelativeResize="0"/>
          <p:nvPr/>
        </p:nvPicPr>
        <p:blipFill rotWithShape="1">
          <a:blip r:embed="rId5">
            <a:alphaModFix/>
          </a:blip>
          <a:srcRect b="9041" l="1332" r="0" t="0"/>
          <a:stretch/>
        </p:blipFill>
        <p:spPr>
          <a:xfrm>
            <a:off x="80975" y="3131975"/>
            <a:ext cx="5734050" cy="2011525"/>
          </a:xfrm>
          <a:prstGeom prst="rect">
            <a:avLst/>
          </a:prstGeom>
          <a:noFill/>
          <a:ln>
            <a:noFill/>
          </a:ln>
        </p:spPr>
      </p:pic>
      <p:pic>
        <p:nvPicPr>
          <p:cNvPr id="1234" name="Google Shape;1234;p138"/>
          <p:cNvPicPr preferRelativeResize="0"/>
          <p:nvPr/>
        </p:nvPicPr>
        <p:blipFill rotWithShape="1">
          <a:blip r:embed="rId6">
            <a:alphaModFix/>
          </a:blip>
          <a:srcRect b="0" l="41460" r="29362" t="0"/>
          <a:stretch/>
        </p:blipFill>
        <p:spPr>
          <a:xfrm>
            <a:off x="6996725" y="999300"/>
            <a:ext cx="2147275" cy="4049875"/>
          </a:xfrm>
          <a:prstGeom prst="rect">
            <a:avLst/>
          </a:prstGeom>
          <a:noFill/>
          <a:ln>
            <a:noFill/>
          </a:ln>
        </p:spPr>
      </p:pic>
      <p:sp>
        <p:nvSpPr>
          <p:cNvPr id="1235" name="Google Shape;1235;p1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graphicFrame>
        <p:nvGraphicFramePr>
          <p:cNvPr id="1240" name="Google Shape;1240;p13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41" name="Google Shape;1241;p13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6.28.3 Ghana  </a:t>
            </a:r>
            <a:endParaRPr sz="2800">
              <a:solidFill>
                <a:srgbClr val="424242"/>
              </a:solidFill>
              <a:latin typeface="Times New Roman"/>
              <a:ea typeface="Times New Roman"/>
              <a:cs typeface="Times New Roman"/>
              <a:sym typeface="Times New Roman"/>
            </a:endParaRPr>
          </a:p>
        </p:txBody>
      </p:sp>
      <p:pic>
        <p:nvPicPr>
          <p:cNvPr id="1242" name="Google Shape;1242;p139"/>
          <p:cNvPicPr preferRelativeResize="0"/>
          <p:nvPr/>
        </p:nvPicPr>
        <p:blipFill>
          <a:blip r:embed="rId3">
            <a:alphaModFix/>
          </a:blip>
          <a:stretch>
            <a:fillRect/>
          </a:stretch>
        </p:blipFill>
        <p:spPr>
          <a:xfrm>
            <a:off x="0" y="943751"/>
            <a:ext cx="4064725" cy="2099875"/>
          </a:xfrm>
          <a:prstGeom prst="rect">
            <a:avLst/>
          </a:prstGeom>
          <a:noFill/>
          <a:ln>
            <a:noFill/>
          </a:ln>
        </p:spPr>
      </p:pic>
      <p:pic>
        <p:nvPicPr>
          <p:cNvPr id="1243" name="Google Shape;1243;p139"/>
          <p:cNvPicPr preferRelativeResize="0"/>
          <p:nvPr/>
        </p:nvPicPr>
        <p:blipFill>
          <a:blip r:embed="rId4">
            <a:alphaModFix/>
          </a:blip>
          <a:stretch>
            <a:fillRect/>
          </a:stretch>
        </p:blipFill>
        <p:spPr>
          <a:xfrm>
            <a:off x="0" y="3043625"/>
            <a:ext cx="4158304" cy="2099875"/>
          </a:xfrm>
          <a:prstGeom prst="rect">
            <a:avLst/>
          </a:prstGeom>
          <a:noFill/>
          <a:ln>
            <a:noFill/>
          </a:ln>
        </p:spPr>
      </p:pic>
      <p:pic>
        <p:nvPicPr>
          <p:cNvPr id="1244" name="Google Shape;1244;p139"/>
          <p:cNvPicPr preferRelativeResize="0"/>
          <p:nvPr/>
        </p:nvPicPr>
        <p:blipFill rotWithShape="1">
          <a:blip r:embed="rId5">
            <a:alphaModFix/>
          </a:blip>
          <a:srcRect b="0" l="0" r="0" t="0"/>
          <a:stretch/>
        </p:blipFill>
        <p:spPr>
          <a:xfrm>
            <a:off x="4064725" y="2116873"/>
            <a:ext cx="5022125" cy="1909041"/>
          </a:xfrm>
          <a:prstGeom prst="rect">
            <a:avLst/>
          </a:prstGeom>
          <a:noFill/>
          <a:ln>
            <a:noFill/>
          </a:ln>
        </p:spPr>
      </p:pic>
      <p:sp>
        <p:nvSpPr>
          <p:cNvPr id="1245" name="Google Shape;1245;p1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graphicFrame>
        <p:nvGraphicFramePr>
          <p:cNvPr id="1250" name="Google Shape;1250;p14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7.75%</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India on the industry group level. The product classification system we adopt allows us to measure the realized industry development for various industry groups and to observe that India consistently relied on developing the Transportation, High-Complexity Products, and Daily Instruments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251" name="Google Shape;1251;p14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6.29.1 India</a:t>
            </a:r>
            <a:endParaRPr sz="2800">
              <a:solidFill>
                <a:srgbClr val="424242"/>
              </a:solidFill>
              <a:latin typeface="Times New Roman"/>
              <a:ea typeface="Times New Roman"/>
              <a:cs typeface="Times New Roman"/>
              <a:sym typeface="Times New Roman"/>
            </a:endParaRPr>
          </a:p>
        </p:txBody>
      </p:sp>
      <p:pic>
        <p:nvPicPr>
          <p:cNvPr id="1252" name="Google Shape;1252;p140"/>
          <p:cNvPicPr preferRelativeResize="0"/>
          <p:nvPr/>
        </p:nvPicPr>
        <p:blipFill rotWithShape="1">
          <a:blip r:embed="rId3">
            <a:alphaModFix/>
          </a:blip>
          <a:srcRect b="94884" l="0" r="0" t="0"/>
          <a:stretch/>
        </p:blipFill>
        <p:spPr>
          <a:xfrm>
            <a:off x="3047987" y="3150900"/>
            <a:ext cx="1524000" cy="161143"/>
          </a:xfrm>
          <a:prstGeom prst="rect">
            <a:avLst/>
          </a:prstGeom>
          <a:noFill/>
          <a:ln>
            <a:noFill/>
          </a:ln>
        </p:spPr>
      </p:pic>
      <p:pic>
        <p:nvPicPr>
          <p:cNvPr id="1253" name="Google Shape;1253;p140"/>
          <p:cNvPicPr preferRelativeResize="0"/>
          <p:nvPr/>
        </p:nvPicPr>
        <p:blipFill>
          <a:blip r:embed="rId4">
            <a:alphaModFix/>
          </a:blip>
          <a:stretch>
            <a:fillRect/>
          </a:stretch>
        </p:blipFill>
        <p:spPr>
          <a:xfrm>
            <a:off x="0" y="999300"/>
            <a:ext cx="3048000" cy="2172025"/>
          </a:xfrm>
          <a:prstGeom prst="rect">
            <a:avLst/>
          </a:prstGeom>
          <a:noFill/>
          <a:ln>
            <a:noFill/>
          </a:ln>
        </p:spPr>
      </p:pic>
      <p:pic>
        <p:nvPicPr>
          <p:cNvPr id="1254" name="Google Shape;1254;p140"/>
          <p:cNvPicPr preferRelativeResize="0"/>
          <p:nvPr/>
        </p:nvPicPr>
        <p:blipFill>
          <a:blip r:embed="rId5">
            <a:alphaModFix/>
          </a:blip>
          <a:stretch>
            <a:fillRect/>
          </a:stretch>
        </p:blipFill>
        <p:spPr>
          <a:xfrm>
            <a:off x="2975374" y="1019713"/>
            <a:ext cx="3048000" cy="2131188"/>
          </a:xfrm>
          <a:prstGeom prst="rect">
            <a:avLst/>
          </a:prstGeom>
          <a:noFill/>
          <a:ln>
            <a:noFill/>
          </a:ln>
        </p:spPr>
      </p:pic>
      <p:pic>
        <p:nvPicPr>
          <p:cNvPr id="1255" name="Google Shape;1255;p140"/>
          <p:cNvPicPr preferRelativeResize="0"/>
          <p:nvPr/>
        </p:nvPicPr>
        <p:blipFill rotWithShape="1">
          <a:blip r:embed="rId6">
            <a:alphaModFix/>
          </a:blip>
          <a:srcRect b="47349" l="0" r="0" t="0"/>
          <a:stretch/>
        </p:blipFill>
        <p:spPr>
          <a:xfrm>
            <a:off x="1102472" y="3162948"/>
            <a:ext cx="1872903" cy="1980550"/>
          </a:xfrm>
          <a:prstGeom prst="rect">
            <a:avLst/>
          </a:prstGeom>
          <a:noFill/>
          <a:ln>
            <a:noFill/>
          </a:ln>
        </p:spPr>
      </p:pic>
      <p:pic>
        <p:nvPicPr>
          <p:cNvPr id="1256" name="Google Shape;1256;p140"/>
          <p:cNvPicPr preferRelativeResize="0"/>
          <p:nvPr/>
        </p:nvPicPr>
        <p:blipFill rotWithShape="1">
          <a:blip r:embed="rId6">
            <a:alphaModFix/>
          </a:blip>
          <a:srcRect b="0" l="0" r="0" t="52797"/>
          <a:stretch/>
        </p:blipFill>
        <p:spPr>
          <a:xfrm>
            <a:off x="3048000" y="3334450"/>
            <a:ext cx="1727241" cy="1637550"/>
          </a:xfrm>
          <a:prstGeom prst="rect">
            <a:avLst/>
          </a:prstGeom>
          <a:noFill/>
          <a:ln>
            <a:noFill/>
          </a:ln>
        </p:spPr>
      </p:pic>
      <p:sp>
        <p:nvSpPr>
          <p:cNvPr id="1257" name="Google Shape;1257;p1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graphicFrame>
        <p:nvGraphicFramePr>
          <p:cNvPr id="1262" name="Google Shape;1262;p141"/>
          <p:cNvGraphicFramePr/>
          <p:nvPr/>
        </p:nvGraphicFramePr>
        <p:xfrm>
          <a:off x="54165"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4.39%</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a:t>
                      </a:r>
                      <a:r>
                        <a:rPr lang="en" sz="900">
                          <a:solidFill>
                            <a:schemeClr val="dk1"/>
                          </a:solidFill>
                          <a:latin typeface="Times New Roman"/>
                          <a:ea typeface="Times New Roman"/>
                          <a:cs typeface="Times New Roman"/>
                          <a:sym typeface="Times New Roman"/>
                        </a:rPr>
                        <a:t>post-COVID increase in economic complexity coupled with a slower GDP growth as observed in 2021, is evidence that India chose to continue its development of higher complexity industries such as High-Complexity Products and Services and Utilities while sacrificing a potentially higher GDP growth associated with fulfilling global demand for basic, low-complexity products during the pandemic period. </a:t>
                      </a:r>
                      <a:endParaRPr sz="9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263" name="Google Shape;1263;p14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6.29.1 India — 2021</a:t>
            </a:r>
            <a:endParaRPr sz="2800">
              <a:solidFill>
                <a:srgbClr val="424242"/>
              </a:solidFill>
              <a:latin typeface="Times New Roman"/>
              <a:ea typeface="Times New Roman"/>
              <a:cs typeface="Times New Roman"/>
              <a:sym typeface="Times New Roman"/>
            </a:endParaRPr>
          </a:p>
        </p:txBody>
      </p:sp>
      <p:pic>
        <p:nvPicPr>
          <p:cNvPr id="1264" name="Google Shape;1264;p141"/>
          <p:cNvPicPr preferRelativeResize="0"/>
          <p:nvPr/>
        </p:nvPicPr>
        <p:blipFill rotWithShape="1">
          <a:blip r:embed="rId3">
            <a:alphaModFix/>
          </a:blip>
          <a:srcRect b="94884" l="0" r="0" t="0"/>
          <a:stretch/>
        </p:blipFill>
        <p:spPr>
          <a:xfrm>
            <a:off x="3047987" y="3150900"/>
            <a:ext cx="1524000" cy="161143"/>
          </a:xfrm>
          <a:prstGeom prst="rect">
            <a:avLst/>
          </a:prstGeom>
          <a:noFill/>
          <a:ln>
            <a:noFill/>
          </a:ln>
        </p:spPr>
      </p:pic>
      <p:sp>
        <p:nvSpPr>
          <p:cNvPr id="1265" name="Google Shape;1265;p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66" name="Google Shape;1266;p141"/>
          <p:cNvPicPr preferRelativeResize="0"/>
          <p:nvPr/>
        </p:nvPicPr>
        <p:blipFill rotWithShape="1">
          <a:blip r:embed="rId4">
            <a:alphaModFix/>
          </a:blip>
          <a:srcRect b="0" l="5213" r="5222" t="0"/>
          <a:stretch/>
        </p:blipFill>
        <p:spPr>
          <a:xfrm>
            <a:off x="0" y="999287"/>
            <a:ext cx="3048000" cy="2117481"/>
          </a:xfrm>
          <a:prstGeom prst="rect">
            <a:avLst/>
          </a:prstGeom>
          <a:noFill/>
          <a:ln>
            <a:noFill/>
          </a:ln>
        </p:spPr>
      </p:pic>
      <p:pic>
        <p:nvPicPr>
          <p:cNvPr id="1267" name="Google Shape;1267;p141"/>
          <p:cNvPicPr preferRelativeResize="0"/>
          <p:nvPr/>
        </p:nvPicPr>
        <p:blipFill>
          <a:blip r:embed="rId5">
            <a:alphaModFix/>
          </a:blip>
          <a:stretch>
            <a:fillRect/>
          </a:stretch>
        </p:blipFill>
        <p:spPr>
          <a:xfrm>
            <a:off x="3155725" y="999300"/>
            <a:ext cx="2832550" cy="1980550"/>
          </a:xfrm>
          <a:prstGeom prst="rect">
            <a:avLst/>
          </a:prstGeom>
          <a:noFill/>
          <a:ln>
            <a:noFill/>
          </a:ln>
        </p:spPr>
      </p:pic>
      <p:pic>
        <p:nvPicPr>
          <p:cNvPr id="1268" name="Google Shape;1268;p141"/>
          <p:cNvPicPr preferRelativeResize="0"/>
          <p:nvPr/>
        </p:nvPicPr>
        <p:blipFill rotWithShape="1">
          <a:blip r:embed="rId6">
            <a:alphaModFix/>
          </a:blip>
          <a:srcRect b="46862" l="9804" r="0" t="0"/>
          <a:stretch/>
        </p:blipFill>
        <p:spPr>
          <a:xfrm>
            <a:off x="1222983" y="3097250"/>
            <a:ext cx="1659975" cy="1880925"/>
          </a:xfrm>
          <a:prstGeom prst="rect">
            <a:avLst/>
          </a:prstGeom>
          <a:noFill/>
          <a:ln>
            <a:noFill/>
          </a:ln>
        </p:spPr>
      </p:pic>
      <p:pic>
        <p:nvPicPr>
          <p:cNvPr id="1269" name="Google Shape;1269;p141"/>
          <p:cNvPicPr preferRelativeResize="0"/>
          <p:nvPr/>
        </p:nvPicPr>
        <p:blipFill rotWithShape="1">
          <a:blip r:embed="rId6">
            <a:alphaModFix/>
          </a:blip>
          <a:srcRect b="0" l="9804" r="0" t="52199"/>
          <a:stretch/>
        </p:blipFill>
        <p:spPr>
          <a:xfrm>
            <a:off x="2997924" y="3312050"/>
            <a:ext cx="1523975" cy="1553356"/>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graphicFrame>
        <p:nvGraphicFramePr>
          <p:cNvPr id="1274" name="Google Shape;1274;p14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275" name="Google Shape;1275;p142"/>
          <p:cNvPicPr preferRelativeResize="0"/>
          <p:nvPr/>
        </p:nvPicPr>
        <p:blipFill rotWithShape="1">
          <a:blip r:embed="rId3">
            <a:alphaModFix/>
          </a:blip>
          <a:srcRect b="0" l="0" r="69340" t="970"/>
          <a:stretch/>
        </p:blipFill>
        <p:spPr>
          <a:xfrm>
            <a:off x="6096000" y="999325"/>
            <a:ext cx="900725" cy="4144175"/>
          </a:xfrm>
          <a:prstGeom prst="rect">
            <a:avLst/>
          </a:prstGeom>
          <a:noFill/>
          <a:ln>
            <a:noFill/>
          </a:ln>
        </p:spPr>
      </p:pic>
      <p:sp>
        <p:nvSpPr>
          <p:cNvPr id="1276" name="Google Shape;1276;p14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6.29.2 India  </a:t>
            </a:r>
            <a:endParaRPr sz="2800">
              <a:solidFill>
                <a:srgbClr val="424242"/>
              </a:solidFill>
              <a:latin typeface="Times New Roman"/>
              <a:ea typeface="Times New Roman"/>
              <a:cs typeface="Times New Roman"/>
              <a:sym typeface="Times New Roman"/>
            </a:endParaRPr>
          </a:p>
        </p:txBody>
      </p:sp>
      <p:pic>
        <p:nvPicPr>
          <p:cNvPr id="1277" name="Google Shape;1277;p142"/>
          <p:cNvPicPr preferRelativeResize="0"/>
          <p:nvPr/>
        </p:nvPicPr>
        <p:blipFill rotWithShape="1">
          <a:blip r:embed="rId4">
            <a:alphaModFix/>
          </a:blip>
          <a:srcRect b="4022" l="2828" r="0" t="0"/>
          <a:stretch/>
        </p:blipFill>
        <p:spPr>
          <a:xfrm>
            <a:off x="-12" y="3132000"/>
            <a:ext cx="5894828" cy="1895475"/>
          </a:xfrm>
          <a:prstGeom prst="rect">
            <a:avLst/>
          </a:prstGeom>
          <a:noFill/>
          <a:ln>
            <a:noFill/>
          </a:ln>
        </p:spPr>
      </p:pic>
      <p:pic>
        <p:nvPicPr>
          <p:cNvPr id="1278" name="Google Shape;1278;p142"/>
          <p:cNvPicPr preferRelativeResize="0"/>
          <p:nvPr/>
        </p:nvPicPr>
        <p:blipFill>
          <a:blip r:embed="rId5">
            <a:alphaModFix/>
          </a:blip>
          <a:stretch>
            <a:fillRect/>
          </a:stretch>
        </p:blipFill>
        <p:spPr>
          <a:xfrm>
            <a:off x="80388" y="1117917"/>
            <a:ext cx="5734050" cy="1895475"/>
          </a:xfrm>
          <a:prstGeom prst="rect">
            <a:avLst/>
          </a:prstGeom>
          <a:noFill/>
          <a:ln>
            <a:noFill/>
          </a:ln>
        </p:spPr>
      </p:pic>
      <p:pic>
        <p:nvPicPr>
          <p:cNvPr id="1279" name="Google Shape;1279;p142"/>
          <p:cNvPicPr preferRelativeResize="0"/>
          <p:nvPr/>
        </p:nvPicPr>
        <p:blipFill rotWithShape="1">
          <a:blip r:embed="rId6">
            <a:alphaModFix/>
          </a:blip>
          <a:srcRect b="0" l="41934" r="28319" t="0"/>
          <a:stretch/>
        </p:blipFill>
        <p:spPr>
          <a:xfrm>
            <a:off x="6811975" y="1046450"/>
            <a:ext cx="2332025" cy="4049875"/>
          </a:xfrm>
          <a:prstGeom prst="rect">
            <a:avLst/>
          </a:prstGeom>
          <a:noFill/>
          <a:ln>
            <a:noFill/>
          </a:ln>
        </p:spPr>
      </p:pic>
      <p:sp>
        <p:nvSpPr>
          <p:cNvPr id="1280" name="Google Shape;1280;p1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graphicFrame>
        <p:nvGraphicFramePr>
          <p:cNvPr id="1285" name="Google Shape;1285;p14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86" name="Google Shape;1286;p14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6.29.3 India  </a:t>
            </a:r>
            <a:endParaRPr sz="2800">
              <a:solidFill>
                <a:srgbClr val="424242"/>
              </a:solidFill>
              <a:latin typeface="Times New Roman"/>
              <a:ea typeface="Times New Roman"/>
              <a:cs typeface="Times New Roman"/>
              <a:sym typeface="Times New Roman"/>
            </a:endParaRPr>
          </a:p>
        </p:txBody>
      </p:sp>
      <p:pic>
        <p:nvPicPr>
          <p:cNvPr id="1287" name="Google Shape;1287;p143"/>
          <p:cNvPicPr preferRelativeResize="0"/>
          <p:nvPr/>
        </p:nvPicPr>
        <p:blipFill>
          <a:blip r:embed="rId3">
            <a:alphaModFix/>
          </a:blip>
          <a:stretch>
            <a:fillRect/>
          </a:stretch>
        </p:blipFill>
        <p:spPr>
          <a:xfrm>
            <a:off x="2" y="840140"/>
            <a:ext cx="4158300" cy="2203485"/>
          </a:xfrm>
          <a:prstGeom prst="rect">
            <a:avLst/>
          </a:prstGeom>
          <a:noFill/>
          <a:ln>
            <a:noFill/>
          </a:ln>
        </p:spPr>
      </p:pic>
      <p:pic>
        <p:nvPicPr>
          <p:cNvPr id="1288" name="Google Shape;1288;p143"/>
          <p:cNvPicPr preferRelativeResize="0"/>
          <p:nvPr/>
        </p:nvPicPr>
        <p:blipFill>
          <a:blip r:embed="rId4">
            <a:alphaModFix/>
          </a:blip>
          <a:stretch>
            <a:fillRect/>
          </a:stretch>
        </p:blipFill>
        <p:spPr>
          <a:xfrm>
            <a:off x="0" y="3132475"/>
            <a:ext cx="4158300" cy="2011025"/>
          </a:xfrm>
          <a:prstGeom prst="rect">
            <a:avLst/>
          </a:prstGeom>
          <a:noFill/>
          <a:ln>
            <a:noFill/>
          </a:ln>
        </p:spPr>
      </p:pic>
      <p:pic>
        <p:nvPicPr>
          <p:cNvPr id="1289" name="Google Shape;1289;p143"/>
          <p:cNvPicPr preferRelativeResize="0"/>
          <p:nvPr/>
        </p:nvPicPr>
        <p:blipFill rotWithShape="1">
          <a:blip r:embed="rId5">
            <a:alphaModFix/>
          </a:blip>
          <a:srcRect b="0" l="0" r="744" t="2076"/>
          <a:stretch/>
        </p:blipFill>
        <p:spPr>
          <a:xfrm>
            <a:off x="4450075" y="1685538"/>
            <a:ext cx="4693925" cy="1772428"/>
          </a:xfrm>
          <a:prstGeom prst="rect">
            <a:avLst/>
          </a:prstGeom>
          <a:noFill/>
          <a:ln>
            <a:noFill/>
          </a:ln>
        </p:spPr>
      </p:pic>
      <p:sp>
        <p:nvSpPr>
          <p:cNvPr id="1290" name="Google Shape;1290;p1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graphicFrame>
        <p:nvGraphicFramePr>
          <p:cNvPr id="1295" name="Google Shape;1295;p14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solidFill>
                            <a:srgbClr val="FFFFFF"/>
                          </a:solidFill>
                        </a:rPr>
                        <a:t>[CHART Vision Enhanced Greedy Optimization, ECI </a:t>
                      </a:r>
                      <a:endParaRPr b="1">
                        <a:solidFill>
                          <a:srgbClr val="FFFFFF"/>
                        </a:solidFill>
                      </a:endParaRPr>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96" name="Google Shape;1296;p14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6.29.2 India—2021</a:t>
            </a:r>
            <a:endParaRPr sz="2800">
              <a:solidFill>
                <a:srgbClr val="424242"/>
              </a:solidFill>
              <a:latin typeface="Times New Roman"/>
              <a:ea typeface="Times New Roman"/>
              <a:cs typeface="Times New Roman"/>
              <a:sym typeface="Times New Roman"/>
            </a:endParaRPr>
          </a:p>
        </p:txBody>
      </p:sp>
      <p:sp>
        <p:nvSpPr>
          <p:cNvPr id="1297" name="Google Shape;1297;p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98" name="Google Shape;1298;p144"/>
          <p:cNvPicPr preferRelativeResize="0"/>
          <p:nvPr/>
        </p:nvPicPr>
        <p:blipFill rotWithShape="1">
          <a:blip r:embed="rId3">
            <a:alphaModFix/>
          </a:blip>
          <a:srcRect b="27907" l="0" r="20211" t="0"/>
          <a:stretch/>
        </p:blipFill>
        <p:spPr>
          <a:xfrm>
            <a:off x="80402" y="1070025"/>
            <a:ext cx="4372124" cy="1975250"/>
          </a:xfrm>
          <a:prstGeom prst="rect">
            <a:avLst/>
          </a:prstGeom>
          <a:noFill/>
          <a:ln>
            <a:noFill/>
          </a:ln>
        </p:spPr>
      </p:pic>
      <p:pic>
        <p:nvPicPr>
          <p:cNvPr id="1299" name="Google Shape;1299;p144"/>
          <p:cNvPicPr preferRelativeResize="0"/>
          <p:nvPr/>
        </p:nvPicPr>
        <p:blipFill rotWithShape="1">
          <a:blip r:embed="rId4">
            <a:alphaModFix/>
          </a:blip>
          <a:srcRect b="12296" l="0" r="13919" t="0"/>
          <a:stretch/>
        </p:blipFill>
        <p:spPr>
          <a:xfrm>
            <a:off x="-46750" y="3068850"/>
            <a:ext cx="4733850" cy="1818648"/>
          </a:xfrm>
          <a:prstGeom prst="rect">
            <a:avLst/>
          </a:prstGeom>
          <a:noFill/>
          <a:ln>
            <a:noFill/>
          </a:ln>
        </p:spPr>
      </p:pic>
      <p:pic>
        <p:nvPicPr>
          <p:cNvPr id="1300" name="Google Shape;1300;p144"/>
          <p:cNvPicPr preferRelativeResize="0"/>
          <p:nvPr/>
        </p:nvPicPr>
        <p:blipFill>
          <a:blip r:embed="rId5">
            <a:alphaModFix/>
          </a:blip>
          <a:stretch>
            <a:fillRect/>
          </a:stretch>
        </p:blipFill>
        <p:spPr>
          <a:xfrm>
            <a:off x="4883900" y="1324562"/>
            <a:ext cx="4260106" cy="999300"/>
          </a:xfrm>
          <a:prstGeom prst="rect">
            <a:avLst/>
          </a:prstGeom>
          <a:noFill/>
          <a:ln>
            <a:noFill/>
          </a:ln>
        </p:spPr>
      </p:pic>
      <p:pic>
        <p:nvPicPr>
          <p:cNvPr id="1301" name="Google Shape;1301;p144"/>
          <p:cNvPicPr preferRelativeResize="0"/>
          <p:nvPr/>
        </p:nvPicPr>
        <p:blipFill rotWithShape="1">
          <a:blip r:embed="rId6">
            <a:alphaModFix/>
          </a:blip>
          <a:srcRect b="0" l="0" r="11016" t="0"/>
          <a:stretch/>
        </p:blipFill>
        <p:spPr>
          <a:xfrm>
            <a:off x="4687100" y="2649125"/>
            <a:ext cx="4390511" cy="1975250"/>
          </a:xfrm>
          <a:prstGeom prst="rect">
            <a:avLst/>
          </a:prstGeom>
          <a:noFill/>
          <a:ln>
            <a:noFill/>
          </a:ln>
        </p:spPr>
      </p:pic>
      <p:pic>
        <p:nvPicPr>
          <p:cNvPr id="1302" name="Google Shape;1302;p144"/>
          <p:cNvPicPr preferRelativeResize="0"/>
          <p:nvPr/>
        </p:nvPicPr>
        <p:blipFill rotWithShape="1">
          <a:blip r:embed="rId3">
            <a:alphaModFix/>
          </a:blip>
          <a:srcRect b="63527" l="79186" r="0" t="17177"/>
          <a:stretch/>
        </p:blipFill>
        <p:spPr>
          <a:xfrm>
            <a:off x="1907475" y="1159721"/>
            <a:ext cx="1140525" cy="528675"/>
          </a:xfrm>
          <a:prstGeom prst="rect">
            <a:avLst/>
          </a:prstGeom>
          <a:noFill/>
          <a:ln>
            <a:noFill/>
          </a:ln>
        </p:spPr>
      </p:pic>
      <p:pic>
        <p:nvPicPr>
          <p:cNvPr id="1303" name="Google Shape;1303;p144"/>
          <p:cNvPicPr preferRelativeResize="0"/>
          <p:nvPr/>
        </p:nvPicPr>
        <p:blipFill rotWithShape="1">
          <a:blip r:embed="rId4">
            <a:alphaModFix/>
          </a:blip>
          <a:srcRect b="48060" l="86420" r="1195" t="27490"/>
          <a:stretch/>
        </p:blipFill>
        <p:spPr>
          <a:xfrm>
            <a:off x="1315599" y="3116000"/>
            <a:ext cx="710149" cy="528675"/>
          </a:xfrm>
          <a:prstGeom prst="rect">
            <a:avLst/>
          </a:prstGeom>
          <a:noFill/>
          <a:ln>
            <a:noFill/>
          </a:ln>
        </p:spPr>
      </p:pic>
      <p:pic>
        <p:nvPicPr>
          <p:cNvPr id="1304" name="Google Shape;1304;p144"/>
          <p:cNvPicPr preferRelativeResize="0"/>
          <p:nvPr/>
        </p:nvPicPr>
        <p:blipFill rotWithShape="1">
          <a:blip r:embed="rId6">
            <a:alphaModFix/>
          </a:blip>
          <a:srcRect b="69795" l="87450" r="0" t="16339"/>
          <a:stretch/>
        </p:blipFill>
        <p:spPr>
          <a:xfrm>
            <a:off x="7392172" y="2649125"/>
            <a:ext cx="710149" cy="314112"/>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graphicFrame>
        <p:nvGraphicFramePr>
          <p:cNvPr id="1309" name="Google Shape;1309;p14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11.16%</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progress during the period, we believe, can be partially explained through analysis of the economic and product complexity structure of Ireland on the industry group level. The product classification system we adopt allows us to measure the realized industry development for various industry groups and to observe that Ireland consistently relied on developing the Vegetables, Fruits, and Plants, Services and Utilities, and Precious Stones industries during the period, while some of its developed counterparts and emerging economies around the globe adopted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310" name="Google Shape;1310;p14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6.30.1</a:t>
            </a:r>
            <a:r>
              <a:rPr lang="en" sz="2800">
                <a:solidFill>
                  <a:srgbClr val="424242"/>
                </a:solidFill>
                <a:latin typeface="Times New Roman"/>
                <a:ea typeface="Times New Roman"/>
                <a:cs typeface="Times New Roman"/>
                <a:sym typeface="Times New Roman"/>
              </a:rPr>
              <a:t> Ireland</a:t>
            </a:r>
            <a:endParaRPr sz="2800">
              <a:solidFill>
                <a:srgbClr val="424242"/>
              </a:solidFill>
              <a:latin typeface="Times New Roman"/>
              <a:ea typeface="Times New Roman"/>
              <a:cs typeface="Times New Roman"/>
              <a:sym typeface="Times New Roman"/>
            </a:endParaRPr>
          </a:p>
        </p:txBody>
      </p:sp>
      <p:pic>
        <p:nvPicPr>
          <p:cNvPr id="1311" name="Google Shape;1311;p145"/>
          <p:cNvPicPr preferRelativeResize="0"/>
          <p:nvPr/>
        </p:nvPicPr>
        <p:blipFill rotWithShape="1">
          <a:blip r:embed="rId3">
            <a:alphaModFix/>
          </a:blip>
          <a:srcRect b="94884" l="0" r="0" t="0"/>
          <a:stretch/>
        </p:blipFill>
        <p:spPr>
          <a:xfrm>
            <a:off x="3047987" y="3150900"/>
            <a:ext cx="1524000" cy="161143"/>
          </a:xfrm>
          <a:prstGeom prst="rect">
            <a:avLst/>
          </a:prstGeom>
          <a:noFill/>
          <a:ln>
            <a:noFill/>
          </a:ln>
        </p:spPr>
      </p:pic>
      <p:pic>
        <p:nvPicPr>
          <p:cNvPr id="1312" name="Google Shape;1312;p145"/>
          <p:cNvPicPr preferRelativeResize="0"/>
          <p:nvPr/>
        </p:nvPicPr>
        <p:blipFill>
          <a:blip r:embed="rId4">
            <a:alphaModFix/>
          </a:blip>
          <a:stretch>
            <a:fillRect/>
          </a:stretch>
        </p:blipFill>
        <p:spPr>
          <a:xfrm>
            <a:off x="0" y="959886"/>
            <a:ext cx="3048000" cy="2004063"/>
          </a:xfrm>
          <a:prstGeom prst="rect">
            <a:avLst/>
          </a:prstGeom>
          <a:noFill/>
          <a:ln>
            <a:noFill/>
          </a:ln>
        </p:spPr>
      </p:pic>
      <p:pic>
        <p:nvPicPr>
          <p:cNvPr id="1313" name="Google Shape;1313;p145"/>
          <p:cNvPicPr preferRelativeResize="0"/>
          <p:nvPr/>
        </p:nvPicPr>
        <p:blipFill>
          <a:blip r:embed="rId5">
            <a:alphaModFix/>
          </a:blip>
          <a:stretch>
            <a:fillRect/>
          </a:stretch>
        </p:blipFill>
        <p:spPr>
          <a:xfrm>
            <a:off x="2975373" y="971638"/>
            <a:ext cx="3059501" cy="1980550"/>
          </a:xfrm>
          <a:prstGeom prst="rect">
            <a:avLst/>
          </a:prstGeom>
          <a:noFill/>
          <a:ln>
            <a:noFill/>
          </a:ln>
        </p:spPr>
      </p:pic>
      <p:pic>
        <p:nvPicPr>
          <p:cNvPr id="1314" name="Google Shape;1314;p145"/>
          <p:cNvPicPr preferRelativeResize="0"/>
          <p:nvPr/>
        </p:nvPicPr>
        <p:blipFill rotWithShape="1">
          <a:blip r:embed="rId6">
            <a:alphaModFix/>
          </a:blip>
          <a:srcRect b="170" l="0" r="0" t="48211"/>
          <a:stretch/>
        </p:blipFill>
        <p:spPr>
          <a:xfrm>
            <a:off x="2984750" y="3305700"/>
            <a:ext cx="1844450" cy="1837799"/>
          </a:xfrm>
          <a:prstGeom prst="rect">
            <a:avLst/>
          </a:prstGeom>
          <a:noFill/>
          <a:ln>
            <a:noFill/>
          </a:ln>
        </p:spPr>
      </p:pic>
      <p:pic>
        <p:nvPicPr>
          <p:cNvPr id="1315" name="Google Shape;1315;p145"/>
          <p:cNvPicPr preferRelativeResize="0"/>
          <p:nvPr/>
        </p:nvPicPr>
        <p:blipFill rotWithShape="1">
          <a:blip r:embed="rId6">
            <a:alphaModFix/>
          </a:blip>
          <a:srcRect b="53145" l="0" r="0" t="363"/>
          <a:stretch/>
        </p:blipFill>
        <p:spPr>
          <a:xfrm>
            <a:off x="927500" y="3150900"/>
            <a:ext cx="2047875" cy="1837799"/>
          </a:xfrm>
          <a:prstGeom prst="rect">
            <a:avLst/>
          </a:prstGeom>
          <a:noFill/>
          <a:ln>
            <a:noFill/>
          </a:ln>
        </p:spPr>
      </p:pic>
      <p:sp>
        <p:nvSpPr>
          <p:cNvPr id="1316" name="Google Shape;1316;p1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graphicFrame>
        <p:nvGraphicFramePr>
          <p:cNvPr id="1321" name="Google Shape;1321;p14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322" name="Google Shape;1322;p146"/>
          <p:cNvPicPr preferRelativeResize="0"/>
          <p:nvPr/>
        </p:nvPicPr>
        <p:blipFill rotWithShape="1">
          <a:blip r:embed="rId3">
            <a:alphaModFix/>
          </a:blip>
          <a:srcRect b="0" l="0" r="69340" t="970"/>
          <a:stretch/>
        </p:blipFill>
        <p:spPr>
          <a:xfrm>
            <a:off x="6096000" y="999325"/>
            <a:ext cx="900725" cy="4144175"/>
          </a:xfrm>
          <a:prstGeom prst="rect">
            <a:avLst/>
          </a:prstGeom>
          <a:noFill/>
          <a:ln>
            <a:noFill/>
          </a:ln>
        </p:spPr>
      </p:pic>
      <p:sp>
        <p:nvSpPr>
          <p:cNvPr id="1323" name="Google Shape;1323;p14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6.30.2 Ireland  </a:t>
            </a:r>
            <a:endParaRPr sz="2800">
              <a:solidFill>
                <a:srgbClr val="424242"/>
              </a:solidFill>
              <a:latin typeface="Times New Roman"/>
              <a:ea typeface="Times New Roman"/>
              <a:cs typeface="Times New Roman"/>
              <a:sym typeface="Times New Roman"/>
            </a:endParaRPr>
          </a:p>
        </p:txBody>
      </p:sp>
      <p:pic>
        <p:nvPicPr>
          <p:cNvPr id="1324" name="Google Shape;1324;p146"/>
          <p:cNvPicPr preferRelativeResize="0"/>
          <p:nvPr/>
        </p:nvPicPr>
        <p:blipFill rotWithShape="1">
          <a:blip r:embed="rId4">
            <a:alphaModFix/>
          </a:blip>
          <a:srcRect b="0" l="84292" r="0" t="0"/>
          <a:stretch/>
        </p:blipFill>
        <p:spPr>
          <a:xfrm>
            <a:off x="6850748" y="999300"/>
            <a:ext cx="2293253" cy="4049875"/>
          </a:xfrm>
          <a:prstGeom prst="rect">
            <a:avLst/>
          </a:prstGeom>
          <a:noFill/>
          <a:ln>
            <a:noFill/>
          </a:ln>
        </p:spPr>
      </p:pic>
      <p:pic>
        <p:nvPicPr>
          <p:cNvPr id="1325" name="Google Shape;1325;p146"/>
          <p:cNvPicPr preferRelativeResize="0"/>
          <p:nvPr/>
        </p:nvPicPr>
        <p:blipFill>
          <a:blip r:embed="rId5">
            <a:alphaModFix/>
          </a:blip>
          <a:stretch>
            <a:fillRect/>
          </a:stretch>
        </p:blipFill>
        <p:spPr>
          <a:xfrm>
            <a:off x="119063" y="1075025"/>
            <a:ext cx="5981700" cy="1981200"/>
          </a:xfrm>
          <a:prstGeom prst="rect">
            <a:avLst/>
          </a:prstGeom>
          <a:noFill/>
          <a:ln>
            <a:noFill/>
          </a:ln>
        </p:spPr>
      </p:pic>
      <p:pic>
        <p:nvPicPr>
          <p:cNvPr id="1326" name="Google Shape;1326;p146"/>
          <p:cNvPicPr preferRelativeResize="0"/>
          <p:nvPr/>
        </p:nvPicPr>
        <p:blipFill rotWithShape="1">
          <a:blip r:embed="rId6">
            <a:alphaModFix/>
          </a:blip>
          <a:srcRect b="7037" l="2988" r="0" t="0"/>
          <a:stretch/>
        </p:blipFill>
        <p:spPr>
          <a:xfrm>
            <a:off x="185750" y="3131950"/>
            <a:ext cx="5848350" cy="1857375"/>
          </a:xfrm>
          <a:prstGeom prst="rect">
            <a:avLst/>
          </a:prstGeom>
          <a:noFill/>
          <a:ln>
            <a:noFill/>
          </a:ln>
        </p:spPr>
      </p:pic>
      <p:sp>
        <p:nvSpPr>
          <p:cNvPr id="1327" name="Google Shape;1327;p1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graphicFrame>
        <p:nvGraphicFramePr>
          <p:cNvPr id="1332" name="Google Shape;1332;p14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33" name="Google Shape;1333;p14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6.30.3 Ireland  </a:t>
            </a:r>
            <a:endParaRPr sz="2800">
              <a:solidFill>
                <a:srgbClr val="424242"/>
              </a:solidFill>
              <a:latin typeface="Times New Roman"/>
              <a:ea typeface="Times New Roman"/>
              <a:cs typeface="Times New Roman"/>
              <a:sym typeface="Times New Roman"/>
            </a:endParaRPr>
          </a:p>
        </p:txBody>
      </p:sp>
      <p:pic>
        <p:nvPicPr>
          <p:cNvPr id="1334" name="Google Shape;1334;p147"/>
          <p:cNvPicPr preferRelativeResize="0"/>
          <p:nvPr/>
        </p:nvPicPr>
        <p:blipFill>
          <a:blip r:embed="rId3">
            <a:alphaModFix/>
          </a:blip>
          <a:stretch>
            <a:fillRect/>
          </a:stretch>
        </p:blipFill>
        <p:spPr>
          <a:xfrm>
            <a:off x="0" y="955060"/>
            <a:ext cx="4158300" cy="2155140"/>
          </a:xfrm>
          <a:prstGeom prst="rect">
            <a:avLst/>
          </a:prstGeom>
          <a:noFill/>
          <a:ln>
            <a:noFill/>
          </a:ln>
        </p:spPr>
      </p:pic>
      <p:pic>
        <p:nvPicPr>
          <p:cNvPr id="1335" name="Google Shape;1335;p147"/>
          <p:cNvPicPr preferRelativeResize="0"/>
          <p:nvPr/>
        </p:nvPicPr>
        <p:blipFill>
          <a:blip r:embed="rId4">
            <a:alphaModFix/>
          </a:blip>
          <a:stretch>
            <a:fillRect/>
          </a:stretch>
        </p:blipFill>
        <p:spPr>
          <a:xfrm>
            <a:off x="-1" y="3043615"/>
            <a:ext cx="4158300" cy="2134410"/>
          </a:xfrm>
          <a:prstGeom prst="rect">
            <a:avLst/>
          </a:prstGeom>
          <a:noFill/>
          <a:ln>
            <a:noFill/>
          </a:ln>
        </p:spPr>
      </p:pic>
      <p:pic>
        <p:nvPicPr>
          <p:cNvPr id="1336" name="Google Shape;1336;p147"/>
          <p:cNvPicPr preferRelativeResize="0"/>
          <p:nvPr/>
        </p:nvPicPr>
        <p:blipFill>
          <a:blip r:embed="rId5">
            <a:alphaModFix/>
          </a:blip>
          <a:stretch>
            <a:fillRect/>
          </a:stretch>
        </p:blipFill>
        <p:spPr>
          <a:xfrm>
            <a:off x="4158300" y="2154363"/>
            <a:ext cx="4901025" cy="1834075"/>
          </a:xfrm>
          <a:prstGeom prst="rect">
            <a:avLst/>
          </a:prstGeom>
          <a:noFill/>
          <a:ln>
            <a:noFill/>
          </a:ln>
        </p:spPr>
      </p:pic>
      <p:sp>
        <p:nvSpPr>
          <p:cNvPr id="1337" name="Google Shape;1337;p1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graphicFrame>
        <p:nvGraphicFramePr>
          <p:cNvPr id="1342" name="Google Shape;1342;p14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4.38%</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Israel on the industry group level. The product classification system we adopt allows us to measure the realized industry development for various industry groups and to observe that Israel regressed in developing many of its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343" name="Google Shape;1343;p14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6.31.1 Israel</a:t>
            </a:r>
            <a:endParaRPr sz="2800">
              <a:solidFill>
                <a:srgbClr val="424242"/>
              </a:solidFill>
              <a:latin typeface="Times New Roman"/>
              <a:ea typeface="Times New Roman"/>
              <a:cs typeface="Times New Roman"/>
              <a:sym typeface="Times New Roman"/>
            </a:endParaRPr>
          </a:p>
        </p:txBody>
      </p:sp>
      <p:pic>
        <p:nvPicPr>
          <p:cNvPr id="1344" name="Google Shape;1344;p148"/>
          <p:cNvPicPr preferRelativeResize="0"/>
          <p:nvPr/>
        </p:nvPicPr>
        <p:blipFill rotWithShape="1">
          <a:blip r:embed="rId3">
            <a:alphaModFix/>
          </a:blip>
          <a:srcRect b="94884" l="0" r="0" t="0"/>
          <a:stretch/>
        </p:blipFill>
        <p:spPr>
          <a:xfrm>
            <a:off x="2753250" y="3074401"/>
            <a:ext cx="1775100" cy="187700"/>
          </a:xfrm>
          <a:prstGeom prst="rect">
            <a:avLst/>
          </a:prstGeom>
          <a:noFill/>
          <a:ln>
            <a:noFill/>
          </a:ln>
        </p:spPr>
      </p:pic>
      <p:pic>
        <p:nvPicPr>
          <p:cNvPr id="1345" name="Google Shape;1345;p148"/>
          <p:cNvPicPr preferRelativeResize="0"/>
          <p:nvPr/>
        </p:nvPicPr>
        <p:blipFill>
          <a:blip r:embed="rId4">
            <a:alphaModFix/>
          </a:blip>
          <a:stretch>
            <a:fillRect/>
          </a:stretch>
        </p:blipFill>
        <p:spPr>
          <a:xfrm>
            <a:off x="45800" y="734675"/>
            <a:ext cx="3002200" cy="2007903"/>
          </a:xfrm>
          <a:prstGeom prst="rect">
            <a:avLst/>
          </a:prstGeom>
          <a:noFill/>
          <a:ln>
            <a:noFill/>
          </a:ln>
        </p:spPr>
      </p:pic>
      <p:pic>
        <p:nvPicPr>
          <p:cNvPr id="1346" name="Google Shape;1346;p148"/>
          <p:cNvPicPr preferRelativeResize="0"/>
          <p:nvPr/>
        </p:nvPicPr>
        <p:blipFill>
          <a:blip r:embed="rId5">
            <a:alphaModFix/>
          </a:blip>
          <a:stretch>
            <a:fillRect/>
          </a:stretch>
        </p:blipFill>
        <p:spPr>
          <a:xfrm>
            <a:off x="2997750" y="795101"/>
            <a:ext cx="3002199" cy="2016956"/>
          </a:xfrm>
          <a:prstGeom prst="rect">
            <a:avLst/>
          </a:prstGeom>
          <a:noFill/>
          <a:ln>
            <a:noFill/>
          </a:ln>
        </p:spPr>
      </p:pic>
      <p:pic>
        <p:nvPicPr>
          <p:cNvPr id="1347" name="Google Shape;1347;p148"/>
          <p:cNvPicPr preferRelativeResize="0"/>
          <p:nvPr/>
        </p:nvPicPr>
        <p:blipFill>
          <a:blip r:embed="rId6">
            <a:alphaModFix/>
          </a:blip>
          <a:stretch>
            <a:fillRect/>
          </a:stretch>
        </p:blipFill>
        <p:spPr>
          <a:xfrm>
            <a:off x="420800" y="2742575"/>
            <a:ext cx="2022800" cy="2240551"/>
          </a:xfrm>
          <a:prstGeom prst="rect">
            <a:avLst/>
          </a:prstGeom>
          <a:noFill/>
          <a:ln>
            <a:noFill/>
          </a:ln>
        </p:spPr>
      </p:pic>
      <p:pic>
        <p:nvPicPr>
          <p:cNvPr id="1348" name="Google Shape;1348;p148"/>
          <p:cNvPicPr preferRelativeResize="0"/>
          <p:nvPr/>
        </p:nvPicPr>
        <p:blipFill>
          <a:blip r:embed="rId7">
            <a:alphaModFix/>
          </a:blip>
          <a:stretch>
            <a:fillRect/>
          </a:stretch>
        </p:blipFill>
        <p:spPr>
          <a:xfrm>
            <a:off x="2753251" y="3262100"/>
            <a:ext cx="1818750" cy="1580388"/>
          </a:xfrm>
          <a:prstGeom prst="rect">
            <a:avLst/>
          </a:prstGeom>
          <a:noFill/>
          <a:ln>
            <a:noFill/>
          </a:ln>
        </p:spPr>
      </p:pic>
      <p:sp>
        <p:nvSpPr>
          <p:cNvPr id="1349" name="Google Shape;1349;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graphicFrame>
        <p:nvGraphicFramePr>
          <p:cNvPr id="1354" name="Google Shape;1354;p14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355" name="Google Shape;1355;p149"/>
          <p:cNvPicPr preferRelativeResize="0"/>
          <p:nvPr/>
        </p:nvPicPr>
        <p:blipFill rotWithShape="1">
          <a:blip r:embed="rId3">
            <a:alphaModFix/>
          </a:blip>
          <a:srcRect b="0" l="0" r="69340" t="970"/>
          <a:stretch/>
        </p:blipFill>
        <p:spPr>
          <a:xfrm>
            <a:off x="5933225" y="999312"/>
            <a:ext cx="900725" cy="4144175"/>
          </a:xfrm>
          <a:prstGeom prst="rect">
            <a:avLst/>
          </a:prstGeom>
          <a:noFill/>
          <a:ln>
            <a:noFill/>
          </a:ln>
        </p:spPr>
      </p:pic>
      <p:sp>
        <p:nvSpPr>
          <p:cNvPr id="1356" name="Google Shape;1356;p14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6.31.2 </a:t>
            </a:r>
            <a:r>
              <a:rPr lang="en" sz="2800">
                <a:solidFill>
                  <a:srgbClr val="424242"/>
                </a:solidFill>
                <a:latin typeface="Times New Roman"/>
                <a:ea typeface="Times New Roman"/>
                <a:cs typeface="Times New Roman"/>
                <a:sym typeface="Times New Roman"/>
              </a:rPr>
              <a:t>Israel</a:t>
            </a:r>
            <a:r>
              <a:rPr lang="en" sz="2800">
                <a:solidFill>
                  <a:srgbClr val="424242"/>
                </a:solidFill>
                <a:latin typeface="Times New Roman"/>
                <a:ea typeface="Times New Roman"/>
                <a:cs typeface="Times New Roman"/>
                <a:sym typeface="Times New Roman"/>
              </a:rPr>
              <a:t>  </a:t>
            </a:r>
            <a:endParaRPr sz="2800">
              <a:solidFill>
                <a:srgbClr val="424242"/>
              </a:solidFill>
              <a:latin typeface="Times New Roman"/>
              <a:ea typeface="Times New Roman"/>
              <a:cs typeface="Times New Roman"/>
              <a:sym typeface="Times New Roman"/>
            </a:endParaRPr>
          </a:p>
        </p:txBody>
      </p:sp>
      <p:pic>
        <p:nvPicPr>
          <p:cNvPr id="1357" name="Google Shape;1357;p149"/>
          <p:cNvPicPr preferRelativeResize="0"/>
          <p:nvPr/>
        </p:nvPicPr>
        <p:blipFill>
          <a:blip r:embed="rId4">
            <a:alphaModFix/>
          </a:blip>
          <a:stretch>
            <a:fillRect/>
          </a:stretch>
        </p:blipFill>
        <p:spPr>
          <a:xfrm>
            <a:off x="6680650" y="847538"/>
            <a:ext cx="2463350" cy="4447700"/>
          </a:xfrm>
          <a:prstGeom prst="rect">
            <a:avLst/>
          </a:prstGeom>
          <a:noFill/>
          <a:ln>
            <a:noFill/>
          </a:ln>
        </p:spPr>
      </p:pic>
      <p:pic>
        <p:nvPicPr>
          <p:cNvPr id="1358" name="Google Shape;1358;p149"/>
          <p:cNvPicPr preferRelativeResize="0"/>
          <p:nvPr/>
        </p:nvPicPr>
        <p:blipFill>
          <a:blip r:embed="rId5">
            <a:alphaModFix/>
          </a:blip>
          <a:stretch>
            <a:fillRect/>
          </a:stretch>
        </p:blipFill>
        <p:spPr>
          <a:xfrm>
            <a:off x="87050" y="743775"/>
            <a:ext cx="5926550" cy="3968101"/>
          </a:xfrm>
          <a:prstGeom prst="rect">
            <a:avLst/>
          </a:prstGeom>
          <a:noFill/>
          <a:ln>
            <a:noFill/>
          </a:ln>
        </p:spPr>
      </p:pic>
      <p:sp>
        <p:nvSpPr>
          <p:cNvPr id="1359" name="Google Shape;1359;p1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graphicFrame>
        <p:nvGraphicFramePr>
          <p:cNvPr id="1364" name="Google Shape;1364;p15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65" name="Google Shape;1365;p15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6.31.3 </a:t>
            </a:r>
            <a:r>
              <a:rPr lang="en" sz="2800">
                <a:solidFill>
                  <a:srgbClr val="424242"/>
                </a:solidFill>
                <a:latin typeface="Times New Roman"/>
                <a:ea typeface="Times New Roman"/>
                <a:cs typeface="Times New Roman"/>
                <a:sym typeface="Times New Roman"/>
              </a:rPr>
              <a:t>Israel  </a:t>
            </a:r>
            <a:endParaRPr sz="2800">
              <a:solidFill>
                <a:srgbClr val="424242"/>
              </a:solidFill>
              <a:latin typeface="Times New Roman"/>
              <a:ea typeface="Times New Roman"/>
              <a:cs typeface="Times New Roman"/>
              <a:sym typeface="Times New Roman"/>
            </a:endParaRPr>
          </a:p>
        </p:txBody>
      </p:sp>
      <p:pic>
        <p:nvPicPr>
          <p:cNvPr id="1366" name="Google Shape;1366;p150"/>
          <p:cNvPicPr preferRelativeResize="0"/>
          <p:nvPr/>
        </p:nvPicPr>
        <p:blipFill rotWithShape="1">
          <a:blip r:embed="rId3">
            <a:alphaModFix/>
          </a:blip>
          <a:srcRect b="0" l="0" r="0" t="5195"/>
          <a:stretch/>
        </p:blipFill>
        <p:spPr>
          <a:xfrm>
            <a:off x="0" y="542850"/>
            <a:ext cx="4450075" cy="2248274"/>
          </a:xfrm>
          <a:prstGeom prst="rect">
            <a:avLst/>
          </a:prstGeom>
          <a:noFill/>
          <a:ln>
            <a:noFill/>
          </a:ln>
        </p:spPr>
      </p:pic>
      <p:pic>
        <p:nvPicPr>
          <p:cNvPr id="1367" name="Google Shape;1367;p150"/>
          <p:cNvPicPr preferRelativeResize="0"/>
          <p:nvPr/>
        </p:nvPicPr>
        <p:blipFill>
          <a:blip r:embed="rId4">
            <a:alphaModFix/>
          </a:blip>
          <a:stretch>
            <a:fillRect/>
          </a:stretch>
        </p:blipFill>
        <p:spPr>
          <a:xfrm>
            <a:off x="64650" y="2740900"/>
            <a:ext cx="4556227" cy="2334575"/>
          </a:xfrm>
          <a:prstGeom prst="rect">
            <a:avLst/>
          </a:prstGeom>
          <a:noFill/>
          <a:ln>
            <a:noFill/>
          </a:ln>
        </p:spPr>
      </p:pic>
      <p:pic>
        <p:nvPicPr>
          <p:cNvPr id="1368" name="Google Shape;1368;p150"/>
          <p:cNvPicPr preferRelativeResize="0"/>
          <p:nvPr/>
        </p:nvPicPr>
        <p:blipFill>
          <a:blip r:embed="rId5">
            <a:alphaModFix/>
          </a:blip>
          <a:stretch>
            <a:fillRect/>
          </a:stretch>
        </p:blipFill>
        <p:spPr>
          <a:xfrm>
            <a:off x="4391175" y="1154025"/>
            <a:ext cx="4752826" cy="2172451"/>
          </a:xfrm>
          <a:prstGeom prst="rect">
            <a:avLst/>
          </a:prstGeom>
          <a:noFill/>
          <a:ln>
            <a:noFill/>
          </a:ln>
        </p:spPr>
      </p:pic>
      <p:sp>
        <p:nvSpPr>
          <p:cNvPr id="1369" name="Google Shape;1369;p1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graphicFrame>
        <p:nvGraphicFramePr>
          <p:cNvPr id="1374" name="Google Shape;1374;p15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6.11%</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progress during the period, we believe, can be partially explained through analysis of the economic and product complexity structure of Kenya on the industry group level. The product classification system we adopt allows us to measure the realized industry development for various industry groups and to observe that Kenya consistently relied on developing the Chemical Manufacturing, Energy Drilling and Mining, and Transportation industries during the period, while its developed counterparts and emerging economies around the globe adopted much more complex and progressive paths. </a:t>
                      </a:r>
                      <a:endParaRPr sz="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375" name="Google Shape;1375;p15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6.32.1 Kenya</a:t>
            </a:r>
            <a:endParaRPr sz="2800">
              <a:solidFill>
                <a:srgbClr val="424242"/>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rgbClr val="424242"/>
              </a:solidFill>
              <a:latin typeface="Times New Roman"/>
              <a:ea typeface="Times New Roman"/>
              <a:cs typeface="Times New Roman"/>
              <a:sym typeface="Times New Roman"/>
            </a:endParaRPr>
          </a:p>
        </p:txBody>
      </p:sp>
      <p:pic>
        <p:nvPicPr>
          <p:cNvPr id="1376" name="Google Shape;1376;p151"/>
          <p:cNvPicPr preferRelativeResize="0"/>
          <p:nvPr/>
        </p:nvPicPr>
        <p:blipFill rotWithShape="1">
          <a:blip r:embed="rId3">
            <a:alphaModFix/>
          </a:blip>
          <a:srcRect b="94884" l="0" r="0" t="0"/>
          <a:stretch/>
        </p:blipFill>
        <p:spPr>
          <a:xfrm>
            <a:off x="3047987" y="2997050"/>
            <a:ext cx="1524000" cy="161143"/>
          </a:xfrm>
          <a:prstGeom prst="rect">
            <a:avLst/>
          </a:prstGeom>
          <a:noFill/>
          <a:ln>
            <a:noFill/>
          </a:ln>
        </p:spPr>
      </p:pic>
      <p:pic>
        <p:nvPicPr>
          <p:cNvPr id="1377" name="Google Shape;1377;p151"/>
          <p:cNvPicPr preferRelativeResize="0"/>
          <p:nvPr/>
        </p:nvPicPr>
        <p:blipFill>
          <a:blip r:embed="rId4">
            <a:alphaModFix/>
          </a:blip>
          <a:stretch>
            <a:fillRect/>
          </a:stretch>
        </p:blipFill>
        <p:spPr>
          <a:xfrm>
            <a:off x="-90425" y="623211"/>
            <a:ext cx="3047999" cy="2018540"/>
          </a:xfrm>
          <a:prstGeom prst="rect">
            <a:avLst/>
          </a:prstGeom>
          <a:noFill/>
          <a:ln>
            <a:noFill/>
          </a:ln>
        </p:spPr>
      </p:pic>
      <p:pic>
        <p:nvPicPr>
          <p:cNvPr id="1378" name="Google Shape;1378;p151"/>
          <p:cNvPicPr preferRelativeResize="0"/>
          <p:nvPr/>
        </p:nvPicPr>
        <p:blipFill rotWithShape="1">
          <a:blip r:embed="rId5">
            <a:alphaModFix/>
          </a:blip>
          <a:srcRect b="0" l="5294" r="0" t="5803"/>
          <a:stretch/>
        </p:blipFill>
        <p:spPr>
          <a:xfrm>
            <a:off x="2913450" y="683338"/>
            <a:ext cx="3133250" cy="2119325"/>
          </a:xfrm>
          <a:prstGeom prst="rect">
            <a:avLst/>
          </a:prstGeom>
          <a:noFill/>
          <a:ln>
            <a:noFill/>
          </a:ln>
        </p:spPr>
      </p:pic>
      <p:pic>
        <p:nvPicPr>
          <p:cNvPr id="1379" name="Google Shape;1379;p151"/>
          <p:cNvPicPr preferRelativeResize="0"/>
          <p:nvPr/>
        </p:nvPicPr>
        <p:blipFill>
          <a:blip r:embed="rId6">
            <a:alphaModFix/>
          </a:blip>
          <a:stretch>
            <a:fillRect/>
          </a:stretch>
        </p:blipFill>
        <p:spPr>
          <a:xfrm>
            <a:off x="454300" y="2802675"/>
            <a:ext cx="2045010" cy="2220275"/>
          </a:xfrm>
          <a:prstGeom prst="rect">
            <a:avLst/>
          </a:prstGeom>
          <a:noFill/>
          <a:ln>
            <a:noFill/>
          </a:ln>
        </p:spPr>
      </p:pic>
      <p:pic>
        <p:nvPicPr>
          <p:cNvPr id="1380" name="Google Shape;1380;p151"/>
          <p:cNvPicPr preferRelativeResize="0"/>
          <p:nvPr/>
        </p:nvPicPr>
        <p:blipFill>
          <a:blip r:embed="rId7">
            <a:alphaModFix/>
          </a:blip>
          <a:stretch>
            <a:fillRect/>
          </a:stretch>
        </p:blipFill>
        <p:spPr>
          <a:xfrm>
            <a:off x="2803125" y="3158200"/>
            <a:ext cx="1768875" cy="1816875"/>
          </a:xfrm>
          <a:prstGeom prst="rect">
            <a:avLst/>
          </a:prstGeom>
          <a:noFill/>
          <a:ln>
            <a:noFill/>
          </a:ln>
        </p:spPr>
      </p:pic>
      <p:sp>
        <p:nvSpPr>
          <p:cNvPr id="1381" name="Google Shape;1381;p1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graphicFrame>
        <p:nvGraphicFramePr>
          <p:cNvPr id="1386" name="Google Shape;1386;p15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87" name="Google Shape;1387;p15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6.32.2 Kenya  </a:t>
            </a:r>
            <a:endParaRPr sz="2800">
              <a:solidFill>
                <a:srgbClr val="424242"/>
              </a:solidFill>
              <a:latin typeface="Times New Roman"/>
              <a:ea typeface="Times New Roman"/>
              <a:cs typeface="Times New Roman"/>
              <a:sym typeface="Times New Roman"/>
            </a:endParaRPr>
          </a:p>
        </p:txBody>
      </p:sp>
      <p:pic>
        <p:nvPicPr>
          <p:cNvPr id="1388" name="Google Shape;1388;p152"/>
          <p:cNvPicPr preferRelativeResize="0"/>
          <p:nvPr/>
        </p:nvPicPr>
        <p:blipFill>
          <a:blip r:embed="rId3">
            <a:alphaModFix/>
          </a:blip>
          <a:stretch>
            <a:fillRect/>
          </a:stretch>
        </p:blipFill>
        <p:spPr>
          <a:xfrm>
            <a:off x="84450" y="667225"/>
            <a:ext cx="6116053" cy="4049875"/>
          </a:xfrm>
          <a:prstGeom prst="rect">
            <a:avLst/>
          </a:prstGeom>
          <a:noFill/>
          <a:ln>
            <a:noFill/>
          </a:ln>
        </p:spPr>
      </p:pic>
      <p:pic>
        <p:nvPicPr>
          <p:cNvPr id="1389" name="Google Shape;1389;p152"/>
          <p:cNvPicPr preferRelativeResize="0"/>
          <p:nvPr/>
        </p:nvPicPr>
        <p:blipFill rotWithShape="1">
          <a:blip r:embed="rId4">
            <a:alphaModFix/>
          </a:blip>
          <a:srcRect b="0" l="5029" r="3371" t="0"/>
          <a:stretch/>
        </p:blipFill>
        <p:spPr>
          <a:xfrm>
            <a:off x="6200500" y="533625"/>
            <a:ext cx="2943499" cy="4317075"/>
          </a:xfrm>
          <a:prstGeom prst="rect">
            <a:avLst/>
          </a:prstGeom>
          <a:noFill/>
          <a:ln>
            <a:noFill/>
          </a:ln>
        </p:spPr>
      </p:pic>
      <p:sp>
        <p:nvSpPr>
          <p:cNvPr id="1390" name="Google Shape;1390;p1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graphicFrame>
        <p:nvGraphicFramePr>
          <p:cNvPr id="1395" name="Google Shape;1395;p15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96" name="Google Shape;1396;p15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6.32.3 Kenya  </a:t>
            </a:r>
            <a:endParaRPr sz="2800">
              <a:solidFill>
                <a:srgbClr val="424242"/>
              </a:solidFill>
              <a:latin typeface="Times New Roman"/>
              <a:ea typeface="Times New Roman"/>
              <a:cs typeface="Times New Roman"/>
              <a:sym typeface="Times New Roman"/>
            </a:endParaRPr>
          </a:p>
        </p:txBody>
      </p:sp>
      <p:pic>
        <p:nvPicPr>
          <p:cNvPr id="1397" name="Google Shape;1397;p153"/>
          <p:cNvPicPr preferRelativeResize="0"/>
          <p:nvPr/>
        </p:nvPicPr>
        <p:blipFill>
          <a:blip r:embed="rId3">
            <a:alphaModFix/>
          </a:blip>
          <a:stretch>
            <a:fillRect/>
          </a:stretch>
        </p:blipFill>
        <p:spPr>
          <a:xfrm>
            <a:off x="89425" y="517550"/>
            <a:ext cx="4360650" cy="2265831"/>
          </a:xfrm>
          <a:prstGeom prst="rect">
            <a:avLst/>
          </a:prstGeom>
          <a:noFill/>
          <a:ln>
            <a:noFill/>
          </a:ln>
        </p:spPr>
      </p:pic>
      <p:pic>
        <p:nvPicPr>
          <p:cNvPr id="1398" name="Google Shape;1398;p153"/>
          <p:cNvPicPr preferRelativeResize="0"/>
          <p:nvPr/>
        </p:nvPicPr>
        <p:blipFill>
          <a:blip r:embed="rId4">
            <a:alphaModFix/>
          </a:blip>
          <a:stretch>
            <a:fillRect/>
          </a:stretch>
        </p:blipFill>
        <p:spPr>
          <a:xfrm>
            <a:off x="89425" y="2783378"/>
            <a:ext cx="4360649" cy="2165947"/>
          </a:xfrm>
          <a:prstGeom prst="rect">
            <a:avLst/>
          </a:prstGeom>
          <a:noFill/>
          <a:ln>
            <a:noFill/>
          </a:ln>
        </p:spPr>
      </p:pic>
      <p:pic>
        <p:nvPicPr>
          <p:cNvPr id="1399" name="Google Shape;1399;p153"/>
          <p:cNvPicPr preferRelativeResize="0"/>
          <p:nvPr/>
        </p:nvPicPr>
        <p:blipFill>
          <a:blip r:embed="rId5">
            <a:alphaModFix/>
          </a:blip>
          <a:stretch>
            <a:fillRect/>
          </a:stretch>
        </p:blipFill>
        <p:spPr>
          <a:xfrm>
            <a:off x="4450075" y="1500025"/>
            <a:ext cx="4654349" cy="1865700"/>
          </a:xfrm>
          <a:prstGeom prst="rect">
            <a:avLst/>
          </a:prstGeom>
          <a:noFill/>
          <a:ln>
            <a:noFill/>
          </a:ln>
        </p:spPr>
      </p:pic>
      <p:sp>
        <p:nvSpPr>
          <p:cNvPr id="1400" name="Google Shape;1400;p1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graphicFrame>
        <p:nvGraphicFramePr>
          <p:cNvPr id="1405" name="Google Shape;1405;p15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2.19%</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Lebanon on the industry group level. The product classification system we adopt allows us to measure the realized industry development for various industry groups and to observe that Lebanon consistently relied on developing the Chemicals and Daily Instruments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406" name="Google Shape;1406;p15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6.33.1 Lebanon</a:t>
            </a:r>
            <a:endParaRPr sz="2800">
              <a:solidFill>
                <a:srgbClr val="424242"/>
              </a:solidFill>
              <a:latin typeface="Times New Roman"/>
              <a:ea typeface="Times New Roman"/>
              <a:cs typeface="Times New Roman"/>
              <a:sym typeface="Times New Roman"/>
            </a:endParaRPr>
          </a:p>
        </p:txBody>
      </p:sp>
      <p:pic>
        <p:nvPicPr>
          <p:cNvPr id="1407" name="Google Shape;1407;p154"/>
          <p:cNvPicPr preferRelativeResize="0"/>
          <p:nvPr/>
        </p:nvPicPr>
        <p:blipFill rotWithShape="1">
          <a:blip r:embed="rId3">
            <a:alphaModFix/>
          </a:blip>
          <a:srcRect b="94884" l="0" r="0" t="0"/>
          <a:stretch/>
        </p:blipFill>
        <p:spPr>
          <a:xfrm>
            <a:off x="3285550" y="2985700"/>
            <a:ext cx="1523975" cy="254025"/>
          </a:xfrm>
          <a:prstGeom prst="rect">
            <a:avLst/>
          </a:prstGeom>
          <a:noFill/>
          <a:ln>
            <a:noFill/>
          </a:ln>
        </p:spPr>
      </p:pic>
      <p:pic>
        <p:nvPicPr>
          <p:cNvPr id="1408" name="Google Shape;1408;p154"/>
          <p:cNvPicPr preferRelativeResize="0"/>
          <p:nvPr/>
        </p:nvPicPr>
        <p:blipFill>
          <a:blip r:embed="rId4">
            <a:alphaModFix/>
          </a:blip>
          <a:stretch>
            <a:fillRect/>
          </a:stretch>
        </p:blipFill>
        <p:spPr>
          <a:xfrm>
            <a:off x="3048000" y="999299"/>
            <a:ext cx="2932650" cy="1986401"/>
          </a:xfrm>
          <a:prstGeom prst="rect">
            <a:avLst/>
          </a:prstGeom>
          <a:noFill/>
          <a:ln>
            <a:noFill/>
          </a:ln>
        </p:spPr>
      </p:pic>
      <p:pic>
        <p:nvPicPr>
          <p:cNvPr id="1409" name="Google Shape;1409;p154"/>
          <p:cNvPicPr preferRelativeResize="0"/>
          <p:nvPr/>
        </p:nvPicPr>
        <p:blipFill>
          <a:blip r:embed="rId5">
            <a:alphaModFix/>
          </a:blip>
          <a:stretch>
            <a:fillRect/>
          </a:stretch>
        </p:blipFill>
        <p:spPr>
          <a:xfrm>
            <a:off x="0" y="999299"/>
            <a:ext cx="3218276" cy="1986400"/>
          </a:xfrm>
          <a:prstGeom prst="rect">
            <a:avLst/>
          </a:prstGeom>
          <a:noFill/>
          <a:ln>
            <a:noFill/>
          </a:ln>
        </p:spPr>
      </p:pic>
      <p:pic>
        <p:nvPicPr>
          <p:cNvPr id="1410" name="Google Shape;1410;p154"/>
          <p:cNvPicPr preferRelativeResize="0"/>
          <p:nvPr/>
        </p:nvPicPr>
        <p:blipFill rotWithShape="1">
          <a:blip r:embed="rId6">
            <a:alphaModFix/>
          </a:blip>
          <a:srcRect b="51844" l="0" r="0" t="0"/>
          <a:stretch/>
        </p:blipFill>
        <p:spPr>
          <a:xfrm>
            <a:off x="818844" y="2985700"/>
            <a:ext cx="2133600" cy="2114551"/>
          </a:xfrm>
          <a:prstGeom prst="rect">
            <a:avLst/>
          </a:prstGeom>
          <a:noFill/>
          <a:ln>
            <a:noFill/>
          </a:ln>
        </p:spPr>
      </p:pic>
      <p:pic>
        <p:nvPicPr>
          <p:cNvPr id="1411" name="Google Shape;1411;p154"/>
          <p:cNvPicPr preferRelativeResize="0"/>
          <p:nvPr/>
        </p:nvPicPr>
        <p:blipFill rotWithShape="1">
          <a:blip r:embed="rId6">
            <a:alphaModFix/>
          </a:blip>
          <a:srcRect b="0" l="0" r="0" t="48462"/>
          <a:stretch/>
        </p:blipFill>
        <p:spPr>
          <a:xfrm>
            <a:off x="3218275" y="3239725"/>
            <a:ext cx="1658525" cy="1860525"/>
          </a:xfrm>
          <a:prstGeom prst="rect">
            <a:avLst/>
          </a:prstGeom>
          <a:noFill/>
          <a:ln>
            <a:noFill/>
          </a:ln>
        </p:spPr>
      </p:pic>
      <p:sp>
        <p:nvSpPr>
          <p:cNvPr id="1412" name="Google Shape;1412;p1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graphicFrame>
        <p:nvGraphicFramePr>
          <p:cNvPr id="1417" name="Google Shape;1417;p15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418" name="Google Shape;1418;p155"/>
          <p:cNvPicPr preferRelativeResize="0"/>
          <p:nvPr/>
        </p:nvPicPr>
        <p:blipFill rotWithShape="1">
          <a:blip r:embed="rId3">
            <a:alphaModFix/>
          </a:blip>
          <a:srcRect b="0" l="0" r="69340" t="970"/>
          <a:stretch/>
        </p:blipFill>
        <p:spPr>
          <a:xfrm>
            <a:off x="6096000" y="999325"/>
            <a:ext cx="900725" cy="4144175"/>
          </a:xfrm>
          <a:prstGeom prst="rect">
            <a:avLst/>
          </a:prstGeom>
          <a:noFill/>
          <a:ln>
            <a:noFill/>
          </a:ln>
        </p:spPr>
      </p:pic>
      <p:sp>
        <p:nvSpPr>
          <p:cNvPr id="1419" name="Google Shape;1419;p15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6.33.2 Lebanon  </a:t>
            </a:r>
            <a:endParaRPr sz="2800">
              <a:solidFill>
                <a:srgbClr val="424242"/>
              </a:solidFill>
              <a:latin typeface="Times New Roman"/>
              <a:ea typeface="Times New Roman"/>
              <a:cs typeface="Times New Roman"/>
              <a:sym typeface="Times New Roman"/>
            </a:endParaRPr>
          </a:p>
        </p:txBody>
      </p:sp>
      <p:pic>
        <p:nvPicPr>
          <p:cNvPr id="1420" name="Google Shape;1420;p155"/>
          <p:cNvPicPr preferRelativeResize="0"/>
          <p:nvPr/>
        </p:nvPicPr>
        <p:blipFill rotWithShape="1">
          <a:blip r:embed="rId4">
            <a:alphaModFix/>
          </a:blip>
          <a:srcRect b="0" l="69694" r="0" t="0"/>
          <a:stretch/>
        </p:blipFill>
        <p:spPr>
          <a:xfrm>
            <a:off x="6837493" y="999301"/>
            <a:ext cx="2326406" cy="4144175"/>
          </a:xfrm>
          <a:prstGeom prst="rect">
            <a:avLst/>
          </a:prstGeom>
          <a:noFill/>
          <a:ln>
            <a:noFill/>
          </a:ln>
        </p:spPr>
      </p:pic>
      <p:pic>
        <p:nvPicPr>
          <p:cNvPr id="1421" name="Google Shape;1421;p155"/>
          <p:cNvPicPr preferRelativeResize="0"/>
          <p:nvPr/>
        </p:nvPicPr>
        <p:blipFill>
          <a:blip r:embed="rId5">
            <a:alphaModFix/>
          </a:blip>
          <a:stretch>
            <a:fillRect/>
          </a:stretch>
        </p:blipFill>
        <p:spPr>
          <a:xfrm>
            <a:off x="219075" y="999300"/>
            <a:ext cx="5876925" cy="2009775"/>
          </a:xfrm>
          <a:prstGeom prst="rect">
            <a:avLst/>
          </a:prstGeom>
          <a:noFill/>
          <a:ln>
            <a:noFill/>
          </a:ln>
        </p:spPr>
      </p:pic>
      <p:pic>
        <p:nvPicPr>
          <p:cNvPr id="1422" name="Google Shape;1422;p155"/>
          <p:cNvPicPr preferRelativeResize="0"/>
          <p:nvPr/>
        </p:nvPicPr>
        <p:blipFill rotWithShape="1">
          <a:blip r:embed="rId6">
            <a:alphaModFix/>
          </a:blip>
          <a:srcRect b="11222" l="3157" r="0" t="0"/>
          <a:stretch/>
        </p:blipFill>
        <p:spPr>
          <a:xfrm>
            <a:off x="309563" y="3180300"/>
            <a:ext cx="5695950" cy="1790700"/>
          </a:xfrm>
          <a:prstGeom prst="rect">
            <a:avLst/>
          </a:prstGeom>
          <a:noFill/>
          <a:ln>
            <a:noFill/>
          </a:ln>
        </p:spPr>
      </p:pic>
      <p:sp>
        <p:nvSpPr>
          <p:cNvPr id="1423" name="Google Shape;1423;p1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graphicFrame>
        <p:nvGraphicFramePr>
          <p:cNvPr id="1428" name="Google Shape;1428;p15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29" name="Google Shape;1429;p15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6.33.3 Lebanon  </a:t>
            </a:r>
            <a:endParaRPr sz="2800">
              <a:solidFill>
                <a:srgbClr val="424242"/>
              </a:solidFill>
              <a:latin typeface="Times New Roman"/>
              <a:ea typeface="Times New Roman"/>
              <a:cs typeface="Times New Roman"/>
              <a:sym typeface="Times New Roman"/>
            </a:endParaRPr>
          </a:p>
        </p:txBody>
      </p:sp>
      <p:pic>
        <p:nvPicPr>
          <p:cNvPr id="1430" name="Google Shape;1430;p156"/>
          <p:cNvPicPr preferRelativeResize="0"/>
          <p:nvPr/>
        </p:nvPicPr>
        <p:blipFill>
          <a:blip r:embed="rId3">
            <a:alphaModFix/>
          </a:blip>
          <a:stretch>
            <a:fillRect/>
          </a:stretch>
        </p:blipFill>
        <p:spPr>
          <a:xfrm>
            <a:off x="0" y="701677"/>
            <a:ext cx="4419600" cy="2341947"/>
          </a:xfrm>
          <a:prstGeom prst="rect">
            <a:avLst/>
          </a:prstGeom>
          <a:noFill/>
          <a:ln>
            <a:noFill/>
          </a:ln>
        </p:spPr>
      </p:pic>
      <p:pic>
        <p:nvPicPr>
          <p:cNvPr id="1431" name="Google Shape;1431;p156"/>
          <p:cNvPicPr preferRelativeResize="0"/>
          <p:nvPr/>
        </p:nvPicPr>
        <p:blipFill>
          <a:blip r:embed="rId4">
            <a:alphaModFix/>
          </a:blip>
          <a:stretch>
            <a:fillRect/>
          </a:stretch>
        </p:blipFill>
        <p:spPr>
          <a:xfrm>
            <a:off x="0" y="2816240"/>
            <a:ext cx="4419600" cy="2327260"/>
          </a:xfrm>
          <a:prstGeom prst="rect">
            <a:avLst/>
          </a:prstGeom>
          <a:noFill/>
          <a:ln>
            <a:noFill/>
          </a:ln>
        </p:spPr>
      </p:pic>
      <p:pic>
        <p:nvPicPr>
          <p:cNvPr id="1432" name="Google Shape;1432;p156"/>
          <p:cNvPicPr preferRelativeResize="0"/>
          <p:nvPr/>
        </p:nvPicPr>
        <p:blipFill rotWithShape="1">
          <a:blip r:embed="rId5">
            <a:alphaModFix/>
          </a:blip>
          <a:srcRect b="0" l="-2345" r="-2829" t="-3316"/>
          <a:stretch/>
        </p:blipFill>
        <p:spPr>
          <a:xfrm>
            <a:off x="4724400" y="1710647"/>
            <a:ext cx="4419600" cy="1722192"/>
          </a:xfrm>
          <a:prstGeom prst="rect">
            <a:avLst/>
          </a:prstGeom>
          <a:noFill/>
          <a:ln>
            <a:noFill/>
          </a:ln>
        </p:spPr>
      </p:pic>
      <p:sp>
        <p:nvSpPr>
          <p:cNvPr id="1433" name="Google Shape;1433;p1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graphicFrame>
        <p:nvGraphicFramePr>
          <p:cNvPr id="1438" name="Google Shape;1438;p15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7.75%</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Pakistan on the industry group level. The product classification system we adopt allows us to measure the realized industry development for various industry groups and to observe that Pakistan consistently relied on developing Services and Utilities and Transportation industries during the period, while some of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439" name="Google Shape;1439;p15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6.34.1 </a:t>
            </a:r>
            <a:r>
              <a:rPr lang="en" sz="2800">
                <a:solidFill>
                  <a:srgbClr val="424242"/>
                </a:solidFill>
                <a:latin typeface="Times New Roman"/>
                <a:ea typeface="Times New Roman"/>
                <a:cs typeface="Times New Roman"/>
                <a:sym typeface="Times New Roman"/>
              </a:rPr>
              <a:t>Pakistan</a:t>
            </a:r>
            <a:endParaRPr sz="2800">
              <a:solidFill>
                <a:srgbClr val="424242"/>
              </a:solidFill>
              <a:latin typeface="Times New Roman"/>
              <a:ea typeface="Times New Roman"/>
              <a:cs typeface="Times New Roman"/>
              <a:sym typeface="Times New Roman"/>
            </a:endParaRPr>
          </a:p>
        </p:txBody>
      </p:sp>
      <p:pic>
        <p:nvPicPr>
          <p:cNvPr id="1440" name="Google Shape;1440;p157"/>
          <p:cNvPicPr preferRelativeResize="0"/>
          <p:nvPr/>
        </p:nvPicPr>
        <p:blipFill rotWithShape="1">
          <a:blip r:embed="rId3">
            <a:alphaModFix/>
          </a:blip>
          <a:srcRect b="93621" l="0" r="0" t="0"/>
          <a:stretch/>
        </p:blipFill>
        <p:spPr>
          <a:xfrm>
            <a:off x="3048000" y="3132025"/>
            <a:ext cx="1653300" cy="235525"/>
          </a:xfrm>
          <a:prstGeom prst="rect">
            <a:avLst/>
          </a:prstGeom>
          <a:noFill/>
          <a:ln>
            <a:noFill/>
          </a:ln>
        </p:spPr>
      </p:pic>
      <p:pic>
        <p:nvPicPr>
          <p:cNvPr id="1441" name="Google Shape;1441;p157"/>
          <p:cNvPicPr preferRelativeResize="0"/>
          <p:nvPr/>
        </p:nvPicPr>
        <p:blipFill>
          <a:blip r:embed="rId4">
            <a:alphaModFix/>
          </a:blip>
          <a:stretch>
            <a:fillRect/>
          </a:stretch>
        </p:blipFill>
        <p:spPr>
          <a:xfrm>
            <a:off x="52050" y="999300"/>
            <a:ext cx="2961335" cy="1947675"/>
          </a:xfrm>
          <a:prstGeom prst="rect">
            <a:avLst/>
          </a:prstGeom>
          <a:noFill/>
          <a:ln>
            <a:noFill/>
          </a:ln>
        </p:spPr>
      </p:pic>
      <p:pic>
        <p:nvPicPr>
          <p:cNvPr id="1442" name="Google Shape;1442;p157"/>
          <p:cNvPicPr preferRelativeResize="0"/>
          <p:nvPr/>
        </p:nvPicPr>
        <p:blipFill>
          <a:blip r:embed="rId5">
            <a:alphaModFix/>
          </a:blip>
          <a:stretch>
            <a:fillRect/>
          </a:stretch>
        </p:blipFill>
        <p:spPr>
          <a:xfrm>
            <a:off x="3013363" y="1007650"/>
            <a:ext cx="2961325" cy="1930986"/>
          </a:xfrm>
          <a:prstGeom prst="rect">
            <a:avLst/>
          </a:prstGeom>
          <a:noFill/>
          <a:ln>
            <a:noFill/>
          </a:ln>
        </p:spPr>
      </p:pic>
      <p:pic>
        <p:nvPicPr>
          <p:cNvPr id="1443" name="Google Shape;1443;p157"/>
          <p:cNvPicPr preferRelativeResize="0"/>
          <p:nvPr/>
        </p:nvPicPr>
        <p:blipFill rotWithShape="1">
          <a:blip r:embed="rId6">
            <a:alphaModFix/>
          </a:blip>
          <a:srcRect b="47129" l="0" r="0" t="0"/>
          <a:stretch/>
        </p:blipFill>
        <p:spPr>
          <a:xfrm>
            <a:off x="1203625" y="3171325"/>
            <a:ext cx="1809750" cy="2004275"/>
          </a:xfrm>
          <a:prstGeom prst="rect">
            <a:avLst/>
          </a:prstGeom>
          <a:noFill/>
          <a:ln>
            <a:noFill/>
          </a:ln>
        </p:spPr>
      </p:pic>
      <p:pic>
        <p:nvPicPr>
          <p:cNvPr id="1444" name="Google Shape;1444;p157"/>
          <p:cNvPicPr preferRelativeResize="0"/>
          <p:nvPr/>
        </p:nvPicPr>
        <p:blipFill rotWithShape="1">
          <a:blip r:embed="rId6">
            <a:alphaModFix/>
          </a:blip>
          <a:srcRect b="0" l="0" r="0" t="52656"/>
          <a:stretch/>
        </p:blipFill>
        <p:spPr>
          <a:xfrm>
            <a:off x="2969775" y="3367550"/>
            <a:ext cx="1809750" cy="1794775"/>
          </a:xfrm>
          <a:prstGeom prst="rect">
            <a:avLst/>
          </a:prstGeom>
          <a:noFill/>
          <a:ln>
            <a:noFill/>
          </a:ln>
        </p:spPr>
      </p:pic>
      <p:sp>
        <p:nvSpPr>
          <p:cNvPr id="1445" name="Google Shape;1445;p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graphicFrame>
        <p:nvGraphicFramePr>
          <p:cNvPr id="1450" name="Google Shape;1450;p15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451" name="Google Shape;1451;p158"/>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1452" name="Google Shape;1452;p15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6.34.2 Pakistan  </a:t>
            </a:r>
            <a:endParaRPr sz="2800">
              <a:solidFill>
                <a:srgbClr val="424242"/>
              </a:solidFill>
              <a:latin typeface="Times New Roman"/>
              <a:ea typeface="Times New Roman"/>
              <a:cs typeface="Times New Roman"/>
              <a:sym typeface="Times New Roman"/>
            </a:endParaRPr>
          </a:p>
        </p:txBody>
      </p:sp>
      <p:pic>
        <p:nvPicPr>
          <p:cNvPr id="1453" name="Google Shape;1453;p158"/>
          <p:cNvPicPr preferRelativeResize="0"/>
          <p:nvPr/>
        </p:nvPicPr>
        <p:blipFill>
          <a:blip r:embed="rId4">
            <a:alphaModFix/>
          </a:blip>
          <a:stretch>
            <a:fillRect/>
          </a:stretch>
        </p:blipFill>
        <p:spPr>
          <a:xfrm>
            <a:off x="254400" y="696500"/>
            <a:ext cx="5895975" cy="1952625"/>
          </a:xfrm>
          <a:prstGeom prst="rect">
            <a:avLst/>
          </a:prstGeom>
          <a:noFill/>
          <a:ln>
            <a:noFill/>
          </a:ln>
        </p:spPr>
      </p:pic>
      <p:pic>
        <p:nvPicPr>
          <p:cNvPr id="1454" name="Google Shape;1454;p158"/>
          <p:cNvPicPr preferRelativeResize="0"/>
          <p:nvPr/>
        </p:nvPicPr>
        <p:blipFill rotWithShape="1">
          <a:blip r:embed="rId5">
            <a:alphaModFix/>
          </a:blip>
          <a:srcRect b="7037" l="2496" r="0" t="0"/>
          <a:stretch/>
        </p:blipFill>
        <p:spPr>
          <a:xfrm>
            <a:off x="195525" y="2883825"/>
            <a:ext cx="5591175" cy="1762125"/>
          </a:xfrm>
          <a:prstGeom prst="rect">
            <a:avLst/>
          </a:prstGeom>
          <a:noFill/>
          <a:ln>
            <a:noFill/>
          </a:ln>
        </p:spPr>
      </p:pic>
      <p:pic>
        <p:nvPicPr>
          <p:cNvPr id="1455" name="Google Shape;1455;p158"/>
          <p:cNvPicPr preferRelativeResize="0"/>
          <p:nvPr/>
        </p:nvPicPr>
        <p:blipFill rotWithShape="1">
          <a:blip r:embed="rId6">
            <a:alphaModFix/>
          </a:blip>
          <a:srcRect b="0" l="42213" r="29073" t="0"/>
          <a:stretch/>
        </p:blipFill>
        <p:spPr>
          <a:xfrm>
            <a:off x="6848675" y="1093625"/>
            <a:ext cx="2295330" cy="4049875"/>
          </a:xfrm>
          <a:prstGeom prst="rect">
            <a:avLst/>
          </a:prstGeom>
          <a:noFill/>
          <a:ln>
            <a:noFill/>
          </a:ln>
        </p:spPr>
      </p:pic>
      <p:sp>
        <p:nvSpPr>
          <p:cNvPr id="1456" name="Google Shape;1456;p1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graphicFrame>
        <p:nvGraphicFramePr>
          <p:cNvPr id="1461" name="Google Shape;1461;p15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62" name="Google Shape;1462;p15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6.34.3 Pakistan  </a:t>
            </a:r>
            <a:endParaRPr sz="2800">
              <a:solidFill>
                <a:srgbClr val="424242"/>
              </a:solidFill>
              <a:latin typeface="Times New Roman"/>
              <a:ea typeface="Times New Roman"/>
              <a:cs typeface="Times New Roman"/>
              <a:sym typeface="Times New Roman"/>
            </a:endParaRPr>
          </a:p>
        </p:txBody>
      </p:sp>
      <p:pic>
        <p:nvPicPr>
          <p:cNvPr id="1463" name="Google Shape;1463;p159"/>
          <p:cNvPicPr preferRelativeResize="0"/>
          <p:nvPr/>
        </p:nvPicPr>
        <p:blipFill>
          <a:blip r:embed="rId3">
            <a:alphaModFix/>
          </a:blip>
          <a:stretch>
            <a:fillRect/>
          </a:stretch>
        </p:blipFill>
        <p:spPr>
          <a:xfrm>
            <a:off x="0" y="698825"/>
            <a:ext cx="4038850" cy="2113350"/>
          </a:xfrm>
          <a:prstGeom prst="rect">
            <a:avLst/>
          </a:prstGeom>
          <a:noFill/>
          <a:ln>
            <a:noFill/>
          </a:ln>
        </p:spPr>
      </p:pic>
      <p:pic>
        <p:nvPicPr>
          <p:cNvPr id="1464" name="Google Shape;1464;p159"/>
          <p:cNvPicPr preferRelativeResize="0"/>
          <p:nvPr/>
        </p:nvPicPr>
        <p:blipFill>
          <a:blip r:embed="rId4">
            <a:alphaModFix/>
          </a:blip>
          <a:stretch>
            <a:fillRect/>
          </a:stretch>
        </p:blipFill>
        <p:spPr>
          <a:xfrm>
            <a:off x="0" y="2846006"/>
            <a:ext cx="4233776" cy="2257545"/>
          </a:xfrm>
          <a:prstGeom prst="rect">
            <a:avLst/>
          </a:prstGeom>
          <a:noFill/>
          <a:ln>
            <a:noFill/>
          </a:ln>
        </p:spPr>
      </p:pic>
      <p:pic>
        <p:nvPicPr>
          <p:cNvPr id="1465" name="Google Shape;1465;p159"/>
          <p:cNvPicPr preferRelativeResize="0"/>
          <p:nvPr/>
        </p:nvPicPr>
        <p:blipFill rotWithShape="1">
          <a:blip r:embed="rId5">
            <a:alphaModFix/>
          </a:blip>
          <a:srcRect b="0" l="0" r="-1102" t="0"/>
          <a:stretch/>
        </p:blipFill>
        <p:spPr>
          <a:xfrm>
            <a:off x="4233775" y="1732150"/>
            <a:ext cx="4849075" cy="1823125"/>
          </a:xfrm>
          <a:prstGeom prst="rect">
            <a:avLst/>
          </a:prstGeom>
          <a:noFill/>
          <a:ln>
            <a:noFill/>
          </a:ln>
        </p:spPr>
      </p:pic>
      <p:sp>
        <p:nvSpPr>
          <p:cNvPr id="1466" name="Google Shape;1466;p1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graphicFrame>
        <p:nvGraphicFramePr>
          <p:cNvPr id="1471" name="Google Shape;1471;p16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3.59%</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Qatar on the industry group level. The product classification system we adopt allows us to measure the realized industry development for various industry groups and to observe that Qatar consistently relied on developing the High-Complexity Products, Transportation, and Machinery and Construction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472" name="Google Shape;1472;p16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6.35.1 </a:t>
            </a:r>
            <a:r>
              <a:rPr lang="en" sz="2800">
                <a:solidFill>
                  <a:srgbClr val="424242"/>
                </a:solidFill>
                <a:latin typeface="Times New Roman"/>
                <a:ea typeface="Times New Roman"/>
                <a:cs typeface="Times New Roman"/>
                <a:sym typeface="Times New Roman"/>
              </a:rPr>
              <a:t>Qatar</a:t>
            </a:r>
            <a:endParaRPr sz="2800">
              <a:solidFill>
                <a:srgbClr val="424242"/>
              </a:solidFill>
              <a:latin typeface="Times New Roman"/>
              <a:ea typeface="Times New Roman"/>
              <a:cs typeface="Times New Roman"/>
              <a:sym typeface="Times New Roman"/>
            </a:endParaRPr>
          </a:p>
        </p:txBody>
      </p:sp>
      <p:pic>
        <p:nvPicPr>
          <p:cNvPr id="1473" name="Google Shape;1473;p160"/>
          <p:cNvPicPr preferRelativeResize="0"/>
          <p:nvPr/>
        </p:nvPicPr>
        <p:blipFill rotWithShape="1">
          <a:blip r:embed="rId3">
            <a:alphaModFix/>
          </a:blip>
          <a:srcRect b="93621" l="0" r="0" t="0"/>
          <a:stretch/>
        </p:blipFill>
        <p:spPr>
          <a:xfrm>
            <a:off x="3048000" y="3171325"/>
            <a:ext cx="1653300" cy="235525"/>
          </a:xfrm>
          <a:prstGeom prst="rect">
            <a:avLst/>
          </a:prstGeom>
          <a:noFill/>
          <a:ln>
            <a:noFill/>
          </a:ln>
        </p:spPr>
      </p:pic>
      <p:pic>
        <p:nvPicPr>
          <p:cNvPr id="1474" name="Google Shape;1474;p160"/>
          <p:cNvPicPr preferRelativeResize="0"/>
          <p:nvPr/>
        </p:nvPicPr>
        <p:blipFill>
          <a:blip r:embed="rId4">
            <a:alphaModFix/>
          </a:blip>
          <a:stretch>
            <a:fillRect/>
          </a:stretch>
        </p:blipFill>
        <p:spPr>
          <a:xfrm>
            <a:off x="0" y="999300"/>
            <a:ext cx="3013381" cy="1947675"/>
          </a:xfrm>
          <a:prstGeom prst="rect">
            <a:avLst/>
          </a:prstGeom>
          <a:noFill/>
          <a:ln>
            <a:noFill/>
          </a:ln>
        </p:spPr>
      </p:pic>
      <p:pic>
        <p:nvPicPr>
          <p:cNvPr id="1475" name="Google Shape;1475;p160"/>
          <p:cNvPicPr preferRelativeResize="0"/>
          <p:nvPr/>
        </p:nvPicPr>
        <p:blipFill>
          <a:blip r:embed="rId5">
            <a:alphaModFix/>
          </a:blip>
          <a:stretch>
            <a:fillRect/>
          </a:stretch>
        </p:blipFill>
        <p:spPr>
          <a:xfrm>
            <a:off x="3048000" y="999300"/>
            <a:ext cx="2917919" cy="1947675"/>
          </a:xfrm>
          <a:prstGeom prst="rect">
            <a:avLst/>
          </a:prstGeom>
          <a:noFill/>
          <a:ln>
            <a:noFill/>
          </a:ln>
        </p:spPr>
      </p:pic>
      <p:pic>
        <p:nvPicPr>
          <p:cNvPr id="1476" name="Google Shape;1476;p160"/>
          <p:cNvPicPr preferRelativeResize="0"/>
          <p:nvPr/>
        </p:nvPicPr>
        <p:blipFill rotWithShape="1">
          <a:blip r:embed="rId6">
            <a:alphaModFix/>
          </a:blip>
          <a:srcRect b="47734" l="0" r="0" t="0"/>
          <a:stretch/>
        </p:blipFill>
        <p:spPr>
          <a:xfrm>
            <a:off x="1167509" y="3171325"/>
            <a:ext cx="1845866" cy="1947675"/>
          </a:xfrm>
          <a:prstGeom prst="rect">
            <a:avLst/>
          </a:prstGeom>
          <a:noFill/>
          <a:ln>
            <a:noFill/>
          </a:ln>
        </p:spPr>
      </p:pic>
      <p:pic>
        <p:nvPicPr>
          <p:cNvPr id="1477" name="Google Shape;1477;p160"/>
          <p:cNvPicPr preferRelativeResize="0"/>
          <p:nvPr/>
        </p:nvPicPr>
        <p:blipFill rotWithShape="1">
          <a:blip r:embed="rId6">
            <a:alphaModFix/>
          </a:blip>
          <a:srcRect b="0" l="0" r="0" t="52224"/>
          <a:stretch/>
        </p:blipFill>
        <p:spPr>
          <a:xfrm>
            <a:off x="2942250" y="3406850"/>
            <a:ext cx="1800514" cy="1736650"/>
          </a:xfrm>
          <a:prstGeom prst="rect">
            <a:avLst/>
          </a:prstGeom>
          <a:noFill/>
          <a:ln>
            <a:noFill/>
          </a:ln>
        </p:spPr>
      </p:pic>
      <p:sp>
        <p:nvSpPr>
          <p:cNvPr id="1478" name="Google Shape;1478;p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graphicFrame>
        <p:nvGraphicFramePr>
          <p:cNvPr id="1483" name="Google Shape;1483;p16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484" name="Google Shape;1484;p161"/>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1485" name="Google Shape;1485;p16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6.35.2 Qatar  </a:t>
            </a:r>
            <a:endParaRPr sz="2800">
              <a:solidFill>
                <a:srgbClr val="424242"/>
              </a:solidFill>
              <a:latin typeface="Times New Roman"/>
              <a:ea typeface="Times New Roman"/>
              <a:cs typeface="Times New Roman"/>
              <a:sym typeface="Times New Roman"/>
            </a:endParaRPr>
          </a:p>
        </p:txBody>
      </p:sp>
      <p:pic>
        <p:nvPicPr>
          <p:cNvPr id="1486" name="Google Shape;1486;p161"/>
          <p:cNvPicPr preferRelativeResize="0"/>
          <p:nvPr/>
        </p:nvPicPr>
        <p:blipFill>
          <a:blip r:embed="rId4">
            <a:alphaModFix/>
          </a:blip>
          <a:stretch>
            <a:fillRect/>
          </a:stretch>
        </p:blipFill>
        <p:spPr>
          <a:xfrm>
            <a:off x="123250" y="753650"/>
            <a:ext cx="5734050" cy="1895475"/>
          </a:xfrm>
          <a:prstGeom prst="rect">
            <a:avLst/>
          </a:prstGeom>
          <a:noFill/>
          <a:ln>
            <a:noFill/>
          </a:ln>
        </p:spPr>
      </p:pic>
      <p:pic>
        <p:nvPicPr>
          <p:cNvPr id="1487" name="Google Shape;1487;p161"/>
          <p:cNvPicPr preferRelativeResize="0"/>
          <p:nvPr/>
        </p:nvPicPr>
        <p:blipFill rotWithShape="1">
          <a:blip r:embed="rId5">
            <a:alphaModFix/>
          </a:blip>
          <a:srcRect b="5527" l="3326" r="0" t="0"/>
          <a:stretch/>
        </p:blipFill>
        <p:spPr>
          <a:xfrm>
            <a:off x="218500" y="2789125"/>
            <a:ext cx="5543550" cy="1790700"/>
          </a:xfrm>
          <a:prstGeom prst="rect">
            <a:avLst/>
          </a:prstGeom>
          <a:noFill/>
          <a:ln>
            <a:noFill/>
          </a:ln>
        </p:spPr>
      </p:pic>
      <p:pic>
        <p:nvPicPr>
          <p:cNvPr id="1488" name="Google Shape;1488;p161"/>
          <p:cNvPicPr preferRelativeResize="0"/>
          <p:nvPr/>
        </p:nvPicPr>
        <p:blipFill rotWithShape="1">
          <a:blip r:embed="rId6">
            <a:alphaModFix/>
          </a:blip>
          <a:srcRect b="0" l="70928" r="0" t="0"/>
          <a:stretch/>
        </p:blipFill>
        <p:spPr>
          <a:xfrm>
            <a:off x="6811875" y="1090629"/>
            <a:ext cx="2279040" cy="4049875"/>
          </a:xfrm>
          <a:prstGeom prst="rect">
            <a:avLst/>
          </a:prstGeom>
          <a:noFill/>
          <a:ln>
            <a:noFill/>
          </a:ln>
        </p:spPr>
      </p:pic>
      <p:sp>
        <p:nvSpPr>
          <p:cNvPr id="1489" name="Google Shape;1489;p1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graphicFrame>
        <p:nvGraphicFramePr>
          <p:cNvPr id="1494" name="Google Shape;1494;p162"/>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95" name="Google Shape;1495;p16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6.35.3 Qatar  </a:t>
            </a:r>
            <a:endParaRPr sz="2800">
              <a:solidFill>
                <a:srgbClr val="424242"/>
              </a:solidFill>
              <a:latin typeface="Times New Roman"/>
              <a:ea typeface="Times New Roman"/>
              <a:cs typeface="Times New Roman"/>
              <a:sym typeface="Times New Roman"/>
            </a:endParaRPr>
          </a:p>
        </p:txBody>
      </p:sp>
      <p:pic>
        <p:nvPicPr>
          <p:cNvPr id="1496" name="Google Shape;1496;p162"/>
          <p:cNvPicPr preferRelativeResize="0"/>
          <p:nvPr/>
        </p:nvPicPr>
        <p:blipFill>
          <a:blip r:embed="rId3">
            <a:alphaModFix/>
          </a:blip>
          <a:stretch>
            <a:fillRect/>
          </a:stretch>
        </p:blipFill>
        <p:spPr>
          <a:xfrm>
            <a:off x="0" y="691525"/>
            <a:ext cx="4129875" cy="2140400"/>
          </a:xfrm>
          <a:prstGeom prst="rect">
            <a:avLst/>
          </a:prstGeom>
          <a:noFill/>
          <a:ln>
            <a:noFill/>
          </a:ln>
        </p:spPr>
      </p:pic>
      <p:pic>
        <p:nvPicPr>
          <p:cNvPr id="1497" name="Google Shape;1497;p162"/>
          <p:cNvPicPr preferRelativeResize="0"/>
          <p:nvPr/>
        </p:nvPicPr>
        <p:blipFill>
          <a:blip r:embed="rId4">
            <a:alphaModFix/>
          </a:blip>
          <a:stretch>
            <a:fillRect/>
          </a:stretch>
        </p:blipFill>
        <p:spPr>
          <a:xfrm>
            <a:off x="0" y="2934325"/>
            <a:ext cx="4192299" cy="2172750"/>
          </a:xfrm>
          <a:prstGeom prst="rect">
            <a:avLst/>
          </a:prstGeom>
          <a:noFill/>
          <a:ln>
            <a:noFill/>
          </a:ln>
        </p:spPr>
      </p:pic>
      <p:pic>
        <p:nvPicPr>
          <p:cNvPr id="1498" name="Google Shape;1498;p162"/>
          <p:cNvPicPr preferRelativeResize="0"/>
          <p:nvPr/>
        </p:nvPicPr>
        <p:blipFill rotWithShape="1">
          <a:blip r:embed="rId5">
            <a:alphaModFix/>
          </a:blip>
          <a:srcRect b="0" l="-634" r="0" t="0"/>
          <a:stretch/>
        </p:blipFill>
        <p:spPr>
          <a:xfrm>
            <a:off x="4233775" y="1936125"/>
            <a:ext cx="4856675" cy="1823150"/>
          </a:xfrm>
          <a:prstGeom prst="rect">
            <a:avLst/>
          </a:prstGeom>
          <a:noFill/>
          <a:ln>
            <a:noFill/>
          </a:ln>
        </p:spPr>
      </p:pic>
      <p:sp>
        <p:nvSpPr>
          <p:cNvPr id="1499" name="Google Shape;1499;p1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graphicFrame>
        <p:nvGraphicFramePr>
          <p:cNvPr id="1504" name="Google Shape;1504;p16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1.31%</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Russia on the industry group level. The product classification system we adopt allows us to measure the realized industry development for various industry groups and to observe that Russia regressed in developing most of its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505" name="Google Shape;1505;p16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6.36.1 </a:t>
            </a:r>
            <a:r>
              <a:rPr lang="en" sz="2800">
                <a:solidFill>
                  <a:srgbClr val="424242"/>
                </a:solidFill>
                <a:latin typeface="Times New Roman"/>
                <a:ea typeface="Times New Roman"/>
                <a:cs typeface="Times New Roman"/>
                <a:sym typeface="Times New Roman"/>
              </a:rPr>
              <a:t>Russia</a:t>
            </a:r>
            <a:endParaRPr sz="2800">
              <a:solidFill>
                <a:srgbClr val="424242"/>
              </a:solidFill>
              <a:latin typeface="Times New Roman"/>
              <a:ea typeface="Times New Roman"/>
              <a:cs typeface="Times New Roman"/>
              <a:sym typeface="Times New Roman"/>
            </a:endParaRPr>
          </a:p>
        </p:txBody>
      </p:sp>
      <p:pic>
        <p:nvPicPr>
          <p:cNvPr id="1506" name="Google Shape;1506;p163"/>
          <p:cNvPicPr preferRelativeResize="0"/>
          <p:nvPr/>
        </p:nvPicPr>
        <p:blipFill rotWithShape="1">
          <a:blip r:embed="rId3">
            <a:alphaModFix/>
          </a:blip>
          <a:srcRect b="93621" l="0" r="0" t="0"/>
          <a:stretch/>
        </p:blipFill>
        <p:spPr>
          <a:xfrm>
            <a:off x="3048000" y="3171325"/>
            <a:ext cx="1653300" cy="235525"/>
          </a:xfrm>
          <a:prstGeom prst="rect">
            <a:avLst/>
          </a:prstGeom>
          <a:noFill/>
          <a:ln>
            <a:noFill/>
          </a:ln>
        </p:spPr>
      </p:pic>
      <p:pic>
        <p:nvPicPr>
          <p:cNvPr id="1507" name="Google Shape;1507;p163"/>
          <p:cNvPicPr preferRelativeResize="0"/>
          <p:nvPr/>
        </p:nvPicPr>
        <p:blipFill>
          <a:blip r:embed="rId4">
            <a:alphaModFix/>
          </a:blip>
          <a:stretch>
            <a:fillRect/>
          </a:stretch>
        </p:blipFill>
        <p:spPr>
          <a:xfrm>
            <a:off x="35825" y="993113"/>
            <a:ext cx="3069575" cy="2041267"/>
          </a:xfrm>
          <a:prstGeom prst="rect">
            <a:avLst/>
          </a:prstGeom>
          <a:noFill/>
          <a:ln>
            <a:noFill/>
          </a:ln>
        </p:spPr>
      </p:pic>
      <p:pic>
        <p:nvPicPr>
          <p:cNvPr id="1508" name="Google Shape;1508;p163"/>
          <p:cNvPicPr preferRelativeResize="0"/>
          <p:nvPr/>
        </p:nvPicPr>
        <p:blipFill>
          <a:blip r:embed="rId5">
            <a:alphaModFix/>
          </a:blip>
          <a:stretch>
            <a:fillRect/>
          </a:stretch>
        </p:blipFill>
        <p:spPr>
          <a:xfrm>
            <a:off x="3116113" y="1013063"/>
            <a:ext cx="2911775" cy="2001375"/>
          </a:xfrm>
          <a:prstGeom prst="rect">
            <a:avLst/>
          </a:prstGeom>
          <a:noFill/>
          <a:ln>
            <a:noFill/>
          </a:ln>
        </p:spPr>
      </p:pic>
      <p:pic>
        <p:nvPicPr>
          <p:cNvPr id="1509" name="Google Shape;1509;p163"/>
          <p:cNvPicPr preferRelativeResize="0"/>
          <p:nvPr/>
        </p:nvPicPr>
        <p:blipFill rotWithShape="1">
          <a:blip r:embed="rId6">
            <a:alphaModFix/>
          </a:blip>
          <a:srcRect b="47715" l="0" r="0" t="0"/>
          <a:stretch/>
        </p:blipFill>
        <p:spPr>
          <a:xfrm>
            <a:off x="1263188" y="3171325"/>
            <a:ext cx="1784812" cy="1947675"/>
          </a:xfrm>
          <a:prstGeom prst="rect">
            <a:avLst/>
          </a:prstGeom>
          <a:noFill/>
          <a:ln>
            <a:noFill/>
          </a:ln>
        </p:spPr>
      </p:pic>
      <p:pic>
        <p:nvPicPr>
          <p:cNvPr id="1510" name="Google Shape;1510;p163"/>
          <p:cNvPicPr preferRelativeResize="0"/>
          <p:nvPr/>
        </p:nvPicPr>
        <p:blipFill rotWithShape="1">
          <a:blip r:embed="rId6">
            <a:alphaModFix/>
          </a:blip>
          <a:srcRect b="0" l="0" r="0" t="51972"/>
          <a:stretch/>
        </p:blipFill>
        <p:spPr>
          <a:xfrm>
            <a:off x="2958950" y="3370700"/>
            <a:ext cx="1742350" cy="1746546"/>
          </a:xfrm>
          <a:prstGeom prst="rect">
            <a:avLst/>
          </a:prstGeom>
          <a:noFill/>
          <a:ln>
            <a:noFill/>
          </a:ln>
        </p:spPr>
      </p:pic>
      <p:sp>
        <p:nvSpPr>
          <p:cNvPr id="1511" name="Google Shape;1511;p1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graphicFrame>
        <p:nvGraphicFramePr>
          <p:cNvPr id="1516" name="Google Shape;1516;p16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17" name="Google Shape;1517;p16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6.36.2 Russia  </a:t>
            </a:r>
            <a:endParaRPr sz="2800">
              <a:solidFill>
                <a:srgbClr val="424242"/>
              </a:solidFill>
              <a:latin typeface="Times New Roman"/>
              <a:ea typeface="Times New Roman"/>
              <a:cs typeface="Times New Roman"/>
              <a:sym typeface="Times New Roman"/>
            </a:endParaRPr>
          </a:p>
        </p:txBody>
      </p:sp>
      <p:pic>
        <p:nvPicPr>
          <p:cNvPr id="1518" name="Google Shape;1518;p164"/>
          <p:cNvPicPr preferRelativeResize="0"/>
          <p:nvPr/>
        </p:nvPicPr>
        <p:blipFill>
          <a:blip r:embed="rId3">
            <a:alphaModFix/>
          </a:blip>
          <a:stretch>
            <a:fillRect/>
          </a:stretch>
        </p:blipFill>
        <p:spPr>
          <a:xfrm>
            <a:off x="0" y="873050"/>
            <a:ext cx="6038850" cy="2066925"/>
          </a:xfrm>
          <a:prstGeom prst="rect">
            <a:avLst/>
          </a:prstGeom>
          <a:noFill/>
          <a:ln>
            <a:noFill/>
          </a:ln>
        </p:spPr>
      </p:pic>
      <p:pic>
        <p:nvPicPr>
          <p:cNvPr id="1519" name="Google Shape;1519;p164"/>
          <p:cNvPicPr preferRelativeResize="0"/>
          <p:nvPr/>
        </p:nvPicPr>
        <p:blipFill rotWithShape="1">
          <a:blip r:embed="rId4">
            <a:alphaModFix/>
          </a:blip>
          <a:srcRect b="10730" l="3157" r="0" t="0"/>
          <a:stretch/>
        </p:blipFill>
        <p:spPr>
          <a:xfrm>
            <a:off x="129350" y="2999825"/>
            <a:ext cx="5838825" cy="1838325"/>
          </a:xfrm>
          <a:prstGeom prst="rect">
            <a:avLst/>
          </a:prstGeom>
          <a:noFill/>
          <a:ln>
            <a:noFill/>
          </a:ln>
        </p:spPr>
      </p:pic>
      <p:pic>
        <p:nvPicPr>
          <p:cNvPr id="1520" name="Google Shape;1520;p164"/>
          <p:cNvPicPr preferRelativeResize="0"/>
          <p:nvPr/>
        </p:nvPicPr>
        <p:blipFill rotWithShape="1">
          <a:blip r:embed="rId5">
            <a:alphaModFix/>
          </a:blip>
          <a:srcRect b="0" l="0" r="58285" t="0"/>
          <a:stretch/>
        </p:blipFill>
        <p:spPr>
          <a:xfrm>
            <a:off x="6096000" y="999300"/>
            <a:ext cx="2879625" cy="3612025"/>
          </a:xfrm>
          <a:prstGeom prst="rect">
            <a:avLst/>
          </a:prstGeom>
          <a:noFill/>
          <a:ln>
            <a:noFill/>
          </a:ln>
        </p:spPr>
      </p:pic>
      <p:sp>
        <p:nvSpPr>
          <p:cNvPr id="1521" name="Google Shape;1521;p1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graphicFrame>
        <p:nvGraphicFramePr>
          <p:cNvPr id="1526" name="Google Shape;1526;p165"/>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27" name="Google Shape;1527;p16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6.36.3 Russia  </a:t>
            </a:r>
            <a:endParaRPr sz="2800">
              <a:solidFill>
                <a:srgbClr val="424242"/>
              </a:solidFill>
              <a:latin typeface="Times New Roman"/>
              <a:ea typeface="Times New Roman"/>
              <a:cs typeface="Times New Roman"/>
              <a:sym typeface="Times New Roman"/>
            </a:endParaRPr>
          </a:p>
        </p:txBody>
      </p:sp>
      <p:pic>
        <p:nvPicPr>
          <p:cNvPr id="1528" name="Google Shape;1528;p165"/>
          <p:cNvPicPr preferRelativeResize="0"/>
          <p:nvPr/>
        </p:nvPicPr>
        <p:blipFill>
          <a:blip r:embed="rId3">
            <a:alphaModFix/>
          </a:blip>
          <a:stretch>
            <a:fillRect/>
          </a:stretch>
        </p:blipFill>
        <p:spPr>
          <a:xfrm>
            <a:off x="0" y="683225"/>
            <a:ext cx="4116679" cy="2140400"/>
          </a:xfrm>
          <a:prstGeom prst="rect">
            <a:avLst/>
          </a:prstGeom>
          <a:noFill/>
          <a:ln>
            <a:noFill/>
          </a:ln>
        </p:spPr>
      </p:pic>
      <p:pic>
        <p:nvPicPr>
          <p:cNvPr id="1529" name="Google Shape;1529;p165"/>
          <p:cNvPicPr preferRelativeResize="0"/>
          <p:nvPr/>
        </p:nvPicPr>
        <p:blipFill>
          <a:blip r:embed="rId4">
            <a:alphaModFix/>
          </a:blip>
          <a:stretch>
            <a:fillRect/>
          </a:stretch>
        </p:blipFill>
        <p:spPr>
          <a:xfrm>
            <a:off x="0" y="2823625"/>
            <a:ext cx="4143154" cy="2140400"/>
          </a:xfrm>
          <a:prstGeom prst="rect">
            <a:avLst/>
          </a:prstGeom>
          <a:noFill/>
          <a:ln>
            <a:noFill/>
          </a:ln>
        </p:spPr>
      </p:pic>
      <p:pic>
        <p:nvPicPr>
          <p:cNvPr id="1530" name="Google Shape;1530;p165"/>
          <p:cNvPicPr preferRelativeResize="0"/>
          <p:nvPr/>
        </p:nvPicPr>
        <p:blipFill rotWithShape="1">
          <a:blip r:embed="rId5">
            <a:alphaModFix/>
          </a:blip>
          <a:srcRect b="0" l="0" r="1000" t="0"/>
          <a:stretch/>
        </p:blipFill>
        <p:spPr>
          <a:xfrm>
            <a:off x="4116675" y="1839272"/>
            <a:ext cx="5066099" cy="1803425"/>
          </a:xfrm>
          <a:prstGeom prst="rect">
            <a:avLst/>
          </a:prstGeom>
          <a:noFill/>
          <a:ln>
            <a:noFill/>
          </a:ln>
        </p:spPr>
      </p:pic>
      <p:sp>
        <p:nvSpPr>
          <p:cNvPr id="1531" name="Google Shape;1531;p1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graphicFrame>
        <p:nvGraphicFramePr>
          <p:cNvPr id="1536" name="Google Shape;1536;p16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3.44%</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lack of progress during the period, we believe, can be partially explained through analysis of the economic and product complexity structure of Sweden on the industry group level. The product classification system we adopt allows us to measure the realized industry development for various industry groups and to observe that Sweden consistently relied on developing the Services and Utilities and Machinery and Construction industries during the period, while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537" name="Google Shape;1537;p16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6.37.1 </a:t>
            </a:r>
            <a:r>
              <a:rPr lang="en" sz="2800">
                <a:solidFill>
                  <a:srgbClr val="424242"/>
                </a:solidFill>
                <a:latin typeface="Times New Roman"/>
                <a:ea typeface="Times New Roman"/>
                <a:cs typeface="Times New Roman"/>
                <a:sym typeface="Times New Roman"/>
              </a:rPr>
              <a:t>Sweden</a:t>
            </a:r>
            <a:endParaRPr sz="2800">
              <a:solidFill>
                <a:srgbClr val="424242"/>
              </a:solidFill>
              <a:latin typeface="Times New Roman"/>
              <a:ea typeface="Times New Roman"/>
              <a:cs typeface="Times New Roman"/>
              <a:sym typeface="Times New Roman"/>
            </a:endParaRPr>
          </a:p>
        </p:txBody>
      </p:sp>
      <p:pic>
        <p:nvPicPr>
          <p:cNvPr id="1538" name="Google Shape;1538;p166"/>
          <p:cNvPicPr preferRelativeResize="0"/>
          <p:nvPr/>
        </p:nvPicPr>
        <p:blipFill rotWithShape="1">
          <a:blip r:embed="rId3">
            <a:alphaModFix/>
          </a:blip>
          <a:srcRect b="93621" l="0" r="0" t="0"/>
          <a:stretch/>
        </p:blipFill>
        <p:spPr>
          <a:xfrm>
            <a:off x="3048000" y="3171325"/>
            <a:ext cx="1653300" cy="235525"/>
          </a:xfrm>
          <a:prstGeom prst="rect">
            <a:avLst/>
          </a:prstGeom>
          <a:noFill/>
          <a:ln>
            <a:noFill/>
          </a:ln>
        </p:spPr>
      </p:pic>
      <p:pic>
        <p:nvPicPr>
          <p:cNvPr id="1539" name="Google Shape;1539;p166"/>
          <p:cNvPicPr preferRelativeResize="0"/>
          <p:nvPr/>
        </p:nvPicPr>
        <p:blipFill>
          <a:blip r:embed="rId4">
            <a:alphaModFix/>
          </a:blip>
          <a:stretch>
            <a:fillRect/>
          </a:stretch>
        </p:blipFill>
        <p:spPr>
          <a:xfrm>
            <a:off x="0" y="999300"/>
            <a:ext cx="2983229" cy="2028900"/>
          </a:xfrm>
          <a:prstGeom prst="rect">
            <a:avLst/>
          </a:prstGeom>
          <a:noFill/>
          <a:ln>
            <a:noFill/>
          </a:ln>
        </p:spPr>
      </p:pic>
      <p:pic>
        <p:nvPicPr>
          <p:cNvPr id="1540" name="Google Shape;1540;p166"/>
          <p:cNvPicPr preferRelativeResize="0"/>
          <p:nvPr/>
        </p:nvPicPr>
        <p:blipFill>
          <a:blip r:embed="rId5">
            <a:alphaModFix/>
          </a:blip>
          <a:stretch>
            <a:fillRect/>
          </a:stretch>
        </p:blipFill>
        <p:spPr>
          <a:xfrm>
            <a:off x="2983225" y="999300"/>
            <a:ext cx="3069575" cy="2028900"/>
          </a:xfrm>
          <a:prstGeom prst="rect">
            <a:avLst/>
          </a:prstGeom>
          <a:noFill/>
          <a:ln>
            <a:noFill/>
          </a:ln>
        </p:spPr>
      </p:pic>
      <p:pic>
        <p:nvPicPr>
          <p:cNvPr id="1541" name="Google Shape;1541;p166"/>
          <p:cNvPicPr preferRelativeResize="0"/>
          <p:nvPr/>
        </p:nvPicPr>
        <p:blipFill rotWithShape="1">
          <a:blip r:embed="rId6">
            <a:alphaModFix/>
          </a:blip>
          <a:srcRect b="46495" l="0" r="0" t="0"/>
          <a:stretch/>
        </p:blipFill>
        <p:spPr>
          <a:xfrm>
            <a:off x="1301305" y="3171325"/>
            <a:ext cx="1746695" cy="1947675"/>
          </a:xfrm>
          <a:prstGeom prst="rect">
            <a:avLst/>
          </a:prstGeom>
          <a:noFill/>
          <a:ln>
            <a:noFill/>
          </a:ln>
        </p:spPr>
      </p:pic>
      <p:pic>
        <p:nvPicPr>
          <p:cNvPr id="1542" name="Google Shape;1542;p166"/>
          <p:cNvPicPr preferRelativeResize="0"/>
          <p:nvPr/>
        </p:nvPicPr>
        <p:blipFill rotWithShape="1">
          <a:blip r:embed="rId6">
            <a:alphaModFix/>
          </a:blip>
          <a:srcRect b="0" l="0" r="0" t="52240"/>
          <a:stretch/>
        </p:blipFill>
        <p:spPr>
          <a:xfrm>
            <a:off x="2983225" y="3406850"/>
            <a:ext cx="1746700" cy="1738592"/>
          </a:xfrm>
          <a:prstGeom prst="rect">
            <a:avLst/>
          </a:prstGeom>
          <a:noFill/>
          <a:ln>
            <a:noFill/>
          </a:ln>
        </p:spPr>
      </p:pic>
      <p:sp>
        <p:nvSpPr>
          <p:cNvPr id="1543" name="Google Shape;1543;p1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graphicFrame>
        <p:nvGraphicFramePr>
          <p:cNvPr id="1548" name="Google Shape;1548;p16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549" name="Google Shape;1549;p167"/>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1550" name="Google Shape;1550;p16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6.37.2 Sweden  </a:t>
            </a:r>
            <a:endParaRPr sz="2800">
              <a:solidFill>
                <a:srgbClr val="424242"/>
              </a:solidFill>
              <a:latin typeface="Times New Roman"/>
              <a:ea typeface="Times New Roman"/>
              <a:cs typeface="Times New Roman"/>
              <a:sym typeface="Times New Roman"/>
            </a:endParaRPr>
          </a:p>
        </p:txBody>
      </p:sp>
      <p:pic>
        <p:nvPicPr>
          <p:cNvPr id="1551" name="Google Shape;1551;p167"/>
          <p:cNvPicPr preferRelativeResize="0"/>
          <p:nvPr/>
        </p:nvPicPr>
        <p:blipFill>
          <a:blip r:embed="rId4">
            <a:alphaModFix/>
          </a:blip>
          <a:stretch>
            <a:fillRect/>
          </a:stretch>
        </p:blipFill>
        <p:spPr>
          <a:xfrm>
            <a:off x="110925" y="843925"/>
            <a:ext cx="5943600" cy="2028825"/>
          </a:xfrm>
          <a:prstGeom prst="rect">
            <a:avLst/>
          </a:prstGeom>
          <a:noFill/>
          <a:ln>
            <a:noFill/>
          </a:ln>
        </p:spPr>
      </p:pic>
      <p:pic>
        <p:nvPicPr>
          <p:cNvPr id="1552" name="Google Shape;1552;p167"/>
          <p:cNvPicPr preferRelativeResize="0"/>
          <p:nvPr/>
        </p:nvPicPr>
        <p:blipFill rotWithShape="1">
          <a:blip r:embed="rId5">
            <a:alphaModFix/>
          </a:blip>
          <a:srcRect b="7313" l="2496" r="0" t="0"/>
          <a:stretch/>
        </p:blipFill>
        <p:spPr>
          <a:xfrm>
            <a:off x="206175" y="3072675"/>
            <a:ext cx="5753100" cy="1866900"/>
          </a:xfrm>
          <a:prstGeom prst="rect">
            <a:avLst/>
          </a:prstGeom>
          <a:noFill/>
          <a:ln>
            <a:noFill/>
          </a:ln>
        </p:spPr>
      </p:pic>
      <p:pic>
        <p:nvPicPr>
          <p:cNvPr id="1553" name="Google Shape;1553;p167"/>
          <p:cNvPicPr preferRelativeResize="0"/>
          <p:nvPr/>
        </p:nvPicPr>
        <p:blipFill rotWithShape="1">
          <a:blip r:embed="rId6">
            <a:alphaModFix/>
          </a:blip>
          <a:srcRect b="0" l="84292" r="0" t="0"/>
          <a:stretch/>
        </p:blipFill>
        <p:spPr>
          <a:xfrm>
            <a:off x="6841725" y="1093620"/>
            <a:ext cx="2335205" cy="4049875"/>
          </a:xfrm>
          <a:prstGeom prst="rect">
            <a:avLst/>
          </a:prstGeom>
          <a:noFill/>
          <a:ln>
            <a:noFill/>
          </a:ln>
        </p:spPr>
      </p:pic>
      <p:sp>
        <p:nvSpPr>
          <p:cNvPr id="1554" name="Google Shape;1554;p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graphicFrame>
        <p:nvGraphicFramePr>
          <p:cNvPr id="1559" name="Google Shape;1559;p168"/>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60" name="Google Shape;1560;p16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6.37.3 Sweden  </a:t>
            </a:r>
            <a:endParaRPr sz="2800">
              <a:solidFill>
                <a:srgbClr val="424242"/>
              </a:solidFill>
              <a:latin typeface="Times New Roman"/>
              <a:ea typeface="Times New Roman"/>
              <a:cs typeface="Times New Roman"/>
              <a:sym typeface="Times New Roman"/>
            </a:endParaRPr>
          </a:p>
        </p:txBody>
      </p:sp>
      <p:pic>
        <p:nvPicPr>
          <p:cNvPr id="1561" name="Google Shape;1561;p168"/>
          <p:cNvPicPr preferRelativeResize="0"/>
          <p:nvPr/>
        </p:nvPicPr>
        <p:blipFill>
          <a:blip r:embed="rId3">
            <a:alphaModFix/>
          </a:blip>
          <a:stretch>
            <a:fillRect/>
          </a:stretch>
        </p:blipFill>
        <p:spPr>
          <a:xfrm>
            <a:off x="0" y="822100"/>
            <a:ext cx="3860676" cy="2026525"/>
          </a:xfrm>
          <a:prstGeom prst="rect">
            <a:avLst/>
          </a:prstGeom>
          <a:noFill/>
          <a:ln>
            <a:noFill/>
          </a:ln>
        </p:spPr>
      </p:pic>
      <p:pic>
        <p:nvPicPr>
          <p:cNvPr id="1562" name="Google Shape;1562;p168"/>
          <p:cNvPicPr preferRelativeResize="0"/>
          <p:nvPr/>
        </p:nvPicPr>
        <p:blipFill>
          <a:blip r:embed="rId4">
            <a:alphaModFix/>
          </a:blip>
          <a:stretch>
            <a:fillRect/>
          </a:stretch>
        </p:blipFill>
        <p:spPr>
          <a:xfrm>
            <a:off x="0" y="2848625"/>
            <a:ext cx="4064725" cy="2140395"/>
          </a:xfrm>
          <a:prstGeom prst="rect">
            <a:avLst/>
          </a:prstGeom>
          <a:noFill/>
          <a:ln>
            <a:noFill/>
          </a:ln>
        </p:spPr>
      </p:pic>
      <p:pic>
        <p:nvPicPr>
          <p:cNvPr id="1563" name="Google Shape;1563;p168"/>
          <p:cNvPicPr preferRelativeResize="0"/>
          <p:nvPr/>
        </p:nvPicPr>
        <p:blipFill rotWithShape="1">
          <a:blip r:embed="rId5">
            <a:alphaModFix/>
          </a:blip>
          <a:srcRect b="0" l="1662" r="0" t="0"/>
          <a:stretch/>
        </p:blipFill>
        <p:spPr>
          <a:xfrm>
            <a:off x="4081900" y="1687850"/>
            <a:ext cx="5022575" cy="1976700"/>
          </a:xfrm>
          <a:prstGeom prst="rect">
            <a:avLst/>
          </a:prstGeom>
          <a:noFill/>
          <a:ln>
            <a:noFill/>
          </a:ln>
        </p:spPr>
      </p:pic>
      <p:sp>
        <p:nvSpPr>
          <p:cNvPr id="1564" name="Google Shape;1564;p1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graphicFrame>
        <p:nvGraphicFramePr>
          <p:cNvPr id="1569" name="Google Shape;1569;p169"/>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2172025">
                <a:tc rowSpan="2">
                  <a:txBody>
                    <a:bodyPr/>
                    <a:lstStyle/>
                    <a:p>
                      <a:pPr indent="0" lvl="0" marL="0" rtl="0" algn="l">
                        <a:spcBef>
                          <a:spcPts val="0"/>
                        </a:spcBef>
                        <a:spcAft>
                          <a:spcPts val="0"/>
                        </a:spcAft>
                        <a:buNone/>
                      </a:pPr>
                      <a:r>
                        <a:rPr b="1" lang="en"/>
                        <a:t>[CHART GDP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rtl="0" algn="l">
                        <a:spcBef>
                          <a:spcPts val="0"/>
                        </a:spcBef>
                        <a:spcAft>
                          <a:spcPts val="0"/>
                        </a:spcAft>
                        <a:buNone/>
                      </a:pPr>
                      <a:r>
                        <a:rPr b="1" lang="en">
                          <a:solidFill>
                            <a:schemeClr val="dk1"/>
                          </a:solidFill>
                        </a:rPr>
                        <a:t>[CHART ECI Trend]</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Macroeconomic Results: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GDP Growth over period: 3.03%</a:t>
                      </a:r>
                      <a:endParaRPr b="1">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4375">
                <a:tc vMerge="1"/>
                <a:tc vMerge="1"/>
                <a:tc rowSpan="2">
                  <a:txBody>
                    <a:bodyPr/>
                    <a:lstStyle/>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None/>
                      </a:pPr>
                      <a:r>
                        <a:t/>
                      </a:r>
                      <a:endParaRPr b="1" sz="900">
                        <a:solidFill>
                          <a:schemeClr val="dk1"/>
                        </a:solidFill>
                      </a:endParaRPr>
                    </a:p>
                    <a:p>
                      <a:pPr indent="0" lvl="0" marL="0" rtl="0" algn="just">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mixed progress during the period, we believe, can be partially explained through analysis of the economic and product complexity structure of the UK on the industry group level. The product classification system we adopt allows us to measure the realized industry development for various industry groups and to observe that the UK consistently relied on developing the Chemicals, Machinery and Construction, and Daily Instruments industries during the period, while some of its developed counterparts and emerging economies around the globe adopted much more complex and progressive paths.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dk1"/>
                        </a:solidFill>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37825">
                <a:tc gridSpan="2">
                  <a:txBody>
                    <a:bodyPr/>
                    <a:lstStyle/>
                    <a:p>
                      <a:pPr indent="0" lvl="0" marL="0" rtl="0" algn="ctr">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vMerge="1"/>
              </a:tr>
            </a:tbl>
          </a:graphicData>
        </a:graphic>
      </p:graphicFrame>
      <p:sp>
        <p:nvSpPr>
          <p:cNvPr id="1570" name="Google Shape;1570;p16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6.38.1 United </a:t>
            </a:r>
            <a:r>
              <a:rPr lang="en" sz="2800">
                <a:solidFill>
                  <a:srgbClr val="424242"/>
                </a:solidFill>
                <a:latin typeface="Times New Roman"/>
                <a:ea typeface="Times New Roman"/>
                <a:cs typeface="Times New Roman"/>
                <a:sym typeface="Times New Roman"/>
              </a:rPr>
              <a:t>Kingdom</a:t>
            </a:r>
            <a:endParaRPr sz="2800">
              <a:solidFill>
                <a:srgbClr val="424242"/>
              </a:solidFill>
              <a:latin typeface="Times New Roman"/>
              <a:ea typeface="Times New Roman"/>
              <a:cs typeface="Times New Roman"/>
              <a:sym typeface="Times New Roman"/>
            </a:endParaRPr>
          </a:p>
        </p:txBody>
      </p:sp>
      <p:pic>
        <p:nvPicPr>
          <p:cNvPr id="1571" name="Google Shape;1571;p169"/>
          <p:cNvPicPr preferRelativeResize="0"/>
          <p:nvPr/>
        </p:nvPicPr>
        <p:blipFill>
          <a:blip r:embed="rId3">
            <a:alphaModFix/>
          </a:blip>
          <a:stretch>
            <a:fillRect/>
          </a:stretch>
        </p:blipFill>
        <p:spPr>
          <a:xfrm>
            <a:off x="0" y="1005838"/>
            <a:ext cx="3090075" cy="2017550"/>
          </a:xfrm>
          <a:prstGeom prst="rect">
            <a:avLst/>
          </a:prstGeom>
          <a:noFill/>
          <a:ln>
            <a:noFill/>
          </a:ln>
        </p:spPr>
      </p:pic>
      <p:pic>
        <p:nvPicPr>
          <p:cNvPr id="1572" name="Google Shape;1572;p169"/>
          <p:cNvPicPr preferRelativeResize="0"/>
          <p:nvPr/>
        </p:nvPicPr>
        <p:blipFill>
          <a:blip r:embed="rId4">
            <a:alphaModFix/>
          </a:blip>
          <a:stretch>
            <a:fillRect/>
          </a:stretch>
        </p:blipFill>
        <p:spPr>
          <a:xfrm>
            <a:off x="3048000" y="1076550"/>
            <a:ext cx="3090075" cy="1876132"/>
          </a:xfrm>
          <a:prstGeom prst="rect">
            <a:avLst/>
          </a:prstGeom>
          <a:noFill/>
          <a:ln>
            <a:noFill/>
          </a:ln>
        </p:spPr>
      </p:pic>
      <p:pic>
        <p:nvPicPr>
          <p:cNvPr id="1573" name="Google Shape;1573;p169"/>
          <p:cNvPicPr preferRelativeResize="0"/>
          <p:nvPr/>
        </p:nvPicPr>
        <p:blipFill rotWithShape="1">
          <a:blip r:embed="rId5">
            <a:alphaModFix/>
          </a:blip>
          <a:srcRect b="46504" l="0" r="0" t="0"/>
          <a:stretch/>
        </p:blipFill>
        <p:spPr>
          <a:xfrm>
            <a:off x="1436775" y="3171325"/>
            <a:ext cx="1653300" cy="1975238"/>
          </a:xfrm>
          <a:prstGeom prst="rect">
            <a:avLst/>
          </a:prstGeom>
          <a:noFill/>
          <a:ln>
            <a:noFill/>
          </a:ln>
        </p:spPr>
      </p:pic>
      <p:pic>
        <p:nvPicPr>
          <p:cNvPr id="1574" name="Google Shape;1574;p169"/>
          <p:cNvPicPr preferRelativeResize="0"/>
          <p:nvPr/>
        </p:nvPicPr>
        <p:blipFill rotWithShape="1">
          <a:blip r:embed="rId5">
            <a:alphaModFix/>
          </a:blip>
          <a:srcRect b="0" l="0" r="0" t="53179"/>
          <a:stretch/>
        </p:blipFill>
        <p:spPr>
          <a:xfrm>
            <a:off x="3048000" y="3406850"/>
            <a:ext cx="1653300" cy="1728831"/>
          </a:xfrm>
          <a:prstGeom prst="rect">
            <a:avLst/>
          </a:prstGeom>
          <a:noFill/>
          <a:ln>
            <a:noFill/>
          </a:ln>
        </p:spPr>
      </p:pic>
      <p:pic>
        <p:nvPicPr>
          <p:cNvPr id="1575" name="Google Shape;1575;p169"/>
          <p:cNvPicPr preferRelativeResize="0"/>
          <p:nvPr/>
        </p:nvPicPr>
        <p:blipFill rotWithShape="1">
          <a:blip r:embed="rId5">
            <a:alphaModFix/>
          </a:blip>
          <a:srcRect b="93621" l="0" r="0" t="0"/>
          <a:stretch/>
        </p:blipFill>
        <p:spPr>
          <a:xfrm>
            <a:off x="3048000" y="3171325"/>
            <a:ext cx="1653300" cy="235525"/>
          </a:xfrm>
          <a:prstGeom prst="rect">
            <a:avLst/>
          </a:prstGeom>
          <a:noFill/>
          <a:ln>
            <a:noFill/>
          </a:ln>
        </p:spPr>
      </p:pic>
      <p:sp>
        <p:nvSpPr>
          <p:cNvPr id="1576" name="Google Shape;1576;p1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graphicFrame>
        <p:nvGraphicFramePr>
          <p:cNvPr id="1581" name="Google Shape;1581;p170"/>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ctr">
                        <a:spcBef>
                          <a:spcPts val="0"/>
                        </a:spcBef>
                        <a:spcAft>
                          <a:spcPts val="0"/>
                        </a:spcAft>
                        <a:buNone/>
                      </a:pPr>
                      <a:r>
                        <a:rPr b="1" lang="en"/>
                        <a:t>[CHART Vision Enhanced Greedy Optimization, ECI Growth]</a:t>
                      </a:r>
                      <a:endParaRPr b="1"/>
                    </a:p>
                    <a:p>
                      <a:pPr indent="0" lvl="0" marL="0" rtl="0" algn="ctr">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rPr b="1" lang="en">
                          <a:solidFill>
                            <a:schemeClr val="dk1"/>
                          </a:solidFill>
                        </a:rPr>
                        <a:t>[TABLE Suggested Development Vector]</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ctr">
                        <a:spcBef>
                          <a:spcPts val="0"/>
                        </a:spcBef>
                        <a:spcAft>
                          <a:spcPts val="0"/>
                        </a:spcAft>
                        <a:buClr>
                          <a:schemeClr val="dk1"/>
                        </a:buClr>
                        <a:buSzPts val="1100"/>
                        <a:buFont typeface="Arial"/>
                        <a:buNone/>
                      </a:pPr>
                      <a:r>
                        <a:rPr b="1" lang="en">
                          <a:solidFill>
                            <a:schemeClr val="dk1"/>
                          </a:solidFill>
                        </a:rPr>
                        <a:t>[CHART Vision Enhanced Greedy Optimization, ECI Increment]</a:t>
                      </a:r>
                      <a:endParaRPr b="1">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pic>
        <p:nvPicPr>
          <p:cNvPr id="1582" name="Google Shape;1582;p170"/>
          <p:cNvPicPr preferRelativeResize="0"/>
          <p:nvPr/>
        </p:nvPicPr>
        <p:blipFill rotWithShape="1">
          <a:blip r:embed="rId3">
            <a:alphaModFix/>
          </a:blip>
          <a:srcRect b="0" l="0" r="69340" t="970"/>
          <a:stretch/>
        </p:blipFill>
        <p:spPr>
          <a:xfrm>
            <a:off x="6096000" y="1093625"/>
            <a:ext cx="900725" cy="4049875"/>
          </a:xfrm>
          <a:prstGeom prst="rect">
            <a:avLst/>
          </a:prstGeom>
          <a:noFill/>
          <a:ln>
            <a:noFill/>
          </a:ln>
        </p:spPr>
      </p:pic>
      <p:sp>
        <p:nvSpPr>
          <p:cNvPr id="1583" name="Google Shape;1583;p17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6.38.2 United Kingdom  </a:t>
            </a:r>
            <a:endParaRPr sz="2800">
              <a:solidFill>
                <a:srgbClr val="424242"/>
              </a:solidFill>
              <a:latin typeface="Times New Roman"/>
              <a:ea typeface="Times New Roman"/>
              <a:cs typeface="Times New Roman"/>
              <a:sym typeface="Times New Roman"/>
            </a:endParaRPr>
          </a:p>
        </p:txBody>
      </p:sp>
      <p:pic>
        <p:nvPicPr>
          <p:cNvPr id="1584" name="Google Shape;1584;p170"/>
          <p:cNvPicPr preferRelativeResize="0"/>
          <p:nvPr/>
        </p:nvPicPr>
        <p:blipFill rotWithShape="1">
          <a:blip r:embed="rId4">
            <a:alphaModFix/>
          </a:blip>
          <a:srcRect b="0" l="84685" r="0" t="0"/>
          <a:stretch/>
        </p:blipFill>
        <p:spPr>
          <a:xfrm>
            <a:off x="6928425" y="1052750"/>
            <a:ext cx="2215575" cy="4037275"/>
          </a:xfrm>
          <a:prstGeom prst="rect">
            <a:avLst/>
          </a:prstGeom>
          <a:noFill/>
          <a:ln>
            <a:noFill/>
          </a:ln>
        </p:spPr>
      </p:pic>
      <p:pic>
        <p:nvPicPr>
          <p:cNvPr id="1585" name="Google Shape;1585;p170"/>
          <p:cNvPicPr preferRelativeResize="0"/>
          <p:nvPr/>
        </p:nvPicPr>
        <p:blipFill>
          <a:blip r:embed="rId5">
            <a:alphaModFix/>
          </a:blip>
          <a:stretch>
            <a:fillRect/>
          </a:stretch>
        </p:blipFill>
        <p:spPr>
          <a:xfrm>
            <a:off x="196650" y="880950"/>
            <a:ext cx="5772150" cy="1971675"/>
          </a:xfrm>
          <a:prstGeom prst="rect">
            <a:avLst/>
          </a:prstGeom>
          <a:noFill/>
          <a:ln>
            <a:noFill/>
          </a:ln>
        </p:spPr>
      </p:pic>
      <p:pic>
        <p:nvPicPr>
          <p:cNvPr id="1586" name="Google Shape;1586;p170"/>
          <p:cNvPicPr preferRelativeResize="0"/>
          <p:nvPr/>
        </p:nvPicPr>
        <p:blipFill rotWithShape="1">
          <a:blip r:embed="rId6">
            <a:alphaModFix/>
          </a:blip>
          <a:srcRect b="7313" l="2325" r="0" t="0"/>
          <a:stretch/>
        </p:blipFill>
        <p:spPr>
          <a:xfrm>
            <a:off x="282375" y="3180300"/>
            <a:ext cx="5600700" cy="1809750"/>
          </a:xfrm>
          <a:prstGeom prst="rect">
            <a:avLst/>
          </a:prstGeom>
          <a:noFill/>
          <a:ln>
            <a:noFill/>
          </a:ln>
        </p:spPr>
      </p:pic>
      <p:sp>
        <p:nvSpPr>
          <p:cNvPr id="1587" name="Google Shape;1587;p1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graphicFrame>
        <p:nvGraphicFramePr>
          <p:cNvPr id="1592" name="Google Shape;1592;p171"/>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402075"/>
                <a:gridCol w="4693925"/>
              </a:tblGrid>
              <a:tr h="2044325">
                <a:tc gridSpan="2">
                  <a:txBody>
                    <a:bodyPr/>
                    <a:lstStyle/>
                    <a:p>
                      <a:pPr indent="0" lvl="0" marL="0" rtl="0" algn="l">
                        <a:spcBef>
                          <a:spcPts val="0"/>
                        </a:spcBef>
                        <a:spcAft>
                          <a:spcPts val="0"/>
                        </a:spcAft>
                        <a:buNone/>
                      </a:pPr>
                      <a:r>
                        <a:rPr b="1" lang="en"/>
                        <a:t>[CHART Incremental ECI Sensitivity]</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rPr b="1" lang="en"/>
                        <a:t>[CHART Decremental ECI Sensitivity]</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93" name="Google Shape;1593;p17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424242"/>
                </a:solidFill>
                <a:latin typeface="Times New Roman"/>
                <a:ea typeface="Times New Roman"/>
                <a:cs typeface="Times New Roman"/>
                <a:sym typeface="Times New Roman"/>
              </a:rPr>
              <a:t> </a:t>
            </a:r>
            <a:r>
              <a:rPr lang="en" sz="2800">
                <a:solidFill>
                  <a:srgbClr val="424242"/>
                </a:solidFill>
                <a:latin typeface="Times New Roman"/>
                <a:ea typeface="Times New Roman"/>
                <a:cs typeface="Times New Roman"/>
                <a:sym typeface="Times New Roman"/>
              </a:rPr>
              <a:t> 6.38.3 United Kingdom  </a:t>
            </a:r>
            <a:endParaRPr sz="2800">
              <a:solidFill>
                <a:srgbClr val="424242"/>
              </a:solidFill>
              <a:latin typeface="Times New Roman"/>
              <a:ea typeface="Times New Roman"/>
              <a:cs typeface="Times New Roman"/>
              <a:sym typeface="Times New Roman"/>
            </a:endParaRPr>
          </a:p>
        </p:txBody>
      </p:sp>
      <p:pic>
        <p:nvPicPr>
          <p:cNvPr id="1594" name="Google Shape;1594;p171"/>
          <p:cNvPicPr preferRelativeResize="0"/>
          <p:nvPr/>
        </p:nvPicPr>
        <p:blipFill>
          <a:blip r:embed="rId3">
            <a:alphaModFix/>
          </a:blip>
          <a:stretch>
            <a:fillRect/>
          </a:stretch>
        </p:blipFill>
        <p:spPr>
          <a:xfrm>
            <a:off x="0" y="999300"/>
            <a:ext cx="4005901" cy="2002950"/>
          </a:xfrm>
          <a:prstGeom prst="rect">
            <a:avLst/>
          </a:prstGeom>
          <a:noFill/>
          <a:ln>
            <a:noFill/>
          </a:ln>
        </p:spPr>
      </p:pic>
      <p:pic>
        <p:nvPicPr>
          <p:cNvPr id="1595" name="Google Shape;1595;p171"/>
          <p:cNvPicPr preferRelativeResize="0"/>
          <p:nvPr/>
        </p:nvPicPr>
        <p:blipFill>
          <a:blip r:embed="rId4">
            <a:alphaModFix/>
          </a:blip>
          <a:stretch>
            <a:fillRect/>
          </a:stretch>
        </p:blipFill>
        <p:spPr>
          <a:xfrm>
            <a:off x="0" y="3002250"/>
            <a:ext cx="4064725" cy="2126891"/>
          </a:xfrm>
          <a:prstGeom prst="rect">
            <a:avLst/>
          </a:prstGeom>
          <a:noFill/>
          <a:ln>
            <a:noFill/>
          </a:ln>
        </p:spPr>
      </p:pic>
      <p:pic>
        <p:nvPicPr>
          <p:cNvPr id="1596" name="Google Shape;1596;p171"/>
          <p:cNvPicPr preferRelativeResize="0"/>
          <p:nvPr/>
        </p:nvPicPr>
        <p:blipFill>
          <a:blip r:embed="rId5">
            <a:alphaModFix/>
          </a:blip>
          <a:stretch>
            <a:fillRect/>
          </a:stretch>
        </p:blipFill>
        <p:spPr>
          <a:xfrm>
            <a:off x="4064725" y="2016275"/>
            <a:ext cx="5079275" cy="1912665"/>
          </a:xfrm>
          <a:prstGeom prst="rect">
            <a:avLst/>
          </a:prstGeom>
          <a:noFill/>
          <a:ln>
            <a:noFill/>
          </a:ln>
        </p:spPr>
      </p:pic>
      <p:sp>
        <p:nvSpPr>
          <p:cNvPr id="1597" name="Google Shape;1597;p1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17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6.39.1 Norway</a:t>
            </a:r>
            <a:endParaRPr sz="2800">
              <a:latin typeface="EB Garamond"/>
              <a:ea typeface="EB Garamond"/>
              <a:cs typeface="EB Garamond"/>
              <a:sym typeface="EB Garamond"/>
            </a:endParaRPr>
          </a:p>
        </p:txBody>
      </p:sp>
      <p:sp>
        <p:nvSpPr>
          <p:cNvPr id="1603" name="Google Shape;1603;p1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04" name="Google Shape;1604;p172"/>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0.54%</a:t>
            </a:r>
            <a:endParaRPr b="1">
              <a:solidFill>
                <a:srgbClr val="38761D"/>
              </a:solidFill>
              <a:latin typeface="EB Garamond"/>
              <a:ea typeface="EB Garamond"/>
              <a:cs typeface="EB Garamond"/>
              <a:sym typeface="EB Garamond"/>
            </a:endParaRPr>
          </a:p>
        </p:txBody>
      </p:sp>
      <p:sp>
        <p:nvSpPr>
          <p:cNvPr id="1605" name="Google Shape;1605;p172"/>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1606" name="Google Shape;1606;p172"/>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1607" name="Google Shape;1607;p172"/>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608" name="Google Shape;1608;p172"/>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09" name="Google Shape;1609;p172"/>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610" name="Google Shape;1610;p172"/>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1611" name="Google Shape;1611;p172"/>
          <p:cNvPicPr preferRelativeResize="0"/>
          <p:nvPr/>
        </p:nvPicPr>
        <p:blipFill rotWithShape="1">
          <a:blip r:embed="rId4">
            <a:alphaModFix/>
          </a:blip>
          <a:srcRect b="0" l="4635" r="0" t="6227"/>
          <a:stretch/>
        </p:blipFill>
        <p:spPr>
          <a:xfrm>
            <a:off x="1039575" y="1478438"/>
            <a:ext cx="2485050" cy="1628837"/>
          </a:xfrm>
          <a:prstGeom prst="rect">
            <a:avLst/>
          </a:prstGeom>
          <a:noFill/>
          <a:ln>
            <a:noFill/>
          </a:ln>
        </p:spPr>
      </p:pic>
      <p:pic>
        <p:nvPicPr>
          <p:cNvPr id="1612" name="Google Shape;1612;p172"/>
          <p:cNvPicPr preferRelativeResize="0"/>
          <p:nvPr/>
        </p:nvPicPr>
        <p:blipFill rotWithShape="1">
          <a:blip r:embed="rId5">
            <a:alphaModFix/>
          </a:blip>
          <a:srcRect b="0" l="6209" r="0" t="6795"/>
          <a:stretch/>
        </p:blipFill>
        <p:spPr>
          <a:xfrm>
            <a:off x="5387450" y="1477050"/>
            <a:ext cx="2453525" cy="1628825"/>
          </a:xfrm>
          <a:prstGeom prst="rect">
            <a:avLst/>
          </a:prstGeom>
          <a:noFill/>
          <a:ln>
            <a:noFill/>
          </a:ln>
        </p:spPr>
      </p:pic>
      <p:pic>
        <p:nvPicPr>
          <p:cNvPr id="1613" name="Google Shape;1613;p172"/>
          <p:cNvPicPr preferRelativeResize="0"/>
          <p:nvPr/>
        </p:nvPicPr>
        <p:blipFill rotWithShape="1">
          <a:blip r:embed="rId6">
            <a:alphaModFix/>
          </a:blip>
          <a:srcRect b="0" l="8484" r="0" t="0"/>
          <a:stretch/>
        </p:blipFill>
        <p:spPr>
          <a:xfrm>
            <a:off x="2757075" y="3664350"/>
            <a:ext cx="1368050" cy="1479150"/>
          </a:xfrm>
          <a:prstGeom prst="rect">
            <a:avLst/>
          </a:prstGeom>
          <a:noFill/>
          <a:ln>
            <a:noFill/>
          </a:ln>
        </p:spPr>
      </p:pic>
      <p:pic>
        <p:nvPicPr>
          <p:cNvPr id="1614" name="Google Shape;1614;p172"/>
          <p:cNvPicPr preferRelativeResize="0"/>
          <p:nvPr/>
        </p:nvPicPr>
        <p:blipFill rotWithShape="1">
          <a:blip r:embed="rId7">
            <a:alphaModFix/>
          </a:blip>
          <a:srcRect b="0" l="10023" r="0" t="0"/>
          <a:stretch/>
        </p:blipFill>
        <p:spPr>
          <a:xfrm>
            <a:off x="4125125" y="3767875"/>
            <a:ext cx="1228950" cy="1339625"/>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graphicFrame>
        <p:nvGraphicFramePr>
          <p:cNvPr id="1619" name="Google Shape;1619;p173"/>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20" name="Google Shape;1620;p17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6.39.2 Norway - Growth Optimization Results</a:t>
            </a:r>
            <a:endParaRPr sz="2800">
              <a:latin typeface="EB Garamond"/>
              <a:ea typeface="EB Garamond"/>
              <a:cs typeface="EB Garamond"/>
              <a:sym typeface="EB Garamond"/>
            </a:endParaRPr>
          </a:p>
        </p:txBody>
      </p:sp>
      <p:sp>
        <p:nvSpPr>
          <p:cNvPr id="1621" name="Google Shape;1621;p1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22" name="Google Shape;1622;p173"/>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623" name="Google Shape;1623;p173"/>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624" name="Google Shape;1624;p173"/>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-0.928</a:t>
            </a:r>
            <a:endParaRPr b="1" sz="1100">
              <a:latin typeface="EB Garamond"/>
              <a:ea typeface="EB Garamond"/>
              <a:cs typeface="EB Garamond"/>
              <a:sym typeface="EB Garamond"/>
            </a:endParaRPr>
          </a:p>
        </p:txBody>
      </p:sp>
      <p:cxnSp>
        <p:nvCxnSpPr>
          <p:cNvPr id="1625" name="Google Shape;1625;p173"/>
          <p:cNvCxnSpPr/>
          <p:nvPr/>
        </p:nvCxnSpPr>
        <p:spPr>
          <a:xfrm>
            <a:off x="6676950" y="2923038"/>
            <a:ext cx="2148000" cy="0"/>
          </a:xfrm>
          <a:prstGeom prst="straightConnector1">
            <a:avLst/>
          </a:prstGeom>
          <a:noFill/>
          <a:ln cap="flat" cmpd="sng" w="9525">
            <a:solidFill>
              <a:schemeClr val="dk1"/>
            </a:solidFill>
            <a:prstDash val="solid"/>
            <a:round/>
            <a:headEnd len="med" w="med" type="none"/>
            <a:tailEnd len="med" w="med" type="none"/>
          </a:ln>
        </p:spPr>
      </p:cxnSp>
      <p:sp>
        <p:nvSpPr>
          <p:cNvPr id="1626" name="Google Shape;1626;p173"/>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1627" name="Google Shape;1627;p173"/>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must be prioritized for optimal growth!</a:t>
            </a:r>
            <a:endParaRPr/>
          </a:p>
        </p:txBody>
      </p:sp>
      <p:pic>
        <p:nvPicPr>
          <p:cNvPr id="1628" name="Google Shape;1628;p173"/>
          <p:cNvPicPr preferRelativeResize="0"/>
          <p:nvPr/>
        </p:nvPicPr>
        <p:blipFill rotWithShape="1">
          <a:blip r:embed="rId3">
            <a:alphaModFix/>
          </a:blip>
          <a:srcRect b="0" l="0" r="0" t="10474"/>
          <a:stretch/>
        </p:blipFill>
        <p:spPr>
          <a:xfrm>
            <a:off x="757875" y="1406175"/>
            <a:ext cx="5259824" cy="1336500"/>
          </a:xfrm>
          <a:prstGeom prst="rect">
            <a:avLst/>
          </a:prstGeom>
          <a:noFill/>
          <a:ln>
            <a:noFill/>
          </a:ln>
        </p:spPr>
      </p:pic>
      <p:pic>
        <p:nvPicPr>
          <p:cNvPr id="1629" name="Google Shape;1629;p173"/>
          <p:cNvPicPr preferRelativeResize="0"/>
          <p:nvPr/>
        </p:nvPicPr>
        <p:blipFill>
          <a:blip r:embed="rId4">
            <a:alphaModFix/>
          </a:blip>
          <a:stretch>
            <a:fillRect/>
          </a:stretch>
        </p:blipFill>
        <p:spPr>
          <a:xfrm>
            <a:off x="500875" y="3240750"/>
            <a:ext cx="5516826" cy="1422475"/>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graphicFrame>
        <p:nvGraphicFramePr>
          <p:cNvPr id="1634" name="Google Shape;1634;p174"/>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35" name="Google Shape;1635;p17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6.39.3 Norway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636" name="Google Shape;1636;p174"/>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637" name="Google Shape;1637;p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638" name="Google Shape;1638;p174"/>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39" name="Google Shape;1639;p174"/>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640" name="Google Shape;1640;p174"/>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641" name="Google Shape;1641;p174"/>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642" name="Google Shape;1642;p174"/>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Norway</a:t>
            </a:r>
            <a:endParaRPr sz="900" u="sng">
              <a:solidFill>
                <a:schemeClr val="dk1"/>
              </a:solidFill>
              <a:latin typeface="EB Garamond"/>
              <a:ea typeface="EB Garamond"/>
              <a:cs typeface="EB Garamond"/>
              <a:sym typeface="EB Garamond"/>
            </a:endParaRPr>
          </a:p>
        </p:txBody>
      </p:sp>
      <p:sp>
        <p:nvSpPr>
          <p:cNvPr id="1643" name="Google Shape;1643;p174"/>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Norway on the industry group level. The product classification system we adopt allows us to measure the realized industry development for various industry groups and to observe that India consistently relied on developing the Transportation and Chemical industries during the period, while its developed counterparts and emerging economies around the globe adopted much more complex and progressive paths. </a:t>
            </a:r>
            <a:endParaRPr sz="800">
              <a:latin typeface="EB Garamond"/>
              <a:ea typeface="EB Garamond"/>
              <a:cs typeface="EB Garamond"/>
              <a:sym typeface="EB Garamond"/>
            </a:endParaRPr>
          </a:p>
        </p:txBody>
      </p:sp>
      <p:pic>
        <p:nvPicPr>
          <p:cNvPr id="1644" name="Google Shape;1644;p174"/>
          <p:cNvPicPr preferRelativeResize="0"/>
          <p:nvPr/>
        </p:nvPicPr>
        <p:blipFill rotWithShape="1">
          <a:blip r:embed="rId3">
            <a:alphaModFix/>
          </a:blip>
          <a:srcRect b="0" l="79478" r="0" t="8458"/>
          <a:stretch/>
        </p:blipFill>
        <p:spPr>
          <a:xfrm>
            <a:off x="3460400" y="1062375"/>
            <a:ext cx="733751" cy="1734400"/>
          </a:xfrm>
          <a:prstGeom prst="rect">
            <a:avLst/>
          </a:prstGeom>
          <a:noFill/>
          <a:ln>
            <a:noFill/>
          </a:ln>
        </p:spPr>
      </p:pic>
      <p:pic>
        <p:nvPicPr>
          <p:cNvPr id="1645" name="Google Shape;1645;p174"/>
          <p:cNvPicPr preferRelativeResize="0"/>
          <p:nvPr/>
        </p:nvPicPr>
        <p:blipFill rotWithShape="1">
          <a:blip r:embed="rId4">
            <a:alphaModFix/>
          </a:blip>
          <a:srcRect b="0" l="0" r="0" t="10482"/>
          <a:stretch/>
        </p:blipFill>
        <p:spPr>
          <a:xfrm>
            <a:off x="520375" y="1115500"/>
            <a:ext cx="3001099" cy="1681275"/>
          </a:xfrm>
          <a:prstGeom prst="rect">
            <a:avLst/>
          </a:prstGeom>
          <a:noFill/>
          <a:ln>
            <a:noFill/>
          </a:ln>
        </p:spPr>
      </p:pic>
      <p:pic>
        <p:nvPicPr>
          <p:cNvPr id="1646" name="Google Shape;1646;p174"/>
          <p:cNvPicPr preferRelativeResize="0"/>
          <p:nvPr/>
        </p:nvPicPr>
        <p:blipFill>
          <a:blip r:embed="rId5">
            <a:alphaModFix/>
          </a:blip>
          <a:stretch>
            <a:fillRect/>
          </a:stretch>
        </p:blipFill>
        <p:spPr>
          <a:xfrm>
            <a:off x="5129850" y="1185850"/>
            <a:ext cx="3581726" cy="1681275"/>
          </a:xfrm>
          <a:prstGeom prst="rect">
            <a:avLst/>
          </a:prstGeom>
          <a:noFill/>
          <a:ln>
            <a:noFill/>
          </a:ln>
        </p:spPr>
      </p:pic>
      <p:pic>
        <p:nvPicPr>
          <p:cNvPr id="1647" name="Google Shape;1647;p174"/>
          <p:cNvPicPr preferRelativeResize="0"/>
          <p:nvPr/>
        </p:nvPicPr>
        <p:blipFill rotWithShape="1">
          <a:blip r:embed="rId6">
            <a:alphaModFix/>
          </a:blip>
          <a:srcRect b="0" l="0" r="10330" t="0"/>
          <a:stretch/>
        </p:blipFill>
        <p:spPr>
          <a:xfrm>
            <a:off x="2763350" y="3274700"/>
            <a:ext cx="4341599" cy="17344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17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6.40.1 Bolivia</a:t>
            </a:r>
            <a:endParaRPr sz="2800">
              <a:latin typeface="EB Garamond"/>
              <a:ea typeface="EB Garamond"/>
              <a:cs typeface="EB Garamond"/>
              <a:sym typeface="EB Garamond"/>
            </a:endParaRPr>
          </a:p>
        </p:txBody>
      </p:sp>
      <p:sp>
        <p:nvSpPr>
          <p:cNvPr id="1653" name="Google Shape;1653;p1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54" name="Google Shape;1654;p175"/>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5.3%</a:t>
            </a:r>
            <a:endParaRPr b="1">
              <a:solidFill>
                <a:srgbClr val="38761D"/>
              </a:solidFill>
              <a:latin typeface="EB Garamond"/>
              <a:ea typeface="EB Garamond"/>
              <a:cs typeface="EB Garamond"/>
              <a:sym typeface="EB Garamond"/>
            </a:endParaRPr>
          </a:p>
        </p:txBody>
      </p:sp>
      <p:sp>
        <p:nvSpPr>
          <p:cNvPr id="1655" name="Google Shape;1655;p175"/>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1656" name="Google Shape;1656;p175"/>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1657" name="Google Shape;1657;p175"/>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658" name="Google Shape;1658;p175"/>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59" name="Google Shape;1659;p175"/>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660" name="Google Shape;1660;p175"/>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1661" name="Google Shape;1661;p175"/>
          <p:cNvPicPr preferRelativeResize="0"/>
          <p:nvPr/>
        </p:nvPicPr>
        <p:blipFill rotWithShape="1">
          <a:blip r:embed="rId4">
            <a:alphaModFix/>
          </a:blip>
          <a:srcRect b="0" l="5553" r="0" t="9099"/>
          <a:stretch/>
        </p:blipFill>
        <p:spPr>
          <a:xfrm>
            <a:off x="1132750" y="1507337"/>
            <a:ext cx="2601300" cy="1648970"/>
          </a:xfrm>
          <a:prstGeom prst="rect">
            <a:avLst/>
          </a:prstGeom>
          <a:noFill/>
          <a:ln>
            <a:noFill/>
          </a:ln>
        </p:spPr>
      </p:pic>
      <p:sp>
        <p:nvSpPr>
          <p:cNvPr id="1662" name="Google Shape;1662;p175"/>
          <p:cNvSpPr/>
          <p:nvPr/>
        </p:nvSpPr>
        <p:spPr>
          <a:xfrm>
            <a:off x="5240400" y="1448200"/>
            <a:ext cx="2562942" cy="1628825"/>
          </a:xfrm>
          <a:prstGeom prst="rect">
            <a:avLst/>
          </a:prstGeom>
          <a:noFill/>
          <a:ln>
            <a:noFill/>
          </a:ln>
        </p:spPr>
      </p:sp>
      <p:pic>
        <p:nvPicPr>
          <p:cNvPr id="1663" name="Google Shape;1663;p175"/>
          <p:cNvPicPr preferRelativeResize="0"/>
          <p:nvPr/>
        </p:nvPicPr>
        <p:blipFill rotWithShape="1">
          <a:blip r:embed="rId5">
            <a:alphaModFix/>
          </a:blip>
          <a:srcRect b="0" l="8383" r="0" t="0"/>
          <a:stretch/>
        </p:blipFill>
        <p:spPr>
          <a:xfrm>
            <a:off x="2740500" y="3664350"/>
            <a:ext cx="1357400" cy="1479151"/>
          </a:xfrm>
          <a:prstGeom prst="rect">
            <a:avLst/>
          </a:prstGeom>
          <a:noFill/>
          <a:ln>
            <a:noFill/>
          </a:ln>
        </p:spPr>
      </p:pic>
      <p:pic>
        <p:nvPicPr>
          <p:cNvPr id="1664" name="Google Shape;1664;p175"/>
          <p:cNvPicPr preferRelativeResize="0"/>
          <p:nvPr/>
        </p:nvPicPr>
        <p:blipFill rotWithShape="1">
          <a:blip r:embed="rId6">
            <a:alphaModFix/>
          </a:blip>
          <a:srcRect b="0" l="8223" r="0" t="0"/>
          <a:stretch/>
        </p:blipFill>
        <p:spPr>
          <a:xfrm>
            <a:off x="4101950" y="3766646"/>
            <a:ext cx="1357400" cy="1376854"/>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graphicFrame>
        <p:nvGraphicFramePr>
          <p:cNvPr id="1669" name="Google Shape;1669;p176"/>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70" name="Google Shape;1670;p17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6.40.2 Bolivia - Growth Optimization Results</a:t>
            </a:r>
            <a:endParaRPr sz="2800">
              <a:latin typeface="EB Garamond"/>
              <a:ea typeface="EB Garamond"/>
              <a:cs typeface="EB Garamond"/>
              <a:sym typeface="EB Garamond"/>
            </a:endParaRPr>
          </a:p>
        </p:txBody>
      </p:sp>
      <p:sp>
        <p:nvSpPr>
          <p:cNvPr id="1671" name="Google Shape;1671;p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72" name="Google Shape;1672;p176"/>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673" name="Google Shape;1673;p176"/>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674" name="Google Shape;1674;p176"/>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-0.831</a:t>
            </a:r>
            <a:endParaRPr b="1" sz="1100">
              <a:latin typeface="EB Garamond"/>
              <a:ea typeface="EB Garamond"/>
              <a:cs typeface="EB Garamond"/>
              <a:sym typeface="EB Garamond"/>
            </a:endParaRPr>
          </a:p>
        </p:txBody>
      </p:sp>
      <p:cxnSp>
        <p:nvCxnSpPr>
          <p:cNvPr id="1675" name="Google Shape;1675;p176"/>
          <p:cNvCxnSpPr/>
          <p:nvPr/>
        </p:nvCxnSpPr>
        <p:spPr>
          <a:xfrm>
            <a:off x="6676950" y="3252963"/>
            <a:ext cx="2148000" cy="0"/>
          </a:xfrm>
          <a:prstGeom prst="straightConnector1">
            <a:avLst/>
          </a:prstGeom>
          <a:noFill/>
          <a:ln cap="flat" cmpd="sng" w="9525">
            <a:solidFill>
              <a:schemeClr val="dk1"/>
            </a:solidFill>
            <a:prstDash val="solid"/>
            <a:round/>
            <a:headEnd len="med" w="med" type="none"/>
            <a:tailEnd len="med" w="med" type="none"/>
          </a:ln>
        </p:spPr>
      </p:cxnSp>
      <p:sp>
        <p:nvSpPr>
          <p:cNvPr id="1676" name="Google Shape;1676;p176"/>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1677" name="Google Shape;1677;p176"/>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must be prioritized for optimal growth!</a:t>
            </a:r>
            <a:endParaRPr/>
          </a:p>
        </p:txBody>
      </p:sp>
      <p:pic>
        <p:nvPicPr>
          <p:cNvPr id="1678" name="Google Shape;1678;p176"/>
          <p:cNvPicPr preferRelativeResize="0"/>
          <p:nvPr/>
        </p:nvPicPr>
        <p:blipFill rotWithShape="1">
          <a:blip r:embed="rId3">
            <a:alphaModFix/>
          </a:blip>
          <a:srcRect b="0" l="0" r="0" t="10897"/>
          <a:stretch/>
        </p:blipFill>
        <p:spPr>
          <a:xfrm>
            <a:off x="736425" y="1449375"/>
            <a:ext cx="5281276" cy="1240125"/>
          </a:xfrm>
          <a:prstGeom prst="rect">
            <a:avLst/>
          </a:prstGeom>
          <a:noFill/>
          <a:ln>
            <a:noFill/>
          </a:ln>
        </p:spPr>
      </p:pic>
      <p:pic>
        <p:nvPicPr>
          <p:cNvPr id="1679" name="Google Shape;1679;p176"/>
          <p:cNvPicPr preferRelativeResize="0"/>
          <p:nvPr/>
        </p:nvPicPr>
        <p:blipFill>
          <a:blip r:embed="rId4">
            <a:alphaModFix/>
          </a:blip>
          <a:stretch>
            <a:fillRect/>
          </a:stretch>
        </p:blipFill>
        <p:spPr>
          <a:xfrm>
            <a:off x="500875" y="3332850"/>
            <a:ext cx="5519736" cy="124012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graphicFrame>
        <p:nvGraphicFramePr>
          <p:cNvPr id="1684" name="Google Shape;1684;p177"/>
          <p:cNvGraphicFramePr/>
          <p:nvPr/>
        </p:nvGraphicFramePr>
        <p:xfrm>
          <a:off x="0" y="999300"/>
          <a:ext cx="3000000" cy="3000000"/>
        </p:xfrm>
        <a:graphic>
          <a:graphicData uri="http://schemas.openxmlformats.org/drawingml/2006/table">
            <a:tbl>
              <a:tblPr>
                <a:noFill/>
                <a:tableStyleId>{86D11D6D-23B2-4238-A28D-41E66CAD4618}</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85" name="Google Shape;1685;p17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6.40.3 Bolivia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686" name="Google Shape;1686;p177"/>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687" name="Google Shape;1687;p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688" name="Google Shape;1688;p177"/>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89" name="Google Shape;1689;p177"/>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690" name="Google Shape;1690;p177"/>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691" name="Google Shape;1691;p177"/>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692" name="Google Shape;1692;p177"/>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Bolivia</a:t>
            </a:r>
            <a:endParaRPr sz="900" u="sng">
              <a:solidFill>
                <a:schemeClr val="dk1"/>
              </a:solidFill>
              <a:latin typeface="EB Garamond"/>
              <a:ea typeface="EB Garamond"/>
              <a:cs typeface="EB Garamond"/>
              <a:sym typeface="EB Garamond"/>
            </a:endParaRPr>
          </a:p>
        </p:txBody>
      </p:sp>
      <p:sp>
        <p:nvSpPr>
          <p:cNvPr id="1693" name="Google Shape;1693;p177"/>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Bolivia on the industry group level. The product classification system we adopt allows us to measure the realized industry development for various industry groups and to observe that Bolivia consistently relied on developing the Transportation and High- Complexity Products industries during the period, while its developed counterparts and emerging economies around the globe adopted much more complex and progressive paths. </a:t>
            </a:r>
            <a:endParaRPr sz="800">
              <a:latin typeface="EB Garamond"/>
              <a:ea typeface="EB Garamond"/>
              <a:cs typeface="EB Garamond"/>
              <a:sym typeface="EB Garamond"/>
            </a:endParaRPr>
          </a:p>
        </p:txBody>
      </p:sp>
      <p:pic>
        <p:nvPicPr>
          <p:cNvPr id="1694" name="Google Shape;1694;p177"/>
          <p:cNvPicPr preferRelativeResize="0"/>
          <p:nvPr/>
        </p:nvPicPr>
        <p:blipFill>
          <a:blip r:embed="rId3">
            <a:alphaModFix/>
          </a:blip>
          <a:stretch>
            <a:fillRect/>
          </a:stretch>
        </p:blipFill>
        <p:spPr>
          <a:xfrm>
            <a:off x="520375" y="1265400"/>
            <a:ext cx="3826274" cy="1528925"/>
          </a:xfrm>
          <a:prstGeom prst="rect">
            <a:avLst/>
          </a:prstGeom>
          <a:noFill/>
          <a:ln>
            <a:noFill/>
          </a:ln>
        </p:spPr>
      </p:pic>
      <p:pic>
        <p:nvPicPr>
          <p:cNvPr id="1695" name="Google Shape;1695;p177"/>
          <p:cNvPicPr preferRelativeResize="0"/>
          <p:nvPr/>
        </p:nvPicPr>
        <p:blipFill>
          <a:blip r:embed="rId4">
            <a:alphaModFix/>
          </a:blip>
          <a:stretch>
            <a:fillRect/>
          </a:stretch>
        </p:blipFill>
        <p:spPr>
          <a:xfrm>
            <a:off x="5168575" y="1264000"/>
            <a:ext cx="3770700" cy="1528925"/>
          </a:xfrm>
          <a:prstGeom prst="rect">
            <a:avLst/>
          </a:prstGeom>
          <a:noFill/>
          <a:ln>
            <a:noFill/>
          </a:ln>
        </p:spPr>
      </p:pic>
      <p:pic>
        <p:nvPicPr>
          <p:cNvPr id="1696" name="Google Shape;1696;p177"/>
          <p:cNvPicPr preferRelativeResize="0"/>
          <p:nvPr/>
        </p:nvPicPr>
        <p:blipFill rotWithShape="1">
          <a:blip r:embed="rId5">
            <a:alphaModFix/>
          </a:blip>
          <a:srcRect b="0" l="0" r="11253" t="9666"/>
          <a:stretch/>
        </p:blipFill>
        <p:spPr>
          <a:xfrm>
            <a:off x="2725400" y="3274700"/>
            <a:ext cx="4341600" cy="1734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