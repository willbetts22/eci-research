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Nunito"/>
      <p:regular r:id="rId55"/>
      <p:bold r:id="rId56"/>
      <p:italic r:id="rId57"/>
      <p:boldItalic r:id="rId58"/>
    </p:embeddedFont>
    <p:embeddedFont>
      <p:font typeface="Maven Pro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E71BE54-3603-4B21-91E6-6494C3261CA0}">
  <a:tblStyle styleId="{DE71BE54-3603-4B21-91E6-6494C3261C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MavenPro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Nunito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Nunito-italic.fntdata"/><Relationship Id="rId12" Type="http://schemas.openxmlformats.org/officeDocument/2006/relationships/slide" Target="slides/slide6.xml"/><Relationship Id="rId56" Type="http://schemas.openxmlformats.org/officeDocument/2006/relationships/font" Target="fonts/Nunito-bold.fntdata"/><Relationship Id="rId15" Type="http://schemas.openxmlformats.org/officeDocument/2006/relationships/slide" Target="slides/slide9.xml"/><Relationship Id="rId59" Type="http://schemas.openxmlformats.org/officeDocument/2006/relationships/font" Target="fonts/MavenPro-regular.fntdata"/><Relationship Id="rId14" Type="http://schemas.openxmlformats.org/officeDocument/2006/relationships/slide" Target="slides/slide8.xml"/><Relationship Id="rId58" Type="http://schemas.openxmlformats.org/officeDocument/2006/relationships/font" Target="fonts/Nuni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475de84d5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475de84d5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475de84d53_0_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475de84d53_0_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475de84d53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475de84d53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6012a47e0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6012a47e0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6012a47e0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6012a47e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6012a47e0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6012a47e0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6012a47e0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6012a47e0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6012a47e0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6012a47e0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6012a47e0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6012a47e0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475de84d53_0_10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475de84d53_0_10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475de84d53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475de84d53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75de84d53_0_10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475de84d53_0_10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475de84d53_0_10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475de84d53_0_10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475de84d53_0_10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475de84d53_0_10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475de84d53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475de84d53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475de84d53_0_10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475de84d53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475de84d53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475de84d53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6012a47e0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6012a47e0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6012a47e0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6012a47e0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475de84d53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475de84d53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475de84d53_0_10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475de84d53_0_10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475de84d53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475de84d53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475de84d53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475de84d53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475de84d53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475de84d53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Nunito"/>
                <a:ea typeface="Nunito"/>
                <a:cs typeface="Nunito"/>
                <a:sym typeface="Nunito"/>
              </a:rPr>
              <a:t>Each country has several pages: GDP and ECI trend graph, ADI chart, SDV, sensitivity score, sensitivity plan, contingency table, SOI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GDP/ECI trend graph: 2.2, figure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ADI Chart: 3.2, table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SDV: 4.1, table 5 (opportunity gain csv file in “resource”) (all nation within one table)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Score: 4.3, table 17,18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Sensitivity Plan: 4.3, table 19 (need excel file from Heyang)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Contingency Table: 4.3, table 23, 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SOI: 5.2, Figure 7 (R^2 required) (change the country name in the code, line 211)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476aa49042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476aa4904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475fa313b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475fa313b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475fa313bc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475fa313bc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5ff6084c4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5ff6084c4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476aa49042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476aa49042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476aa49042_3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476aa49042_3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476aa49042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476aa49042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476aa49042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476aa49042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4777ffeb1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4777ffeb1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4777ffeb1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4777ffeb1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477cb0a0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477cb0a0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477cb0a07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477cb0a07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477cb0a07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477cb0a07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477cb0a07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477cb0a07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5ff6084c4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5ff6084c4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5ff6084c4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5ff6084c4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5ff6084c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5ff6084c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5ff6084c4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2" name="Google Shape;732;g5ff6084c4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5ff6084c4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5ff6084c4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5ff6084c4b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5ff6084c4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5ff6084c4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5ff6084c4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609f9883a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609f9883a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609f9883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609f9883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40.png"/><Relationship Id="rId5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44.png"/><Relationship Id="rId8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Relationship Id="rId5" Type="http://schemas.openxmlformats.org/officeDocument/2006/relationships/image" Target="../media/image3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41.png"/><Relationship Id="rId7" Type="http://schemas.openxmlformats.org/officeDocument/2006/relationships/image" Target="../media/image31.png"/><Relationship Id="rId8" Type="http://schemas.openxmlformats.org/officeDocument/2006/relationships/image" Target="../media/image4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6.png"/><Relationship Id="rId4" Type="http://schemas.openxmlformats.org/officeDocument/2006/relationships/image" Target="../media/image43.png"/><Relationship Id="rId5" Type="http://schemas.openxmlformats.org/officeDocument/2006/relationships/image" Target="../media/image48.png"/><Relationship Id="rId6" Type="http://schemas.openxmlformats.org/officeDocument/2006/relationships/image" Target="../media/image50.png"/><Relationship Id="rId7" Type="http://schemas.openxmlformats.org/officeDocument/2006/relationships/image" Target="../media/image61.png"/><Relationship Id="rId8" Type="http://schemas.openxmlformats.org/officeDocument/2006/relationships/image" Target="../media/image4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6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2.png"/><Relationship Id="rId4" Type="http://schemas.openxmlformats.org/officeDocument/2006/relationships/image" Target="../media/image66.png"/><Relationship Id="rId5" Type="http://schemas.openxmlformats.org/officeDocument/2006/relationships/image" Target="../media/image65.png"/><Relationship Id="rId6" Type="http://schemas.openxmlformats.org/officeDocument/2006/relationships/image" Target="../media/image6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Relationship Id="rId5" Type="http://schemas.openxmlformats.org/officeDocument/2006/relationships/image" Target="../media/image5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4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0.png"/><Relationship Id="rId4" Type="http://schemas.openxmlformats.org/officeDocument/2006/relationships/image" Target="../media/image78.png"/><Relationship Id="rId5" Type="http://schemas.openxmlformats.org/officeDocument/2006/relationships/image" Target="../media/image6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1.png"/><Relationship Id="rId4" Type="http://schemas.openxmlformats.org/officeDocument/2006/relationships/image" Target="../media/image72.png"/><Relationship Id="rId5" Type="http://schemas.openxmlformats.org/officeDocument/2006/relationships/image" Target="../media/image74.png"/><Relationship Id="rId6" Type="http://schemas.openxmlformats.org/officeDocument/2006/relationships/image" Target="../media/image70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9.png"/><Relationship Id="rId4" Type="http://schemas.openxmlformats.org/officeDocument/2006/relationships/image" Target="../media/image83.png"/><Relationship Id="rId5" Type="http://schemas.openxmlformats.org/officeDocument/2006/relationships/image" Target="../media/image92.png"/><Relationship Id="rId6" Type="http://schemas.openxmlformats.org/officeDocument/2006/relationships/image" Target="../media/image7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3.png"/><Relationship Id="rId4" Type="http://schemas.openxmlformats.org/officeDocument/2006/relationships/image" Target="../media/image79.png"/><Relationship Id="rId5" Type="http://schemas.openxmlformats.org/officeDocument/2006/relationships/image" Target="../media/image82.png"/><Relationship Id="rId6" Type="http://schemas.openxmlformats.org/officeDocument/2006/relationships/image" Target="../media/image8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5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86.png"/><Relationship Id="rId4" Type="http://schemas.openxmlformats.org/officeDocument/2006/relationships/image" Target="../media/image90.png"/><Relationship Id="rId5" Type="http://schemas.openxmlformats.org/officeDocument/2006/relationships/image" Target="../media/image95.png"/><Relationship Id="rId6" Type="http://schemas.openxmlformats.org/officeDocument/2006/relationships/image" Target="../media/image9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108.png"/><Relationship Id="rId6" Type="http://schemas.openxmlformats.org/officeDocument/2006/relationships/image" Target="../media/image9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91.png"/><Relationship Id="rId4" Type="http://schemas.openxmlformats.org/officeDocument/2006/relationships/image" Target="../media/image97.png"/><Relationship Id="rId5" Type="http://schemas.openxmlformats.org/officeDocument/2006/relationships/image" Target="../media/image110.png"/><Relationship Id="rId6" Type="http://schemas.openxmlformats.org/officeDocument/2006/relationships/image" Target="../media/image1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Relationship Id="rId5" Type="http://schemas.openxmlformats.org/officeDocument/2006/relationships/image" Target="../media/image94.png"/><Relationship Id="rId6" Type="http://schemas.openxmlformats.org/officeDocument/2006/relationships/image" Target="../media/image10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Relationship Id="rId5" Type="http://schemas.openxmlformats.org/officeDocument/2006/relationships/image" Target="../media/image10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09.png"/><Relationship Id="rId4" Type="http://schemas.openxmlformats.org/officeDocument/2006/relationships/image" Target="../media/image103.png"/><Relationship Id="rId5" Type="http://schemas.openxmlformats.org/officeDocument/2006/relationships/image" Target="../media/image113.png"/><Relationship Id="rId6" Type="http://schemas.openxmlformats.org/officeDocument/2006/relationships/image" Target="../media/image111.png"/><Relationship Id="rId7" Type="http://schemas.openxmlformats.org/officeDocument/2006/relationships/image" Target="../media/image107.png"/><Relationship Id="rId8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041600"/>
            <a:ext cx="7012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Times New Roman"/>
                <a:ea typeface="Times New Roman"/>
                <a:cs typeface="Times New Roman"/>
                <a:sym typeface="Times New Roman"/>
              </a:rPr>
              <a:t>Complexity-based Economic and Production Analysis: Overview and Country Report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367700"/>
            <a:ext cx="53871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Heyang Huang, Soulaymane Kachani, Lun Li, Jiayu Zhao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Columbia University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3"/>
          <p:cNvSpPr txBox="1"/>
          <p:nvPr>
            <p:ph type="ctrTitle"/>
          </p:nvPr>
        </p:nvSpPr>
        <p:spPr>
          <a:xfrm>
            <a:off x="824000" y="2647950"/>
            <a:ext cx="7012500" cy="53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With analysis for Brazil, China, Egypt, France, Germany, Japan, Malaysia, Mexico, Morocco, South Africa, South Korea, Spain, Turkey, UAE and USA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1. Overview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 Economic Complexity Framework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3. Production Analysis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4. Product Space Design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5. Macro-level Predictions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6. Reference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7. Appendix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1. Overview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1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1303800" y="1224750"/>
            <a:ext cx="7030500" cy="33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an increasing volume of international trade, countries are more specialized than ever in production and have diversified into distinct production patterns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global export data available to us, in this report we examine countries’ growth paths and product spaces on a complexity level, during the period from 2009 to 2014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rest of the report is organized as follows: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455700" y="2583000"/>
            <a:ext cx="1479900" cy="489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 2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3129775" y="2583000"/>
            <a:ext cx="5204400" cy="489900"/>
          </a:xfrm>
          <a:prstGeom prst="roundRect">
            <a:avLst>
              <a:gd fmla="val 16667" name="adj"/>
            </a:avLst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ountries’ economic complexity is quantified the same way as defined by Hausmann and Hidalgo (2009)</a:t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1455675" y="3149100"/>
            <a:ext cx="1479900" cy="489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3129775" y="3149100"/>
            <a:ext cx="5204400" cy="489900"/>
          </a:xfrm>
          <a:prstGeom prst="roundRect">
            <a:avLst>
              <a:gd fmla="val 16667" name="adj"/>
            </a:avLst>
          </a:prstGeom>
          <a:solidFill>
            <a:srgbClr val="A2C4C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roducts are grouped into industry families and the growth paths adopted by countries during the period are closely examined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1455675" y="3715200"/>
            <a:ext cx="1479900" cy="489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 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1455675" y="4281300"/>
            <a:ext cx="1479900" cy="3111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 5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3129775" y="3715200"/>
            <a:ext cx="5204400" cy="489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nalyses are conducted on countries’ sequential development strategy, sensitivity to industry upheaval and the contingency plan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3129775" y="4281300"/>
            <a:ext cx="5204400" cy="3111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acro-level results are used to assess countries’ structural optimality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15"/>
          <p:cNvSpPr/>
          <p:nvPr/>
        </p:nvSpPr>
        <p:spPr>
          <a:xfrm>
            <a:off x="1455675" y="4668600"/>
            <a:ext cx="1479900" cy="3111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Section 7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15"/>
          <p:cNvSpPr/>
          <p:nvPr/>
        </p:nvSpPr>
        <p:spPr>
          <a:xfrm>
            <a:off x="3129775" y="4668600"/>
            <a:ext cx="5204400" cy="3111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ountry-specific results are available for further reviews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"/>
          <p:cNvSpPr/>
          <p:nvPr/>
        </p:nvSpPr>
        <p:spPr>
          <a:xfrm>
            <a:off x="100" y="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/>
          <p:nvPr/>
        </p:nvSpPr>
        <p:spPr>
          <a:xfrm>
            <a:off x="0" y="447720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2. Economic Complexity Framework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16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2.1 Economic Complexity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2.2 Production Matrix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2.3 Diversity and Ubiquity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2.4 Economic &amp; Product Complexity Index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2.5 Proximity and Distance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2.6 Opportunity Gain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1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0" name="Google Shape;3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" y="0"/>
            <a:ext cx="909901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8" name="Google Shape;3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8950"/>
            <a:ext cx="9144002" cy="5161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6" name="Google Shape;3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5" y="-12925"/>
            <a:ext cx="9143999" cy="51579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4" name="Google Shape;3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925"/>
            <a:ext cx="9144001" cy="515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2" name="Google Shape;3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0" name="Google Shape;36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9108" y="-47050"/>
            <a:ext cx="9223109" cy="522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3"/>
          <p:cNvSpPr/>
          <p:nvPr/>
        </p:nvSpPr>
        <p:spPr>
          <a:xfrm>
            <a:off x="100" y="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0" y="447720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3. Production Analysis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8" name="Google Shape;368;p23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3.1 Product Categorization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3.2 Actual Development Index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3.3 Regional and Global Comparison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2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.1 Product Categorization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24"/>
          <p:cNvSpPr txBox="1"/>
          <p:nvPr>
            <p:ph idx="1" type="body"/>
          </p:nvPr>
        </p:nvSpPr>
        <p:spPr>
          <a:xfrm>
            <a:off x="1056750" y="14533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groups in UN Comtrade are labelled from 010000-999999, with the first two-digits representing a category to which the product belongs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 99 categories as extracted from the label, we further group the products into 18 major and widely-accepted industry categories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High-tech is an aggregated industry that indicates the most complicated products from the most technologically-advanced industries, as measured by PCI, and in regression it explains over 67.6% of countries’ GDP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76" name="Google Shape;376;p24"/>
          <p:cNvGraphicFramePr/>
          <p:nvPr/>
        </p:nvGraphicFramePr>
        <p:xfrm>
          <a:off x="1209150" y="342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{DE71BE54-3603-4B21-91E6-6494C3261CA0}</a:tableStyleId>
              </a:tblPr>
              <a:tblGrid>
                <a:gridCol w="7381800"/>
              </a:tblGrid>
              <a:tr h="11902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34F5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Animal and By-product         Raw Manufacturing            Transportation                      Vegetable, Fruit and Plant</a:t>
                      </a:r>
                      <a:endParaRPr sz="1200">
                        <a:solidFill>
                          <a:srgbClr val="134F5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34F5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Wood Product                        Weapon                               Food and Preparation           Clothing and Accessory</a:t>
                      </a:r>
                      <a:endParaRPr sz="1200">
                        <a:solidFill>
                          <a:srgbClr val="134F5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34F5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Daily Instrument                    Mineral and Stone              Textile                                   Precious Stone</a:t>
                      </a:r>
                      <a:endParaRPr sz="1200">
                        <a:solidFill>
                          <a:srgbClr val="134F5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34F5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Chemical                                Metal                                  Service                                  Chemical Manufacturing</a:t>
                      </a:r>
                      <a:endParaRPr sz="1200">
                        <a:solidFill>
                          <a:srgbClr val="134F5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34F5C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Machinery                              High-tech</a:t>
                      </a:r>
                      <a:endParaRPr sz="1200">
                        <a:solidFill>
                          <a:srgbClr val="134F5C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2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3.2 Actual Development Index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5"/>
          <p:cNvSpPr txBox="1"/>
          <p:nvPr>
            <p:ph idx="1" type="body"/>
          </p:nvPr>
        </p:nvSpPr>
        <p:spPr>
          <a:xfrm>
            <a:off x="1303800" y="13438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this concept of distance between countries and product families, we defining the net distance change between two periods as the Actual Developmental Index (ADI)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 measures by how much a country has moved in the direction of a certain product family in its product space during the period, and is a relative concept</a:t>
            </a:r>
            <a:endParaRPr sz="1400"/>
          </a:p>
        </p:txBody>
      </p:sp>
      <p:pic>
        <p:nvPicPr>
          <p:cNvPr id="384" name="Google Shape;384;p2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775" y="2571750"/>
            <a:ext cx="6769251" cy="2242575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5" name="Google Shape;385;p25"/>
          <p:cNvSpPr/>
          <p:nvPr/>
        </p:nvSpPr>
        <p:spPr>
          <a:xfrm>
            <a:off x="5843025" y="2962650"/>
            <a:ext cx="2057400" cy="16596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3.3 Regional and Global Comparison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6"/>
          <p:cNvSpPr txBox="1"/>
          <p:nvPr>
            <p:ph idx="1" type="body"/>
          </p:nvPr>
        </p:nvSpPr>
        <p:spPr>
          <a:xfrm>
            <a:off x="1303800" y="12676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be observed that leading economies, such as U.S. and Germany, in general focus on products with higher level of complexity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Reasonably, emerging economies such as China, South Korea, Singapore and India have devoted the majority of their efforts into intermediate industry groups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3425975" y="3019000"/>
            <a:ext cx="932700" cy="30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3425975" y="3809275"/>
            <a:ext cx="932700" cy="30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Germany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5035325" y="3019000"/>
            <a:ext cx="932700" cy="30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China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5035325" y="3809275"/>
            <a:ext cx="932700" cy="3018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India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6"/>
          <p:cNvSpPr txBox="1"/>
          <p:nvPr/>
        </p:nvSpPr>
        <p:spPr>
          <a:xfrm>
            <a:off x="646175" y="2441450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Chemical Manufacturing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26"/>
          <p:cNvSpPr txBox="1"/>
          <p:nvPr/>
        </p:nvSpPr>
        <p:spPr>
          <a:xfrm>
            <a:off x="570125" y="2849800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Chemicals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570125" y="3251038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0" name="Google Shape;400;p26"/>
          <p:cNvSpPr txBox="1"/>
          <p:nvPr/>
        </p:nvSpPr>
        <p:spPr>
          <a:xfrm>
            <a:off x="589925" y="3640063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1" name="Google Shape;401;p26"/>
          <p:cNvSpPr txBox="1"/>
          <p:nvPr/>
        </p:nvSpPr>
        <p:spPr>
          <a:xfrm>
            <a:off x="569975" y="4111063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High-tech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6"/>
          <p:cNvSpPr txBox="1"/>
          <p:nvPr/>
        </p:nvSpPr>
        <p:spPr>
          <a:xfrm>
            <a:off x="6860700" y="2441450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Machinery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6"/>
          <p:cNvSpPr txBox="1"/>
          <p:nvPr/>
        </p:nvSpPr>
        <p:spPr>
          <a:xfrm>
            <a:off x="6797075" y="2849800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Precious Stone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26"/>
          <p:cNvSpPr txBox="1"/>
          <p:nvPr/>
        </p:nvSpPr>
        <p:spPr>
          <a:xfrm>
            <a:off x="6644675" y="3724675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Daily Instrument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26"/>
          <p:cNvSpPr txBox="1"/>
          <p:nvPr/>
        </p:nvSpPr>
        <p:spPr>
          <a:xfrm>
            <a:off x="6813450" y="3327338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Wood Product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26"/>
          <p:cNvSpPr txBox="1"/>
          <p:nvPr/>
        </p:nvSpPr>
        <p:spPr>
          <a:xfrm>
            <a:off x="6965850" y="4137025"/>
            <a:ext cx="20832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Chemicals</a:t>
            </a:r>
            <a:endParaRPr>
              <a:solidFill>
                <a:srgbClr val="6666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07" name="Google Shape;407;p26"/>
          <p:cNvCxnSpPr>
            <a:stCxn id="397" idx="3"/>
            <a:endCxn id="393" idx="1"/>
          </p:cNvCxnSpPr>
          <p:nvPr/>
        </p:nvCxnSpPr>
        <p:spPr>
          <a:xfrm>
            <a:off x="2729375" y="2676950"/>
            <a:ext cx="696600" cy="4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6"/>
          <p:cNvCxnSpPr>
            <a:stCxn id="399" idx="3"/>
            <a:endCxn id="393" idx="1"/>
          </p:cNvCxnSpPr>
          <p:nvPr/>
        </p:nvCxnSpPr>
        <p:spPr>
          <a:xfrm flipH="1" rot="10800000">
            <a:off x="2653325" y="3170038"/>
            <a:ext cx="772800" cy="31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6"/>
          <p:cNvCxnSpPr>
            <a:endCxn id="394" idx="1"/>
          </p:cNvCxnSpPr>
          <p:nvPr/>
        </p:nvCxnSpPr>
        <p:spPr>
          <a:xfrm>
            <a:off x="2653175" y="3085375"/>
            <a:ext cx="772800" cy="87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6"/>
          <p:cNvCxnSpPr>
            <a:endCxn id="394" idx="1"/>
          </p:cNvCxnSpPr>
          <p:nvPr/>
        </p:nvCxnSpPr>
        <p:spPr>
          <a:xfrm>
            <a:off x="2653175" y="3486475"/>
            <a:ext cx="772800" cy="473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6"/>
          <p:cNvCxnSpPr>
            <a:stCxn id="400" idx="3"/>
            <a:endCxn id="394" idx="1"/>
          </p:cNvCxnSpPr>
          <p:nvPr/>
        </p:nvCxnSpPr>
        <p:spPr>
          <a:xfrm>
            <a:off x="2673125" y="3875563"/>
            <a:ext cx="753000" cy="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26"/>
          <p:cNvCxnSpPr>
            <a:stCxn id="401" idx="3"/>
            <a:endCxn id="394" idx="1"/>
          </p:cNvCxnSpPr>
          <p:nvPr/>
        </p:nvCxnSpPr>
        <p:spPr>
          <a:xfrm flipH="1" rot="10800000">
            <a:off x="2653175" y="3960163"/>
            <a:ext cx="772800" cy="38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6"/>
          <p:cNvCxnSpPr>
            <a:stCxn id="395" idx="3"/>
            <a:endCxn id="402" idx="1"/>
          </p:cNvCxnSpPr>
          <p:nvPr/>
        </p:nvCxnSpPr>
        <p:spPr>
          <a:xfrm flipH="1" rot="10800000">
            <a:off x="5968025" y="2677000"/>
            <a:ext cx="892800" cy="49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6"/>
          <p:cNvCxnSpPr>
            <a:stCxn id="395" idx="3"/>
            <a:endCxn id="403" idx="1"/>
          </p:cNvCxnSpPr>
          <p:nvPr/>
        </p:nvCxnSpPr>
        <p:spPr>
          <a:xfrm flipH="1" rot="10800000">
            <a:off x="5968025" y="3085300"/>
            <a:ext cx="829200" cy="84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6"/>
          <p:cNvCxnSpPr>
            <a:stCxn id="395" idx="3"/>
            <a:endCxn id="406" idx="1"/>
          </p:cNvCxnSpPr>
          <p:nvPr/>
        </p:nvCxnSpPr>
        <p:spPr>
          <a:xfrm>
            <a:off x="5968025" y="3169900"/>
            <a:ext cx="997800" cy="120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6"/>
          <p:cNvCxnSpPr>
            <a:stCxn id="396" idx="3"/>
            <a:endCxn id="402" idx="1"/>
          </p:cNvCxnSpPr>
          <p:nvPr/>
        </p:nvCxnSpPr>
        <p:spPr>
          <a:xfrm flipH="1" rot="10800000">
            <a:off x="5968025" y="2677075"/>
            <a:ext cx="892800" cy="128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6"/>
          <p:cNvCxnSpPr>
            <a:stCxn id="396" idx="3"/>
            <a:endCxn id="405" idx="1"/>
          </p:cNvCxnSpPr>
          <p:nvPr/>
        </p:nvCxnSpPr>
        <p:spPr>
          <a:xfrm flipH="1" rot="10800000">
            <a:off x="5968025" y="3562975"/>
            <a:ext cx="845400" cy="39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26"/>
          <p:cNvCxnSpPr>
            <a:stCxn id="396" idx="3"/>
            <a:endCxn id="406" idx="1"/>
          </p:cNvCxnSpPr>
          <p:nvPr/>
        </p:nvCxnSpPr>
        <p:spPr>
          <a:xfrm>
            <a:off x="5968025" y="3960175"/>
            <a:ext cx="997800" cy="41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6"/>
          <p:cNvCxnSpPr>
            <a:stCxn id="396" idx="3"/>
            <a:endCxn id="404" idx="1"/>
          </p:cNvCxnSpPr>
          <p:nvPr/>
        </p:nvCxnSpPr>
        <p:spPr>
          <a:xfrm>
            <a:off x="5968025" y="3960175"/>
            <a:ext cx="676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26"/>
          <p:cNvCxnSpPr/>
          <p:nvPr/>
        </p:nvCxnSpPr>
        <p:spPr>
          <a:xfrm>
            <a:off x="4718300" y="2557275"/>
            <a:ext cx="0" cy="210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1" name="Google Shape;421;p2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7"/>
          <p:cNvSpPr/>
          <p:nvPr/>
        </p:nvSpPr>
        <p:spPr>
          <a:xfrm>
            <a:off x="100" y="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7"/>
          <p:cNvSpPr/>
          <p:nvPr/>
        </p:nvSpPr>
        <p:spPr>
          <a:xfrm>
            <a:off x="0" y="447720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 Production Space Design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27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4.1 Suggested Development Vector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4.2 Sequential Development Strategy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4.3 Sensitivity Analysis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4.4 Contingency Plan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0" name="Google Shape;430;p2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4.1 Suggested Development Vector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28"/>
          <p:cNvSpPr txBox="1"/>
          <p:nvPr>
            <p:ph idx="1" type="body"/>
          </p:nvPr>
        </p:nvSpPr>
        <p:spPr>
          <a:xfrm>
            <a:off x="1303800" y="12676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define the ranking of opportunity gain of a country as the Suggested Development Vector (SDV) of the country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Leading economies are typically well-shaped and barely have any industries with positive opportunity gain, while emerging economies need a sequential strategy that allows for prioritization of certain industries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2975" y="2930450"/>
            <a:ext cx="7392151" cy="1719099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8" name="Google Shape;438;p2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4.2 Sequential Development Strategy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29"/>
          <p:cNvSpPr txBox="1"/>
          <p:nvPr>
            <p:ph idx="1" type="body"/>
          </p:nvPr>
        </p:nvSpPr>
        <p:spPr>
          <a:xfrm>
            <a:off x="1303800" y="12676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the difficulty of bumping up MCP varies across industries, we need to capture this variation of difficulty by defining the concept of marginal opportunity gains as follows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each iteration, we order all 18 industries based on their current marginal opportunity gain, and prioritize the industry with the highest marginal opportunity gain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then increase the prioritized industry’s export to an extent that the MCP firmly bumps up to 1, and re-perform calculations to prioritize the next industry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5" name="Google Shape;4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5950" y="1908750"/>
            <a:ext cx="5748168" cy="9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2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4.2 Sequential Development Strategy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30"/>
          <p:cNvSpPr txBox="1"/>
          <p:nvPr>
            <p:ph idx="1" type="body"/>
          </p:nvPr>
        </p:nvSpPr>
        <p:spPr>
          <a:xfrm>
            <a:off x="1303800" y="12676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using the sequential strategy algorithm, the example of Morocco shows how the prioritization of a developing country 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evolves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basic products to intermediate-level products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3" name="Google Shape;45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6850" y="2288300"/>
            <a:ext cx="7117073" cy="66762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4" name="Google Shape;45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0000" y="3132625"/>
            <a:ext cx="7117076" cy="64128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55" name="Google Shape;45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0000" y="3969300"/>
            <a:ext cx="7117076" cy="622438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6" name="Google Shape;456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1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4" name="Google Shape;46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" y="0"/>
            <a:ext cx="91410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2" name="Google Shape;4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" y="0"/>
            <a:ext cx="91410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"/>
          <p:cNvSpPr/>
          <p:nvPr/>
        </p:nvSpPr>
        <p:spPr>
          <a:xfrm>
            <a:off x="100" y="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"/>
          <p:cNvSpPr/>
          <p:nvPr/>
        </p:nvSpPr>
        <p:spPr>
          <a:xfrm>
            <a:off x="0" y="447720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Macro-level Predictions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33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5.1 Structural Optimality Index (SOI)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5.2 SOI Examples and Implications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1" name="Google Shape;481;p3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.1 Structural Optimality Index (SOI)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7" name="Google Shape;487;p34"/>
          <p:cNvSpPr txBox="1"/>
          <p:nvPr>
            <p:ph idx="1" type="body"/>
          </p:nvPr>
        </p:nvSpPr>
        <p:spPr>
          <a:xfrm>
            <a:off x="1303800" y="12247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Optimality Index (SOI) is defined as the adjusted R-Square of export increase in industries ~ opportunity gains of industries 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SOI provides a quantified measure of how the development path adopted by a country fitted with/differed from calculations on a complexity level (i.e., the opportunity gains)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further observe a significant correlation between SOI and five-year GDP increase of countries, indicating that structural optimality does impact economic outcomes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8" name="Google Shape;488;p3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325" y="2896575"/>
            <a:ext cx="4593726" cy="199555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0" name="Google Shape;49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3625" y="2896575"/>
            <a:ext cx="2633475" cy="1610000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5.2 SOI Examples and Implications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35"/>
          <p:cNvSpPr txBox="1"/>
          <p:nvPr>
            <p:ph idx="1" type="body"/>
          </p:nvPr>
        </p:nvSpPr>
        <p:spPr>
          <a:xfrm>
            <a:off x="1303800" y="1191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Taking China and France for comparison, China ranks the 1</a:t>
            </a:r>
            <a:r>
              <a:rPr baseline="30000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place among all countries in terms of SOI (82.8%), and has the highest economic growth rate from 2009 to 2014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contrast, developed economies such as France, where there is a moderate SOI of around 14.2% and a corresponding annual growth rate of 1.1%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Intermediate-term economic progress can be at least partially explained by the optimality of development strategy that countries choose to adopt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3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8" name="Google Shape;4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035" y="2898400"/>
            <a:ext cx="3334266" cy="19288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9" name="Google Shape;49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1801" y="2905200"/>
            <a:ext cx="3357774" cy="1928801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6"/>
          <p:cNvSpPr/>
          <p:nvPr/>
        </p:nvSpPr>
        <p:spPr>
          <a:xfrm>
            <a:off x="100" y="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6"/>
          <p:cNvSpPr/>
          <p:nvPr/>
        </p:nvSpPr>
        <p:spPr>
          <a:xfrm>
            <a:off x="0" y="447720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 Reference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7" name="Google Shape;507;p36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Hausmann, R., Hidalgo, C., Bustos, S., Coscia, M., Chung, S., Jimenez, J., Simoes, A. and Yıldırım, M. (2007). </a:t>
            </a:r>
            <a:r>
              <a:rPr i="1"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Atlas of Economic Complexity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[online] Atlas.cid.harvard.edu. Available at: http://atlas.cid.harvard.edu/.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Comtrade.un.org. (n.d.). </a:t>
            </a:r>
            <a:r>
              <a:rPr i="1"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Download trade data | UN Comtrade: International Trade Statistics</a:t>
            </a: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. [online] Available at: https://comtrade.un.org/data/.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3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7"/>
          <p:cNvSpPr/>
          <p:nvPr/>
        </p:nvSpPr>
        <p:spPr>
          <a:xfrm>
            <a:off x="100" y="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7"/>
          <p:cNvSpPr/>
          <p:nvPr/>
        </p:nvSpPr>
        <p:spPr>
          <a:xfrm>
            <a:off x="0" y="4477200"/>
            <a:ext cx="9144000" cy="666300"/>
          </a:xfrm>
          <a:prstGeom prst="rect">
            <a:avLst/>
          </a:prstGeom>
          <a:gradFill>
            <a:gsLst>
              <a:gs pos="0">
                <a:schemeClr val="accent3"/>
              </a:gs>
              <a:gs pos="100000">
                <a:srgbClr val="FFFFFF"/>
              </a:gs>
              <a:gs pos="100000">
                <a:srgbClr val="BFD376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5" name="Google Shape;515;p3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 Appendix</a:t>
            </a:r>
            <a:endParaRPr b="0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3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7" name="Google Shape;517;p37"/>
          <p:cNvSpPr txBox="1"/>
          <p:nvPr>
            <p:ph idx="1" type="body"/>
          </p:nvPr>
        </p:nvSpPr>
        <p:spPr>
          <a:xfrm>
            <a:off x="1303800" y="157247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this section we outline the most important calculations &amp; analysis results for a selected group of countries, including Brazil, China, Egypt, France, Germany, Japan, Malaysia, Mexico, Morocco, South Africa, South Korea, Spain, Turkey, UAE and USA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" sz="1400">
                <a:solidFill>
                  <a:srgbClr val="000000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For each country, we highlight its GDP &amp; ECI trend, Actual Development Index (ADI), Suggested Development Vector (SDV), sensitivity score &amp; plan, contingency table and Structural Optimality Index (SOI) during the period</a:t>
            </a:r>
            <a:endParaRPr sz="1400">
              <a:solidFill>
                <a:srgbClr val="00000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 Brazil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3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4" name="Google Shape;524;p38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38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6" name="Google Shape;5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3221700"/>
            <a:ext cx="2394273" cy="126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25" y="3221700"/>
            <a:ext cx="2611349" cy="126690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38"/>
          <p:cNvSpPr txBox="1"/>
          <p:nvPr/>
        </p:nvSpPr>
        <p:spPr>
          <a:xfrm>
            <a:off x="5084675" y="3145488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SOI=0.8%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9" name="Google Shape;52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1925" y="1632324"/>
            <a:ext cx="5269051" cy="1542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3376" y="1632313"/>
            <a:ext cx="2047113" cy="27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9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7.2 China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6" name="Google Shape;5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188" y="3003475"/>
            <a:ext cx="4172612" cy="1995399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3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8" name="Google Shape;538;p39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9" name="Google Shape;53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4663" y="1632325"/>
            <a:ext cx="4435676" cy="12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0550" y="1632325"/>
            <a:ext cx="2304475" cy="3016599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9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40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7.2 China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7" name="Google Shape;547;p4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40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Sensitivity</a:t>
            </a: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3180" r="-3180" t="0"/>
          <a:stretch/>
        </p:blipFill>
        <p:spPr>
          <a:xfrm>
            <a:off x="1162375" y="3237700"/>
            <a:ext cx="4481750" cy="15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4572000" y="3193425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SOI=82.8%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51" name="Google Shape;55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1175" y="1725989"/>
            <a:ext cx="4481751" cy="1407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7416" y="1797000"/>
            <a:ext cx="2860385" cy="5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7416" y="2403450"/>
            <a:ext cx="2860385" cy="56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7425" y="3088837"/>
            <a:ext cx="2860376" cy="474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87425" y="3818464"/>
            <a:ext cx="2860374" cy="402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7.3 Egypt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1" name="Google Shape;561;p4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2" name="Google Shape;562;p41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3" name="Google Shape;56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3206176"/>
            <a:ext cx="2305701" cy="120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2450" y="3129975"/>
            <a:ext cx="2699923" cy="12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 txBox="1"/>
          <p:nvPr/>
        </p:nvSpPr>
        <p:spPr>
          <a:xfrm>
            <a:off x="4997475" y="3003388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SOI=19.2%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6" name="Google Shape;56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750" y="1643700"/>
            <a:ext cx="5190225" cy="15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1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8" name="Google Shape;568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3125" y="1643688"/>
            <a:ext cx="2037933" cy="27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2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7.4 France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4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5" name="Google Shape;575;p42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6" name="Google Shape;57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200" y="2975400"/>
            <a:ext cx="4172600" cy="19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42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8" name="Google Shape;57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0452" y="1632313"/>
            <a:ext cx="2333829" cy="320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9" name="Google Shape;579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6200" y="1756466"/>
            <a:ext cx="4119125" cy="12058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3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7.4 France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5" name="Google Shape;585;p4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43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7" name="Google Shape;58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375" y="3332690"/>
            <a:ext cx="4405601" cy="1522986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3"/>
          <p:cNvSpPr txBox="1"/>
          <p:nvPr/>
        </p:nvSpPr>
        <p:spPr>
          <a:xfrm>
            <a:off x="4436050" y="3316838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SOI=14.2%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9" name="Google Shape;58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900" y="1641900"/>
            <a:ext cx="4455075" cy="139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2416" y="1803575"/>
            <a:ext cx="2975384" cy="59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93962" y="2487713"/>
            <a:ext cx="2953838" cy="557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93550" y="3220477"/>
            <a:ext cx="2954251" cy="4311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3" name="Google Shape;593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93950" y="3694537"/>
            <a:ext cx="2953850" cy="45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4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7.5 Germany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4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0" name="Google Shape;600;p44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1" name="Google Shape;60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500" y="2899200"/>
            <a:ext cx="4208300" cy="21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4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3" name="Google Shape;603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850" y="1730375"/>
            <a:ext cx="4421451" cy="12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9901" y="1730363"/>
            <a:ext cx="2333829" cy="320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7.5 Germany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0" name="Google Shape;610;p4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1" name="Google Shape;611;p45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2" name="Google Shape;61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375" y="3263974"/>
            <a:ext cx="4405601" cy="1529527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5"/>
          <p:cNvSpPr txBox="1"/>
          <p:nvPr/>
        </p:nvSpPr>
        <p:spPr>
          <a:xfrm>
            <a:off x="4083150" y="3240625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SOI=19.4%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4" name="Google Shape;61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374" y="1770037"/>
            <a:ext cx="4403613" cy="1383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0825" y="1813329"/>
            <a:ext cx="2896975" cy="571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0798" y="2422525"/>
            <a:ext cx="2897002" cy="5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0825" y="3066311"/>
            <a:ext cx="2896975" cy="41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50800" y="3667300"/>
            <a:ext cx="2897001" cy="409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6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7.6 Japan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4" name="Google Shape;624;p4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5" name="Google Shape;625;p46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6" name="Google Shape;62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500" y="2864772"/>
            <a:ext cx="4208301" cy="2157352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46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8" name="Google Shape;62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1150" y="1597775"/>
            <a:ext cx="4454300" cy="130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5250" y="1597763"/>
            <a:ext cx="2333829" cy="320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7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7.6 Japan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4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6" name="Google Shape;636;p47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375" y="3111572"/>
            <a:ext cx="4405601" cy="154912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47"/>
          <p:cNvSpPr txBox="1"/>
          <p:nvPr/>
        </p:nvSpPr>
        <p:spPr>
          <a:xfrm>
            <a:off x="4326375" y="3035375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SOI=58.3%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9" name="Google Shape;639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375" y="1672607"/>
            <a:ext cx="4405600" cy="1289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1500" y="2147625"/>
            <a:ext cx="3173726" cy="64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1500" y="2894044"/>
            <a:ext cx="3173725" cy="626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8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7.7 Malaysia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7" name="Google Shape;647;p4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8" name="Google Shape;648;p48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9" name="Google Shape;64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500" y="2861550"/>
            <a:ext cx="4208300" cy="2260744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1" name="Google Shape;65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500" y="1603417"/>
            <a:ext cx="4297850" cy="1258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4075" y="1603413"/>
            <a:ext cx="2333829" cy="320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9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7.7 Malaysia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8" name="Google Shape;658;p4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49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0" name="Google Shape;66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7950" y="3138859"/>
            <a:ext cx="4251376" cy="1461242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9"/>
          <p:cNvSpPr txBox="1"/>
          <p:nvPr/>
        </p:nvSpPr>
        <p:spPr>
          <a:xfrm>
            <a:off x="4431625" y="3078175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SOI=10.2%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7950" y="1604734"/>
            <a:ext cx="4251375" cy="1335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9125" y="1564124"/>
            <a:ext cx="3030626" cy="60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9125" y="2330154"/>
            <a:ext cx="3030624" cy="612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9125" y="3081316"/>
            <a:ext cx="3030625" cy="561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0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7.8 Mexico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5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50"/>
          <p:cNvSpPr txBox="1"/>
          <p:nvPr/>
        </p:nvSpPr>
        <p:spPr>
          <a:xfrm>
            <a:off x="53289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3" name="Google Shape;673;p50"/>
          <p:cNvSpPr txBox="1"/>
          <p:nvPr/>
        </p:nvSpPr>
        <p:spPr>
          <a:xfrm>
            <a:off x="163225" y="1217500"/>
            <a:ext cx="2541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74" name="Google Shape;67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7450" y="3000600"/>
            <a:ext cx="3796500" cy="196465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0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6" name="Google Shape;67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8950" y="1547100"/>
            <a:ext cx="3691500" cy="153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7" name="Google Shape;67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9925" y="1547088"/>
            <a:ext cx="2333829" cy="320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1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7.8 Mexico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5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4" name="Google Shape;684;p51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5" name="Google Shape;68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119" y="3220850"/>
            <a:ext cx="4393307" cy="15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1"/>
          <p:cNvSpPr txBox="1"/>
          <p:nvPr/>
        </p:nvSpPr>
        <p:spPr>
          <a:xfrm>
            <a:off x="4405150" y="3180825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SOI=68.3%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87" name="Google Shape;68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125" y="1677583"/>
            <a:ext cx="4393301" cy="137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9100" y="1793939"/>
            <a:ext cx="2897026" cy="58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9" name="Google Shape;689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69100" y="2421979"/>
            <a:ext cx="2897026" cy="546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0" name="Google Shape;690;p5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69125" y="3200050"/>
            <a:ext cx="2897001" cy="331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5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9100" y="3656658"/>
            <a:ext cx="2897025" cy="375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2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7.9 Morocco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7" name="Google Shape;697;p5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8" name="Google Shape;698;p52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9" name="Google Shape;69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0550" y="3533125"/>
            <a:ext cx="2394276" cy="13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25" y="3533125"/>
            <a:ext cx="2611351" cy="137217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2"/>
          <p:cNvSpPr txBox="1"/>
          <p:nvPr/>
        </p:nvSpPr>
        <p:spPr>
          <a:xfrm>
            <a:off x="5030100" y="3380713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SOI=29.7%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2" name="Google Shape;702;p52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3" name="Google Shape;70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4475" y="1549125"/>
            <a:ext cx="4767125" cy="20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3876" y="1549113"/>
            <a:ext cx="2083870" cy="286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3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7.10 South Africa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0" name="Google Shape;710;p5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53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2" name="Google Shape;712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3061396"/>
            <a:ext cx="2305700" cy="1171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2450" y="3061400"/>
            <a:ext cx="2699926" cy="11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3"/>
          <p:cNvSpPr txBox="1"/>
          <p:nvPr/>
        </p:nvSpPr>
        <p:spPr>
          <a:xfrm>
            <a:off x="4953750" y="2944788"/>
            <a:ext cx="8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SOI=1.3%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53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6" name="Google Shape;716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9829" y="1601200"/>
            <a:ext cx="5220421" cy="152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64350" y="1601188"/>
            <a:ext cx="2037933" cy="27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4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7.11 South Korea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3" name="Google Shape;723;p5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4" name="Google Shape;724;p54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54"/>
          <p:cNvSpPr txBox="1"/>
          <p:nvPr/>
        </p:nvSpPr>
        <p:spPr>
          <a:xfrm>
            <a:off x="163225" y="1217500"/>
            <a:ext cx="2541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26" name="Google Shape;72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250" y="2703250"/>
            <a:ext cx="4106324" cy="216272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4"/>
          <p:cNvSpPr txBox="1"/>
          <p:nvPr/>
        </p:nvSpPr>
        <p:spPr>
          <a:xfrm>
            <a:off x="1056750" y="11625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8" name="Google Shape;728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51250" y="1513900"/>
            <a:ext cx="4250566" cy="124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59541" y="1513888"/>
            <a:ext cx="2491521" cy="320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5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7.11 South Korea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5" name="Google Shape;735;p5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6" name="Google Shape;736;p55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7" name="Google Shape;73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125" y="3158333"/>
            <a:ext cx="4393300" cy="1527541"/>
          </a:xfrm>
          <a:prstGeom prst="rect">
            <a:avLst/>
          </a:prstGeom>
          <a:noFill/>
          <a:ln>
            <a:noFill/>
          </a:ln>
        </p:spPr>
      </p:pic>
      <p:sp>
        <p:nvSpPr>
          <p:cNvPr id="738" name="Google Shape;738;p55"/>
          <p:cNvSpPr txBox="1"/>
          <p:nvPr/>
        </p:nvSpPr>
        <p:spPr>
          <a:xfrm>
            <a:off x="4572000" y="3082125"/>
            <a:ext cx="87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SOI=48.3%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9" name="Google Shape;739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125" y="1676204"/>
            <a:ext cx="4393301" cy="1286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0" name="Google Shape;740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9025" y="2170059"/>
            <a:ext cx="3073300" cy="620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9025" y="3120359"/>
            <a:ext cx="3073300" cy="620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6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7.12 Spain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5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8" name="Google Shape;748;p56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49" name="Google Shape;74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3193051"/>
            <a:ext cx="2412783" cy="129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0" name="Google Shape;75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72250" y="3193050"/>
            <a:ext cx="2590126" cy="12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6"/>
          <p:cNvSpPr txBox="1"/>
          <p:nvPr/>
        </p:nvSpPr>
        <p:spPr>
          <a:xfrm>
            <a:off x="4969500" y="3116838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SOI=14.3%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2" name="Google Shape;752;p56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3" name="Google Shape;753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750" y="1665913"/>
            <a:ext cx="5209350" cy="1524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6350" y="1665913"/>
            <a:ext cx="2037933" cy="27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57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7.13 Turkey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0" name="Google Shape;760;p5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1" name="Google Shape;761;p57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2" name="Google Shape;76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49" y="3152129"/>
            <a:ext cx="2305699" cy="1192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2438" y="3152125"/>
            <a:ext cx="2699925" cy="119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7"/>
          <p:cNvSpPr txBox="1"/>
          <p:nvPr/>
        </p:nvSpPr>
        <p:spPr>
          <a:xfrm>
            <a:off x="5084675" y="3075913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SOI=13.8%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57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66" name="Google Shape;76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750" y="1610350"/>
            <a:ext cx="5149376" cy="15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1251" y="1610338"/>
            <a:ext cx="2037933" cy="27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8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7.14 United Arab Emirates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5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4" name="Google Shape;774;p58"/>
          <p:cNvSpPr txBox="1"/>
          <p:nvPr/>
        </p:nvSpPr>
        <p:spPr>
          <a:xfrm>
            <a:off x="6062375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5" name="Google Shape;77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750" y="3110700"/>
            <a:ext cx="2448951" cy="12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700" y="3110700"/>
            <a:ext cx="2556676" cy="12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58"/>
          <p:cNvSpPr txBox="1"/>
          <p:nvPr/>
        </p:nvSpPr>
        <p:spPr>
          <a:xfrm>
            <a:off x="5084675" y="3034488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SOI=1.0%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8" name="Google Shape;778;p58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9" name="Google Shape;77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750" y="1678475"/>
            <a:ext cx="5157051" cy="15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5276" y="1678463"/>
            <a:ext cx="2120552" cy="2799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59"/>
          <p:cNvSpPr txBox="1"/>
          <p:nvPr>
            <p:ph type="title"/>
          </p:nvPr>
        </p:nvSpPr>
        <p:spPr>
          <a:xfrm>
            <a:off x="1056750" y="633013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7.15 USA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5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7" name="Google Shape;787;p59"/>
          <p:cNvSpPr txBox="1"/>
          <p:nvPr/>
        </p:nvSpPr>
        <p:spPr>
          <a:xfrm>
            <a:off x="555750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2: Suggested Development Vector (SDV)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8" name="Google Shape;788;p59"/>
          <p:cNvSpPr txBox="1"/>
          <p:nvPr/>
        </p:nvSpPr>
        <p:spPr>
          <a:xfrm>
            <a:off x="163225" y="1217500"/>
            <a:ext cx="2541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89" name="Google Shape;78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500" y="2867825"/>
            <a:ext cx="4208301" cy="2177039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59"/>
          <p:cNvSpPr txBox="1"/>
          <p:nvPr/>
        </p:nvSpPr>
        <p:spPr>
          <a:xfrm>
            <a:off x="1056750" y="1238725"/>
            <a:ext cx="358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1: Realized Industry Development (RID)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1" name="Google Shape;79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0500" y="1574900"/>
            <a:ext cx="4247708" cy="1243463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5408" y="1574888"/>
            <a:ext cx="2333829" cy="3206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60"/>
          <p:cNvSpPr txBox="1"/>
          <p:nvPr>
            <p:ph type="title"/>
          </p:nvPr>
        </p:nvSpPr>
        <p:spPr>
          <a:xfrm>
            <a:off x="1056750" y="6810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7.15 USA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6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9" name="Google Shape;799;p60"/>
          <p:cNvSpPr txBox="1"/>
          <p:nvPr/>
        </p:nvSpPr>
        <p:spPr>
          <a:xfrm>
            <a:off x="1053488" y="1257225"/>
            <a:ext cx="4131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Times New Roman"/>
                <a:ea typeface="Times New Roman"/>
                <a:cs typeface="Times New Roman"/>
                <a:sym typeface="Times New Roman"/>
              </a:rPr>
              <a:t>Table 3: High-tech Sensitivity Plan Table (2014)</a:t>
            </a:r>
            <a:endParaRPr b="1"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0" name="Google Shape;80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125" y="3325344"/>
            <a:ext cx="4393300" cy="1521008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0"/>
          <p:cNvSpPr txBox="1"/>
          <p:nvPr/>
        </p:nvSpPr>
        <p:spPr>
          <a:xfrm>
            <a:off x="4338900" y="3325350"/>
            <a:ext cx="977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Times New Roman"/>
                <a:ea typeface="Times New Roman"/>
                <a:cs typeface="Times New Roman"/>
                <a:sym typeface="Times New Roman"/>
              </a:rPr>
              <a:t>SOI=28.7%</a:t>
            </a:r>
            <a:endParaRPr b="1"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2" name="Google Shape;80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125" y="1753783"/>
            <a:ext cx="4393301" cy="1379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5325" y="1481403"/>
            <a:ext cx="2897000" cy="585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4" name="Google Shape;80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1400" y="2252100"/>
            <a:ext cx="2897047" cy="58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5" name="Google Shape;80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51400" y="3111003"/>
            <a:ext cx="2896999" cy="422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6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64484" y="3831850"/>
            <a:ext cx="2917842" cy="4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