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76"/>
  </p:notesMasterIdLst>
  <p:sldIdLst>
    <p:sldId id="256" r:id="rId2"/>
    <p:sldId id="378" r:id="rId3"/>
    <p:sldId id="258" r:id="rId4"/>
    <p:sldId id="259" r:id="rId5"/>
    <p:sldId id="306" r:id="rId6"/>
    <p:sldId id="377" r:id="rId7"/>
    <p:sldId id="379" r:id="rId8"/>
    <p:sldId id="318" r:id="rId9"/>
    <p:sldId id="371" r:id="rId10"/>
    <p:sldId id="372" r:id="rId11"/>
    <p:sldId id="373" r:id="rId12"/>
    <p:sldId id="374" r:id="rId13"/>
    <p:sldId id="375" r:id="rId14"/>
    <p:sldId id="359" r:id="rId15"/>
    <p:sldId id="381" r:id="rId16"/>
    <p:sldId id="320" r:id="rId17"/>
    <p:sldId id="361" r:id="rId18"/>
    <p:sldId id="362" r:id="rId19"/>
    <p:sldId id="363" r:id="rId20"/>
    <p:sldId id="368" r:id="rId21"/>
    <p:sldId id="369" r:id="rId22"/>
    <p:sldId id="370" r:id="rId23"/>
    <p:sldId id="383" r:id="rId24"/>
    <p:sldId id="380" r:id="rId25"/>
    <p:sldId id="321" r:id="rId26"/>
    <p:sldId id="307" r:id="rId27"/>
    <p:sldId id="308" r:id="rId28"/>
    <p:sldId id="322" r:id="rId29"/>
    <p:sldId id="324" r:id="rId30"/>
    <p:sldId id="325" r:id="rId31"/>
    <p:sldId id="309" r:id="rId32"/>
    <p:sldId id="327" r:id="rId33"/>
    <p:sldId id="310" r:id="rId34"/>
    <p:sldId id="328" r:id="rId35"/>
    <p:sldId id="311" r:id="rId36"/>
    <p:sldId id="329" r:id="rId37"/>
    <p:sldId id="266" r:id="rId38"/>
    <p:sldId id="267" r:id="rId39"/>
    <p:sldId id="304" r:id="rId40"/>
    <p:sldId id="269" r:id="rId41"/>
    <p:sldId id="270" r:id="rId42"/>
    <p:sldId id="271" r:id="rId43"/>
    <p:sldId id="272" r:id="rId44"/>
    <p:sldId id="273" r:id="rId45"/>
    <p:sldId id="314" r:id="rId46"/>
    <p:sldId id="315" r:id="rId47"/>
    <p:sldId id="276" r:id="rId48"/>
    <p:sldId id="277" r:id="rId49"/>
    <p:sldId id="278" r:id="rId50"/>
    <p:sldId id="330" r:id="rId51"/>
    <p:sldId id="331" r:id="rId52"/>
    <p:sldId id="332" r:id="rId53"/>
    <p:sldId id="333" r:id="rId54"/>
    <p:sldId id="334" r:id="rId55"/>
    <p:sldId id="335" r:id="rId56"/>
    <p:sldId id="336" r:id="rId57"/>
    <p:sldId id="337" r:id="rId58"/>
    <p:sldId id="338" r:id="rId59"/>
    <p:sldId id="339" r:id="rId60"/>
    <p:sldId id="340" r:id="rId61"/>
    <p:sldId id="341" r:id="rId62"/>
    <p:sldId id="342" r:id="rId63"/>
    <p:sldId id="343" r:id="rId64"/>
    <p:sldId id="344" r:id="rId65"/>
    <p:sldId id="345" r:id="rId66"/>
    <p:sldId id="346" r:id="rId67"/>
    <p:sldId id="347" r:id="rId68"/>
    <p:sldId id="348" r:id="rId69"/>
    <p:sldId id="349" r:id="rId70"/>
    <p:sldId id="350" r:id="rId71"/>
    <p:sldId id="351" r:id="rId72"/>
    <p:sldId id="352" r:id="rId73"/>
    <p:sldId id="353" r:id="rId74"/>
    <p:sldId id="354" r:id="rId7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C34FC9-E7BD-4A09-B0FE-A30243956E46}">
  <a:tblStyle styleId="{A6C34FC9-E7BD-4A09-B0FE-A30243956E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66"/>
    <p:restoredTop sz="91723"/>
  </p:normalViewPr>
  <p:slideViewPr>
    <p:cSldViewPr snapToGrid="0">
      <p:cViewPr varScale="1">
        <p:scale>
          <a:sx n="139" d="100"/>
          <a:sy n="139" d="100"/>
        </p:scale>
        <p:origin x="846" y="10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_rels/data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 Id="rId4" Type="http://schemas.openxmlformats.org/officeDocument/2006/relationships/image" Target="../media/image38.png"/></Relationships>
</file>

<file path=ppt/diagrams/_rels/drawing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 Id="rId4" Type="http://schemas.openxmlformats.org/officeDocument/2006/relationships/image" Target="../media/image3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82C8B9-2825-4BE0-9CCB-E8B821A66547}"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63EEA898-3391-41A1-BAA1-B3A4BE35A7CF}">
      <dgm:prSet phldrT="[文本]"/>
      <dgm:spPr/>
      <dgm:t>
        <a:bodyPr/>
        <a:lstStyle/>
        <a:p>
          <a:r>
            <a:rPr lang="en-US" dirty="0"/>
            <a:t>Global Market</a:t>
          </a:r>
        </a:p>
      </dgm:t>
    </dgm:pt>
    <dgm:pt modelId="{D9E312BC-C883-4248-AD27-FE6756D6C9F9}" type="parTrans" cxnId="{C41542B9-6E32-430C-8854-C13013FA5191}">
      <dgm:prSet/>
      <dgm:spPr/>
      <dgm:t>
        <a:bodyPr/>
        <a:lstStyle/>
        <a:p>
          <a:endParaRPr lang="en-US"/>
        </a:p>
      </dgm:t>
    </dgm:pt>
    <dgm:pt modelId="{526CC412-4CFF-4D75-BC6A-C8BF0E25F38D}" type="sibTrans" cxnId="{C41542B9-6E32-430C-8854-C13013FA5191}">
      <dgm:prSet/>
      <dgm:spPr/>
      <dgm:t>
        <a:bodyPr/>
        <a:lstStyle/>
        <a:p>
          <a:endParaRPr lang="en-US"/>
        </a:p>
      </dgm:t>
    </dgm:pt>
    <dgm:pt modelId="{4C71CD87-0DCE-44B4-9317-367C8D8E6E97}">
      <dgm:prSet phldrT="[文本]"/>
      <dgm:spPr/>
      <dgm:t>
        <a:bodyPr/>
        <a:lstStyle/>
        <a:p>
          <a:r>
            <a:rPr lang="en-US" dirty="0"/>
            <a:t>Productive Knowledge</a:t>
          </a:r>
        </a:p>
      </dgm:t>
    </dgm:pt>
    <dgm:pt modelId="{1F7045C4-3176-4CBC-957F-5DAC373E3DE2}" type="parTrans" cxnId="{ED365759-B3FE-4C9C-B381-FD36E4085B73}">
      <dgm:prSet/>
      <dgm:spPr/>
      <dgm:t>
        <a:bodyPr/>
        <a:lstStyle/>
        <a:p>
          <a:endParaRPr lang="en-US"/>
        </a:p>
      </dgm:t>
    </dgm:pt>
    <dgm:pt modelId="{32EFBB8C-7C97-4665-83F7-00D3DEE3E8A4}" type="sibTrans" cxnId="{ED365759-B3FE-4C9C-B381-FD36E4085B73}">
      <dgm:prSet/>
      <dgm:spPr/>
      <dgm:t>
        <a:bodyPr/>
        <a:lstStyle/>
        <a:p>
          <a:endParaRPr lang="en-US"/>
        </a:p>
      </dgm:t>
    </dgm:pt>
    <dgm:pt modelId="{904A4ED5-68B0-4E14-AE56-D82853CC8AD1}">
      <dgm:prSet phldrT="[文本]"/>
      <dgm:spPr/>
      <dgm:t>
        <a:bodyPr/>
        <a:lstStyle/>
        <a:p>
          <a:r>
            <a:rPr lang="en-US" dirty="0"/>
            <a:t>Productive Knowledge</a:t>
          </a:r>
        </a:p>
      </dgm:t>
    </dgm:pt>
    <dgm:pt modelId="{A760213C-CC64-408E-8187-05947D8587BD}" type="parTrans" cxnId="{8178BFCE-9777-4D45-8BC8-0520BE51443D}">
      <dgm:prSet/>
      <dgm:spPr/>
      <dgm:t>
        <a:bodyPr/>
        <a:lstStyle/>
        <a:p>
          <a:endParaRPr lang="en-US"/>
        </a:p>
      </dgm:t>
    </dgm:pt>
    <dgm:pt modelId="{F9CCABF6-D064-45D6-B19C-9B88F6DF3365}" type="sibTrans" cxnId="{8178BFCE-9777-4D45-8BC8-0520BE51443D}">
      <dgm:prSet/>
      <dgm:spPr/>
      <dgm:t>
        <a:bodyPr/>
        <a:lstStyle/>
        <a:p>
          <a:endParaRPr lang="en-US"/>
        </a:p>
      </dgm:t>
    </dgm:pt>
    <dgm:pt modelId="{C0198539-7F0F-47C8-AAFB-27D6B2A46400}">
      <dgm:prSet phldrT="[文本]"/>
      <dgm:spPr/>
      <dgm:t>
        <a:bodyPr/>
        <a:lstStyle/>
        <a:p>
          <a:r>
            <a:rPr lang="en-US" dirty="0"/>
            <a:t>Productive Knowledge</a:t>
          </a:r>
        </a:p>
      </dgm:t>
    </dgm:pt>
    <dgm:pt modelId="{CDC9E112-93B6-42C5-9C06-8DE51856744E}" type="parTrans" cxnId="{36B21F06-FBBD-4332-8CB2-92F7E72BD1E3}">
      <dgm:prSet/>
      <dgm:spPr/>
      <dgm:t>
        <a:bodyPr/>
        <a:lstStyle/>
        <a:p>
          <a:endParaRPr lang="en-US"/>
        </a:p>
      </dgm:t>
    </dgm:pt>
    <dgm:pt modelId="{7D169380-F28A-46C9-9A7B-195B2A71681C}" type="sibTrans" cxnId="{36B21F06-FBBD-4332-8CB2-92F7E72BD1E3}">
      <dgm:prSet/>
      <dgm:spPr/>
      <dgm:t>
        <a:bodyPr/>
        <a:lstStyle/>
        <a:p>
          <a:endParaRPr lang="en-US"/>
        </a:p>
      </dgm:t>
    </dgm:pt>
    <dgm:pt modelId="{8056C76B-B324-4C42-A215-7C7D83D3BCFE}" type="pres">
      <dgm:prSet presAssocID="{0082C8B9-2825-4BE0-9CCB-E8B821A66547}" presName="Name0" presStyleCnt="0">
        <dgm:presLayoutVars>
          <dgm:chMax val="1"/>
          <dgm:dir/>
          <dgm:animLvl val="ctr"/>
          <dgm:resizeHandles val="exact"/>
        </dgm:presLayoutVars>
      </dgm:prSet>
      <dgm:spPr/>
    </dgm:pt>
    <dgm:pt modelId="{8DBE8EEF-A7D1-4E22-9829-7290C5F3E5F2}" type="pres">
      <dgm:prSet presAssocID="{63EEA898-3391-41A1-BAA1-B3A4BE35A7CF}" presName="centerShape" presStyleLbl="node0" presStyleIdx="0" presStyleCnt="1"/>
      <dgm:spPr/>
    </dgm:pt>
    <dgm:pt modelId="{574C4CD3-0CF4-4DE4-8886-A8646360B222}" type="pres">
      <dgm:prSet presAssocID="{4C71CD87-0DCE-44B4-9317-367C8D8E6E97}" presName="node" presStyleLbl="node1" presStyleIdx="0" presStyleCnt="3">
        <dgm:presLayoutVars>
          <dgm:bulletEnabled val="1"/>
        </dgm:presLayoutVars>
      </dgm:prSet>
      <dgm:spPr/>
    </dgm:pt>
    <dgm:pt modelId="{9D744724-6E30-47E2-A200-5F3D373D912F}" type="pres">
      <dgm:prSet presAssocID="{4C71CD87-0DCE-44B4-9317-367C8D8E6E97}" presName="dummy" presStyleCnt="0"/>
      <dgm:spPr/>
    </dgm:pt>
    <dgm:pt modelId="{AC7D7C24-558A-474F-A7BE-EB29ED81367E}" type="pres">
      <dgm:prSet presAssocID="{32EFBB8C-7C97-4665-83F7-00D3DEE3E8A4}" presName="sibTrans" presStyleLbl="sibTrans2D1" presStyleIdx="0" presStyleCnt="3"/>
      <dgm:spPr/>
    </dgm:pt>
    <dgm:pt modelId="{29E208B9-80DE-4D15-A71F-77D2694D4FF6}" type="pres">
      <dgm:prSet presAssocID="{904A4ED5-68B0-4E14-AE56-D82853CC8AD1}" presName="node" presStyleLbl="node1" presStyleIdx="1" presStyleCnt="3">
        <dgm:presLayoutVars>
          <dgm:bulletEnabled val="1"/>
        </dgm:presLayoutVars>
      </dgm:prSet>
      <dgm:spPr/>
    </dgm:pt>
    <dgm:pt modelId="{A902DB86-394E-4B6D-850D-4FAC48D9649D}" type="pres">
      <dgm:prSet presAssocID="{904A4ED5-68B0-4E14-AE56-D82853CC8AD1}" presName="dummy" presStyleCnt="0"/>
      <dgm:spPr/>
    </dgm:pt>
    <dgm:pt modelId="{272583DB-2020-4E7C-A0A9-E2C5169691F2}" type="pres">
      <dgm:prSet presAssocID="{F9CCABF6-D064-45D6-B19C-9B88F6DF3365}" presName="sibTrans" presStyleLbl="sibTrans2D1" presStyleIdx="1" presStyleCnt="3"/>
      <dgm:spPr/>
    </dgm:pt>
    <dgm:pt modelId="{9ADA9254-0284-4578-92B1-D34B714BB44E}" type="pres">
      <dgm:prSet presAssocID="{C0198539-7F0F-47C8-AAFB-27D6B2A46400}" presName="node" presStyleLbl="node1" presStyleIdx="2" presStyleCnt="3">
        <dgm:presLayoutVars>
          <dgm:bulletEnabled val="1"/>
        </dgm:presLayoutVars>
      </dgm:prSet>
      <dgm:spPr/>
    </dgm:pt>
    <dgm:pt modelId="{E5E08376-28AB-41D3-B5A5-7BE83A35CE91}" type="pres">
      <dgm:prSet presAssocID="{C0198539-7F0F-47C8-AAFB-27D6B2A46400}" presName="dummy" presStyleCnt="0"/>
      <dgm:spPr/>
    </dgm:pt>
    <dgm:pt modelId="{F4E641C5-9E38-43FA-9F04-D629BB9CD19C}" type="pres">
      <dgm:prSet presAssocID="{7D169380-F28A-46C9-9A7B-195B2A71681C}" presName="sibTrans" presStyleLbl="sibTrans2D1" presStyleIdx="2" presStyleCnt="3"/>
      <dgm:spPr/>
    </dgm:pt>
  </dgm:ptLst>
  <dgm:cxnLst>
    <dgm:cxn modelId="{6984EB02-F743-4C1E-ABDE-50F41C24F3BC}" type="presOf" srcId="{904A4ED5-68B0-4E14-AE56-D82853CC8AD1}" destId="{29E208B9-80DE-4D15-A71F-77D2694D4FF6}" srcOrd="0" destOrd="0" presId="urn:microsoft.com/office/officeart/2005/8/layout/radial6"/>
    <dgm:cxn modelId="{36B21F06-FBBD-4332-8CB2-92F7E72BD1E3}" srcId="{63EEA898-3391-41A1-BAA1-B3A4BE35A7CF}" destId="{C0198539-7F0F-47C8-AAFB-27D6B2A46400}" srcOrd="2" destOrd="0" parTransId="{CDC9E112-93B6-42C5-9C06-8DE51856744E}" sibTransId="{7D169380-F28A-46C9-9A7B-195B2A71681C}"/>
    <dgm:cxn modelId="{45069009-FE60-467C-878A-570911117769}" type="presOf" srcId="{32EFBB8C-7C97-4665-83F7-00D3DEE3E8A4}" destId="{AC7D7C24-558A-474F-A7BE-EB29ED81367E}" srcOrd="0" destOrd="0" presId="urn:microsoft.com/office/officeart/2005/8/layout/radial6"/>
    <dgm:cxn modelId="{5B8D9C2F-7A1D-4E32-A2D3-08E485A2EEB3}" type="presOf" srcId="{4C71CD87-0DCE-44B4-9317-367C8D8E6E97}" destId="{574C4CD3-0CF4-4DE4-8886-A8646360B222}" srcOrd="0" destOrd="0" presId="urn:microsoft.com/office/officeart/2005/8/layout/radial6"/>
    <dgm:cxn modelId="{77599A39-6AF6-466C-9197-27E0549543A8}" type="presOf" srcId="{63EEA898-3391-41A1-BAA1-B3A4BE35A7CF}" destId="{8DBE8EEF-A7D1-4E22-9829-7290C5F3E5F2}" srcOrd="0" destOrd="0" presId="urn:microsoft.com/office/officeart/2005/8/layout/radial6"/>
    <dgm:cxn modelId="{F048D662-7CD2-458C-A8E5-77A494873C92}" type="presOf" srcId="{C0198539-7F0F-47C8-AAFB-27D6B2A46400}" destId="{9ADA9254-0284-4578-92B1-D34B714BB44E}" srcOrd="0" destOrd="0" presId="urn:microsoft.com/office/officeart/2005/8/layout/radial6"/>
    <dgm:cxn modelId="{E225C554-10A5-4F63-9E94-430E3E97F79E}" type="presOf" srcId="{F9CCABF6-D064-45D6-B19C-9B88F6DF3365}" destId="{272583DB-2020-4E7C-A0A9-E2C5169691F2}" srcOrd="0" destOrd="0" presId="urn:microsoft.com/office/officeart/2005/8/layout/radial6"/>
    <dgm:cxn modelId="{ED365759-B3FE-4C9C-B381-FD36E4085B73}" srcId="{63EEA898-3391-41A1-BAA1-B3A4BE35A7CF}" destId="{4C71CD87-0DCE-44B4-9317-367C8D8E6E97}" srcOrd="0" destOrd="0" parTransId="{1F7045C4-3176-4CBC-957F-5DAC373E3DE2}" sibTransId="{32EFBB8C-7C97-4665-83F7-00D3DEE3E8A4}"/>
    <dgm:cxn modelId="{C41542B9-6E32-430C-8854-C13013FA5191}" srcId="{0082C8B9-2825-4BE0-9CCB-E8B821A66547}" destId="{63EEA898-3391-41A1-BAA1-B3A4BE35A7CF}" srcOrd="0" destOrd="0" parTransId="{D9E312BC-C883-4248-AD27-FE6756D6C9F9}" sibTransId="{526CC412-4CFF-4D75-BC6A-C8BF0E25F38D}"/>
    <dgm:cxn modelId="{D3D9C2BA-197F-438E-A273-95B91B0B5C05}" type="presOf" srcId="{0082C8B9-2825-4BE0-9CCB-E8B821A66547}" destId="{8056C76B-B324-4C42-A215-7C7D83D3BCFE}" srcOrd="0" destOrd="0" presId="urn:microsoft.com/office/officeart/2005/8/layout/radial6"/>
    <dgm:cxn modelId="{8178BFCE-9777-4D45-8BC8-0520BE51443D}" srcId="{63EEA898-3391-41A1-BAA1-B3A4BE35A7CF}" destId="{904A4ED5-68B0-4E14-AE56-D82853CC8AD1}" srcOrd="1" destOrd="0" parTransId="{A760213C-CC64-408E-8187-05947D8587BD}" sibTransId="{F9CCABF6-D064-45D6-B19C-9B88F6DF3365}"/>
    <dgm:cxn modelId="{C44FBEE3-899F-4A43-A021-C742C39E1D20}" type="presOf" srcId="{7D169380-F28A-46C9-9A7B-195B2A71681C}" destId="{F4E641C5-9E38-43FA-9F04-D629BB9CD19C}" srcOrd="0" destOrd="0" presId="urn:microsoft.com/office/officeart/2005/8/layout/radial6"/>
    <dgm:cxn modelId="{36095366-8BA4-4FD2-82C5-11769C64F5F6}" type="presParOf" srcId="{8056C76B-B324-4C42-A215-7C7D83D3BCFE}" destId="{8DBE8EEF-A7D1-4E22-9829-7290C5F3E5F2}" srcOrd="0" destOrd="0" presId="urn:microsoft.com/office/officeart/2005/8/layout/radial6"/>
    <dgm:cxn modelId="{1364FE7F-61EB-4DDD-AB44-73884669F352}" type="presParOf" srcId="{8056C76B-B324-4C42-A215-7C7D83D3BCFE}" destId="{574C4CD3-0CF4-4DE4-8886-A8646360B222}" srcOrd="1" destOrd="0" presId="urn:microsoft.com/office/officeart/2005/8/layout/radial6"/>
    <dgm:cxn modelId="{E58934FC-4D2B-4D47-A208-3F5E2C7A3842}" type="presParOf" srcId="{8056C76B-B324-4C42-A215-7C7D83D3BCFE}" destId="{9D744724-6E30-47E2-A200-5F3D373D912F}" srcOrd="2" destOrd="0" presId="urn:microsoft.com/office/officeart/2005/8/layout/radial6"/>
    <dgm:cxn modelId="{D25042F6-1741-4CB5-A3AD-661E500F16FC}" type="presParOf" srcId="{8056C76B-B324-4C42-A215-7C7D83D3BCFE}" destId="{AC7D7C24-558A-474F-A7BE-EB29ED81367E}" srcOrd="3" destOrd="0" presId="urn:microsoft.com/office/officeart/2005/8/layout/radial6"/>
    <dgm:cxn modelId="{5EC6A8FC-10B8-4021-99B7-983A283F470B}" type="presParOf" srcId="{8056C76B-B324-4C42-A215-7C7D83D3BCFE}" destId="{29E208B9-80DE-4D15-A71F-77D2694D4FF6}" srcOrd="4" destOrd="0" presId="urn:microsoft.com/office/officeart/2005/8/layout/radial6"/>
    <dgm:cxn modelId="{3340F613-93AC-4930-B47E-3AABD212A295}" type="presParOf" srcId="{8056C76B-B324-4C42-A215-7C7D83D3BCFE}" destId="{A902DB86-394E-4B6D-850D-4FAC48D9649D}" srcOrd="5" destOrd="0" presId="urn:microsoft.com/office/officeart/2005/8/layout/radial6"/>
    <dgm:cxn modelId="{6CFDC459-0992-40A2-B617-B1C4A5675F4C}" type="presParOf" srcId="{8056C76B-B324-4C42-A215-7C7D83D3BCFE}" destId="{272583DB-2020-4E7C-A0A9-E2C5169691F2}" srcOrd="6" destOrd="0" presId="urn:microsoft.com/office/officeart/2005/8/layout/radial6"/>
    <dgm:cxn modelId="{D223AA93-0CFA-4AF3-83AD-80C2B0B63A84}" type="presParOf" srcId="{8056C76B-B324-4C42-A215-7C7D83D3BCFE}" destId="{9ADA9254-0284-4578-92B1-D34B714BB44E}" srcOrd="7" destOrd="0" presId="urn:microsoft.com/office/officeart/2005/8/layout/radial6"/>
    <dgm:cxn modelId="{FB29CBAB-8260-4DC7-A8F5-EFEFC6486286}" type="presParOf" srcId="{8056C76B-B324-4C42-A215-7C7D83D3BCFE}" destId="{E5E08376-28AB-41D3-B5A5-7BE83A35CE91}" srcOrd="8" destOrd="0" presId="urn:microsoft.com/office/officeart/2005/8/layout/radial6"/>
    <dgm:cxn modelId="{8D911C6C-07E1-4F6E-8E9E-7686B31EAF5D}" type="presParOf" srcId="{8056C76B-B324-4C42-A215-7C7D83D3BCFE}" destId="{F4E641C5-9E38-43FA-9F04-D629BB9CD19C}" srcOrd="9"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EFE4BC-9AC6-4A00-9EA2-F9BEB957529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E940FDEC-0139-4E38-BFAD-D6D83B29A3FE}">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en-US" sz="1600" b="1" dirty="0">
              <a:latin typeface="Times New Roman" pitchFamily="18" charset="0"/>
              <a:cs typeface="Times New Roman" pitchFamily="18" charset="0"/>
            </a:rPr>
            <a:t>Explicit Knowledge </a:t>
          </a:r>
        </a:p>
        <a:p>
          <a:r>
            <a:rPr lang="en-US" sz="1400" dirty="0"/>
            <a:t>that can be transferred easily by reading and listening </a:t>
          </a:r>
        </a:p>
      </dgm:t>
    </dgm:pt>
    <dgm:pt modelId="{169F7DBB-3212-4F63-8172-764E0BC9881D}" type="parTrans" cxnId="{0AAFCD12-AB41-49C2-9767-E53E6FBCD2D0}">
      <dgm:prSet/>
      <dgm:spPr/>
      <dgm:t>
        <a:bodyPr/>
        <a:lstStyle/>
        <a:p>
          <a:endParaRPr lang="en-US"/>
        </a:p>
      </dgm:t>
    </dgm:pt>
    <dgm:pt modelId="{92941C4D-A869-441D-BBEA-42A4403D14FA}" type="sibTrans" cxnId="{0AAFCD12-AB41-49C2-9767-E53E6FBCD2D0}">
      <dgm:prSet/>
      <dgm:spPr/>
      <dgm:t>
        <a:bodyPr/>
        <a:lstStyle/>
        <a:p>
          <a:endParaRPr lang="en-US"/>
        </a:p>
      </dgm:t>
    </dgm:pt>
    <dgm:pt modelId="{DD5A7799-9724-4C06-B3BA-7AFC6D28E9EC}">
      <dgm:prSet phldrT="[文本]" custT="1"/>
      <dgm:spPr/>
      <dgm:t>
        <a:bodyPr/>
        <a:lstStyle/>
        <a:p>
          <a:r>
            <a:rPr lang="en-US" sz="1500" b="0" dirty="0">
              <a:latin typeface="Times New Roman" pitchFamily="18" charset="0"/>
              <a:cs typeface="Times New Roman" pitchFamily="18" charset="0"/>
            </a:rPr>
            <a:t>Weather forecast</a:t>
          </a:r>
          <a:endParaRPr lang="en-US" sz="1500" b="0" dirty="0"/>
        </a:p>
      </dgm:t>
    </dgm:pt>
    <dgm:pt modelId="{B9FBBF5A-85C5-4120-9770-CFB0368B83E3}" type="parTrans" cxnId="{4C610D39-FB86-4C8A-B338-93906458DFC8}">
      <dgm:prSet/>
      <dgm:spPr/>
      <dgm:t>
        <a:bodyPr/>
        <a:lstStyle/>
        <a:p>
          <a:endParaRPr lang="en-US"/>
        </a:p>
      </dgm:t>
    </dgm:pt>
    <dgm:pt modelId="{3FB916CA-ED4B-42DC-ADAB-0037EB18C160}" type="sibTrans" cxnId="{4C610D39-FB86-4C8A-B338-93906458DFC8}">
      <dgm:prSet/>
      <dgm:spPr/>
      <dgm:t>
        <a:bodyPr/>
        <a:lstStyle/>
        <a:p>
          <a:endParaRPr lang="en-US"/>
        </a:p>
      </dgm:t>
    </dgm:pt>
    <dgm:pt modelId="{6E340110-F949-43FD-9638-730AAA1E98E1}">
      <dgm:prSet phldrT="[文本]" custT="1"/>
      <dgm:spPr/>
      <dgm:t>
        <a:bodyPr/>
        <a:lstStyle/>
        <a:p>
          <a:r>
            <a:rPr lang="en-US" sz="1500" b="0" dirty="0">
              <a:latin typeface="Times New Roman" pitchFamily="18" charset="0"/>
              <a:cs typeface="Times New Roman" pitchFamily="18" charset="0"/>
            </a:rPr>
            <a:t>Bus schedule</a:t>
          </a:r>
          <a:endParaRPr lang="en-US" sz="1500" b="0" dirty="0"/>
        </a:p>
      </dgm:t>
    </dgm:pt>
    <dgm:pt modelId="{0F799EF7-F9E0-432B-A76C-54740CD52A39}" type="parTrans" cxnId="{59622FAC-1DAE-4D35-91F8-4F5C9489A486}">
      <dgm:prSet/>
      <dgm:spPr/>
      <dgm:t>
        <a:bodyPr/>
        <a:lstStyle/>
        <a:p>
          <a:endParaRPr lang="en-US"/>
        </a:p>
      </dgm:t>
    </dgm:pt>
    <dgm:pt modelId="{01D86F74-AFE2-4265-8E0B-59EEA6C9B433}" type="sibTrans" cxnId="{59622FAC-1DAE-4D35-91F8-4F5C9489A486}">
      <dgm:prSet/>
      <dgm:spPr/>
      <dgm:t>
        <a:bodyPr/>
        <a:lstStyle/>
        <a:p>
          <a:endParaRPr lang="en-US"/>
        </a:p>
      </dgm:t>
    </dgm:pt>
    <dgm:pt modelId="{7A4897DD-A1A3-42BD-B9F6-D9177EC2C7BA}">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en-US" sz="1600" b="1" dirty="0">
              <a:solidFill>
                <a:schemeClr val="tx2">
                  <a:lumMod val="75000"/>
                </a:schemeClr>
              </a:solidFill>
              <a:latin typeface="Times New Roman" pitchFamily="18" charset="0"/>
              <a:cs typeface="Times New Roman" pitchFamily="18" charset="0"/>
            </a:rPr>
            <a:t>Tacit Knowledge</a:t>
          </a:r>
        </a:p>
        <a:p>
          <a:r>
            <a:rPr lang="en-US" sz="1400" dirty="0">
              <a:solidFill>
                <a:schemeClr val="tx2">
                  <a:lumMod val="75000"/>
                </a:schemeClr>
              </a:solidFill>
            </a:rPr>
            <a:t>that requires a systematic and time-consuming learning process to transfer</a:t>
          </a:r>
          <a:endParaRPr lang="en-US" sz="1400" dirty="0"/>
        </a:p>
      </dgm:t>
    </dgm:pt>
    <dgm:pt modelId="{98E697CE-B8A8-4ED3-A275-6EE1F70B1423}" type="parTrans" cxnId="{115F90A0-10CD-4EFB-9522-F7C0BCAEFEFD}">
      <dgm:prSet/>
      <dgm:spPr/>
      <dgm:t>
        <a:bodyPr/>
        <a:lstStyle/>
        <a:p>
          <a:endParaRPr lang="en-US"/>
        </a:p>
      </dgm:t>
    </dgm:pt>
    <dgm:pt modelId="{AA8FA16A-F906-4C17-A743-F863EF6FE4F5}" type="sibTrans" cxnId="{115F90A0-10CD-4EFB-9522-F7C0BCAEFEFD}">
      <dgm:prSet/>
      <dgm:spPr/>
      <dgm:t>
        <a:bodyPr/>
        <a:lstStyle/>
        <a:p>
          <a:endParaRPr lang="en-US"/>
        </a:p>
      </dgm:t>
    </dgm:pt>
    <dgm:pt modelId="{749591BD-C6CB-45EA-9E28-EABF8B5D0AB1}">
      <dgm:prSet phldrT="[文本]" custT="1"/>
      <dgm:spPr/>
      <dgm:t>
        <a:bodyPr/>
        <a:lstStyle/>
        <a:p>
          <a:r>
            <a:rPr lang="en-US" sz="1500" b="0" dirty="0">
              <a:solidFill>
                <a:schemeClr val="tx2">
                  <a:lumMod val="75000"/>
                </a:schemeClr>
              </a:solidFill>
              <a:latin typeface="Times New Roman" pitchFamily="18" charset="0"/>
              <a:cs typeface="Times New Roman" pitchFamily="18" charset="0"/>
            </a:rPr>
            <a:t>Semiconductor Manufacturing</a:t>
          </a:r>
          <a:endParaRPr lang="en-US" sz="1500" b="0" dirty="0"/>
        </a:p>
      </dgm:t>
    </dgm:pt>
    <dgm:pt modelId="{FF20FA23-4B15-4150-97D9-DBBEA1FDF210}" type="parTrans" cxnId="{464AC756-1258-40BA-AA9F-8CB11269C380}">
      <dgm:prSet/>
      <dgm:spPr/>
      <dgm:t>
        <a:bodyPr/>
        <a:lstStyle/>
        <a:p>
          <a:endParaRPr lang="en-US"/>
        </a:p>
      </dgm:t>
    </dgm:pt>
    <dgm:pt modelId="{D97AB591-C6BA-4CDF-A350-7645153E136D}" type="sibTrans" cxnId="{464AC756-1258-40BA-AA9F-8CB11269C380}">
      <dgm:prSet/>
      <dgm:spPr/>
      <dgm:t>
        <a:bodyPr/>
        <a:lstStyle/>
        <a:p>
          <a:endParaRPr lang="en-US"/>
        </a:p>
      </dgm:t>
    </dgm:pt>
    <dgm:pt modelId="{890FD861-D011-4575-A639-9EEC7258B85F}">
      <dgm:prSet phldrT="[文本]" custT="1"/>
      <dgm:spPr/>
      <dgm:t>
        <a:bodyPr/>
        <a:lstStyle/>
        <a:p>
          <a:r>
            <a:rPr lang="en-US" sz="1500" b="0" dirty="0">
              <a:solidFill>
                <a:schemeClr val="tx2">
                  <a:lumMod val="75000"/>
                </a:schemeClr>
              </a:solidFill>
              <a:latin typeface="Times New Roman" pitchFamily="18" charset="0"/>
              <a:cs typeface="Times New Roman" pitchFamily="18" charset="0"/>
            </a:rPr>
            <a:t>Shell oil drilling</a:t>
          </a:r>
          <a:endParaRPr lang="en-US" sz="1500" b="0" dirty="0"/>
        </a:p>
      </dgm:t>
    </dgm:pt>
    <dgm:pt modelId="{B104B590-7ADB-4EAD-80BC-FA766D811515}" type="parTrans" cxnId="{6CEF945C-DCD6-417E-9D67-45A1F82D2413}">
      <dgm:prSet/>
      <dgm:spPr/>
      <dgm:t>
        <a:bodyPr/>
        <a:lstStyle/>
        <a:p>
          <a:endParaRPr lang="en-US"/>
        </a:p>
      </dgm:t>
    </dgm:pt>
    <dgm:pt modelId="{14038BEE-4000-4350-AD62-29A3A277AA10}" type="sibTrans" cxnId="{6CEF945C-DCD6-417E-9D67-45A1F82D2413}">
      <dgm:prSet/>
      <dgm:spPr/>
      <dgm:t>
        <a:bodyPr/>
        <a:lstStyle/>
        <a:p>
          <a:endParaRPr lang="en-US"/>
        </a:p>
      </dgm:t>
    </dgm:pt>
    <dgm:pt modelId="{FD598696-E7A3-401D-9C51-B6AE5CB4929A}">
      <dgm:prSet phldrT="[文本]" custT="1"/>
      <dgm:spPr/>
      <dgm:t>
        <a:bodyPr/>
        <a:lstStyle/>
        <a:p>
          <a:r>
            <a:rPr lang="en-US" sz="1500" b="0" dirty="0">
              <a:latin typeface="Times New Roman" pitchFamily="18" charset="0"/>
              <a:cs typeface="Times New Roman" pitchFamily="18" charset="0"/>
            </a:rPr>
            <a:t>History of a building</a:t>
          </a:r>
        </a:p>
        <a:p>
          <a:endParaRPr lang="en-US" sz="1700" dirty="0"/>
        </a:p>
      </dgm:t>
    </dgm:pt>
    <dgm:pt modelId="{B4DA268A-348E-4B97-A002-E6943BD8921D}" type="parTrans" cxnId="{C67125FC-E7DE-4F95-A3E5-E21EB76E2AC5}">
      <dgm:prSet/>
      <dgm:spPr/>
      <dgm:t>
        <a:bodyPr/>
        <a:lstStyle/>
        <a:p>
          <a:endParaRPr lang="en-US"/>
        </a:p>
      </dgm:t>
    </dgm:pt>
    <dgm:pt modelId="{337B92FF-5A36-4E30-AC4C-9B0A268247D6}" type="sibTrans" cxnId="{C67125FC-E7DE-4F95-A3E5-E21EB76E2AC5}">
      <dgm:prSet/>
      <dgm:spPr/>
      <dgm:t>
        <a:bodyPr/>
        <a:lstStyle/>
        <a:p>
          <a:endParaRPr lang="en-US"/>
        </a:p>
      </dgm:t>
    </dgm:pt>
    <dgm:pt modelId="{FDA20682-50AD-4A0C-A676-64E17C03D272}">
      <dgm:prSet phldrT="[文本]" custT="1"/>
      <dgm:spPr/>
      <dgm:t>
        <a:bodyPr/>
        <a:lstStyle/>
        <a:p>
          <a:r>
            <a:rPr lang="en-US" sz="1500" b="0" dirty="0">
              <a:solidFill>
                <a:schemeClr val="tx2">
                  <a:lumMod val="75000"/>
                </a:schemeClr>
              </a:solidFill>
              <a:latin typeface="Times New Roman" pitchFamily="18" charset="0"/>
              <a:cs typeface="Times New Roman" pitchFamily="18" charset="0"/>
            </a:rPr>
            <a:t>Foreign Language</a:t>
          </a:r>
          <a:endParaRPr lang="en-US" sz="1500" b="0" dirty="0"/>
        </a:p>
      </dgm:t>
    </dgm:pt>
    <dgm:pt modelId="{D30DE4D3-08AE-48EF-B605-2AFF3FC599D8}" type="parTrans" cxnId="{E88E8161-3B50-46AE-8507-1B88C8886085}">
      <dgm:prSet/>
      <dgm:spPr/>
      <dgm:t>
        <a:bodyPr/>
        <a:lstStyle/>
        <a:p>
          <a:endParaRPr lang="en-US"/>
        </a:p>
      </dgm:t>
    </dgm:pt>
    <dgm:pt modelId="{8ACE71F8-FE88-4ADE-A59B-CD68B0FAC6E5}" type="sibTrans" cxnId="{E88E8161-3B50-46AE-8507-1B88C8886085}">
      <dgm:prSet/>
      <dgm:spPr/>
      <dgm:t>
        <a:bodyPr/>
        <a:lstStyle/>
        <a:p>
          <a:endParaRPr lang="en-US"/>
        </a:p>
      </dgm:t>
    </dgm:pt>
    <dgm:pt modelId="{850A2368-1E44-4198-B6C4-F63BDCD06CFC}" type="pres">
      <dgm:prSet presAssocID="{BEEFE4BC-9AC6-4A00-9EA2-F9BEB9575291}" presName="Name0" presStyleCnt="0">
        <dgm:presLayoutVars>
          <dgm:dir/>
          <dgm:animLvl val="lvl"/>
          <dgm:resizeHandles/>
        </dgm:presLayoutVars>
      </dgm:prSet>
      <dgm:spPr/>
    </dgm:pt>
    <dgm:pt modelId="{79E3B880-F3A0-402B-8DEF-99BF3CFB1D32}" type="pres">
      <dgm:prSet presAssocID="{E940FDEC-0139-4E38-BFAD-D6D83B29A3FE}" presName="linNode" presStyleCnt="0"/>
      <dgm:spPr/>
    </dgm:pt>
    <dgm:pt modelId="{B149B8D9-A763-438C-81C6-A386D4F4AEBE}" type="pres">
      <dgm:prSet presAssocID="{E940FDEC-0139-4E38-BFAD-D6D83B29A3FE}" presName="parentShp" presStyleLbl="node1" presStyleIdx="0" presStyleCnt="2">
        <dgm:presLayoutVars>
          <dgm:bulletEnabled val="1"/>
        </dgm:presLayoutVars>
      </dgm:prSet>
      <dgm:spPr/>
    </dgm:pt>
    <dgm:pt modelId="{712B1E9D-CF8B-4111-A7CD-A72110DC7CB1}" type="pres">
      <dgm:prSet presAssocID="{E940FDEC-0139-4E38-BFAD-D6D83B29A3FE}" presName="childShp" presStyleLbl="bgAccFollowNode1" presStyleIdx="0" presStyleCnt="2">
        <dgm:presLayoutVars>
          <dgm:bulletEnabled val="1"/>
        </dgm:presLayoutVars>
      </dgm:prSet>
      <dgm:spPr/>
    </dgm:pt>
    <dgm:pt modelId="{435E6E54-57B6-482C-887E-BC852175CCB3}" type="pres">
      <dgm:prSet presAssocID="{92941C4D-A869-441D-BBEA-42A4403D14FA}" presName="spacing" presStyleCnt="0"/>
      <dgm:spPr/>
    </dgm:pt>
    <dgm:pt modelId="{761C6225-6544-4376-8433-5F26351E355D}" type="pres">
      <dgm:prSet presAssocID="{7A4897DD-A1A3-42BD-B9F6-D9177EC2C7BA}" presName="linNode" presStyleCnt="0"/>
      <dgm:spPr/>
    </dgm:pt>
    <dgm:pt modelId="{C03136D6-45A6-4866-95A7-4560965D0A89}" type="pres">
      <dgm:prSet presAssocID="{7A4897DD-A1A3-42BD-B9F6-D9177EC2C7BA}" presName="parentShp" presStyleLbl="node1" presStyleIdx="1" presStyleCnt="2">
        <dgm:presLayoutVars>
          <dgm:bulletEnabled val="1"/>
        </dgm:presLayoutVars>
      </dgm:prSet>
      <dgm:spPr/>
    </dgm:pt>
    <dgm:pt modelId="{2BFEFF0C-7376-414E-9680-9E855C24B267}" type="pres">
      <dgm:prSet presAssocID="{7A4897DD-A1A3-42BD-B9F6-D9177EC2C7BA}" presName="childShp" presStyleLbl="bgAccFollowNode1" presStyleIdx="1" presStyleCnt="2">
        <dgm:presLayoutVars>
          <dgm:bulletEnabled val="1"/>
        </dgm:presLayoutVars>
      </dgm:prSet>
      <dgm:spPr/>
    </dgm:pt>
  </dgm:ptLst>
  <dgm:cxnLst>
    <dgm:cxn modelId="{F862C10E-274C-4B4F-AA42-2672FC0E6E1C}" type="presOf" srcId="{FDA20682-50AD-4A0C-A676-64E17C03D272}" destId="{2BFEFF0C-7376-414E-9680-9E855C24B267}" srcOrd="0" destOrd="2" presId="urn:microsoft.com/office/officeart/2005/8/layout/vList6"/>
    <dgm:cxn modelId="{0AAFCD12-AB41-49C2-9767-E53E6FBCD2D0}" srcId="{BEEFE4BC-9AC6-4A00-9EA2-F9BEB9575291}" destId="{E940FDEC-0139-4E38-BFAD-D6D83B29A3FE}" srcOrd="0" destOrd="0" parTransId="{169F7DBB-3212-4F63-8172-764E0BC9881D}" sibTransId="{92941C4D-A869-441D-BBEA-42A4403D14FA}"/>
    <dgm:cxn modelId="{4C610D39-FB86-4C8A-B338-93906458DFC8}" srcId="{E940FDEC-0139-4E38-BFAD-D6D83B29A3FE}" destId="{DD5A7799-9724-4C06-B3BA-7AFC6D28E9EC}" srcOrd="0" destOrd="0" parTransId="{B9FBBF5A-85C5-4120-9770-CFB0368B83E3}" sibTransId="{3FB916CA-ED4B-42DC-ADAB-0037EB18C160}"/>
    <dgm:cxn modelId="{9C2DA73B-B780-4A97-AB55-3BFE776B1562}" type="presOf" srcId="{FD598696-E7A3-401D-9C51-B6AE5CB4929A}" destId="{712B1E9D-CF8B-4111-A7CD-A72110DC7CB1}" srcOrd="0" destOrd="2" presId="urn:microsoft.com/office/officeart/2005/8/layout/vList6"/>
    <dgm:cxn modelId="{6CEF945C-DCD6-417E-9D67-45A1F82D2413}" srcId="{7A4897DD-A1A3-42BD-B9F6-D9177EC2C7BA}" destId="{890FD861-D011-4575-A639-9EEC7258B85F}" srcOrd="1" destOrd="0" parTransId="{B104B590-7ADB-4EAD-80BC-FA766D811515}" sibTransId="{14038BEE-4000-4350-AD62-29A3A277AA10}"/>
    <dgm:cxn modelId="{FE83BF5D-9601-4BBE-B76E-2C4B67C4DEF6}" type="presOf" srcId="{890FD861-D011-4575-A639-9EEC7258B85F}" destId="{2BFEFF0C-7376-414E-9680-9E855C24B267}" srcOrd="0" destOrd="1" presId="urn:microsoft.com/office/officeart/2005/8/layout/vList6"/>
    <dgm:cxn modelId="{E88E8161-3B50-46AE-8507-1B88C8886085}" srcId="{7A4897DD-A1A3-42BD-B9F6-D9177EC2C7BA}" destId="{FDA20682-50AD-4A0C-A676-64E17C03D272}" srcOrd="2" destOrd="0" parTransId="{D30DE4D3-08AE-48EF-B605-2AFF3FC599D8}" sibTransId="{8ACE71F8-FE88-4ADE-A59B-CD68B0FAC6E5}"/>
    <dgm:cxn modelId="{3E8AC848-D25A-4782-93E8-C32E2304B378}" type="presOf" srcId="{6E340110-F949-43FD-9638-730AAA1E98E1}" destId="{712B1E9D-CF8B-4111-A7CD-A72110DC7CB1}" srcOrd="0" destOrd="1" presId="urn:microsoft.com/office/officeart/2005/8/layout/vList6"/>
    <dgm:cxn modelId="{03BD5D4C-9FD3-4497-9FDD-AB9051868C5B}" type="presOf" srcId="{DD5A7799-9724-4C06-B3BA-7AFC6D28E9EC}" destId="{712B1E9D-CF8B-4111-A7CD-A72110DC7CB1}" srcOrd="0" destOrd="0" presId="urn:microsoft.com/office/officeart/2005/8/layout/vList6"/>
    <dgm:cxn modelId="{464AC756-1258-40BA-AA9F-8CB11269C380}" srcId="{7A4897DD-A1A3-42BD-B9F6-D9177EC2C7BA}" destId="{749591BD-C6CB-45EA-9E28-EABF8B5D0AB1}" srcOrd="0" destOrd="0" parTransId="{FF20FA23-4B15-4150-97D9-DBBEA1FDF210}" sibTransId="{D97AB591-C6BA-4CDF-A350-7645153E136D}"/>
    <dgm:cxn modelId="{F7D87097-0801-4838-A525-0779B876B912}" type="presOf" srcId="{749591BD-C6CB-45EA-9E28-EABF8B5D0AB1}" destId="{2BFEFF0C-7376-414E-9680-9E855C24B267}" srcOrd="0" destOrd="0" presId="urn:microsoft.com/office/officeart/2005/8/layout/vList6"/>
    <dgm:cxn modelId="{115F90A0-10CD-4EFB-9522-F7C0BCAEFEFD}" srcId="{BEEFE4BC-9AC6-4A00-9EA2-F9BEB9575291}" destId="{7A4897DD-A1A3-42BD-B9F6-D9177EC2C7BA}" srcOrd="1" destOrd="0" parTransId="{98E697CE-B8A8-4ED3-A275-6EE1F70B1423}" sibTransId="{AA8FA16A-F906-4C17-A743-F863EF6FE4F5}"/>
    <dgm:cxn modelId="{67F52AAB-B695-480B-BEDA-B3D47D895C54}" type="presOf" srcId="{E940FDEC-0139-4E38-BFAD-D6D83B29A3FE}" destId="{B149B8D9-A763-438C-81C6-A386D4F4AEBE}" srcOrd="0" destOrd="0" presId="urn:microsoft.com/office/officeart/2005/8/layout/vList6"/>
    <dgm:cxn modelId="{59622FAC-1DAE-4D35-91F8-4F5C9489A486}" srcId="{E940FDEC-0139-4E38-BFAD-D6D83B29A3FE}" destId="{6E340110-F949-43FD-9638-730AAA1E98E1}" srcOrd="1" destOrd="0" parTransId="{0F799EF7-F9E0-432B-A76C-54740CD52A39}" sibTransId="{01D86F74-AFE2-4265-8E0B-59EEA6C9B433}"/>
    <dgm:cxn modelId="{D176C4C4-D105-4407-BBD1-53C8DC34F73F}" type="presOf" srcId="{7A4897DD-A1A3-42BD-B9F6-D9177EC2C7BA}" destId="{C03136D6-45A6-4866-95A7-4560965D0A89}" srcOrd="0" destOrd="0" presId="urn:microsoft.com/office/officeart/2005/8/layout/vList6"/>
    <dgm:cxn modelId="{FF5049D8-11DB-4DE9-B0B9-1EE59A5F4BAA}" type="presOf" srcId="{BEEFE4BC-9AC6-4A00-9EA2-F9BEB9575291}" destId="{850A2368-1E44-4198-B6C4-F63BDCD06CFC}" srcOrd="0" destOrd="0" presId="urn:microsoft.com/office/officeart/2005/8/layout/vList6"/>
    <dgm:cxn modelId="{C67125FC-E7DE-4F95-A3E5-E21EB76E2AC5}" srcId="{E940FDEC-0139-4E38-BFAD-D6D83B29A3FE}" destId="{FD598696-E7A3-401D-9C51-B6AE5CB4929A}" srcOrd="2" destOrd="0" parTransId="{B4DA268A-348E-4B97-A002-E6943BD8921D}" sibTransId="{337B92FF-5A36-4E30-AC4C-9B0A268247D6}"/>
    <dgm:cxn modelId="{7586EA5D-7AF4-4F23-8A88-5D3836801038}" type="presParOf" srcId="{850A2368-1E44-4198-B6C4-F63BDCD06CFC}" destId="{79E3B880-F3A0-402B-8DEF-99BF3CFB1D32}" srcOrd="0" destOrd="0" presId="urn:microsoft.com/office/officeart/2005/8/layout/vList6"/>
    <dgm:cxn modelId="{0EBAFA6B-882B-4211-A88F-14F7BB617834}" type="presParOf" srcId="{79E3B880-F3A0-402B-8DEF-99BF3CFB1D32}" destId="{B149B8D9-A763-438C-81C6-A386D4F4AEBE}" srcOrd="0" destOrd="0" presId="urn:microsoft.com/office/officeart/2005/8/layout/vList6"/>
    <dgm:cxn modelId="{1AE0842A-84C7-4926-97F5-3823FCB6A3DE}" type="presParOf" srcId="{79E3B880-F3A0-402B-8DEF-99BF3CFB1D32}" destId="{712B1E9D-CF8B-4111-A7CD-A72110DC7CB1}" srcOrd="1" destOrd="0" presId="urn:microsoft.com/office/officeart/2005/8/layout/vList6"/>
    <dgm:cxn modelId="{003B016F-F4D5-412B-A209-3A4544832B21}" type="presParOf" srcId="{850A2368-1E44-4198-B6C4-F63BDCD06CFC}" destId="{435E6E54-57B6-482C-887E-BC852175CCB3}" srcOrd="1" destOrd="0" presId="urn:microsoft.com/office/officeart/2005/8/layout/vList6"/>
    <dgm:cxn modelId="{EA4C58FD-500C-449D-AF60-2B0D0B39A047}" type="presParOf" srcId="{850A2368-1E44-4198-B6C4-F63BDCD06CFC}" destId="{761C6225-6544-4376-8433-5F26351E355D}" srcOrd="2" destOrd="0" presId="urn:microsoft.com/office/officeart/2005/8/layout/vList6"/>
    <dgm:cxn modelId="{949AA5AE-B5C4-4F95-83EE-57FA9B01E8FA}" type="presParOf" srcId="{761C6225-6544-4376-8433-5F26351E355D}" destId="{C03136D6-45A6-4866-95A7-4560965D0A89}" srcOrd="0" destOrd="0" presId="urn:microsoft.com/office/officeart/2005/8/layout/vList6"/>
    <dgm:cxn modelId="{E16F2AC4-4D08-46BB-A1CD-AFD7B36657A3}" type="presParOf" srcId="{761C6225-6544-4376-8433-5F26351E355D}" destId="{2BFEFF0C-7376-414E-9680-9E855C24B26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0C46C50-16C0-4E19-B106-3F44AFFAD97C}" type="doc">
      <dgm:prSet loTypeId="urn:microsoft.com/office/officeart/2005/8/layout/hProcess9" loCatId="process" qsTypeId="urn:microsoft.com/office/officeart/2005/8/quickstyle/simple1" qsCatId="simple" csTypeId="urn:microsoft.com/office/officeart/2005/8/colors/accent1_2" csCatId="accent1" phldr="1"/>
      <dgm:spPr/>
    </dgm:pt>
    <dgm:pt modelId="{CCD90DA7-E51E-4AD5-8452-E475C16DCB3C}">
      <dgm:prSet phldrT="[文本]"/>
      <dgm:spPr/>
      <dgm:t>
        <a:bodyPr/>
        <a:lstStyle/>
        <a:p>
          <a:r>
            <a:rPr lang="en-US" dirty="0"/>
            <a:t>procure the fabric </a:t>
          </a:r>
        </a:p>
      </dgm:t>
    </dgm:pt>
    <dgm:pt modelId="{F89E958A-578F-4B6E-8D0E-6C4B4A9D4E3A}" type="parTrans" cxnId="{2172E7BF-5618-42B8-8119-3BD538A7956B}">
      <dgm:prSet/>
      <dgm:spPr/>
      <dgm:t>
        <a:bodyPr/>
        <a:lstStyle/>
        <a:p>
          <a:endParaRPr lang="en-US"/>
        </a:p>
      </dgm:t>
    </dgm:pt>
    <dgm:pt modelId="{AC135187-A710-44C9-B16A-E236FC192219}" type="sibTrans" cxnId="{2172E7BF-5618-42B8-8119-3BD538A7956B}">
      <dgm:prSet/>
      <dgm:spPr/>
      <dgm:t>
        <a:bodyPr/>
        <a:lstStyle/>
        <a:p>
          <a:endParaRPr lang="en-US"/>
        </a:p>
      </dgm:t>
    </dgm:pt>
    <dgm:pt modelId="{2B1B3769-DDC4-499F-8B2B-C049210F1277}">
      <dgm:prSet phldrT="[文本]"/>
      <dgm:spPr/>
      <dgm:t>
        <a:bodyPr/>
        <a:lstStyle/>
        <a:p>
          <a:r>
            <a:rPr lang="en-US" dirty="0"/>
            <a:t>pack</a:t>
          </a:r>
        </a:p>
      </dgm:t>
    </dgm:pt>
    <dgm:pt modelId="{3AD06621-D86B-4BA5-95D7-DAE1755FD8C6}" type="parTrans" cxnId="{A82566E7-238F-4DC1-86C5-69BE587D80DE}">
      <dgm:prSet/>
      <dgm:spPr/>
      <dgm:t>
        <a:bodyPr/>
        <a:lstStyle/>
        <a:p>
          <a:endParaRPr lang="en-US"/>
        </a:p>
      </dgm:t>
    </dgm:pt>
    <dgm:pt modelId="{0C256DE4-0082-47CD-82FB-AE0D329341CB}" type="sibTrans" cxnId="{A82566E7-238F-4DC1-86C5-69BE587D80DE}">
      <dgm:prSet/>
      <dgm:spPr/>
      <dgm:t>
        <a:bodyPr/>
        <a:lstStyle/>
        <a:p>
          <a:endParaRPr lang="en-US"/>
        </a:p>
      </dgm:t>
    </dgm:pt>
    <dgm:pt modelId="{4AF86C01-1528-4B8A-8F7E-43BAF7290B26}">
      <dgm:prSet phldrT="[文本]"/>
      <dgm:spPr/>
      <dgm:t>
        <a:bodyPr/>
        <a:lstStyle/>
        <a:p>
          <a:r>
            <a:rPr lang="en-US" dirty="0"/>
            <a:t>brand</a:t>
          </a:r>
        </a:p>
      </dgm:t>
    </dgm:pt>
    <dgm:pt modelId="{1E61ADFE-F798-4144-9ED7-D60977C24909}" type="parTrans" cxnId="{25C65AB2-9BB7-49DD-922E-DC7A1974577D}">
      <dgm:prSet/>
      <dgm:spPr/>
      <dgm:t>
        <a:bodyPr/>
        <a:lstStyle/>
        <a:p>
          <a:endParaRPr lang="en-US"/>
        </a:p>
      </dgm:t>
    </dgm:pt>
    <dgm:pt modelId="{0D88FBE3-BF75-4C2D-B312-8490BDC4E1E6}" type="sibTrans" cxnId="{25C65AB2-9BB7-49DD-922E-DC7A1974577D}">
      <dgm:prSet/>
      <dgm:spPr/>
      <dgm:t>
        <a:bodyPr/>
        <a:lstStyle/>
        <a:p>
          <a:endParaRPr lang="en-US"/>
        </a:p>
      </dgm:t>
    </dgm:pt>
    <dgm:pt modelId="{ED0DCB63-BB86-4A78-92FF-0C24B1465F6E}">
      <dgm:prSet phldrT="[文本]"/>
      <dgm:spPr/>
      <dgm:t>
        <a:bodyPr/>
        <a:lstStyle/>
        <a:p>
          <a:r>
            <a:rPr lang="en-US" dirty="0"/>
            <a:t>cut</a:t>
          </a:r>
        </a:p>
      </dgm:t>
    </dgm:pt>
    <dgm:pt modelId="{FB0C8409-FBD6-422B-9486-783E7FB61B55}" type="parTrans" cxnId="{063704A6-A303-461F-8A70-F07BFCA41105}">
      <dgm:prSet/>
      <dgm:spPr/>
      <dgm:t>
        <a:bodyPr/>
        <a:lstStyle/>
        <a:p>
          <a:endParaRPr lang="en-US"/>
        </a:p>
      </dgm:t>
    </dgm:pt>
    <dgm:pt modelId="{F4703105-4A55-43CE-9A90-724434BF4041}" type="sibTrans" cxnId="{063704A6-A303-461F-8A70-F07BFCA41105}">
      <dgm:prSet/>
      <dgm:spPr/>
      <dgm:t>
        <a:bodyPr/>
        <a:lstStyle/>
        <a:p>
          <a:endParaRPr lang="en-US"/>
        </a:p>
      </dgm:t>
    </dgm:pt>
    <dgm:pt modelId="{7EF18BD2-C51C-4113-BD11-8327A60B15DD}">
      <dgm:prSet phldrT="[文本]"/>
      <dgm:spPr/>
      <dgm:t>
        <a:bodyPr/>
        <a:lstStyle/>
        <a:p>
          <a:r>
            <a:rPr lang="en-US" dirty="0"/>
            <a:t>sew</a:t>
          </a:r>
        </a:p>
      </dgm:t>
    </dgm:pt>
    <dgm:pt modelId="{5EB73131-CB6D-4FEC-8E98-E379D9D54D5E}" type="parTrans" cxnId="{813AB3B9-74D7-4E1C-BBF0-39C4DFA9B26D}">
      <dgm:prSet/>
      <dgm:spPr/>
      <dgm:t>
        <a:bodyPr/>
        <a:lstStyle/>
        <a:p>
          <a:endParaRPr lang="en-US"/>
        </a:p>
      </dgm:t>
    </dgm:pt>
    <dgm:pt modelId="{A9790272-9F5E-49DD-AD64-DD37758C55AB}" type="sibTrans" cxnId="{813AB3B9-74D7-4E1C-BBF0-39C4DFA9B26D}">
      <dgm:prSet/>
      <dgm:spPr/>
      <dgm:t>
        <a:bodyPr/>
        <a:lstStyle/>
        <a:p>
          <a:endParaRPr lang="en-US"/>
        </a:p>
      </dgm:t>
    </dgm:pt>
    <dgm:pt modelId="{B610DF29-B4FD-4CE5-8C1E-00A105D61374}">
      <dgm:prSet phldrT="[文本]"/>
      <dgm:spPr/>
      <dgm:t>
        <a:bodyPr/>
        <a:lstStyle/>
        <a:p>
          <a:r>
            <a:rPr lang="en-US" dirty="0"/>
            <a:t>market</a:t>
          </a:r>
        </a:p>
      </dgm:t>
    </dgm:pt>
    <dgm:pt modelId="{358D8F80-742B-4419-B975-EEC174EFA40A}" type="parTrans" cxnId="{C9D93D5F-C8C0-49FB-8B01-7A971670E0C3}">
      <dgm:prSet/>
      <dgm:spPr/>
      <dgm:t>
        <a:bodyPr/>
        <a:lstStyle/>
        <a:p>
          <a:endParaRPr lang="en-US"/>
        </a:p>
      </dgm:t>
    </dgm:pt>
    <dgm:pt modelId="{88D7F645-D747-4887-B6B9-A6FF0DA9070C}" type="sibTrans" cxnId="{C9D93D5F-C8C0-49FB-8B01-7A971670E0C3}">
      <dgm:prSet/>
      <dgm:spPr/>
      <dgm:t>
        <a:bodyPr/>
        <a:lstStyle/>
        <a:p>
          <a:endParaRPr lang="en-US"/>
        </a:p>
      </dgm:t>
    </dgm:pt>
    <dgm:pt modelId="{79082403-9524-4039-BE5E-24C553BF4FAB}">
      <dgm:prSet phldrT="[文本]"/>
      <dgm:spPr/>
      <dgm:t>
        <a:bodyPr/>
        <a:lstStyle/>
        <a:p>
          <a:r>
            <a:rPr lang="en-US" dirty="0"/>
            <a:t>distribute</a:t>
          </a:r>
        </a:p>
      </dgm:t>
    </dgm:pt>
    <dgm:pt modelId="{903C3EB0-2DD8-4124-9D2E-83F209934F23}" type="parTrans" cxnId="{E8FE11A4-0F0D-4D47-AB25-2659A1753E81}">
      <dgm:prSet/>
      <dgm:spPr/>
      <dgm:t>
        <a:bodyPr/>
        <a:lstStyle/>
        <a:p>
          <a:endParaRPr lang="en-US"/>
        </a:p>
      </dgm:t>
    </dgm:pt>
    <dgm:pt modelId="{D86E040A-2078-4CFA-864E-372279C270B5}" type="sibTrans" cxnId="{E8FE11A4-0F0D-4D47-AB25-2659A1753E81}">
      <dgm:prSet/>
      <dgm:spPr/>
      <dgm:t>
        <a:bodyPr/>
        <a:lstStyle/>
        <a:p>
          <a:endParaRPr lang="en-US"/>
        </a:p>
      </dgm:t>
    </dgm:pt>
    <dgm:pt modelId="{A4FB9F5F-BC7F-4B5E-BAF3-BAD94BA75D47}" type="pres">
      <dgm:prSet presAssocID="{10C46C50-16C0-4E19-B106-3F44AFFAD97C}" presName="CompostProcess" presStyleCnt="0">
        <dgm:presLayoutVars>
          <dgm:dir/>
          <dgm:resizeHandles val="exact"/>
        </dgm:presLayoutVars>
      </dgm:prSet>
      <dgm:spPr/>
    </dgm:pt>
    <dgm:pt modelId="{4FCD1DA5-3421-49D9-BC8F-F8E06A86A2E6}" type="pres">
      <dgm:prSet presAssocID="{10C46C50-16C0-4E19-B106-3F44AFFAD97C}" presName="arrow" presStyleLbl="bgShp" presStyleIdx="0" presStyleCnt="1" custScaleX="117647" custLinFactNeighborX="-8824" custLinFactNeighborY="-7799"/>
      <dgm:spPr/>
    </dgm:pt>
    <dgm:pt modelId="{0734B38B-FDA0-4647-AB98-09766816FD92}" type="pres">
      <dgm:prSet presAssocID="{10C46C50-16C0-4E19-B106-3F44AFFAD97C}" presName="linearProcess" presStyleCnt="0"/>
      <dgm:spPr/>
    </dgm:pt>
    <dgm:pt modelId="{1546277F-6464-4EFE-8B4F-38072A5B5066}" type="pres">
      <dgm:prSet presAssocID="{CCD90DA7-E51E-4AD5-8452-E475C16DCB3C}" presName="textNode" presStyleLbl="node1" presStyleIdx="0" presStyleCnt="7">
        <dgm:presLayoutVars>
          <dgm:bulletEnabled val="1"/>
        </dgm:presLayoutVars>
      </dgm:prSet>
      <dgm:spPr/>
    </dgm:pt>
    <dgm:pt modelId="{B79ABFCB-B356-4F75-9E29-325568B170B6}" type="pres">
      <dgm:prSet presAssocID="{AC135187-A710-44C9-B16A-E236FC192219}" presName="sibTrans" presStyleCnt="0"/>
      <dgm:spPr/>
    </dgm:pt>
    <dgm:pt modelId="{C04F19F2-7DB4-492C-B5C4-544B7C18FCB1}" type="pres">
      <dgm:prSet presAssocID="{ED0DCB63-BB86-4A78-92FF-0C24B1465F6E}" presName="textNode" presStyleLbl="node1" presStyleIdx="1" presStyleCnt="7">
        <dgm:presLayoutVars>
          <dgm:bulletEnabled val="1"/>
        </dgm:presLayoutVars>
      </dgm:prSet>
      <dgm:spPr/>
    </dgm:pt>
    <dgm:pt modelId="{ABD71188-1BB1-457F-8AF4-58B7BB01BA24}" type="pres">
      <dgm:prSet presAssocID="{F4703105-4A55-43CE-9A90-724434BF4041}" presName="sibTrans" presStyleCnt="0"/>
      <dgm:spPr/>
    </dgm:pt>
    <dgm:pt modelId="{A163E289-7899-4534-9800-118E136D0E8F}" type="pres">
      <dgm:prSet presAssocID="{7EF18BD2-C51C-4113-BD11-8327A60B15DD}" presName="textNode" presStyleLbl="node1" presStyleIdx="2" presStyleCnt="7">
        <dgm:presLayoutVars>
          <dgm:bulletEnabled val="1"/>
        </dgm:presLayoutVars>
      </dgm:prSet>
      <dgm:spPr/>
    </dgm:pt>
    <dgm:pt modelId="{09B13DE2-8731-4986-A999-F42BBFF1A10E}" type="pres">
      <dgm:prSet presAssocID="{A9790272-9F5E-49DD-AD64-DD37758C55AB}" presName="sibTrans" presStyleCnt="0"/>
      <dgm:spPr/>
    </dgm:pt>
    <dgm:pt modelId="{2120C1FE-F951-42F1-AA80-50543DBE6B89}" type="pres">
      <dgm:prSet presAssocID="{2B1B3769-DDC4-499F-8B2B-C049210F1277}" presName="textNode" presStyleLbl="node1" presStyleIdx="3" presStyleCnt="7">
        <dgm:presLayoutVars>
          <dgm:bulletEnabled val="1"/>
        </dgm:presLayoutVars>
      </dgm:prSet>
      <dgm:spPr/>
    </dgm:pt>
    <dgm:pt modelId="{4203536D-C17F-4B89-86DD-774A0D0982E8}" type="pres">
      <dgm:prSet presAssocID="{0C256DE4-0082-47CD-82FB-AE0D329341CB}" presName="sibTrans" presStyleCnt="0"/>
      <dgm:spPr/>
    </dgm:pt>
    <dgm:pt modelId="{B326F55D-3C37-4DA4-93D1-622A85DB91F8}" type="pres">
      <dgm:prSet presAssocID="{4AF86C01-1528-4B8A-8F7E-43BAF7290B26}" presName="textNode" presStyleLbl="node1" presStyleIdx="4" presStyleCnt="7">
        <dgm:presLayoutVars>
          <dgm:bulletEnabled val="1"/>
        </dgm:presLayoutVars>
      </dgm:prSet>
      <dgm:spPr/>
    </dgm:pt>
    <dgm:pt modelId="{B63FE192-DA06-4367-A2E2-606B26B18BE8}" type="pres">
      <dgm:prSet presAssocID="{0D88FBE3-BF75-4C2D-B312-8490BDC4E1E6}" presName="sibTrans" presStyleCnt="0"/>
      <dgm:spPr/>
    </dgm:pt>
    <dgm:pt modelId="{A8AE9207-1DA6-4092-98AF-C9BC97D8403A}" type="pres">
      <dgm:prSet presAssocID="{B610DF29-B4FD-4CE5-8C1E-00A105D61374}" presName="textNode" presStyleLbl="node1" presStyleIdx="5" presStyleCnt="7">
        <dgm:presLayoutVars>
          <dgm:bulletEnabled val="1"/>
        </dgm:presLayoutVars>
      </dgm:prSet>
      <dgm:spPr/>
    </dgm:pt>
    <dgm:pt modelId="{DF7495C8-8472-4D9C-A9B6-1FAE4BF7DFB7}" type="pres">
      <dgm:prSet presAssocID="{88D7F645-D747-4887-B6B9-A6FF0DA9070C}" presName="sibTrans" presStyleCnt="0"/>
      <dgm:spPr/>
    </dgm:pt>
    <dgm:pt modelId="{BB0FFCFD-1516-4A15-803E-CC0525CF3FC6}" type="pres">
      <dgm:prSet presAssocID="{79082403-9524-4039-BE5E-24C553BF4FAB}" presName="textNode" presStyleLbl="node1" presStyleIdx="6" presStyleCnt="7">
        <dgm:presLayoutVars>
          <dgm:bulletEnabled val="1"/>
        </dgm:presLayoutVars>
      </dgm:prSet>
      <dgm:spPr/>
    </dgm:pt>
  </dgm:ptLst>
  <dgm:cxnLst>
    <dgm:cxn modelId="{C7C2532A-1D6C-4DE9-8302-0696EC6833BC}" type="presOf" srcId="{ED0DCB63-BB86-4A78-92FF-0C24B1465F6E}" destId="{C04F19F2-7DB4-492C-B5C4-544B7C18FCB1}" srcOrd="0" destOrd="0" presId="urn:microsoft.com/office/officeart/2005/8/layout/hProcess9"/>
    <dgm:cxn modelId="{C9D93D5F-C8C0-49FB-8B01-7A971670E0C3}" srcId="{10C46C50-16C0-4E19-B106-3F44AFFAD97C}" destId="{B610DF29-B4FD-4CE5-8C1E-00A105D61374}" srcOrd="5" destOrd="0" parTransId="{358D8F80-742B-4419-B975-EEC174EFA40A}" sibTransId="{88D7F645-D747-4887-B6B9-A6FF0DA9070C}"/>
    <dgm:cxn modelId="{29B1DD4D-545A-4CBC-8528-0F8B35EF7A26}" type="presOf" srcId="{10C46C50-16C0-4E19-B106-3F44AFFAD97C}" destId="{A4FB9F5F-BC7F-4B5E-BAF3-BAD94BA75D47}" srcOrd="0" destOrd="0" presId="urn:microsoft.com/office/officeart/2005/8/layout/hProcess9"/>
    <dgm:cxn modelId="{8A665152-32E8-475C-9D73-F4571CECDC94}" type="presOf" srcId="{7EF18BD2-C51C-4113-BD11-8327A60B15DD}" destId="{A163E289-7899-4534-9800-118E136D0E8F}" srcOrd="0" destOrd="0" presId="urn:microsoft.com/office/officeart/2005/8/layout/hProcess9"/>
    <dgm:cxn modelId="{10BB0954-AD03-41C4-B134-F589F6545C8A}" type="presOf" srcId="{4AF86C01-1528-4B8A-8F7E-43BAF7290B26}" destId="{B326F55D-3C37-4DA4-93D1-622A85DB91F8}" srcOrd="0" destOrd="0" presId="urn:microsoft.com/office/officeart/2005/8/layout/hProcess9"/>
    <dgm:cxn modelId="{F0051B7B-A02F-479D-8D15-FB2DB86BF017}" type="presOf" srcId="{79082403-9524-4039-BE5E-24C553BF4FAB}" destId="{BB0FFCFD-1516-4A15-803E-CC0525CF3FC6}" srcOrd="0" destOrd="0" presId="urn:microsoft.com/office/officeart/2005/8/layout/hProcess9"/>
    <dgm:cxn modelId="{DB62B680-EC37-4F64-A780-6EB9E1F07F47}" type="presOf" srcId="{B610DF29-B4FD-4CE5-8C1E-00A105D61374}" destId="{A8AE9207-1DA6-4092-98AF-C9BC97D8403A}" srcOrd="0" destOrd="0" presId="urn:microsoft.com/office/officeart/2005/8/layout/hProcess9"/>
    <dgm:cxn modelId="{85CFF080-D6B2-4428-B816-BB9E78837AA8}" type="presOf" srcId="{2B1B3769-DDC4-499F-8B2B-C049210F1277}" destId="{2120C1FE-F951-42F1-AA80-50543DBE6B89}" srcOrd="0" destOrd="0" presId="urn:microsoft.com/office/officeart/2005/8/layout/hProcess9"/>
    <dgm:cxn modelId="{E8FE11A4-0F0D-4D47-AB25-2659A1753E81}" srcId="{10C46C50-16C0-4E19-B106-3F44AFFAD97C}" destId="{79082403-9524-4039-BE5E-24C553BF4FAB}" srcOrd="6" destOrd="0" parTransId="{903C3EB0-2DD8-4124-9D2E-83F209934F23}" sibTransId="{D86E040A-2078-4CFA-864E-372279C270B5}"/>
    <dgm:cxn modelId="{063704A6-A303-461F-8A70-F07BFCA41105}" srcId="{10C46C50-16C0-4E19-B106-3F44AFFAD97C}" destId="{ED0DCB63-BB86-4A78-92FF-0C24B1465F6E}" srcOrd="1" destOrd="0" parTransId="{FB0C8409-FBD6-422B-9486-783E7FB61B55}" sibTransId="{F4703105-4A55-43CE-9A90-724434BF4041}"/>
    <dgm:cxn modelId="{58961CAF-9E33-4D5D-AAC4-F6AC17FCC398}" type="presOf" srcId="{CCD90DA7-E51E-4AD5-8452-E475C16DCB3C}" destId="{1546277F-6464-4EFE-8B4F-38072A5B5066}" srcOrd="0" destOrd="0" presId="urn:microsoft.com/office/officeart/2005/8/layout/hProcess9"/>
    <dgm:cxn modelId="{25C65AB2-9BB7-49DD-922E-DC7A1974577D}" srcId="{10C46C50-16C0-4E19-B106-3F44AFFAD97C}" destId="{4AF86C01-1528-4B8A-8F7E-43BAF7290B26}" srcOrd="4" destOrd="0" parTransId="{1E61ADFE-F798-4144-9ED7-D60977C24909}" sibTransId="{0D88FBE3-BF75-4C2D-B312-8490BDC4E1E6}"/>
    <dgm:cxn modelId="{813AB3B9-74D7-4E1C-BBF0-39C4DFA9B26D}" srcId="{10C46C50-16C0-4E19-B106-3F44AFFAD97C}" destId="{7EF18BD2-C51C-4113-BD11-8327A60B15DD}" srcOrd="2" destOrd="0" parTransId="{5EB73131-CB6D-4FEC-8E98-E379D9D54D5E}" sibTransId="{A9790272-9F5E-49DD-AD64-DD37758C55AB}"/>
    <dgm:cxn modelId="{2172E7BF-5618-42B8-8119-3BD538A7956B}" srcId="{10C46C50-16C0-4E19-B106-3F44AFFAD97C}" destId="{CCD90DA7-E51E-4AD5-8452-E475C16DCB3C}" srcOrd="0" destOrd="0" parTransId="{F89E958A-578F-4B6E-8D0E-6C4B4A9D4E3A}" sibTransId="{AC135187-A710-44C9-B16A-E236FC192219}"/>
    <dgm:cxn modelId="{A82566E7-238F-4DC1-86C5-69BE587D80DE}" srcId="{10C46C50-16C0-4E19-B106-3F44AFFAD97C}" destId="{2B1B3769-DDC4-499F-8B2B-C049210F1277}" srcOrd="3" destOrd="0" parTransId="{3AD06621-D86B-4BA5-95D7-DAE1755FD8C6}" sibTransId="{0C256DE4-0082-47CD-82FB-AE0D329341CB}"/>
    <dgm:cxn modelId="{676A2CA2-A406-4326-BA19-284BAAC0BF9E}" type="presParOf" srcId="{A4FB9F5F-BC7F-4B5E-BAF3-BAD94BA75D47}" destId="{4FCD1DA5-3421-49D9-BC8F-F8E06A86A2E6}" srcOrd="0" destOrd="0" presId="urn:microsoft.com/office/officeart/2005/8/layout/hProcess9"/>
    <dgm:cxn modelId="{342CE370-C885-4AA0-BD9C-38EF875F92AA}" type="presParOf" srcId="{A4FB9F5F-BC7F-4B5E-BAF3-BAD94BA75D47}" destId="{0734B38B-FDA0-4647-AB98-09766816FD92}" srcOrd="1" destOrd="0" presId="urn:microsoft.com/office/officeart/2005/8/layout/hProcess9"/>
    <dgm:cxn modelId="{D6B6ED54-3310-46AC-90A4-13B77D4D913A}" type="presParOf" srcId="{0734B38B-FDA0-4647-AB98-09766816FD92}" destId="{1546277F-6464-4EFE-8B4F-38072A5B5066}" srcOrd="0" destOrd="0" presId="urn:microsoft.com/office/officeart/2005/8/layout/hProcess9"/>
    <dgm:cxn modelId="{6A4ED592-D349-4155-9DCA-15E3B2882889}" type="presParOf" srcId="{0734B38B-FDA0-4647-AB98-09766816FD92}" destId="{B79ABFCB-B356-4F75-9E29-325568B170B6}" srcOrd="1" destOrd="0" presId="urn:microsoft.com/office/officeart/2005/8/layout/hProcess9"/>
    <dgm:cxn modelId="{D223FBD9-E089-4AAB-A180-FFA34F1CD6C1}" type="presParOf" srcId="{0734B38B-FDA0-4647-AB98-09766816FD92}" destId="{C04F19F2-7DB4-492C-B5C4-544B7C18FCB1}" srcOrd="2" destOrd="0" presId="urn:microsoft.com/office/officeart/2005/8/layout/hProcess9"/>
    <dgm:cxn modelId="{D099FCBA-24EA-4A01-BAC1-C253BDEFAE5C}" type="presParOf" srcId="{0734B38B-FDA0-4647-AB98-09766816FD92}" destId="{ABD71188-1BB1-457F-8AF4-58B7BB01BA24}" srcOrd="3" destOrd="0" presId="urn:microsoft.com/office/officeart/2005/8/layout/hProcess9"/>
    <dgm:cxn modelId="{B8539B4D-6FEB-4EA1-9C5D-87D6249C8399}" type="presParOf" srcId="{0734B38B-FDA0-4647-AB98-09766816FD92}" destId="{A163E289-7899-4534-9800-118E136D0E8F}" srcOrd="4" destOrd="0" presId="urn:microsoft.com/office/officeart/2005/8/layout/hProcess9"/>
    <dgm:cxn modelId="{D8980D67-3893-41ED-B261-962DD9C34C46}" type="presParOf" srcId="{0734B38B-FDA0-4647-AB98-09766816FD92}" destId="{09B13DE2-8731-4986-A999-F42BBFF1A10E}" srcOrd="5" destOrd="0" presId="urn:microsoft.com/office/officeart/2005/8/layout/hProcess9"/>
    <dgm:cxn modelId="{0A83B897-8B9E-4E1E-8FBA-15B96D1F1616}" type="presParOf" srcId="{0734B38B-FDA0-4647-AB98-09766816FD92}" destId="{2120C1FE-F951-42F1-AA80-50543DBE6B89}" srcOrd="6" destOrd="0" presId="urn:microsoft.com/office/officeart/2005/8/layout/hProcess9"/>
    <dgm:cxn modelId="{C9BAB88D-0B03-4C03-9F88-F88E09902692}" type="presParOf" srcId="{0734B38B-FDA0-4647-AB98-09766816FD92}" destId="{4203536D-C17F-4B89-86DD-774A0D0982E8}" srcOrd="7" destOrd="0" presId="urn:microsoft.com/office/officeart/2005/8/layout/hProcess9"/>
    <dgm:cxn modelId="{BACE41A3-303D-419B-8BF7-8C955CDEBA60}" type="presParOf" srcId="{0734B38B-FDA0-4647-AB98-09766816FD92}" destId="{B326F55D-3C37-4DA4-93D1-622A85DB91F8}" srcOrd="8" destOrd="0" presId="urn:microsoft.com/office/officeart/2005/8/layout/hProcess9"/>
    <dgm:cxn modelId="{00B34196-FDDA-456A-9568-573D5C3FF624}" type="presParOf" srcId="{0734B38B-FDA0-4647-AB98-09766816FD92}" destId="{B63FE192-DA06-4367-A2E2-606B26B18BE8}" srcOrd="9" destOrd="0" presId="urn:microsoft.com/office/officeart/2005/8/layout/hProcess9"/>
    <dgm:cxn modelId="{38CB9A47-BCD6-4501-A223-465D588ABAFB}" type="presParOf" srcId="{0734B38B-FDA0-4647-AB98-09766816FD92}" destId="{A8AE9207-1DA6-4092-98AF-C9BC97D8403A}" srcOrd="10" destOrd="0" presId="urn:microsoft.com/office/officeart/2005/8/layout/hProcess9"/>
    <dgm:cxn modelId="{32074744-C490-4FCD-87CD-A7E8BB6F094D}" type="presParOf" srcId="{0734B38B-FDA0-4647-AB98-09766816FD92}" destId="{DF7495C8-8472-4D9C-A9B6-1FAE4BF7DFB7}" srcOrd="11" destOrd="0" presId="urn:microsoft.com/office/officeart/2005/8/layout/hProcess9"/>
    <dgm:cxn modelId="{0F521FE3-0376-49F2-BCEA-0C2D3FAA4CDB}" type="presParOf" srcId="{0734B38B-FDA0-4647-AB98-09766816FD92}" destId="{BB0FFCFD-1516-4A15-803E-CC0525CF3FC6}" srcOrd="12"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8BB18B-0BD0-4BD9-BE3F-2E4A2FE9291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89A9B78B-FEFC-4166-818F-4464EF254222}">
      <dgm:prSet phldrT="[文本]"/>
      <dgm:spPr/>
      <dgm:t>
        <a:bodyPr/>
        <a:lstStyle/>
        <a:p>
          <a:r>
            <a:rPr lang="en-US" dirty="0"/>
            <a:t>Knowledge</a:t>
          </a:r>
        </a:p>
      </dgm:t>
    </dgm:pt>
    <dgm:pt modelId="{208F9897-2375-4238-9DA0-4227FFCC195B}" type="parTrans" cxnId="{C54C10AA-676E-4514-8E18-C5CFF2F2FD2B}">
      <dgm:prSet/>
      <dgm:spPr/>
      <dgm:t>
        <a:bodyPr/>
        <a:lstStyle/>
        <a:p>
          <a:endParaRPr lang="en-US"/>
        </a:p>
      </dgm:t>
    </dgm:pt>
    <dgm:pt modelId="{AE828461-9CAF-440D-80C2-99BABEFC68F2}" type="sibTrans" cxnId="{C54C10AA-676E-4514-8E18-C5CFF2F2FD2B}">
      <dgm:prSet/>
      <dgm:spPr/>
      <dgm:t>
        <a:bodyPr/>
        <a:lstStyle/>
        <a:p>
          <a:endParaRPr lang="en-US"/>
        </a:p>
      </dgm:t>
    </dgm:pt>
    <dgm:pt modelId="{946AD78A-3DEB-46B8-9F5E-2666A15C0807}">
      <dgm:prSet phldrT="[文本]"/>
      <dgm:spPr/>
      <dgm:t>
        <a:bodyPr/>
        <a:lstStyle/>
        <a:p>
          <a:r>
            <a:rPr lang="en-US" dirty="0"/>
            <a:t>Accumulated</a:t>
          </a:r>
        </a:p>
      </dgm:t>
    </dgm:pt>
    <dgm:pt modelId="{7ED317ED-6B0C-4CE2-9F81-E111AF19A16D}" type="parTrans" cxnId="{C1D2F7C5-886E-41B5-84E2-20008C18F181}">
      <dgm:prSet/>
      <dgm:spPr/>
      <dgm:t>
        <a:bodyPr/>
        <a:lstStyle/>
        <a:p>
          <a:endParaRPr lang="en-US"/>
        </a:p>
      </dgm:t>
    </dgm:pt>
    <dgm:pt modelId="{0B071E80-970C-48EF-A7CA-B28A4945D646}" type="sibTrans" cxnId="{C1D2F7C5-886E-41B5-84E2-20008C18F181}">
      <dgm:prSet/>
      <dgm:spPr/>
      <dgm:t>
        <a:bodyPr/>
        <a:lstStyle/>
        <a:p>
          <a:endParaRPr lang="en-US"/>
        </a:p>
      </dgm:t>
    </dgm:pt>
    <dgm:pt modelId="{D0C4602B-DB37-4028-9812-091853A169C5}">
      <dgm:prSet phldrT="[文本]"/>
      <dgm:spPr/>
      <dgm:t>
        <a:bodyPr/>
        <a:lstStyle/>
        <a:p>
          <a:r>
            <a:rPr lang="en-US" dirty="0"/>
            <a:t>Transferred</a:t>
          </a:r>
        </a:p>
      </dgm:t>
    </dgm:pt>
    <dgm:pt modelId="{47627BCE-7B1C-4A63-9ABF-C716E3656DB1}" type="parTrans" cxnId="{65A1F3B1-358E-4A42-A105-C3F9DCEF6996}">
      <dgm:prSet/>
      <dgm:spPr/>
      <dgm:t>
        <a:bodyPr/>
        <a:lstStyle/>
        <a:p>
          <a:endParaRPr lang="en-US"/>
        </a:p>
      </dgm:t>
    </dgm:pt>
    <dgm:pt modelId="{8D165945-1F26-4114-82FD-4E8E2122A816}" type="sibTrans" cxnId="{65A1F3B1-358E-4A42-A105-C3F9DCEF6996}">
      <dgm:prSet/>
      <dgm:spPr/>
      <dgm:t>
        <a:bodyPr/>
        <a:lstStyle/>
        <a:p>
          <a:endParaRPr lang="en-US"/>
        </a:p>
      </dgm:t>
    </dgm:pt>
    <dgm:pt modelId="{D6944FEE-3A12-4F50-B1C7-5B8CFA6D3AEF}">
      <dgm:prSet phldrT="[文本]"/>
      <dgm:spPr/>
      <dgm:t>
        <a:bodyPr/>
        <a:lstStyle/>
        <a:p>
          <a:r>
            <a:rPr lang="en-US" dirty="0"/>
            <a:t>Preserved</a:t>
          </a:r>
        </a:p>
      </dgm:t>
    </dgm:pt>
    <dgm:pt modelId="{8E239EB9-F1B4-4D78-9A20-790D4DF9DC21}" type="parTrans" cxnId="{9A78E0D6-E9D7-4D90-939E-1839D6250E00}">
      <dgm:prSet/>
      <dgm:spPr/>
      <dgm:t>
        <a:bodyPr/>
        <a:lstStyle/>
        <a:p>
          <a:endParaRPr lang="en-US"/>
        </a:p>
      </dgm:t>
    </dgm:pt>
    <dgm:pt modelId="{EBDDCDA5-B5B4-4362-B9A7-EE4C5FA223AD}" type="sibTrans" cxnId="{9A78E0D6-E9D7-4D90-939E-1839D6250E00}">
      <dgm:prSet/>
      <dgm:spPr/>
      <dgm:t>
        <a:bodyPr/>
        <a:lstStyle/>
        <a:p>
          <a:endParaRPr lang="en-US"/>
        </a:p>
      </dgm:t>
    </dgm:pt>
    <dgm:pt modelId="{D9AA1E65-7D12-44F1-A070-46C30414C620}">
      <dgm:prSet phldrT="[文本]"/>
      <dgm:spPr>
        <a:solidFill>
          <a:srgbClr val="FF0000"/>
        </a:solidFill>
      </dgm:spPr>
      <dgm:t>
        <a:bodyPr/>
        <a:lstStyle/>
        <a:p>
          <a:r>
            <a:rPr lang="en-US" dirty="0"/>
            <a:t>Disappear</a:t>
          </a:r>
        </a:p>
      </dgm:t>
    </dgm:pt>
    <dgm:pt modelId="{D6BA0469-F676-44F3-85D6-DE948178D654}" type="parTrans" cxnId="{F7FA7D8E-1410-49F2-B536-EFD620810DB9}">
      <dgm:prSet/>
      <dgm:spPr/>
      <dgm:t>
        <a:bodyPr/>
        <a:lstStyle/>
        <a:p>
          <a:endParaRPr lang="en-US"/>
        </a:p>
      </dgm:t>
    </dgm:pt>
    <dgm:pt modelId="{701BB50A-FEF2-49A3-B8A4-CDAAE4409CF6}" type="sibTrans" cxnId="{F7FA7D8E-1410-49F2-B536-EFD620810DB9}">
      <dgm:prSet/>
      <dgm:spPr/>
      <dgm:t>
        <a:bodyPr/>
        <a:lstStyle/>
        <a:p>
          <a:endParaRPr lang="en-US"/>
        </a:p>
      </dgm:t>
    </dgm:pt>
    <dgm:pt modelId="{C01327C9-0A6E-4F84-8164-05E2294EF5D7}" type="pres">
      <dgm:prSet presAssocID="{748BB18B-0BD0-4BD9-BE3F-2E4A2FE92916}" presName="hierChild1" presStyleCnt="0">
        <dgm:presLayoutVars>
          <dgm:orgChart val="1"/>
          <dgm:chPref val="1"/>
          <dgm:dir/>
          <dgm:animOne val="branch"/>
          <dgm:animLvl val="lvl"/>
          <dgm:resizeHandles/>
        </dgm:presLayoutVars>
      </dgm:prSet>
      <dgm:spPr/>
    </dgm:pt>
    <dgm:pt modelId="{BC949769-A933-4E36-A702-B4E598850DDF}" type="pres">
      <dgm:prSet presAssocID="{89A9B78B-FEFC-4166-818F-4464EF254222}" presName="hierRoot1" presStyleCnt="0">
        <dgm:presLayoutVars>
          <dgm:hierBranch val="init"/>
        </dgm:presLayoutVars>
      </dgm:prSet>
      <dgm:spPr/>
    </dgm:pt>
    <dgm:pt modelId="{D8628FA4-59D0-4CBF-9A08-2804AA0AE9D9}" type="pres">
      <dgm:prSet presAssocID="{89A9B78B-FEFC-4166-818F-4464EF254222}" presName="rootComposite1" presStyleCnt="0"/>
      <dgm:spPr/>
    </dgm:pt>
    <dgm:pt modelId="{BF249771-8CF4-4442-B0BB-829E91EF08AB}" type="pres">
      <dgm:prSet presAssocID="{89A9B78B-FEFC-4166-818F-4464EF254222}" presName="rootText1" presStyleLbl="node0" presStyleIdx="0" presStyleCnt="1">
        <dgm:presLayoutVars>
          <dgm:chPref val="3"/>
        </dgm:presLayoutVars>
      </dgm:prSet>
      <dgm:spPr/>
    </dgm:pt>
    <dgm:pt modelId="{C787F503-4522-4972-B908-1950F51C7ECA}" type="pres">
      <dgm:prSet presAssocID="{89A9B78B-FEFC-4166-818F-4464EF254222}" presName="rootConnector1" presStyleLbl="node1" presStyleIdx="0" presStyleCnt="0"/>
      <dgm:spPr/>
    </dgm:pt>
    <dgm:pt modelId="{64533A2A-D158-4D5D-B6D0-F35C897C17DA}" type="pres">
      <dgm:prSet presAssocID="{89A9B78B-FEFC-4166-818F-4464EF254222}" presName="hierChild2" presStyleCnt="0"/>
      <dgm:spPr/>
    </dgm:pt>
    <dgm:pt modelId="{5595C638-B274-49D2-BB20-22EB1D17D984}" type="pres">
      <dgm:prSet presAssocID="{7ED317ED-6B0C-4CE2-9F81-E111AF19A16D}" presName="Name37" presStyleLbl="parChTrans1D2" presStyleIdx="0" presStyleCnt="4"/>
      <dgm:spPr/>
    </dgm:pt>
    <dgm:pt modelId="{DDCED672-9A57-4669-8495-92769F24FA19}" type="pres">
      <dgm:prSet presAssocID="{946AD78A-3DEB-46B8-9F5E-2666A15C0807}" presName="hierRoot2" presStyleCnt="0">
        <dgm:presLayoutVars>
          <dgm:hierBranch val="init"/>
        </dgm:presLayoutVars>
      </dgm:prSet>
      <dgm:spPr/>
    </dgm:pt>
    <dgm:pt modelId="{01162BD2-FD55-4209-8CC7-9FB05CEA68E4}" type="pres">
      <dgm:prSet presAssocID="{946AD78A-3DEB-46B8-9F5E-2666A15C0807}" presName="rootComposite" presStyleCnt="0"/>
      <dgm:spPr/>
    </dgm:pt>
    <dgm:pt modelId="{9421A674-49EA-4EB6-998B-F67D77349B8E}" type="pres">
      <dgm:prSet presAssocID="{946AD78A-3DEB-46B8-9F5E-2666A15C0807}" presName="rootText" presStyleLbl="node2" presStyleIdx="0" presStyleCnt="4">
        <dgm:presLayoutVars>
          <dgm:chPref val="3"/>
        </dgm:presLayoutVars>
      </dgm:prSet>
      <dgm:spPr/>
    </dgm:pt>
    <dgm:pt modelId="{3E4268C6-5DB8-4AA5-80A1-F9BF690CC955}" type="pres">
      <dgm:prSet presAssocID="{946AD78A-3DEB-46B8-9F5E-2666A15C0807}" presName="rootConnector" presStyleLbl="node2" presStyleIdx="0" presStyleCnt="4"/>
      <dgm:spPr/>
    </dgm:pt>
    <dgm:pt modelId="{4C00249A-3BAC-4AEF-8964-5838AECC6D02}" type="pres">
      <dgm:prSet presAssocID="{946AD78A-3DEB-46B8-9F5E-2666A15C0807}" presName="hierChild4" presStyleCnt="0"/>
      <dgm:spPr/>
    </dgm:pt>
    <dgm:pt modelId="{5C875311-FEE8-43CF-8CA1-B6CD54BED9A1}" type="pres">
      <dgm:prSet presAssocID="{946AD78A-3DEB-46B8-9F5E-2666A15C0807}" presName="hierChild5" presStyleCnt="0"/>
      <dgm:spPr/>
    </dgm:pt>
    <dgm:pt modelId="{69A2B9E0-A3F6-4A18-8690-35FECCE769D4}" type="pres">
      <dgm:prSet presAssocID="{47627BCE-7B1C-4A63-9ABF-C716E3656DB1}" presName="Name37" presStyleLbl="parChTrans1D2" presStyleIdx="1" presStyleCnt="4"/>
      <dgm:spPr/>
    </dgm:pt>
    <dgm:pt modelId="{080B1E17-28F4-45A2-88F5-9391C6DAFDCC}" type="pres">
      <dgm:prSet presAssocID="{D0C4602B-DB37-4028-9812-091853A169C5}" presName="hierRoot2" presStyleCnt="0">
        <dgm:presLayoutVars>
          <dgm:hierBranch val="init"/>
        </dgm:presLayoutVars>
      </dgm:prSet>
      <dgm:spPr/>
    </dgm:pt>
    <dgm:pt modelId="{573D659B-F101-4D87-B127-7A8DC49AF891}" type="pres">
      <dgm:prSet presAssocID="{D0C4602B-DB37-4028-9812-091853A169C5}" presName="rootComposite" presStyleCnt="0"/>
      <dgm:spPr/>
    </dgm:pt>
    <dgm:pt modelId="{9891C1EA-7F1A-4074-BBC8-17E841700332}" type="pres">
      <dgm:prSet presAssocID="{D0C4602B-DB37-4028-9812-091853A169C5}" presName="rootText" presStyleLbl="node2" presStyleIdx="1" presStyleCnt="4">
        <dgm:presLayoutVars>
          <dgm:chPref val="3"/>
        </dgm:presLayoutVars>
      </dgm:prSet>
      <dgm:spPr/>
    </dgm:pt>
    <dgm:pt modelId="{7D931A4A-4329-4295-9CBD-A796A4E66742}" type="pres">
      <dgm:prSet presAssocID="{D0C4602B-DB37-4028-9812-091853A169C5}" presName="rootConnector" presStyleLbl="node2" presStyleIdx="1" presStyleCnt="4"/>
      <dgm:spPr/>
    </dgm:pt>
    <dgm:pt modelId="{564BF127-724B-4E8E-9E9F-396F0C89FF3E}" type="pres">
      <dgm:prSet presAssocID="{D0C4602B-DB37-4028-9812-091853A169C5}" presName="hierChild4" presStyleCnt="0"/>
      <dgm:spPr/>
    </dgm:pt>
    <dgm:pt modelId="{692468B8-16AF-4018-B2A0-91660B533ED0}" type="pres">
      <dgm:prSet presAssocID="{D0C4602B-DB37-4028-9812-091853A169C5}" presName="hierChild5" presStyleCnt="0"/>
      <dgm:spPr/>
    </dgm:pt>
    <dgm:pt modelId="{8CE97C83-53C2-447B-8EAB-80ECEF0F2A37}" type="pres">
      <dgm:prSet presAssocID="{8E239EB9-F1B4-4D78-9A20-790D4DF9DC21}" presName="Name37" presStyleLbl="parChTrans1D2" presStyleIdx="2" presStyleCnt="4"/>
      <dgm:spPr/>
    </dgm:pt>
    <dgm:pt modelId="{1BFD6DCC-FD75-4E6E-9630-F882D81ABB83}" type="pres">
      <dgm:prSet presAssocID="{D6944FEE-3A12-4F50-B1C7-5B8CFA6D3AEF}" presName="hierRoot2" presStyleCnt="0">
        <dgm:presLayoutVars>
          <dgm:hierBranch val="init"/>
        </dgm:presLayoutVars>
      </dgm:prSet>
      <dgm:spPr/>
    </dgm:pt>
    <dgm:pt modelId="{D8A42BFD-8E7B-4381-B430-CCEADE2E2C68}" type="pres">
      <dgm:prSet presAssocID="{D6944FEE-3A12-4F50-B1C7-5B8CFA6D3AEF}" presName="rootComposite" presStyleCnt="0"/>
      <dgm:spPr/>
    </dgm:pt>
    <dgm:pt modelId="{71A1EAE2-1198-40DD-9EFC-C0DB6D37ECC3}" type="pres">
      <dgm:prSet presAssocID="{D6944FEE-3A12-4F50-B1C7-5B8CFA6D3AEF}" presName="rootText" presStyleLbl="node2" presStyleIdx="2" presStyleCnt="4">
        <dgm:presLayoutVars>
          <dgm:chPref val="3"/>
        </dgm:presLayoutVars>
      </dgm:prSet>
      <dgm:spPr/>
    </dgm:pt>
    <dgm:pt modelId="{E1F82097-F7CF-497D-A938-C35D47BB1D4B}" type="pres">
      <dgm:prSet presAssocID="{D6944FEE-3A12-4F50-B1C7-5B8CFA6D3AEF}" presName="rootConnector" presStyleLbl="node2" presStyleIdx="2" presStyleCnt="4"/>
      <dgm:spPr/>
    </dgm:pt>
    <dgm:pt modelId="{46AA61D3-D7F5-4A70-AB88-735EF38335F8}" type="pres">
      <dgm:prSet presAssocID="{D6944FEE-3A12-4F50-B1C7-5B8CFA6D3AEF}" presName="hierChild4" presStyleCnt="0"/>
      <dgm:spPr/>
    </dgm:pt>
    <dgm:pt modelId="{FE01DC0A-CE69-4D0E-B772-25DE05C429AE}" type="pres">
      <dgm:prSet presAssocID="{D6944FEE-3A12-4F50-B1C7-5B8CFA6D3AEF}" presName="hierChild5" presStyleCnt="0"/>
      <dgm:spPr/>
    </dgm:pt>
    <dgm:pt modelId="{876B3038-24EA-4F66-9209-280C59E98C38}" type="pres">
      <dgm:prSet presAssocID="{D6BA0469-F676-44F3-85D6-DE948178D654}" presName="Name37" presStyleLbl="parChTrans1D2" presStyleIdx="3" presStyleCnt="4"/>
      <dgm:spPr/>
    </dgm:pt>
    <dgm:pt modelId="{DB89FF94-FCC1-40CA-80C1-0628FF4161C2}" type="pres">
      <dgm:prSet presAssocID="{D9AA1E65-7D12-44F1-A070-46C30414C620}" presName="hierRoot2" presStyleCnt="0">
        <dgm:presLayoutVars>
          <dgm:hierBranch val="init"/>
        </dgm:presLayoutVars>
      </dgm:prSet>
      <dgm:spPr/>
    </dgm:pt>
    <dgm:pt modelId="{F4B96AB3-C8EB-4395-B42E-84406C283801}" type="pres">
      <dgm:prSet presAssocID="{D9AA1E65-7D12-44F1-A070-46C30414C620}" presName="rootComposite" presStyleCnt="0"/>
      <dgm:spPr/>
    </dgm:pt>
    <dgm:pt modelId="{DC3676BA-3E92-4BE7-A2D2-A3F339B9FDB8}" type="pres">
      <dgm:prSet presAssocID="{D9AA1E65-7D12-44F1-A070-46C30414C620}" presName="rootText" presStyleLbl="node2" presStyleIdx="3" presStyleCnt="4">
        <dgm:presLayoutVars>
          <dgm:chPref val="3"/>
        </dgm:presLayoutVars>
      </dgm:prSet>
      <dgm:spPr/>
    </dgm:pt>
    <dgm:pt modelId="{A431D3E8-4CC8-472E-9678-52B8DD418049}" type="pres">
      <dgm:prSet presAssocID="{D9AA1E65-7D12-44F1-A070-46C30414C620}" presName="rootConnector" presStyleLbl="node2" presStyleIdx="3" presStyleCnt="4"/>
      <dgm:spPr/>
    </dgm:pt>
    <dgm:pt modelId="{3531040E-100F-4AC8-8474-7BBD40517FA2}" type="pres">
      <dgm:prSet presAssocID="{D9AA1E65-7D12-44F1-A070-46C30414C620}" presName="hierChild4" presStyleCnt="0"/>
      <dgm:spPr/>
    </dgm:pt>
    <dgm:pt modelId="{B311CEC7-D983-4968-B40F-15A0F8797BC4}" type="pres">
      <dgm:prSet presAssocID="{D9AA1E65-7D12-44F1-A070-46C30414C620}" presName="hierChild5" presStyleCnt="0"/>
      <dgm:spPr/>
    </dgm:pt>
    <dgm:pt modelId="{57A32D56-689E-4464-ABA3-2C9214947B41}" type="pres">
      <dgm:prSet presAssocID="{89A9B78B-FEFC-4166-818F-4464EF254222}" presName="hierChild3" presStyleCnt="0"/>
      <dgm:spPr/>
    </dgm:pt>
  </dgm:ptLst>
  <dgm:cxnLst>
    <dgm:cxn modelId="{522D690A-7AB7-4BC8-985D-DE7027B43EFF}" type="presOf" srcId="{D9AA1E65-7D12-44F1-A070-46C30414C620}" destId="{DC3676BA-3E92-4BE7-A2D2-A3F339B9FDB8}" srcOrd="0" destOrd="0" presId="urn:microsoft.com/office/officeart/2005/8/layout/orgChart1"/>
    <dgm:cxn modelId="{8A45CD12-780D-498A-B348-0B6C69D4AFCD}" type="presOf" srcId="{946AD78A-3DEB-46B8-9F5E-2666A15C0807}" destId="{9421A674-49EA-4EB6-998B-F67D77349B8E}" srcOrd="0" destOrd="0" presId="urn:microsoft.com/office/officeart/2005/8/layout/orgChart1"/>
    <dgm:cxn modelId="{9E66FE62-3E73-4DE7-AC51-35F9A2595EFC}" type="presOf" srcId="{89A9B78B-FEFC-4166-818F-4464EF254222}" destId="{C787F503-4522-4972-B908-1950F51C7ECA}" srcOrd="1" destOrd="0" presId="urn:microsoft.com/office/officeart/2005/8/layout/orgChart1"/>
    <dgm:cxn modelId="{8B69A948-89B3-41B5-8E92-A8B0E6B21175}" type="presOf" srcId="{8E239EB9-F1B4-4D78-9A20-790D4DF9DC21}" destId="{8CE97C83-53C2-447B-8EAB-80ECEF0F2A37}" srcOrd="0" destOrd="0" presId="urn:microsoft.com/office/officeart/2005/8/layout/orgChart1"/>
    <dgm:cxn modelId="{C956197C-65D8-46EC-99E5-F8D81673668C}" type="presOf" srcId="{D0C4602B-DB37-4028-9812-091853A169C5}" destId="{9891C1EA-7F1A-4074-BBC8-17E841700332}" srcOrd="0" destOrd="0" presId="urn:microsoft.com/office/officeart/2005/8/layout/orgChart1"/>
    <dgm:cxn modelId="{F7FA7D8E-1410-49F2-B536-EFD620810DB9}" srcId="{89A9B78B-FEFC-4166-818F-4464EF254222}" destId="{D9AA1E65-7D12-44F1-A070-46C30414C620}" srcOrd="3" destOrd="0" parTransId="{D6BA0469-F676-44F3-85D6-DE948178D654}" sibTransId="{701BB50A-FEF2-49A3-B8A4-CDAAE4409CF6}"/>
    <dgm:cxn modelId="{B794059A-C7DF-48E6-9C5B-722C291D0AC7}" type="presOf" srcId="{D0C4602B-DB37-4028-9812-091853A169C5}" destId="{7D931A4A-4329-4295-9CBD-A796A4E66742}" srcOrd="1" destOrd="0" presId="urn:microsoft.com/office/officeart/2005/8/layout/orgChart1"/>
    <dgm:cxn modelId="{7A7079A2-3D0C-4284-A302-0BDEC1E5475B}" type="presOf" srcId="{D6944FEE-3A12-4F50-B1C7-5B8CFA6D3AEF}" destId="{71A1EAE2-1198-40DD-9EFC-C0DB6D37ECC3}" srcOrd="0" destOrd="0" presId="urn:microsoft.com/office/officeart/2005/8/layout/orgChart1"/>
    <dgm:cxn modelId="{E10352A5-ED2D-406D-B9B4-0098D44E5703}" type="presOf" srcId="{89A9B78B-FEFC-4166-818F-4464EF254222}" destId="{BF249771-8CF4-4442-B0BB-829E91EF08AB}" srcOrd="0" destOrd="0" presId="urn:microsoft.com/office/officeart/2005/8/layout/orgChart1"/>
    <dgm:cxn modelId="{10CE62A8-ABD3-428A-9F8B-D5C004DBF614}" type="presOf" srcId="{D9AA1E65-7D12-44F1-A070-46C30414C620}" destId="{A431D3E8-4CC8-472E-9678-52B8DD418049}" srcOrd="1" destOrd="0" presId="urn:microsoft.com/office/officeart/2005/8/layout/orgChart1"/>
    <dgm:cxn modelId="{C54C10AA-676E-4514-8E18-C5CFF2F2FD2B}" srcId="{748BB18B-0BD0-4BD9-BE3F-2E4A2FE92916}" destId="{89A9B78B-FEFC-4166-818F-4464EF254222}" srcOrd="0" destOrd="0" parTransId="{208F9897-2375-4238-9DA0-4227FFCC195B}" sibTransId="{AE828461-9CAF-440D-80C2-99BABEFC68F2}"/>
    <dgm:cxn modelId="{1A947DB1-7EA4-45D4-853D-CA8E1A747586}" type="presOf" srcId="{7ED317ED-6B0C-4CE2-9F81-E111AF19A16D}" destId="{5595C638-B274-49D2-BB20-22EB1D17D984}" srcOrd="0" destOrd="0" presId="urn:microsoft.com/office/officeart/2005/8/layout/orgChart1"/>
    <dgm:cxn modelId="{65A1F3B1-358E-4A42-A105-C3F9DCEF6996}" srcId="{89A9B78B-FEFC-4166-818F-4464EF254222}" destId="{D0C4602B-DB37-4028-9812-091853A169C5}" srcOrd="1" destOrd="0" parTransId="{47627BCE-7B1C-4A63-9ABF-C716E3656DB1}" sibTransId="{8D165945-1F26-4114-82FD-4E8E2122A816}"/>
    <dgm:cxn modelId="{FF99BEB9-35FE-4DB2-A3DD-085E94AD14D5}" type="presOf" srcId="{748BB18B-0BD0-4BD9-BE3F-2E4A2FE92916}" destId="{C01327C9-0A6E-4F84-8164-05E2294EF5D7}" srcOrd="0" destOrd="0" presId="urn:microsoft.com/office/officeart/2005/8/layout/orgChart1"/>
    <dgm:cxn modelId="{D87BDDBD-F7DE-49A0-943F-28397E139382}" type="presOf" srcId="{47627BCE-7B1C-4A63-9ABF-C716E3656DB1}" destId="{69A2B9E0-A3F6-4A18-8690-35FECCE769D4}" srcOrd="0" destOrd="0" presId="urn:microsoft.com/office/officeart/2005/8/layout/orgChart1"/>
    <dgm:cxn modelId="{C1D2F7C5-886E-41B5-84E2-20008C18F181}" srcId="{89A9B78B-FEFC-4166-818F-4464EF254222}" destId="{946AD78A-3DEB-46B8-9F5E-2666A15C0807}" srcOrd="0" destOrd="0" parTransId="{7ED317ED-6B0C-4CE2-9F81-E111AF19A16D}" sibTransId="{0B071E80-970C-48EF-A7CA-B28A4945D646}"/>
    <dgm:cxn modelId="{7BF584C8-091A-48C2-929D-F6CB483B8221}" type="presOf" srcId="{D6944FEE-3A12-4F50-B1C7-5B8CFA6D3AEF}" destId="{E1F82097-F7CF-497D-A938-C35D47BB1D4B}" srcOrd="1" destOrd="0" presId="urn:microsoft.com/office/officeart/2005/8/layout/orgChart1"/>
    <dgm:cxn modelId="{9A78E0D6-E9D7-4D90-939E-1839D6250E00}" srcId="{89A9B78B-FEFC-4166-818F-4464EF254222}" destId="{D6944FEE-3A12-4F50-B1C7-5B8CFA6D3AEF}" srcOrd="2" destOrd="0" parTransId="{8E239EB9-F1B4-4D78-9A20-790D4DF9DC21}" sibTransId="{EBDDCDA5-B5B4-4362-B9A7-EE4C5FA223AD}"/>
    <dgm:cxn modelId="{21F0E5E2-151D-4BB2-A882-ACEC0367740E}" type="presOf" srcId="{946AD78A-3DEB-46B8-9F5E-2666A15C0807}" destId="{3E4268C6-5DB8-4AA5-80A1-F9BF690CC955}" srcOrd="1" destOrd="0" presId="urn:microsoft.com/office/officeart/2005/8/layout/orgChart1"/>
    <dgm:cxn modelId="{6727A2F8-ED27-40C1-A186-31E90FFFFE3A}" type="presOf" srcId="{D6BA0469-F676-44F3-85D6-DE948178D654}" destId="{876B3038-24EA-4F66-9209-280C59E98C38}" srcOrd="0" destOrd="0" presId="urn:microsoft.com/office/officeart/2005/8/layout/orgChart1"/>
    <dgm:cxn modelId="{675E0E05-7A94-4BD7-B61E-C63CB6C43904}" type="presParOf" srcId="{C01327C9-0A6E-4F84-8164-05E2294EF5D7}" destId="{BC949769-A933-4E36-A702-B4E598850DDF}" srcOrd="0" destOrd="0" presId="urn:microsoft.com/office/officeart/2005/8/layout/orgChart1"/>
    <dgm:cxn modelId="{C33EACCB-874A-4496-93F0-36DC982C38F4}" type="presParOf" srcId="{BC949769-A933-4E36-A702-B4E598850DDF}" destId="{D8628FA4-59D0-4CBF-9A08-2804AA0AE9D9}" srcOrd="0" destOrd="0" presId="urn:microsoft.com/office/officeart/2005/8/layout/orgChart1"/>
    <dgm:cxn modelId="{233EC6FB-4198-45EC-8D4D-3635672579BF}" type="presParOf" srcId="{D8628FA4-59D0-4CBF-9A08-2804AA0AE9D9}" destId="{BF249771-8CF4-4442-B0BB-829E91EF08AB}" srcOrd="0" destOrd="0" presId="urn:microsoft.com/office/officeart/2005/8/layout/orgChart1"/>
    <dgm:cxn modelId="{3E6144A4-A331-4147-8B93-B92586966FCD}" type="presParOf" srcId="{D8628FA4-59D0-4CBF-9A08-2804AA0AE9D9}" destId="{C787F503-4522-4972-B908-1950F51C7ECA}" srcOrd="1" destOrd="0" presId="urn:microsoft.com/office/officeart/2005/8/layout/orgChart1"/>
    <dgm:cxn modelId="{D1682554-4684-4BB0-B466-A4C3585D5681}" type="presParOf" srcId="{BC949769-A933-4E36-A702-B4E598850DDF}" destId="{64533A2A-D158-4D5D-B6D0-F35C897C17DA}" srcOrd="1" destOrd="0" presId="urn:microsoft.com/office/officeart/2005/8/layout/orgChart1"/>
    <dgm:cxn modelId="{800667C8-9FE7-40F6-8F41-B72F0322F16D}" type="presParOf" srcId="{64533A2A-D158-4D5D-B6D0-F35C897C17DA}" destId="{5595C638-B274-49D2-BB20-22EB1D17D984}" srcOrd="0" destOrd="0" presId="urn:microsoft.com/office/officeart/2005/8/layout/orgChart1"/>
    <dgm:cxn modelId="{D8B6B5BB-EB7B-4928-8755-4637A6EB73FF}" type="presParOf" srcId="{64533A2A-D158-4D5D-B6D0-F35C897C17DA}" destId="{DDCED672-9A57-4669-8495-92769F24FA19}" srcOrd="1" destOrd="0" presId="urn:microsoft.com/office/officeart/2005/8/layout/orgChart1"/>
    <dgm:cxn modelId="{B2D23715-76F6-4F8D-A087-B508FE1E6DED}" type="presParOf" srcId="{DDCED672-9A57-4669-8495-92769F24FA19}" destId="{01162BD2-FD55-4209-8CC7-9FB05CEA68E4}" srcOrd="0" destOrd="0" presId="urn:microsoft.com/office/officeart/2005/8/layout/orgChart1"/>
    <dgm:cxn modelId="{5DBD57B3-CA40-4BF9-B007-6684B4C51826}" type="presParOf" srcId="{01162BD2-FD55-4209-8CC7-9FB05CEA68E4}" destId="{9421A674-49EA-4EB6-998B-F67D77349B8E}" srcOrd="0" destOrd="0" presId="urn:microsoft.com/office/officeart/2005/8/layout/orgChart1"/>
    <dgm:cxn modelId="{06A2D4FD-AA29-4B6C-BFC9-E1203A2107E3}" type="presParOf" srcId="{01162BD2-FD55-4209-8CC7-9FB05CEA68E4}" destId="{3E4268C6-5DB8-4AA5-80A1-F9BF690CC955}" srcOrd="1" destOrd="0" presId="urn:microsoft.com/office/officeart/2005/8/layout/orgChart1"/>
    <dgm:cxn modelId="{8F4B1FCF-BD07-4A90-A22A-3AD9D027B21C}" type="presParOf" srcId="{DDCED672-9A57-4669-8495-92769F24FA19}" destId="{4C00249A-3BAC-4AEF-8964-5838AECC6D02}" srcOrd="1" destOrd="0" presId="urn:microsoft.com/office/officeart/2005/8/layout/orgChart1"/>
    <dgm:cxn modelId="{CB770CFA-1F49-404F-B9DC-EFFFEBC930E8}" type="presParOf" srcId="{DDCED672-9A57-4669-8495-92769F24FA19}" destId="{5C875311-FEE8-43CF-8CA1-B6CD54BED9A1}" srcOrd="2" destOrd="0" presId="urn:microsoft.com/office/officeart/2005/8/layout/orgChart1"/>
    <dgm:cxn modelId="{8228C426-56D6-4034-82CE-4ABA59DD19D7}" type="presParOf" srcId="{64533A2A-D158-4D5D-B6D0-F35C897C17DA}" destId="{69A2B9E0-A3F6-4A18-8690-35FECCE769D4}" srcOrd="2" destOrd="0" presId="urn:microsoft.com/office/officeart/2005/8/layout/orgChart1"/>
    <dgm:cxn modelId="{DFD340EA-8175-46A6-A204-B1480E548EDE}" type="presParOf" srcId="{64533A2A-D158-4D5D-B6D0-F35C897C17DA}" destId="{080B1E17-28F4-45A2-88F5-9391C6DAFDCC}" srcOrd="3" destOrd="0" presId="urn:microsoft.com/office/officeart/2005/8/layout/orgChart1"/>
    <dgm:cxn modelId="{82041E25-A939-4C26-A105-72F09655CA4A}" type="presParOf" srcId="{080B1E17-28F4-45A2-88F5-9391C6DAFDCC}" destId="{573D659B-F101-4D87-B127-7A8DC49AF891}" srcOrd="0" destOrd="0" presId="urn:microsoft.com/office/officeart/2005/8/layout/orgChart1"/>
    <dgm:cxn modelId="{467F097C-0DD9-4598-9167-64D0A0895484}" type="presParOf" srcId="{573D659B-F101-4D87-B127-7A8DC49AF891}" destId="{9891C1EA-7F1A-4074-BBC8-17E841700332}" srcOrd="0" destOrd="0" presId="urn:microsoft.com/office/officeart/2005/8/layout/orgChart1"/>
    <dgm:cxn modelId="{2348B774-D69C-4598-B4AD-05FE8F2FAEFD}" type="presParOf" srcId="{573D659B-F101-4D87-B127-7A8DC49AF891}" destId="{7D931A4A-4329-4295-9CBD-A796A4E66742}" srcOrd="1" destOrd="0" presId="urn:microsoft.com/office/officeart/2005/8/layout/orgChart1"/>
    <dgm:cxn modelId="{A1EDE000-4E92-4F9B-8ECC-97D0124852EF}" type="presParOf" srcId="{080B1E17-28F4-45A2-88F5-9391C6DAFDCC}" destId="{564BF127-724B-4E8E-9E9F-396F0C89FF3E}" srcOrd="1" destOrd="0" presId="urn:microsoft.com/office/officeart/2005/8/layout/orgChart1"/>
    <dgm:cxn modelId="{726ABF95-2140-4A30-AC93-BB62E1A5652C}" type="presParOf" srcId="{080B1E17-28F4-45A2-88F5-9391C6DAFDCC}" destId="{692468B8-16AF-4018-B2A0-91660B533ED0}" srcOrd="2" destOrd="0" presId="urn:microsoft.com/office/officeart/2005/8/layout/orgChart1"/>
    <dgm:cxn modelId="{4B856A01-98A7-4F99-8B7D-D4F7A3AD58F3}" type="presParOf" srcId="{64533A2A-D158-4D5D-B6D0-F35C897C17DA}" destId="{8CE97C83-53C2-447B-8EAB-80ECEF0F2A37}" srcOrd="4" destOrd="0" presId="urn:microsoft.com/office/officeart/2005/8/layout/orgChart1"/>
    <dgm:cxn modelId="{A0BBA32C-AD00-4059-820A-FBB79156170A}" type="presParOf" srcId="{64533A2A-D158-4D5D-B6D0-F35C897C17DA}" destId="{1BFD6DCC-FD75-4E6E-9630-F882D81ABB83}" srcOrd="5" destOrd="0" presId="urn:microsoft.com/office/officeart/2005/8/layout/orgChart1"/>
    <dgm:cxn modelId="{6582991F-6595-4CC2-8006-C179F4933A75}" type="presParOf" srcId="{1BFD6DCC-FD75-4E6E-9630-F882D81ABB83}" destId="{D8A42BFD-8E7B-4381-B430-CCEADE2E2C68}" srcOrd="0" destOrd="0" presId="urn:microsoft.com/office/officeart/2005/8/layout/orgChart1"/>
    <dgm:cxn modelId="{13E24681-C64E-4261-A1D4-6383053BF0E7}" type="presParOf" srcId="{D8A42BFD-8E7B-4381-B430-CCEADE2E2C68}" destId="{71A1EAE2-1198-40DD-9EFC-C0DB6D37ECC3}" srcOrd="0" destOrd="0" presId="urn:microsoft.com/office/officeart/2005/8/layout/orgChart1"/>
    <dgm:cxn modelId="{33EDADB9-1AC0-40FC-A0BB-BBD18C5018D7}" type="presParOf" srcId="{D8A42BFD-8E7B-4381-B430-CCEADE2E2C68}" destId="{E1F82097-F7CF-497D-A938-C35D47BB1D4B}" srcOrd="1" destOrd="0" presId="urn:microsoft.com/office/officeart/2005/8/layout/orgChart1"/>
    <dgm:cxn modelId="{6B965882-69B2-46CD-8CCE-101F30C2C6B1}" type="presParOf" srcId="{1BFD6DCC-FD75-4E6E-9630-F882D81ABB83}" destId="{46AA61D3-D7F5-4A70-AB88-735EF38335F8}" srcOrd="1" destOrd="0" presId="urn:microsoft.com/office/officeart/2005/8/layout/orgChart1"/>
    <dgm:cxn modelId="{58CC5F61-5F29-45F6-BB33-63D025C77522}" type="presParOf" srcId="{1BFD6DCC-FD75-4E6E-9630-F882D81ABB83}" destId="{FE01DC0A-CE69-4D0E-B772-25DE05C429AE}" srcOrd="2" destOrd="0" presId="urn:microsoft.com/office/officeart/2005/8/layout/orgChart1"/>
    <dgm:cxn modelId="{F8BB735B-3A1F-4221-BE9E-36B5B585C942}" type="presParOf" srcId="{64533A2A-D158-4D5D-B6D0-F35C897C17DA}" destId="{876B3038-24EA-4F66-9209-280C59E98C38}" srcOrd="6" destOrd="0" presId="urn:microsoft.com/office/officeart/2005/8/layout/orgChart1"/>
    <dgm:cxn modelId="{64C73406-51F6-4862-AF56-43AC0C64D6D9}" type="presParOf" srcId="{64533A2A-D158-4D5D-B6D0-F35C897C17DA}" destId="{DB89FF94-FCC1-40CA-80C1-0628FF4161C2}" srcOrd="7" destOrd="0" presId="urn:microsoft.com/office/officeart/2005/8/layout/orgChart1"/>
    <dgm:cxn modelId="{3161B245-FAA7-4654-8356-B5B5EE234DB2}" type="presParOf" srcId="{DB89FF94-FCC1-40CA-80C1-0628FF4161C2}" destId="{F4B96AB3-C8EB-4395-B42E-84406C283801}" srcOrd="0" destOrd="0" presId="urn:microsoft.com/office/officeart/2005/8/layout/orgChart1"/>
    <dgm:cxn modelId="{995F9AE5-D3DA-4821-9037-1DC27890DA78}" type="presParOf" srcId="{F4B96AB3-C8EB-4395-B42E-84406C283801}" destId="{DC3676BA-3E92-4BE7-A2D2-A3F339B9FDB8}" srcOrd="0" destOrd="0" presId="urn:microsoft.com/office/officeart/2005/8/layout/orgChart1"/>
    <dgm:cxn modelId="{CF6B7AB7-DAD5-4DEC-93FD-A1A869333031}" type="presParOf" srcId="{F4B96AB3-C8EB-4395-B42E-84406C283801}" destId="{A431D3E8-4CC8-472E-9678-52B8DD418049}" srcOrd="1" destOrd="0" presId="urn:microsoft.com/office/officeart/2005/8/layout/orgChart1"/>
    <dgm:cxn modelId="{38F4CD04-C9FC-41C2-9A01-EBAF6DB2E1E4}" type="presParOf" srcId="{DB89FF94-FCC1-40CA-80C1-0628FF4161C2}" destId="{3531040E-100F-4AC8-8474-7BBD40517FA2}" srcOrd="1" destOrd="0" presId="urn:microsoft.com/office/officeart/2005/8/layout/orgChart1"/>
    <dgm:cxn modelId="{B4ED3A20-8D44-4E83-80AE-04A4F976A5C9}" type="presParOf" srcId="{DB89FF94-FCC1-40CA-80C1-0628FF4161C2}" destId="{B311CEC7-D983-4968-B40F-15A0F8797BC4}" srcOrd="2" destOrd="0" presId="urn:microsoft.com/office/officeart/2005/8/layout/orgChart1"/>
    <dgm:cxn modelId="{C3B3A1BE-4A9F-434D-9EB6-8196FCD98B44}" type="presParOf" srcId="{BC949769-A933-4E36-A702-B4E598850DDF}" destId="{57A32D56-689E-4464-ABA3-2C9214947B41}"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1AA1E86-B715-4875-8F04-6227248F7DD9}" type="doc">
      <dgm:prSet loTypeId="urn:microsoft.com/office/officeart/2005/8/layout/matrix1" loCatId="matrix" qsTypeId="urn:microsoft.com/office/officeart/2005/8/quickstyle/3d8" qsCatId="3D" csTypeId="urn:microsoft.com/office/officeart/2005/8/colors/accent1_2" csCatId="accent1" phldr="1"/>
      <dgm:spPr/>
      <dgm:t>
        <a:bodyPr/>
        <a:lstStyle/>
        <a:p>
          <a:endParaRPr lang="en-US"/>
        </a:p>
      </dgm:t>
    </dgm:pt>
    <dgm:pt modelId="{13210358-92AE-4239-BB12-D51ECC45A7B7}">
      <dgm:prSet phldrT="[文本]" custT="1"/>
      <dgm:spPr/>
      <dgm:t>
        <a:bodyPr/>
        <a:lstStyle/>
        <a:p>
          <a:pPr algn="ctr"/>
          <a:r>
            <a:rPr lang="en-US" sz="1300" b="1" dirty="0"/>
            <a:t>Products</a:t>
          </a:r>
        </a:p>
        <a:p>
          <a:pPr algn="ctr"/>
          <a:r>
            <a:rPr lang="en-US" sz="1300" b="1" dirty="0"/>
            <a:t>Connectedness</a:t>
          </a:r>
        </a:p>
      </dgm:t>
    </dgm:pt>
    <dgm:pt modelId="{E1DB428E-73C3-4E9E-B4A9-4C50B30D0ABF}" type="parTrans" cxnId="{35D9A528-926B-4949-93BD-8CE72A9534F1}">
      <dgm:prSet/>
      <dgm:spPr/>
      <dgm:t>
        <a:bodyPr/>
        <a:lstStyle/>
        <a:p>
          <a:pPr algn="ctr"/>
          <a:endParaRPr lang="en-US"/>
        </a:p>
      </dgm:t>
    </dgm:pt>
    <dgm:pt modelId="{F1305B59-C34A-4D93-B08E-D87A0701D492}" type="sibTrans" cxnId="{35D9A528-926B-4949-93BD-8CE72A9534F1}">
      <dgm:prSet/>
      <dgm:spPr/>
      <dgm:t>
        <a:bodyPr/>
        <a:lstStyle/>
        <a:p>
          <a:pPr algn="ctr"/>
          <a:endParaRPr lang="en-US"/>
        </a:p>
      </dgm:t>
    </dgm:pt>
    <dgm:pt modelId="{4C5B98C4-A68A-409B-8A96-148EF57C7E47}">
      <dgm:prSet phldrT="[文本]" custT="1"/>
      <dgm:spPr>
        <a:blipFill rotWithShape="0">
          <a:blip xmlns:r="http://schemas.openxmlformats.org/officeDocument/2006/relationships" r:embed="rId1"/>
          <a:stretch>
            <a:fillRect/>
          </a:stretch>
        </a:blipFill>
      </dgm:spPr>
      <dgm:t>
        <a:bodyPr/>
        <a:lstStyle/>
        <a:p>
          <a:pPr algn="ctr"/>
          <a:r>
            <a:rPr lang="en-US" sz="1800" b="1" dirty="0"/>
            <a:t>Integrated Circuit</a:t>
          </a:r>
        </a:p>
      </dgm:t>
    </dgm:pt>
    <dgm:pt modelId="{75D16AD1-375D-4225-9F9F-7C68ECA291C2}" type="parTrans" cxnId="{2E792FBB-3630-419C-9460-A4FB72AB83F0}">
      <dgm:prSet/>
      <dgm:spPr/>
      <dgm:t>
        <a:bodyPr/>
        <a:lstStyle/>
        <a:p>
          <a:pPr algn="ctr"/>
          <a:endParaRPr lang="en-US"/>
        </a:p>
      </dgm:t>
    </dgm:pt>
    <dgm:pt modelId="{893B6735-01FC-4F03-801C-7D852032FA5A}" type="sibTrans" cxnId="{2E792FBB-3630-419C-9460-A4FB72AB83F0}">
      <dgm:prSet/>
      <dgm:spPr/>
      <dgm:t>
        <a:bodyPr/>
        <a:lstStyle/>
        <a:p>
          <a:pPr algn="ctr"/>
          <a:endParaRPr lang="en-US"/>
        </a:p>
      </dgm:t>
    </dgm:pt>
    <dgm:pt modelId="{A7388860-77FF-4A1E-BA96-EFF41FC98365}">
      <dgm:prSet phldrT="[文本]" custT="1"/>
      <dgm:spPr>
        <a:blipFill rotWithShape="0">
          <a:blip xmlns:r="http://schemas.openxmlformats.org/officeDocument/2006/relationships" r:embed="rId2"/>
          <a:stretch>
            <a:fillRect/>
          </a:stretch>
        </a:blipFill>
      </dgm:spPr>
      <dgm:t>
        <a:bodyPr/>
        <a:lstStyle/>
        <a:p>
          <a:pPr algn="ctr"/>
          <a:r>
            <a:rPr lang="en-US" sz="1800" b="1" dirty="0"/>
            <a:t>Weapon Parts</a:t>
          </a:r>
        </a:p>
      </dgm:t>
    </dgm:pt>
    <dgm:pt modelId="{17EB94E7-1A23-4DE3-BD4F-6C30CC1765E0}" type="parTrans" cxnId="{AAEBECD5-083A-4080-BE07-86BD15A64054}">
      <dgm:prSet/>
      <dgm:spPr/>
      <dgm:t>
        <a:bodyPr/>
        <a:lstStyle/>
        <a:p>
          <a:pPr algn="ctr"/>
          <a:endParaRPr lang="en-US"/>
        </a:p>
      </dgm:t>
    </dgm:pt>
    <dgm:pt modelId="{12CB7FE9-6399-41A4-A7F0-13201B60F71A}" type="sibTrans" cxnId="{AAEBECD5-083A-4080-BE07-86BD15A64054}">
      <dgm:prSet/>
      <dgm:spPr/>
      <dgm:t>
        <a:bodyPr/>
        <a:lstStyle/>
        <a:p>
          <a:pPr algn="ctr"/>
          <a:endParaRPr lang="en-US"/>
        </a:p>
      </dgm:t>
    </dgm:pt>
    <dgm:pt modelId="{0BD45AB1-F915-4BEF-9E85-6F83C7023D21}">
      <dgm:prSet phldrT="[文本]" custT="1"/>
      <dgm:spPr>
        <a:blipFill rotWithShape="0">
          <a:blip xmlns:r="http://schemas.openxmlformats.org/officeDocument/2006/relationships" r:embed="rId3"/>
          <a:stretch>
            <a:fillRect/>
          </a:stretch>
        </a:blipFill>
      </dgm:spPr>
      <dgm:t>
        <a:bodyPr/>
        <a:lstStyle/>
        <a:p>
          <a:pPr algn="ctr"/>
          <a:r>
            <a:rPr lang="en-US" sz="1800" b="1" dirty="0"/>
            <a:t>Computers</a:t>
          </a:r>
        </a:p>
      </dgm:t>
    </dgm:pt>
    <dgm:pt modelId="{65DCC372-89CA-4FC1-B845-03E8EE89733A}" type="parTrans" cxnId="{DCB37140-63AA-47CA-9C7B-32F7731F0CB2}">
      <dgm:prSet/>
      <dgm:spPr/>
      <dgm:t>
        <a:bodyPr/>
        <a:lstStyle/>
        <a:p>
          <a:pPr algn="ctr"/>
          <a:endParaRPr lang="en-US"/>
        </a:p>
      </dgm:t>
    </dgm:pt>
    <dgm:pt modelId="{B533EB90-A8B4-49D3-BB6F-C272344F34C5}" type="sibTrans" cxnId="{DCB37140-63AA-47CA-9C7B-32F7731F0CB2}">
      <dgm:prSet/>
      <dgm:spPr/>
      <dgm:t>
        <a:bodyPr/>
        <a:lstStyle/>
        <a:p>
          <a:pPr algn="ctr"/>
          <a:endParaRPr lang="en-US"/>
        </a:p>
      </dgm:t>
    </dgm:pt>
    <dgm:pt modelId="{E1386A03-015D-4E8A-BE44-0CEC307D499F}">
      <dgm:prSet phldrT="[文本]" custT="1"/>
      <dgm:spPr>
        <a:blipFill rotWithShape="0">
          <a:blip xmlns:r="http://schemas.openxmlformats.org/officeDocument/2006/relationships" r:embed="rId4"/>
          <a:stretch>
            <a:fillRect/>
          </a:stretch>
        </a:blipFill>
      </dgm:spPr>
      <dgm:t>
        <a:bodyPr/>
        <a:lstStyle/>
        <a:p>
          <a:pPr algn="ctr"/>
          <a:r>
            <a:rPr lang="en-US" sz="1800" b="1" dirty="0"/>
            <a:t>Bovine Meat</a:t>
          </a:r>
        </a:p>
      </dgm:t>
    </dgm:pt>
    <dgm:pt modelId="{DC7C7C7B-49A0-4F17-B73B-DE45194985B7}" type="parTrans" cxnId="{E7EAFE21-3B0D-4F4E-9479-B85953A3FC91}">
      <dgm:prSet/>
      <dgm:spPr/>
      <dgm:t>
        <a:bodyPr/>
        <a:lstStyle/>
        <a:p>
          <a:pPr algn="ctr"/>
          <a:endParaRPr lang="en-US"/>
        </a:p>
      </dgm:t>
    </dgm:pt>
    <dgm:pt modelId="{4CB464EA-268E-4E41-80DD-D0207AAFC352}" type="sibTrans" cxnId="{E7EAFE21-3B0D-4F4E-9479-B85953A3FC91}">
      <dgm:prSet/>
      <dgm:spPr/>
      <dgm:t>
        <a:bodyPr/>
        <a:lstStyle/>
        <a:p>
          <a:pPr algn="ctr"/>
          <a:endParaRPr lang="en-US"/>
        </a:p>
      </dgm:t>
    </dgm:pt>
    <dgm:pt modelId="{90BFD14E-2047-481A-B5FB-0314D285E92E}" type="pres">
      <dgm:prSet presAssocID="{B1AA1E86-B715-4875-8F04-6227248F7DD9}" presName="diagram" presStyleCnt="0">
        <dgm:presLayoutVars>
          <dgm:chMax val="1"/>
          <dgm:dir/>
          <dgm:animLvl val="ctr"/>
          <dgm:resizeHandles val="exact"/>
        </dgm:presLayoutVars>
      </dgm:prSet>
      <dgm:spPr/>
    </dgm:pt>
    <dgm:pt modelId="{5A98ADD9-3870-4392-A690-D9814020B64B}" type="pres">
      <dgm:prSet presAssocID="{B1AA1E86-B715-4875-8F04-6227248F7DD9}" presName="matrix" presStyleCnt="0"/>
      <dgm:spPr/>
    </dgm:pt>
    <dgm:pt modelId="{015363E7-370E-491F-983D-D85606909675}" type="pres">
      <dgm:prSet presAssocID="{B1AA1E86-B715-4875-8F04-6227248F7DD9}" presName="tile1" presStyleLbl="node1" presStyleIdx="0" presStyleCnt="4"/>
      <dgm:spPr/>
    </dgm:pt>
    <dgm:pt modelId="{ECD10E75-D9DB-44CD-994D-96D4E90859B8}" type="pres">
      <dgm:prSet presAssocID="{B1AA1E86-B715-4875-8F04-6227248F7DD9}" presName="tile1text" presStyleLbl="node1" presStyleIdx="0" presStyleCnt="4">
        <dgm:presLayoutVars>
          <dgm:chMax val="0"/>
          <dgm:chPref val="0"/>
          <dgm:bulletEnabled val="1"/>
        </dgm:presLayoutVars>
      </dgm:prSet>
      <dgm:spPr/>
    </dgm:pt>
    <dgm:pt modelId="{1F308693-84CC-4EA4-A6D0-183A6A3412B5}" type="pres">
      <dgm:prSet presAssocID="{B1AA1E86-B715-4875-8F04-6227248F7DD9}" presName="tile2" presStyleLbl="node1" presStyleIdx="1" presStyleCnt="4"/>
      <dgm:spPr/>
    </dgm:pt>
    <dgm:pt modelId="{0B3DE086-975D-4A33-A31A-2124BEE6D356}" type="pres">
      <dgm:prSet presAssocID="{B1AA1E86-B715-4875-8F04-6227248F7DD9}" presName="tile2text" presStyleLbl="node1" presStyleIdx="1" presStyleCnt="4">
        <dgm:presLayoutVars>
          <dgm:chMax val="0"/>
          <dgm:chPref val="0"/>
          <dgm:bulletEnabled val="1"/>
        </dgm:presLayoutVars>
      </dgm:prSet>
      <dgm:spPr/>
    </dgm:pt>
    <dgm:pt modelId="{D8AAF0A8-5779-4655-877F-302D895D75FC}" type="pres">
      <dgm:prSet presAssocID="{B1AA1E86-B715-4875-8F04-6227248F7DD9}" presName="tile3" presStyleLbl="node1" presStyleIdx="2" presStyleCnt="4"/>
      <dgm:spPr/>
    </dgm:pt>
    <dgm:pt modelId="{21FB7614-3766-48BC-8DA5-F658CA4B3062}" type="pres">
      <dgm:prSet presAssocID="{B1AA1E86-B715-4875-8F04-6227248F7DD9}" presName="tile3text" presStyleLbl="node1" presStyleIdx="2" presStyleCnt="4">
        <dgm:presLayoutVars>
          <dgm:chMax val="0"/>
          <dgm:chPref val="0"/>
          <dgm:bulletEnabled val="1"/>
        </dgm:presLayoutVars>
      </dgm:prSet>
      <dgm:spPr/>
    </dgm:pt>
    <dgm:pt modelId="{8E239CF8-83AC-42E7-8272-7384F6E83D32}" type="pres">
      <dgm:prSet presAssocID="{B1AA1E86-B715-4875-8F04-6227248F7DD9}" presName="tile4" presStyleLbl="node1" presStyleIdx="3" presStyleCnt="4" custLinFactNeighborY="-1130"/>
      <dgm:spPr/>
    </dgm:pt>
    <dgm:pt modelId="{B04B0622-DCDE-4C9F-AAB5-EF35FDF0E535}" type="pres">
      <dgm:prSet presAssocID="{B1AA1E86-B715-4875-8F04-6227248F7DD9}" presName="tile4text" presStyleLbl="node1" presStyleIdx="3" presStyleCnt="4">
        <dgm:presLayoutVars>
          <dgm:chMax val="0"/>
          <dgm:chPref val="0"/>
          <dgm:bulletEnabled val="1"/>
        </dgm:presLayoutVars>
      </dgm:prSet>
      <dgm:spPr/>
    </dgm:pt>
    <dgm:pt modelId="{BA83025A-647A-4A28-85D9-CD6A787517EE}" type="pres">
      <dgm:prSet presAssocID="{B1AA1E86-B715-4875-8F04-6227248F7DD9}" presName="centerTile" presStyleLbl="fgShp" presStyleIdx="0" presStyleCnt="1">
        <dgm:presLayoutVars>
          <dgm:chMax val="0"/>
          <dgm:chPref val="0"/>
        </dgm:presLayoutVars>
      </dgm:prSet>
      <dgm:spPr/>
    </dgm:pt>
  </dgm:ptLst>
  <dgm:cxnLst>
    <dgm:cxn modelId="{1A8B0B14-1B38-4ECA-9E1E-A6A503B5EFB9}" type="presOf" srcId="{A7388860-77FF-4A1E-BA96-EFF41FC98365}" destId="{0B3DE086-975D-4A33-A31A-2124BEE6D356}" srcOrd="1" destOrd="0" presId="urn:microsoft.com/office/officeart/2005/8/layout/matrix1"/>
    <dgm:cxn modelId="{85B3F91D-181F-4447-9FA1-B92D78BDBACC}" type="presOf" srcId="{4C5B98C4-A68A-409B-8A96-148EF57C7E47}" destId="{ECD10E75-D9DB-44CD-994D-96D4E90859B8}" srcOrd="1" destOrd="0" presId="urn:microsoft.com/office/officeart/2005/8/layout/matrix1"/>
    <dgm:cxn modelId="{E7EAFE21-3B0D-4F4E-9479-B85953A3FC91}" srcId="{13210358-92AE-4239-BB12-D51ECC45A7B7}" destId="{E1386A03-015D-4E8A-BE44-0CEC307D499F}" srcOrd="3" destOrd="0" parTransId="{DC7C7C7B-49A0-4F17-B73B-DE45194985B7}" sibTransId="{4CB464EA-268E-4E41-80DD-D0207AAFC352}"/>
    <dgm:cxn modelId="{468E6326-B28B-4D5B-9DF2-68A3FAD41C71}" type="presOf" srcId="{13210358-92AE-4239-BB12-D51ECC45A7B7}" destId="{BA83025A-647A-4A28-85D9-CD6A787517EE}" srcOrd="0" destOrd="0" presId="urn:microsoft.com/office/officeart/2005/8/layout/matrix1"/>
    <dgm:cxn modelId="{35D9A528-926B-4949-93BD-8CE72A9534F1}" srcId="{B1AA1E86-B715-4875-8F04-6227248F7DD9}" destId="{13210358-92AE-4239-BB12-D51ECC45A7B7}" srcOrd="0" destOrd="0" parTransId="{E1DB428E-73C3-4E9E-B4A9-4C50B30D0ABF}" sibTransId="{F1305B59-C34A-4D93-B08E-D87A0701D492}"/>
    <dgm:cxn modelId="{EA424C30-2CD0-4B17-8DA0-C673C8356952}" type="presOf" srcId="{B1AA1E86-B715-4875-8F04-6227248F7DD9}" destId="{90BFD14E-2047-481A-B5FB-0314D285E92E}" srcOrd="0" destOrd="0" presId="urn:microsoft.com/office/officeart/2005/8/layout/matrix1"/>
    <dgm:cxn modelId="{DCB37140-63AA-47CA-9C7B-32F7731F0CB2}" srcId="{13210358-92AE-4239-BB12-D51ECC45A7B7}" destId="{0BD45AB1-F915-4BEF-9E85-6F83C7023D21}" srcOrd="2" destOrd="0" parTransId="{65DCC372-89CA-4FC1-B845-03E8EE89733A}" sibTransId="{B533EB90-A8B4-49D3-BB6F-C272344F34C5}"/>
    <dgm:cxn modelId="{24F3C163-CF39-4939-858B-05D4F6F78D79}" type="presOf" srcId="{A7388860-77FF-4A1E-BA96-EFF41FC98365}" destId="{1F308693-84CC-4EA4-A6D0-183A6A3412B5}" srcOrd="0" destOrd="0" presId="urn:microsoft.com/office/officeart/2005/8/layout/matrix1"/>
    <dgm:cxn modelId="{159913B1-C0E1-4485-A4C2-8C63069CB798}" type="presOf" srcId="{E1386A03-015D-4E8A-BE44-0CEC307D499F}" destId="{8E239CF8-83AC-42E7-8272-7384F6E83D32}" srcOrd="0" destOrd="0" presId="urn:microsoft.com/office/officeart/2005/8/layout/matrix1"/>
    <dgm:cxn modelId="{AD8945B5-6607-4EF2-845E-D39A0C00CFBD}" type="presOf" srcId="{0BD45AB1-F915-4BEF-9E85-6F83C7023D21}" destId="{21FB7614-3766-48BC-8DA5-F658CA4B3062}" srcOrd="1" destOrd="0" presId="urn:microsoft.com/office/officeart/2005/8/layout/matrix1"/>
    <dgm:cxn modelId="{A5F783BA-17C4-4F81-927A-96BF6ED11D08}" type="presOf" srcId="{E1386A03-015D-4E8A-BE44-0CEC307D499F}" destId="{B04B0622-DCDE-4C9F-AAB5-EF35FDF0E535}" srcOrd="1" destOrd="0" presId="urn:microsoft.com/office/officeart/2005/8/layout/matrix1"/>
    <dgm:cxn modelId="{2E792FBB-3630-419C-9460-A4FB72AB83F0}" srcId="{13210358-92AE-4239-BB12-D51ECC45A7B7}" destId="{4C5B98C4-A68A-409B-8A96-148EF57C7E47}" srcOrd="0" destOrd="0" parTransId="{75D16AD1-375D-4225-9F9F-7C68ECA291C2}" sibTransId="{893B6735-01FC-4F03-801C-7D852032FA5A}"/>
    <dgm:cxn modelId="{FE261AD0-175A-4E99-86D4-A610AAC47CAA}" type="presOf" srcId="{0BD45AB1-F915-4BEF-9E85-6F83C7023D21}" destId="{D8AAF0A8-5779-4655-877F-302D895D75FC}" srcOrd="0" destOrd="0" presId="urn:microsoft.com/office/officeart/2005/8/layout/matrix1"/>
    <dgm:cxn modelId="{3F26A6D5-88FC-4C7B-A026-91D0FE15EB6C}" type="presOf" srcId="{4C5B98C4-A68A-409B-8A96-148EF57C7E47}" destId="{015363E7-370E-491F-983D-D85606909675}" srcOrd="0" destOrd="0" presId="urn:microsoft.com/office/officeart/2005/8/layout/matrix1"/>
    <dgm:cxn modelId="{AAEBECD5-083A-4080-BE07-86BD15A64054}" srcId="{13210358-92AE-4239-BB12-D51ECC45A7B7}" destId="{A7388860-77FF-4A1E-BA96-EFF41FC98365}" srcOrd="1" destOrd="0" parTransId="{17EB94E7-1A23-4DE3-BD4F-6C30CC1765E0}" sibTransId="{12CB7FE9-6399-41A4-A7F0-13201B60F71A}"/>
    <dgm:cxn modelId="{843581A9-92D2-447D-B72E-DE48C1EE63B5}" type="presParOf" srcId="{90BFD14E-2047-481A-B5FB-0314D285E92E}" destId="{5A98ADD9-3870-4392-A690-D9814020B64B}" srcOrd="0" destOrd="0" presId="urn:microsoft.com/office/officeart/2005/8/layout/matrix1"/>
    <dgm:cxn modelId="{4692A1D4-38F5-4030-8C2B-47635D0F7CA5}" type="presParOf" srcId="{5A98ADD9-3870-4392-A690-D9814020B64B}" destId="{015363E7-370E-491F-983D-D85606909675}" srcOrd="0" destOrd="0" presId="urn:microsoft.com/office/officeart/2005/8/layout/matrix1"/>
    <dgm:cxn modelId="{4D878F41-00A2-4526-ACD3-11E565709DD8}" type="presParOf" srcId="{5A98ADD9-3870-4392-A690-D9814020B64B}" destId="{ECD10E75-D9DB-44CD-994D-96D4E90859B8}" srcOrd="1" destOrd="0" presId="urn:microsoft.com/office/officeart/2005/8/layout/matrix1"/>
    <dgm:cxn modelId="{9F372D77-12EA-496E-85FC-675B36FCD987}" type="presParOf" srcId="{5A98ADD9-3870-4392-A690-D9814020B64B}" destId="{1F308693-84CC-4EA4-A6D0-183A6A3412B5}" srcOrd="2" destOrd="0" presId="urn:microsoft.com/office/officeart/2005/8/layout/matrix1"/>
    <dgm:cxn modelId="{FED94C72-0F4E-477C-8813-1CCF561100AC}" type="presParOf" srcId="{5A98ADD9-3870-4392-A690-D9814020B64B}" destId="{0B3DE086-975D-4A33-A31A-2124BEE6D356}" srcOrd="3" destOrd="0" presId="urn:microsoft.com/office/officeart/2005/8/layout/matrix1"/>
    <dgm:cxn modelId="{36C932D9-12A8-4EC7-9B4C-0BF91651DBCF}" type="presParOf" srcId="{5A98ADD9-3870-4392-A690-D9814020B64B}" destId="{D8AAF0A8-5779-4655-877F-302D895D75FC}" srcOrd="4" destOrd="0" presId="urn:microsoft.com/office/officeart/2005/8/layout/matrix1"/>
    <dgm:cxn modelId="{DB1D070E-4D25-4D62-9207-A17AECCE942A}" type="presParOf" srcId="{5A98ADD9-3870-4392-A690-D9814020B64B}" destId="{21FB7614-3766-48BC-8DA5-F658CA4B3062}" srcOrd="5" destOrd="0" presId="urn:microsoft.com/office/officeart/2005/8/layout/matrix1"/>
    <dgm:cxn modelId="{4EECBFF7-369A-4B55-BD7A-1D490BAE93ED}" type="presParOf" srcId="{5A98ADD9-3870-4392-A690-D9814020B64B}" destId="{8E239CF8-83AC-42E7-8272-7384F6E83D32}" srcOrd="6" destOrd="0" presId="urn:microsoft.com/office/officeart/2005/8/layout/matrix1"/>
    <dgm:cxn modelId="{84C5ADB2-6512-495A-B41C-7DEAC7D3FFC1}" type="presParOf" srcId="{5A98ADD9-3870-4392-A690-D9814020B64B}" destId="{B04B0622-DCDE-4C9F-AAB5-EF35FDF0E535}" srcOrd="7" destOrd="0" presId="urn:microsoft.com/office/officeart/2005/8/layout/matrix1"/>
    <dgm:cxn modelId="{3F5ED025-4F27-4B3A-A3B4-79D9F9338EBC}" type="presParOf" srcId="{90BFD14E-2047-481A-B5FB-0314D285E92E}" destId="{BA83025A-647A-4A28-85D9-CD6A787517EE}"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E641C5-9E38-43FA-9F04-D629BB9CD19C}">
      <dsp:nvSpPr>
        <dsp:cNvPr id="0" name=""/>
        <dsp:cNvSpPr/>
      </dsp:nvSpPr>
      <dsp:spPr>
        <a:xfrm>
          <a:off x="1187760" y="333434"/>
          <a:ext cx="2229932" cy="2229932"/>
        </a:xfrm>
        <a:prstGeom prst="blockArc">
          <a:avLst>
            <a:gd name="adj1" fmla="val 9000000"/>
            <a:gd name="adj2" fmla="val 16200000"/>
            <a:gd name="adj3" fmla="val 46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72583DB-2020-4E7C-A0A9-E2C5169691F2}">
      <dsp:nvSpPr>
        <dsp:cNvPr id="0" name=""/>
        <dsp:cNvSpPr/>
      </dsp:nvSpPr>
      <dsp:spPr>
        <a:xfrm>
          <a:off x="1187760" y="333434"/>
          <a:ext cx="2229932" cy="2229932"/>
        </a:xfrm>
        <a:prstGeom prst="blockArc">
          <a:avLst>
            <a:gd name="adj1" fmla="val 1800000"/>
            <a:gd name="adj2" fmla="val 9000000"/>
            <a:gd name="adj3" fmla="val 46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C7D7C24-558A-474F-A7BE-EB29ED81367E}">
      <dsp:nvSpPr>
        <dsp:cNvPr id="0" name=""/>
        <dsp:cNvSpPr/>
      </dsp:nvSpPr>
      <dsp:spPr>
        <a:xfrm>
          <a:off x="1187760" y="333434"/>
          <a:ext cx="2229932" cy="2229932"/>
        </a:xfrm>
        <a:prstGeom prst="blockArc">
          <a:avLst>
            <a:gd name="adj1" fmla="val 16200000"/>
            <a:gd name="adj2" fmla="val 1800000"/>
            <a:gd name="adj3" fmla="val 46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DBE8EEF-A7D1-4E22-9829-7290C5F3E5F2}">
      <dsp:nvSpPr>
        <dsp:cNvPr id="0" name=""/>
        <dsp:cNvSpPr/>
      </dsp:nvSpPr>
      <dsp:spPr>
        <a:xfrm>
          <a:off x="1790010" y="935683"/>
          <a:ext cx="1025432" cy="102543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Global Market</a:t>
          </a:r>
        </a:p>
      </dsp:txBody>
      <dsp:txXfrm>
        <a:off x="1940181" y="1085854"/>
        <a:ext cx="725090" cy="725090"/>
      </dsp:txXfrm>
    </dsp:sp>
    <dsp:sp modelId="{574C4CD3-0CF4-4DE4-8886-A8646360B222}">
      <dsp:nvSpPr>
        <dsp:cNvPr id="0" name=""/>
        <dsp:cNvSpPr/>
      </dsp:nvSpPr>
      <dsp:spPr>
        <a:xfrm>
          <a:off x="1943824" y="373"/>
          <a:ext cx="717803" cy="7178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Productive Knowledge</a:t>
          </a:r>
        </a:p>
      </dsp:txBody>
      <dsp:txXfrm>
        <a:off x="2048944" y="105493"/>
        <a:ext cx="507563" cy="507563"/>
      </dsp:txXfrm>
    </dsp:sp>
    <dsp:sp modelId="{29E208B9-80DE-4D15-A71F-77D2694D4FF6}">
      <dsp:nvSpPr>
        <dsp:cNvPr id="0" name=""/>
        <dsp:cNvSpPr/>
      </dsp:nvSpPr>
      <dsp:spPr>
        <a:xfrm>
          <a:off x="2887035" y="1634061"/>
          <a:ext cx="717803" cy="7178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Productive Knowledge</a:t>
          </a:r>
        </a:p>
      </dsp:txBody>
      <dsp:txXfrm>
        <a:off x="2992155" y="1739181"/>
        <a:ext cx="507563" cy="507563"/>
      </dsp:txXfrm>
    </dsp:sp>
    <dsp:sp modelId="{9ADA9254-0284-4578-92B1-D34B714BB44E}">
      <dsp:nvSpPr>
        <dsp:cNvPr id="0" name=""/>
        <dsp:cNvSpPr/>
      </dsp:nvSpPr>
      <dsp:spPr>
        <a:xfrm>
          <a:off x="1000614" y="1634061"/>
          <a:ext cx="717803" cy="7178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Productive Knowledge</a:t>
          </a:r>
        </a:p>
      </dsp:txBody>
      <dsp:txXfrm>
        <a:off x="1105734" y="1739181"/>
        <a:ext cx="507563" cy="5075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2B1E9D-CF8B-4111-A7CD-A72110DC7CB1}">
      <dsp:nvSpPr>
        <dsp:cNvPr id="0" name=""/>
        <dsp:cNvSpPr/>
      </dsp:nvSpPr>
      <dsp:spPr>
        <a:xfrm>
          <a:off x="1611195" y="387"/>
          <a:ext cx="2416792" cy="150985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b="0" kern="1200" dirty="0">
              <a:latin typeface="Times New Roman" pitchFamily="18" charset="0"/>
              <a:cs typeface="Times New Roman" pitchFamily="18" charset="0"/>
            </a:rPr>
            <a:t>Weather forecast</a:t>
          </a:r>
          <a:endParaRPr lang="en-US" sz="1500" b="0" kern="1200" dirty="0"/>
        </a:p>
        <a:p>
          <a:pPr marL="114300" lvl="1" indent="-114300" algn="l" defTabSz="666750">
            <a:lnSpc>
              <a:spcPct val="90000"/>
            </a:lnSpc>
            <a:spcBef>
              <a:spcPct val="0"/>
            </a:spcBef>
            <a:spcAft>
              <a:spcPct val="15000"/>
            </a:spcAft>
            <a:buChar char="•"/>
          </a:pPr>
          <a:r>
            <a:rPr lang="en-US" sz="1500" b="0" kern="1200" dirty="0">
              <a:latin typeface="Times New Roman" pitchFamily="18" charset="0"/>
              <a:cs typeface="Times New Roman" pitchFamily="18" charset="0"/>
            </a:rPr>
            <a:t>Bus schedule</a:t>
          </a:r>
          <a:endParaRPr lang="en-US" sz="1500" b="0" kern="1200" dirty="0"/>
        </a:p>
        <a:p>
          <a:pPr marL="114300" lvl="1" indent="-114300" algn="l" defTabSz="666750">
            <a:lnSpc>
              <a:spcPct val="90000"/>
            </a:lnSpc>
            <a:spcBef>
              <a:spcPct val="0"/>
            </a:spcBef>
            <a:spcAft>
              <a:spcPct val="15000"/>
            </a:spcAft>
            <a:buChar char="•"/>
          </a:pPr>
          <a:r>
            <a:rPr lang="en-US" sz="1500" b="0" kern="1200" dirty="0">
              <a:latin typeface="Times New Roman" pitchFamily="18" charset="0"/>
              <a:cs typeface="Times New Roman" pitchFamily="18" charset="0"/>
            </a:rPr>
            <a:t>History of a building</a:t>
          </a:r>
        </a:p>
        <a:p>
          <a:pPr marL="114300" lvl="1" indent="-114300" algn="l" defTabSz="666750">
            <a:lnSpc>
              <a:spcPct val="90000"/>
            </a:lnSpc>
            <a:spcBef>
              <a:spcPct val="0"/>
            </a:spcBef>
            <a:spcAft>
              <a:spcPct val="15000"/>
            </a:spcAft>
            <a:buChar char="•"/>
          </a:pPr>
          <a:endParaRPr lang="en-US" sz="1700" kern="1200" dirty="0"/>
        </a:p>
      </dsp:txBody>
      <dsp:txXfrm>
        <a:off x="1611195" y="189119"/>
        <a:ext cx="1850597" cy="1132390"/>
      </dsp:txXfrm>
    </dsp:sp>
    <dsp:sp modelId="{B149B8D9-A763-438C-81C6-A386D4F4AEBE}">
      <dsp:nvSpPr>
        <dsp:cNvPr id="0" name=""/>
        <dsp:cNvSpPr/>
      </dsp:nvSpPr>
      <dsp:spPr>
        <a:xfrm>
          <a:off x="0" y="387"/>
          <a:ext cx="1611195" cy="1509854"/>
        </a:xfrm>
        <a:prstGeom prst="round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Times New Roman" pitchFamily="18" charset="0"/>
              <a:cs typeface="Times New Roman" pitchFamily="18" charset="0"/>
            </a:rPr>
            <a:t>Explicit Knowledge </a:t>
          </a:r>
        </a:p>
        <a:p>
          <a:pPr marL="0" lvl="0" indent="0" algn="ctr" defTabSz="711200">
            <a:lnSpc>
              <a:spcPct val="90000"/>
            </a:lnSpc>
            <a:spcBef>
              <a:spcPct val="0"/>
            </a:spcBef>
            <a:spcAft>
              <a:spcPct val="35000"/>
            </a:spcAft>
            <a:buNone/>
          </a:pPr>
          <a:r>
            <a:rPr lang="en-US" sz="1400" kern="1200" dirty="0"/>
            <a:t>that can be transferred easily by reading and listening </a:t>
          </a:r>
        </a:p>
      </dsp:txBody>
      <dsp:txXfrm>
        <a:off x="73705" y="74092"/>
        <a:ext cx="1463785" cy="1362444"/>
      </dsp:txXfrm>
    </dsp:sp>
    <dsp:sp modelId="{2BFEFF0C-7376-414E-9680-9E855C24B267}">
      <dsp:nvSpPr>
        <dsp:cNvPr id="0" name=""/>
        <dsp:cNvSpPr/>
      </dsp:nvSpPr>
      <dsp:spPr>
        <a:xfrm>
          <a:off x="1611195" y="1661226"/>
          <a:ext cx="2416792" cy="150985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b="0" kern="1200" dirty="0">
              <a:solidFill>
                <a:schemeClr val="tx2">
                  <a:lumMod val="75000"/>
                </a:schemeClr>
              </a:solidFill>
              <a:latin typeface="Times New Roman" pitchFamily="18" charset="0"/>
              <a:cs typeface="Times New Roman" pitchFamily="18" charset="0"/>
            </a:rPr>
            <a:t>Semiconductor Manufacturing</a:t>
          </a:r>
          <a:endParaRPr lang="en-US" sz="1500" b="0" kern="1200" dirty="0"/>
        </a:p>
        <a:p>
          <a:pPr marL="114300" lvl="1" indent="-114300" algn="l" defTabSz="666750">
            <a:lnSpc>
              <a:spcPct val="90000"/>
            </a:lnSpc>
            <a:spcBef>
              <a:spcPct val="0"/>
            </a:spcBef>
            <a:spcAft>
              <a:spcPct val="15000"/>
            </a:spcAft>
            <a:buChar char="•"/>
          </a:pPr>
          <a:r>
            <a:rPr lang="en-US" sz="1500" b="0" kern="1200" dirty="0">
              <a:solidFill>
                <a:schemeClr val="tx2">
                  <a:lumMod val="75000"/>
                </a:schemeClr>
              </a:solidFill>
              <a:latin typeface="Times New Roman" pitchFamily="18" charset="0"/>
              <a:cs typeface="Times New Roman" pitchFamily="18" charset="0"/>
            </a:rPr>
            <a:t>Shell oil drilling</a:t>
          </a:r>
          <a:endParaRPr lang="en-US" sz="1500" b="0" kern="1200" dirty="0"/>
        </a:p>
        <a:p>
          <a:pPr marL="114300" lvl="1" indent="-114300" algn="l" defTabSz="666750">
            <a:lnSpc>
              <a:spcPct val="90000"/>
            </a:lnSpc>
            <a:spcBef>
              <a:spcPct val="0"/>
            </a:spcBef>
            <a:spcAft>
              <a:spcPct val="15000"/>
            </a:spcAft>
            <a:buChar char="•"/>
          </a:pPr>
          <a:r>
            <a:rPr lang="en-US" sz="1500" b="0" kern="1200" dirty="0">
              <a:solidFill>
                <a:schemeClr val="tx2">
                  <a:lumMod val="75000"/>
                </a:schemeClr>
              </a:solidFill>
              <a:latin typeface="Times New Roman" pitchFamily="18" charset="0"/>
              <a:cs typeface="Times New Roman" pitchFamily="18" charset="0"/>
            </a:rPr>
            <a:t>Foreign Language</a:t>
          </a:r>
          <a:endParaRPr lang="en-US" sz="1500" b="0" kern="1200" dirty="0"/>
        </a:p>
      </dsp:txBody>
      <dsp:txXfrm>
        <a:off x="1611195" y="1849958"/>
        <a:ext cx="1850597" cy="1132390"/>
      </dsp:txXfrm>
    </dsp:sp>
    <dsp:sp modelId="{C03136D6-45A6-4866-95A7-4560965D0A89}">
      <dsp:nvSpPr>
        <dsp:cNvPr id="0" name=""/>
        <dsp:cNvSpPr/>
      </dsp:nvSpPr>
      <dsp:spPr>
        <a:xfrm>
          <a:off x="0" y="1661226"/>
          <a:ext cx="1611195" cy="1509854"/>
        </a:xfrm>
        <a:prstGeom prst="round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2">
                  <a:lumMod val="75000"/>
                </a:schemeClr>
              </a:solidFill>
              <a:latin typeface="Times New Roman" pitchFamily="18" charset="0"/>
              <a:cs typeface="Times New Roman" pitchFamily="18" charset="0"/>
            </a:rPr>
            <a:t>Tacit Knowledge</a:t>
          </a:r>
        </a:p>
        <a:p>
          <a:pPr marL="0" lvl="0" indent="0" algn="ctr" defTabSz="711200">
            <a:lnSpc>
              <a:spcPct val="90000"/>
            </a:lnSpc>
            <a:spcBef>
              <a:spcPct val="0"/>
            </a:spcBef>
            <a:spcAft>
              <a:spcPct val="35000"/>
            </a:spcAft>
            <a:buNone/>
          </a:pPr>
          <a:r>
            <a:rPr lang="en-US" sz="1400" kern="1200" dirty="0">
              <a:solidFill>
                <a:schemeClr val="tx2">
                  <a:lumMod val="75000"/>
                </a:schemeClr>
              </a:solidFill>
            </a:rPr>
            <a:t>that requires a systematic and time-consuming learning process to transfer</a:t>
          </a:r>
          <a:endParaRPr lang="en-US" sz="1400" kern="1200" dirty="0"/>
        </a:p>
      </dsp:txBody>
      <dsp:txXfrm>
        <a:off x="73705" y="1734931"/>
        <a:ext cx="1463785" cy="13624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CD1DA5-3421-49D9-BC8F-F8E06A86A2E6}">
      <dsp:nvSpPr>
        <dsp:cNvPr id="0" name=""/>
        <dsp:cNvSpPr/>
      </dsp:nvSpPr>
      <dsp:spPr>
        <a:xfrm>
          <a:off x="0" y="0"/>
          <a:ext cx="3736729" cy="18253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46277F-6464-4EFE-8B4F-38072A5B5066}">
      <dsp:nvSpPr>
        <dsp:cNvPr id="0" name=""/>
        <dsp:cNvSpPr/>
      </dsp:nvSpPr>
      <dsp:spPr>
        <a:xfrm>
          <a:off x="319" y="547614"/>
          <a:ext cx="511793" cy="7301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procure the fabric </a:t>
          </a:r>
        </a:p>
      </dsp:txBody>
      <dsp:txXfrm>
        <a:off x="25303" y="572598"/>
        <a:ext cx="461825" cy="680184"/>
      </dsp:txXfrm>
    </dsp:sp>
    <dsp:sp modelId="{C04F19F2-7DB4-492C-B5C4-544B7C18FCB1}">
      <dsp:nvSpPr>
        <dsp:cNvPr id="0" name=""/>
        <dsp:cNvSpPr/>
      </dsp:nvSpPr>
      <dsp:spPr>
        <a:xfrm>
          <a:off x="537702" y="547614"/>
          <a:ext cx="511793" cy="7301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cut</a:t>
          </a:r>
        </a:p>
      </dsp:txBody>
      <dsp:txXfrm>
        <a:off x="562686" y="572598"/>
        <a:ext cx="461825" cy="680184"/>
      </dsp:txXfrm>
    </dsp:sp>
    <dsp:sp modelId="{A163E289-7899-4534-9800-118E136D0E8F}">
      <dsp:nvSpPr>
        <dsp:cNvPr id="0" name=""/>
        <dsp:cNvSpPr/>
      </dsp:nvSpPr>
      <dsp:spPr>
        <a:xfrm>
          <a:off x="1075085" y="547614"/>
          <a:ext cx="511793" cy="7301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sew</a:t>
          </a:r>
        </a:p>
      </dsp:txBody>
      <dsp:txXfrm>
        <a:off x="1100069" y="572598"/>
        <a:ext cx="461825" cy="680184"/>
      </dsp:txXfrm>
    </dsp:sp>
    <dsp:sp modelId="{2120C1FE-F951-42F1-AA80-50543DBE6B89}">
      <dsp:nvSpPr>
        <dsp:cNvPr id="0" name=""/>
        <dsp:cNvSpPr/>
      </dsp:nvSpPr>
      <dsp:spPr>
        <a:xfrm>
          <a:off x="1612468" y="547614"/>
          <a:ext cx="511793" cy="7301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pack</a:t>
          </a:r>
        </a:p>
      </dsp:txBody>
      <dsp:txXfrm>
        <a:off x="1637452" y="572598"/>
        <a:ext cx="461825" cy="680184"/>
      </dsp:txXfrm>
    </dsp:sp>
    <dsp:sp modelId="{B326F55D-3C37-4DA4-93D1-622A85DB91F8}">
      <dsp:nvSpPr>
        <dsp:cNvPr id="0" name=""/>
        <dsp:cNvSpPr/>
      </dsp:nvSpPr>
      <dsp:spPr>
        <a:xfrm>
          <a:off x="2149851" y="547614"/>
          <a:ext cx="511793" cy="7301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brand</a:t>
          </a:r>
        </a:p>
      </dsp:txBody>
      <dsp:txXfrm>
        <a:off x="2174835" y="572598"/>
        <a:ext cx="461825" cy="680184"/>
      </dsp:txXfrm>
    </dsp:sp>
    <dsp:sp modelId="{A8AE9207-1DA6-4092-98AF-C9BC97D8403A}">
      <dsp:nvSpPr>
        <dsp:cNvPr id="0" name=""/>
        <dsp:cNvSpPr/>
      </dsp:nvSpPr>
      <dsp:spPr>
        <a:xfrm>
          <a:off x="2687235" y="547614"/>
          <a:ext cx="511793" cy="7301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market</a:t>
          </a:r>
        </a:p>
      </dsp:txBody>
      <dsp:txXfrm>
        <a:off x="2712219" y="572598"/>
        <a:ext cx="461825" cy="680184"/>
      </dsp:txXfrm>
    </dsp:sp>
    <dsp:sp modelId="{BB0FFCFD-1516-4A15-803E-CC0525CF3FC6}">
      <dsp:nvSpPr>
        <dsp:cNvPr id="0" name=""/>
        <dsp:cNvSpPr/>
      </dsp:nvSpPr>
      <dsp:spPr>
        <a:xfrm>
          <a:off x="3224618" y="547614"/>
          <a:ext cx="511793" cy="7301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distribute</a:t>
          </a:r>
        </a:p>
      </dsp:txBody>
      <dsp:txXfrm>
        <a:off x="3249602" y="572598"/>
        <a:ext cx="461825" cy="6801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6B3038-24EA-4F66-9209-280C59E98C38}">
      <dsp:nvSpPr>
        <dsp:cNvPr id="0" name=""/>
        <dsp:cNvSpPr/>
      </dsp:nvSpPr>
      <dsp:spPr>
        <a:xfrm>
          <a:off x="1567961" y="824062"/>
          <a:ext cx="1228037" cy="142086"/>
        </a:xfrm>
        <a:custGeom>
          <a:avLst/>
          <a:gdLst/>
          <a:ahLst/>
          <a:cxnLst/>
          <a:rect l="0" t="0" r="0" b="0"/>
          <a:pathLst>
            <a:path>
              <a:moveTo>
                <a:pt x="0" y="0"/>
              </a:moveTo>
              <a:lnTo>
                <a:pt x="0" y="71043"/>
              </a:lnTo>
              <a:lnTo>
                <a:pt x="1228037" y="71043"/>
              </a:lnTo>
              <a:lnTo>
                <a:pt x="1228037" y="14208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E97C83-53C2-447B-8EAB-80ECEF0F2A37}">
      <dsp:nvSpPr>
        <dsp:cNvPr id="0" name=""/>
        <dsp:cNvSpPr/>
      </dsp:nvSpPr>
      <dsp:spPr>
        <a:xfrm>
          <a:off x="1567961" y="824062"/>
          <a:ext cx="409345" cy="142086"/>
        </a:xfrm>
        <a:custGeom>
          <a:avLst/>
          <a:gdLst/>
          <a:ahLst/>
          <a:cxnLst/>
          <a:rect l="0" t="0" r="0" b="0"/>
          <a:pathLst>
            <a:path>
              <a:moveTo>
                <a:pt x="0" y="0"/>
              </a:moveTo>
              <a:lnTo>
                <a:pt x="0" y="71043"/>
              </a:lnTo>
              <a:lnTo>
                <a:pt x="409345" y="71043"/>
              </a:lnTo>
              <a:lnTo>
                <a:pt x="409345" y="14208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A2B9E0-A3F6-4A18-8690-35FECCE769D4}">
      <dsp:nvSpPr>
        <dsp:cNvPr id="0" name=""/>
        <dsp:cNvSpPr/>
      </dsp:nvSpPr>
      <dsp:spPr>
        <a:xfrm>
          <a:off x="1158615" y="824062"/>
          <a:ext cx="409345" cy="142086"/>
        </a:xfrm>
        <a:custGeom>
          <a:avLst/>
          <a:gdLst/>
          <a:ahLst/>
          <a:cxnLst/>
          <a:rect l="0" t="0" r="0" b="0"/>
          <a:pathLst>
            <a:path>
              <a:moveTo>
                <a:pt x="409345" y="0"/>
              </a:moveTo>
              <a:lnTo>
                <a:pt x="409345" y="71043"/>
              </a:lnTo>
              <a:lnTo>
                <a:pt x="0" y="71043"/>
              </a:lnTo>
              <a:lnTo>
                <a:pt x="0" y="14208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95C638-B274-49D2-BB20-22EB1D17D984}">
      <dsp:nvSpPr>
        <dsp:cNvPr id="0" name=""/>
        <dsp:cNvSpPr/>
      </dsp:nvSpPr>
      <dsp:spPr>
        <a:xfrm>
          <a:off x="339924" y="824062"/>
          <a:ext cx="1228037" cy="142086"/>
        </a:xfrm>
        <a:custGeom>
          <a:avLst/>
          <a:gdLst/>
          <a:ahLst/>
          <a:cxnLst/>
          <a:rect l="0" t="0" r="0" b="0"/>
          <a:pathLst>
            <a:path>
              <a:moveTo>
                <a:pt x="1228037" y="0"/>
              </a:moveTo>
              <a:lnTo>
                <a:pt x="1228037" y="71043"/>
              </a:lnTo>
              <a:lnTo>
                <a:pt x="0" y="71043"/>
              </a:lnTo>
              <a:lnTo>
                <a:pt x="0" y="14208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249771-8CF4-4442-B0BB-829E91EF08AB}">
      <dsp:nvSpPr>
        <dsp:cNvPr id="0" name=""/>
        <dsp:cNvSpPr/>
      </dsp:nvSpPr>
      <dsp:spPr>
        <a:xfrm>
          <a:off x="1229659" y="485760"/>
          <a:ext cx="676604" cy="33830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Knowledge</a:t>
          </a:r>
        </a:p>
      </dsp:txBody>
      <dsp:txXfrm>
        <a:off x="1229659" y="485760"/>
        <a:ext cx="676604" cy="338302"/>
      </dsp:txXfrm>
    </dsp:sp>
    <dsp:sp modelId="{9421A674-49EA-4EB6-998B-F67D77349B8E}">
      <dsp:nvSpPr>
        <dsp:cNvPr id="0" name=""/>
        <dsp:cNvSpPr/>
      </dsp:nvSpPr>
      <dsp:spPr>
        <a:xfrm>
          <a:off x="1622" y="966149"/>
          <a:ext cx="676604" cy="33830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Accumulated</a:t>
          </a:r>
        </a:p>
      </dsp:txBody>
      <dsp:txXfrm>
        <a:off x="1622" y="966149"/>
        <a:ext cx="676604" cy="338302"/>
      </dsp:txXfrm>
    </dsp:sp>
    <dsp:sp modelId="{9891C1EA-7F1A-4074-BBC8-17E841700332}">
      <dsp:nvSpPr>
        <dsp:cNvPr id="0" name=""/>
        <dsp:cNvSpPr/>
      </dsp:nvSpPr>
      <dsp:spPr>
        <a:xfrm>
          <a:off x="820313" y="966149"/>
          <a:ext cx="676604" cy="33830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Transferred</a:t>
          </a:r>
        </a:p>
      </dsp:txBody>
      <dsp:txXfrm>
        <a:off x="820313" y="966149"/>
        <a:ext cx="676604" cy="338302"/>
      </dsp:txXfrm>
    </dsp:sp>
    <dsp:sp modelId="{71A1EAE2-1198-40DD-9EFC-C0DB6D37ECC3}">
      <dsp:nvSpPr>
        <dsp:cNvPr id="0" name=""/>
        <dsp:cNvSpPr/>
      </dsp:nvSpPr>
      <dsp:spPr>
        <a:xfrm>
          <a:off x="1639004" y="966149"/>
          <a:ext cx="676604" cy="33830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Preserved</a:t>
          </a:r>
        </a:p>
      </dsp:txBody>
      <dsp:txXfrm>
        <a:off x="1639004" y="966149"/>
        <a:ext cx="676604" cy="338302"/>
      </dsp:txXfrm>
    </dsp:sp>
    <dsp:sp modelId="{DC3676BA-3E92-4BE7-A2D2-A3F339B9FDB8}">
      <dsp:nvSpPr>
        <dsp:cNvPr id="0" name=""/>
        <dsp:cNvSpPr/>
      </dsp:nvSpPr>
      <dsp:spPr>
        <a:xfrm>
          <a:off x="2457696" y="966149"/>
          <a:ext cx="676604" cy="338302"/>
        </a:xfrm>
        <a:prstGeom prst="rect">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Disappear</a:t>
          </a:r>
        </a:p>
      </dsp:txBody>
      <dsp:txXfrm>
        <a:off x="2457696" y="966149"/>
        <a:ext cx="676604" cy="3383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5363E7-370E-491F-983D-D85606909675}">
      <dsp:nvSpPr>
        <dsp:cNvPr id="0" name=""/>
        <dsp:cNvSpPr/>
      </dsp:nvSpPr>
      <dsp:spPr>
        <a:xfrm rot="16200000">
          <a:off x="177723" y="-177723"/>
          <a:ext cx="1975159" cy="2330605"/>
        </a:xfrm>
        <a:prstGeom prst="round1Rect">
          <a:avLst/>
        </a:prstGeom>
        <a:blipFill rotWithShape="0">
          <a:blip xmlns:r="http://schemas.openxmlformats.org/officeDocument/2006/relationships" r:embed="rId1"/>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Integrated Circuit</a:t>
          </a:r>
        </a:p>
      </dsp:txBody>
      <dsp:txXfrm rot="5400000">
        <a:off x="-1" y="1"/>
        <a:ext cx="2330605" cy="1481369"/>
      </dsp:txXfrm>
    </dsp:sp>
    <dsp:sp modelId="{1F308693-84CC-4EA4-A6D0-183A6A3412B5}">
      <dsp:nvSpPr>
        <dsp:cNvPr id="0" name=""/>
        <dsp:cNvSpPr/>
      </dsp:nvSpPr>
      <dsp:spPr>
        <a:xfrm>
          <a:off x="2330605" y="0"/>
          <a:ext cx="2330605" cy="1975159"/>
        </a:xfrm>
        <a:prstGeom prst="round1Rect">
          <a:avLst/>
        </a:prstGeom>
        <a:blipFill rotWithShape="0">
          <a:blip xmlns:r="http://schemas.openxmlformats.org/officeDocument/2006/relationships" r:embed="rId2"/>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Weapon Parts</a:t>
          </a:r>
        </a:p>
      </dsp:txBody>
      <dsp:txXfrm>
        <a:off x="2330605" y="0"/>
        <a:ext cx="2330605" cy="1481369"/>
      </dsp:txXfrm>
    </dsp:sp>
    <dsp:sp modelId="{D8AAF0A8-5779-4655-877F-302D895D75FC}">
      <dsp:nvSpPr>
        <dsp:cNvPr id="0" name=""/>
        <dsp:cNvSpPr/>
      </dsp:nvSpPr>
      <dsp:spPr>
        <a:xfrm rot="10800000">
          <a:off x="0" y="1975159"/>
          <a:ext cx="2330605" cy="1975159"/>
        </a:xfrm>
        <a:prstGeom prst="round1Rect">
          <a:avLst/>
        </a:prstGeom>
        <a:blipFill rotWithShape="0">
          <a:blip xmlns:r="http://schemas.openxmlformats.org/officeDocument/2006/relationships" r:embed="rId3"/>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Computers</a:t>
          </a:r>
        </a:p>
      </dsp:txBody>
      <dsp:txXfrm rot="10800000">
        <a:off x="0" y="2468948"/>
        <a:ext cx="2330605" cy="1481369"/>
      </dsp:txXfrm>
    </dsp:sp>
    <dsp:sp modelId="{8E239CF8-83AC-42E7-8272-7384F6E83D32}">
      <dsp:nvSpPr>
        <dsp:cNvPr id="0" name=""/>
        <dsp:cNvSpPr/>
      </dsp:nvSpPr>
      <dsp:spPr>
        <a:xfrm rot="5400000">
          <a:off x="2508328" y="1775116"/>
          <a:ext cx="1975159" cy="2330605"/>
        </a:xfrm>
        <a:prstGeom prst="round1Rect">
          <a:avLst/>
        </a:prstGeom>
        <a:blipFill rotWithShape="0">
          <a:blip xmlns:r="http://schemas.openxmlformats.org/officeDocument/2006/relationships" r:embed="rId4"/>
          <a:stretch>
            <a:fillRect/>
          </a:stretch>
        </a:blip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Bovine Meat</a:t>
          </a:r>
        </a:p>
      </dsp:txBody>
      <dsp:txXfrm rot="-5400000">
        <a:off x="2330604" y="2446629"/>
        <a:ext cx="2330605" cy="1481369"/>
      </dsp:txXfrm>
    </dsp:sp>
    <dsp:sp modelId="{BA83025A-647A-4A28-85D9-CD6A787517EE}">
      <dsp:nvSpPr>
        <dsp:cNvPr id="0" name=""/>
        <dsp:cNvSpPr/>
      </dsp:nvSpPr>
      <dsp:spPr>
        <a:xfrm>
          <a:off x="1631423" y="1481369"/>
          <a:ext cx="1398363" cy="987579"/>
        </a:xfrm>
        <a:prstGeom prst="roundRect">
          <a:avLst/>
        </a:prstGeom>
        <a:solidFill>
          <a:schemeClr val="accent1">
            <a:tint val="60000"/>
            <a:hueOff val="0"/>
            <a:satOff val="0"/>
            <a:lumOff val="0"/>
            <a:alphaOff val="0"/>
          </a:schemeClr>
        </a:solidFill>
        <a:ln>
          <a:noFill/>
        </a:ln>
        <a:effectLst>
          <a:outerShdw blurRad="40000" dist="23000" dir="5400000" rotWithShape="0">
            <a:srgbClr val="000000">
              <a:alpha val="35000"/>
            </a:srgbClr>
          </a:outerShdw>
        </a:effectLst>
        <a:sp3d z="1524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Products</a:t>
          </a:r>
        </a:p>
        <a:p>
          <a:pPr marL="0" lvl="0" indent="0" algn="ctr" defTabSz="577850">
            <a:lnSpc>
              <a:spcPct val="90000"/>
            </a:lnSpc>
            <a:spcBef>
              <a:spcPct val="0"/>
            </a:spcBef>
            <a:spcAft>
              <a:spcPct val="35000"/>
            </a:spcAft>
            <a:buNone/>
          </a:pPr>
          <a:r>
            <a:rPr lang="en-US" sz="1300" b="1" kern="1200" dirty="0"/>
            <a:t>Connectedness</a:t>
          </a:r>
        </a:p>
      </dsp:txBody>
      <dsp:txXfrm>
        <a:off x="1679633" y="1529579"/>
        <a:ext cx="1301943" cy="891159"/>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27.emf"/><Relationship Id="rId7" Type="http://schemas.openxmlformats.org/officeDocument/2006/relationships/image" Target="../media/image31.emf"/><Relationship Id="rId2" Type="http://schemas.openxmlformats.org/officeDocument/2006/relationships/image" Target="../media/image26.emf"/><Relationship Id="rId1" Type="http://schemas.openxmlformats.org/officeDocument/2006/relationships/image" Target="../media/image25.emf"/><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[Greeting</a:t>
            </a:r>
            <a:r>
              <a:rPr lang="en-US" baseline="0" dirty="0"/>
              <a:t> the audience</a:t>
            </a:r>
            <a:r>
              <a:rPr lang="en-US" dirty="0"/>
              <a:t>] +</a:t>
            </a:r>
            <a:r>
              <a:rPr lang="en-US" baseline="0" dirty="0"/>
              <a:t> [Self-introduction] + Today we will present to you a set of useful economic and production analysis tools based on the concept of complexity, an idea first brought out by </a:t>
            </a:r>
            <a:r>
              <a:rPr lang="en" sz="1100" dirty="0" err="1">
                <a:solidFill>
                  <a:srgbClr val="000000"/>
                </a:solidFill>
                <a:highlight>
                  <a:srgbClr val="FFFFFF"/>
                </a:highlight>
                <a:latin typeface="Times New Roman"/>
                <a:ea typeface="Times New Roman"/>
                <a:cs typeface="Times New Roman"/>
                <a:sym typeface="Times New Roman"/>
              </a:rPr>
              <a:t>Hausmann</a:t>
            </a:r>
            <a:r>
              <a:rPr lang="en-US" sz="1100" dirty="0">
                <a:solidFill>
                  <a:srgbClr val="000000"/>
                </a:solidFill>
                <a:highlight>
                  <a:srgbClr val="FFFFFF"/>
                </a:highlight>
                <a:latin typeface="Times New Roman"/>
                <a:ea typeface="Times New Roman"/>
                <a:cs typeface="Times New Roman"/>
                <a:sym typeface="Times New Roman"/>
              </a:rPr>
              <a:t> and </a:t>
            </a:r>
            <a:r>
              <a:rPr lang="en" sz="1100" dirty="0">
                <a:solidFill>
                  <a:srgbClr val="000000"/>
                </a:solidFill>
                <a:highlight>
                  <a:srgbClr val="FFFFFF"/>
                </a:highlight>
                <a:latin typeface="Times New Roman"/>
                <a:ea typeface="Times New Roman"/>
                <a:cs typeface="Times New Roman"/>
                <a:sym typeface="Times New Roman"/>
              </a:rPr>
              <a:t>Hidalgo</a:t>
            </a:r>
            <a:r>
              <a:rPr lang="en-US" baseline="0" dirty="0"/>
              <a:t> in 2007.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After centuries of scientific exploration and technological progress, the world is tightly connected and steps into the era of globalization. However, we are also in an era of diversification. Affected by an increasing volume of international trade and other factors, countries are more specialized than ever in production and have diversified into distinct production patterns. National specialization begets diversity at global level. For geopolitical and historical reasons, countries are facing different economic obstacles and have developed their own strategic solution though trials. Governments are always in need of a reliable metric to assess their strategy so that they can make proper adjustment promptly. That’s the exact metric we aim to establish in the report, which uncovers the economic path countries goes through and puts forward macro-level strategies and contingency plans for governments.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The motivation is that complexity-based economic analysis offers a fair metric to evaluate countries’ development structure and provide us with useful information on their product spaces. We have also included a set of country reports in the appendix, using the example of a group of countries in the world to illustrate the ideas.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baseline="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475de84d53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475de84d53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today’s presentation</a:t>
            </a:r>
            <a:r>
              <a:rPr lang="en-US" baseline="0" dirty="0"/>
              <a:t> we will do an overview of our works by introducing the framework of economic complexity, conducting production analysis, outlining methods of production space design &amp; optimization, and evaluating the findings in a macro-level.</a:t>
            </a:r>
          </a:p>
          <a:p>
            <a:pPr marL="0" lvl="0" indent="0" algn="l" rtl="0">
              <a:spcBef>
                <a:spcPts val="0"/>
              </a:spcBef>
              <a:spcAft>
                <a:spcPts val="0"/>
              </a:spcAft>
              <a:buNone/>
            </a:pPr>
            <a:endParaRPr lang="en-US" baseline="0" dirty="0"/>
          </a:p>
          <a:p>
            <a:pPr marL="0" lvl="0" indent="0" algn="l" rtl="0">
              <a:spcBef>
                <a:spcPts val="0"/>
              </a:spcBef>
              <a:spcAft>
                <a:spcPts val="0"/>
              </a:spcAft>
              <a:buNone/>
            </a:pPr>
            <a:r>
              <a:rPr lang="en-US" dirty="0"/>
              <a:t>In specific, we examine the period of 2009-2014, from the perspective of Gross Domestic Production per Capita and product space. While GDP per Capita, the most popular monetary measure of the market value of all final goods and services produced divided by population, reflects countries’ production capability, it doesn’t take into account the structure of the product space. The product space is the set of industries a country has productive knowledge on, weighted by the relative abundance of such knowledge.  Or equivalently, we can define the product space as the set of products a country capable to produce. The structure of product space indicates the amount, quality and “shape” of productive knowledge amassed by countries. The product space determines the potential and sustainability of an economy, which can be exemplified by the prolonged challenges Arab oil exporting countries have been facing. Their heavy dependence on oil production and relative lack of other productive knowledge induce unemployment, vulnerability to oil prices changes, unsustainability of economic growth, and difficulty of shifting to high-end industries.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Countries have accumulated different production knowledge and industrial infrastructure. As a result, the underlying cost of developing an industry can vary extensively, while the profitability of investing in an unfamiliar product also differs to a great extent among countries. If a country doesn’t have a robust machinery manufacturing industry as support, it has to invest enormously to excel at developing high-end weapons.  If the productive knowledge imbedded in the industry can unlock the door blocking a country from a wide variety of products of higher complexity, the significance of the industry is far beyond the monetary benefits added up to the GDP per Capita.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475de84d53_0_9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475de84d53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With an increasing volume of international trade, countries are more specialized than ever in production and have diversified into distinct production patterns. Based on global export data available to us, in this report we examine countries’ growth paths and product spaces on a complexity level, during the period from 2009 to 2014. In today’s presentation we will dive into a couple of interesting and important topics.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We implement the Economic Complexity Index framework established in The Atlas of Economic Complexity Index Mapping Paths to Prosperity, by </a:t>
            </a:r>
            <a:r>
              <a:rPr lang="en" sz="1100" dirty="0" err="1">
                <a:solidFill>
                  <a:srgbClr val="000000"/>
                </a:solidFill>
                <a:highlight>
                  <a:srgbClr val="FFFFFF"/>
                </a:highlight>
                <a:latin typeface="Times New Roman"/>
                <a:ea typeface="Times New Roman"/>
                <a:cs typeface="Times New Roman"/>
                <a:sym typeface="Times New Roman"/>
              </a:rPr>
              <a:t>Hausmann</a:t>
            </a:r>
            <a:r>
              <a:rPr lang="en-US" sz="1100" dirty="0">
                <a:solidFill>
                  <a:srgbClr val="000000"/>
                </a:solidFill>
                <a:highlight>
                  <a:srgbClr val="FFFFFF"/>
                </a:highlight>
                <a:latin typeface="Times New Roman"/>
                <a:ea typeface="Times New Roman"/>
                <a:cs typeface="Times New Roman"/>
                <a:sym typeface="Times New Roman"/>
              </a:rPr>
              <a:t> and </a:t>
            </a:r>
            <a:r>
              <a:rPr lang="en" sz="1100" dirty="0">
                <a:solidFill>
                  <a:srgbClr val="000000"/>
                </a:solidFill>
                <a:highlight>
                  <a:srgbClr val="FFFFFF"/>
                </a:highlight>
                <a:latin typeface="Times New Roman"/>
                <a:ea typeface="Times New Roman"/>
                <a:cs typeface="Times New Roman"/>
                <a:sym typeface="Times New Roman"/>
              </a:rPr>
              <a:t>Hidalgo</a:t>
            </a:r>
            <a:r>
              <a:rPr lang="en-US" baseline="0" dirty="0"/>
              <a:t> in 2007, to evaluate the structure of product space and industries for countries, which are calculated as Economic Complexity Index (ECI) and Product Complexity Index (PCI), respectively. The specific mathematical definition and derivation will be discussed later 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We construct the ECI framework, derive optimal development strategy, and prove its relaxed optimality by contrasting it with the real-world development strategy. We put forward sequential development strategy for developing countries to optimize the expansion process of their product space. We also design sensitivity analysis and contingency plan to prepare developed and fast developing countries for upheavals in their product space, especially solutions to deal with a possible collapse of their cornerstone industries.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We attach the national report of fifteen characteristic countries to exemplify the metric and provide some intuition of what these countries are facing and how they resemble and differ from each other.  The path of economic development is rife with uncertainty and misleading signals. All strategies and description derived in national reports are not one hundred percent precise or determined. In fact, we will mention some key hindrance that engenders such bias later in this presentation. We hope our report can give politicians and scientists, especially those who have access to confidential national production data, some valuable reference on the effectiveness of economic development from a perspective of economic structure.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475de84d53_0_10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475de84d53_0_10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We’ll first provide you</a:t>
            </a:r>
            <a:r>
              <a:rPr lang="en-US" baseline="0" dirty="0"/>
              <a:t> with a framework of understanding our research works by summarizing and highlighting works done by </a:t>
            </a:r>
            <a:r>
              <a:rPr lang="en" sz="1100" dirty="0" err="1">
                <a:solidFill>
                  <a:srgbClr val="000000"/>
                </a:solidFill>
                <a:highlight>
                  <a:srgbClr val="FFFFFF"/>
                </a:highlight>
                <a:latin typeface="Times New Roman"/>
                <a:ea typeface="Times New Roman"/>
                <a:cs typeface="Times New Roman"/>
                <a:sym typeface="Times New Roman"/>
              </a:rPr>
              <a:t>Hausmann</a:t>
            </a:r>
            <a:r>
              <a:rPr lang="en-US" sz="1100" dirty="0">
                <a:solidFill>
                  <a:srgbClr val="000000"/>
                </a:solidFill>
                <a:highlight>
                  <a:srgbClr val="FFFFFF"/>
                </a:highlight>
                <a:latin typeface="Times New Roman"/>
                <a:ea typeface="Times New Roman"/>
                <a:cs typeface="Times New Roman"/>
                <a:sym typeface="Times New Roman"/>
              </a:rPr>
              <a:t> and </a:t>
            </a:r>
            <a:r>
              <a:rPr lang="en" sz="1100" dirty="0">
                <a:solidFill>
                  <a:srgbClr val="000000"/>
                </a:solidFill>
                <a:highlight>
                  <a:srgbClr val="FFFFFF"/>
                </a:highlight>
                <a:latin typeface="Times New Roman"/>
                <a:ea typeface="Times New Roman"/>
                <a:cs typeface="Times New Roman"/>
                <a:sym typeface="Times New Roman"/>
              </a:rPr>
              <a:t>Hidalgo</a:t>
            </a:r>
            <a:r>
              <a:rPr lang="en-US" baseline="0" dirty="0"/>
              <a:t> in 2007. In this part we will introduce to you the concepts of economic complexity, production matrix, diversity &amp; ubiquity, ECI &amp; PCI, proximity, distance and opportunity gains, all of which contribute greatly to our analysis afterwards.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first concept that we want to dive into, which is also the key idea throughout the whole research project is – “economic complexity”.</a:t>
            </a:r>
          </a:p>
          <a:p>
            <a:pPr marL="0" lvl="0" indent="0" algn="l" rtl="0">
              <a:spcBef>
                <a:spcPts val="0"/>
              </a:spcBef>
              <a:spcAft>
                <a:spcPts val="0"/>
              </a:spcAft>
              <a:buNone/>
            </a:pPr>
            <a:r>
              <a:rPr lang="en-US" dirty="0"/>
              <a:t>-As we all know, the globalization process makes the world-wide trade activities much more transparent than before. To maintain a competitive position in within the ”Global Market”, countries have to </a:t>
            </a:r>
          </a:p>
          <a:p>
            <a:pPr marL="0" lvl="0" indent="0" algn="l" rtl="0">
              <a:spcBef>
                <a:spcPts val="0"/>
              </a:spcBef>
              <a:spcAft>
                <a:spcPts val="0"/>
              </a:spcAft>
              <a:buNone/>
            </a:pPr>
            <a:r>
              <a:rPr lang="en-US" dirty="0"/>
              <a:t>Specialize in the productions areas where they have the most productive knowledge with. The global market and emerging international organizations allow the knowledge that’s held by the few to reach many. To help countries</a:t>
            </a:r>
          </a:p>
          <a:p>
            <a:pPr marL="0" lvl="0" indent="0" algn="l" rtl="0">
              <a:spcBef>
                <a:spcPts val="0"/>
              </a:spcBef>
              <a:spcAft>
                <a:spcPts val="0"/>
              </a:spcAft>
              <a:buNone/>
            </a:pPr>
            <a:r>
              <a:rPr lang="en-US" dirty="0"/>
              <a:t>make better production plans with the help of data present in the market, we did a thorough research on the topic of “economic complexity”</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latin typeface="Times New Roman" pitchFamily="18" charset="0"/>
                <a:cs typeface="Times New Roman" pitchFamily="18" charset="0"/>
              </a:rPr>
              <a:t>A quick side note, the uneven distribution of  productive knowledge is widening gap between rich and poor economies. The uneven distribution is expressed in the diversity and sophistication of products the economies produce.</a:t>
            </a:r>
            <a:endParaRPr lang="en-US" dirty="0"/>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latin typeface="Times New Roman" pitchFamily="18" charset="0"/>
                <a:cs typeface="Times New Roman" pitchFamily="18" charset="0"/>
              </a:rPr>
              <a:t>The complexity of an economy is related to the multiplicity of useful knowledge embedded in it. Economic complexity, therefore, is expressed in the composition of a country’s productive output and reflects the structure that emerges to hold and combine knowledge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latin typeface="Times New Roman" pitchFamily="18" charset="0"/>
              <a:cs typeface="Times New Roman" pitchFamily="18" charset="0"/>
            </a:endParaRPr>
          </a:p>
          <a:p>
            <a:pPr marL="0" lvl="0" indent="0" algn="l" rtl="0">
              <a:spcBef>
                <a:spcPts val="0"/>
              </a:spcBef>
              <a:spcAft>
                <a:spcPts val="0"/>
              </a:spcAft>
              <a:buNone/>
            </a:pPr>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start with.</a:t>
            </a:r>
          </a:p>
          <a:p>
            <a:pPr marL="0" lvl="0" indent="0" algn="l" rtl="0">
              <a:spcBef>
                <a:spcPts val="0"/>
              </a:spcBef>
              <a:spcAft>
                <a:spcPts val="0"/>
              </a:spcAft>
              <a:buNone/>
            </a:pPr>
            <a:r>
              <a:rPr lang="en-US" dirty="0"/>
              <a:t>-The two major types of productive knowledge are: Explicit Knowledge and Tacit Knowledge</a:t>
            </a:r>
          </a:p>
          <a:p>
            <a:pPr marL="0" lvl="0" indent="0" algn="l" rtl="0">
              <a:spcBef>
                <a:spcPts val="0"/>
              </a:spcBef>
              <a:spcAft>
                <a:spcPts val="0"/>
              </a:spcAft>
              <a:buNone/>
            </a:pPr>
            <a:r>
              <a:rPr lang="en-US" dirty="0"/>
              <a:t>-Explicit knowledge is relatively easier to transfer. Some examples I listed up here are: weather forecast, bus schedule, history of the buildings, etc. These information could be obtained through checking the website or asking others</a:t>
            </a:r>
          </a:p>
          <a:p>
            <a:pPr marL="0" lvl="0" indent="0" algn="l" rtl="0">
              <a:spcBef>
                <a:spcPts val="0"/>
              </a:spcBef>
              <a:spcAft>
                <a:spcPts val="0"/>
              </a:spcAft>
              <a:buNone/>
            </a:pPr>
            <a:r>
              <a:rPr lang="en-US" dirty="0"/>
              <a:t>-By contrast, tacit knowledge is much harder to transfer and it usually requires a systematic and time-consuming process to learn. Things like semiconductor manufacturing process and shell oil drilling techniques are really technical and cannot be learned within a short amount of time.</a:t>
            </a:r>
          </a:p>
          <a:p>
            <a:pPr marL="0" lvl="0" indent="0" algn="l" rtl="0">
              <a:spcBef>
                <a:spcPts val="0"/>
              </a:spcBef>
              <a:spcAft>
                <a:spcPts val="0"/>
              </a:spcAft>
              <a:buNone/>
            </a:pPr>
            <a:r>
              <a:rPr lang="en-US" dirty="0"/>
              <a:t>-For most of the countries, especially those that are still in developing phases, the biggest obstacle that they are facing is the lack of crucial tacit knowledge to improve its production complexity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a:t>
            </a:r>
            <a:r>
              <a:rPr lang="en-US" baseline="0" dirty="0"/>
              <a:t> fix cavities you must be able to identify them, remove the decayed material and replace it; To play baseball, you have to know how to catch, field and bat.</a:t>
            </a:r>
          </a:p>
          <a:p>
            <a:pPr marL="0" lvl="0" indent="0" algn="l" rtl="0">
              <a:spcBef>
                <a:spcPts val="0"/>
              </a:spcBef>
              <a:spcAft>
                <a:spcPts val="0"/>
              </a:spcAft>
              <a:buNone/>
            </a:pPr>
            <a:r>
              <a:rPr lang="en-US" baseline="0" dirty="0"/>
              <a:t>However, you don’t have to understand financial market to become a successful baseball player. And if you only know how to catch, you are not a qualified baseball player. It’s important that the chunk of knowledge each person acquires is relevant and internally coherent so that the person can perform a certain task.</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respond to the increasing knowledge and complexity of jobs,</a:t>
            </a:r>
            <a:r>
              <a:rPr lang="en-US" baseline="0" dirty="0"/>
              <a:t> t</a:t>
            </a:r>
            <a:r>
              <a:rPr lang="en-US" dirty="0"/>
              <a:t>he university</a:t>
            </a:r>
            <a:r>
              <a:rPr lang="en-US" baseline="0" dirty="0"/>
              <a:t> system doesn’t lengthen the time it takes to get a college degree. Instead the universities are splitting majors into more specific branches. For instance, breaking the natural philosophy into physics, chemistry, mathematics, etc. Moreover, the university is adding new subjects, such as financial engineering.</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sz="1100" b="0" i="0" u="none" strike="noStrike" cap="none" baseline="0" dirty="0">
                <a:solidFill>
                  <a:srgbClr val="000000"/>
                </a:solidFill>
                <a:latin typeface="Arial"/>
                <a:ea typeface="Arial"/>
                <a:cs typeface="Arial"/>
                <a:sym typeface="Arial"/>
              </a:rPr>
              <a:t>      The Bureau of Labor Statistics’ Standard Occupation Classification for 2010 lists 840 different occupations, including78 in healthcare, 16 in engineering, 35 kinds of scientists –in coarse categories such as “economists”, “physicists” and “chemists” – five types of artists, and eight kinds of designers. We can all imagine a much more nuanced classification in our respective fields. For instance, we could distinguish between economists that specialize in labor, trade, finance, development, industrial organization, macro and econometrics, among others. If we did this further disaggregation for all occupations, we would easily go into the tens of thousands. The only way that society can hold all of the knowledge we have is by distributing coherent pieces of it among individuals. It is the way the world adapts to expanding knowledge.</a:t>
            </a:r>
          </a:p>
          <a:p>
            <a:pPr>
              <a:buNone/>
            </a:pPr>
            <a:endParaRPr lang="en-US" sz="1100" b="0" i="0" u="none" strike="noStrike" cap="none" baseline="0" dirty="0">
              <a:solidFill>
                <a:srgbClr val="000000"/>
              </a:solidFill>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Most products, however, require more knowledge than</a:t>
            </a:r>
            <a:r>
              <a:rPr lang="en-US" baseline="0" dirty="0"/>
              <a:t> </a:t>
            </a:r>
            <a:r>
              <a:rPr lang="en-US" dirty="0"/>
              <a:t>can be mastered by any individual. Hence, those products</a:t>
            </a:r>
            <a:r>
              <a:rPr lang="en-US" baseline="0" dirty="0"/>
              <a:t> </a:t>
            </a:r>
            <a:r>
              <a:rPr lang="en-US" dirty="0"/>
              <a:t>require that individuals with different capabilities interact. </a:t>
            </a:r>
            <a:r>
              <a:rPr lang="en-US" b="0" i="1" dirty="0"/>
              <a:t>How can you make </a:t>
            </a:r>
            <a:r>
              <a:rPr lang="en-US" dirty="0"/>
              <a:t>a product that requires 100 different </a:t>
            </a:r>
            <a:r>
              <a:rPr lang="en-US" dirty="0" err="1"/>
              <a:t>personbytes</a:t>
            </a:r>
            <a:r>
              <a:rPr lang="en-US" dirty="0"/>
              <a:t>? </a:t>
            </a:r>
            <a:r>
              <a:rPr lang="en-US" dirty="0" err="1"/>
              <a:t>Obviously,it</a:t>
            </a:r>
            <a:r>
              <a:rPr lang="en-US" dirty="0"/>
              <a:t> cannot be made by a micro-entrepreneur working on her own. It has to be made either by an organization with at least 100 individuals (with a different </a:t>
            </a:r>
            <a:r>
              <a:rPr lang="en-US" dirty="0" err="1"/>
              <a:t>personbyte</a:t>
            </a:r>
            <a:r>
              <a:rPr lang="en-US" dirty="0"/>
              <a:t> each), or</a:t>
            </a:r>
          </a:p>
          <a:p>
            <a:r>
              <a:rPr lang="en-US" dirty="0"/>
              <a:t>by a network of organizations that can aggregate these 100 </a:t>
            </a:r>
            <a:r>
              <a:rPr lang="en-US" dirty="0" err="1"/>
              <a:t>personbytes</a:t>
            </a:r>
            <a:r>
              <a:rPr lang="en-US" dirty="0"/>
              <a:t> of knowledge. How can a society hold a kilo-mega- or </a:t>
            </a:r>
            <a:r>
              <a:rPr lang="en-US" dirty="0" err="1"/>
              <a:t>giga-personbyte</a:t>
            </a:r>
            <a:r>
              <a:rPr lang="en-US" dirty="0"/>
              <a:t>? Only through a deep division of labor, in which individuals become experts in small pieces of the available knowledge and then aggregate their </a:t>
            </a:r>
            <a:r>
              <a:rPr lang="en-US" dirty="0" err="1"/>
              <a:t>personbytes</a:t>
            </a:r>
            <a:r>
              <a:rPr lang="en-US" dirty="0"/>
              <a:t> into </a:t>
            </a:r>
            <a:r>
              <a:rPr lang="en-US" i="1" dirty="0" err="1"/>
              <a:t>peoplebytes</a:t>
            </a:r>
            <a:r>
              <a:rPr lang="en-US" i="1" dirty="0"/>
              <a:t> through organizations and markets.</a:t>
            </a:r>
          </a:p>
          <a:p>
            <a:pPr>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	For example, to make a shirt you need to design it, procure the fabric, cut it, sew it, pack it, brand it, market it and distribute it. In a firm that manufactures shirts, expertise in each of these knowledge chunks will be held by different people. And shirts require all of them. Moreover, you need to finance the operation, hire the relevant people, coordinate all the activities and negotiate everybody’s buy-in, which in itself require different kinds of knowhow. We can say that putting together this operation requires </a:t>
            </a:r>
            <a:r>
              <a:rPr lang="en-US" i="1" dirty="0"/>
              <a:t>know-who </a:t>
            </a:r>
            <a:r>
              <a:rPr lang="en-US" dirty="0"/>
              <a:t>and </a:t>
            </a:r>
            <a:r>
              <a:rPr lang="en-US" i="1" dirty="0"/>
              <a:t>know-where. Know-who can be thought of as knowledge</a:t>
            </a:r>
            <a:r>
              <a:rPr lang="en-US" i="1" baseline="0" dirty="0"/>
              <a:t> </a:t>
            </a:r>
            <a:r>
              <a:rPr lang="en-US" dirty="0"/>
              <a:t>of who has the requisite chunks of knowledge, and</a:t>
            </a:r>
            <a:r>
              <a:rPr lang="en-US" baseline="0" dirty="0"/>
              <a:t> </a:t>
            </a:r>
            <a:r>
              <a:rPr lang="en-US" dirty="0"/>
              <a:t>know-where as knowledge of where the people and organizations that have this knowledge are located. To make shirts, you can import the fabric and access the knowledge about looms and threading that is embedded in a piece of cloth. Yet some of the knowledge required cannot be accessed through shipped inputs. The people with the relevant knowledge must be near the place where shirts are made</a:t>
            </a:r>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game of scrabble is a useful analogy. In scrabble, players</a:t>
            </a:r>
          </a:p>
          <a:p>
            <a:pPr marL="0" lvl="0" indent="0" algn="l" rtl="0">
              <a:spcBef>
                <a:spcPts val="0"/>
              </a:spcBef>
              <a:spcAft>
                <a:spcPts val="0"/>
              </a:spcAft>
              <a:buNone/>
            </a:pPr>
            <a:r>
              <a:rPr lang="en-US" dirty="0"/>
              <a:t>use tiles containing single letters to make words. For instance,</a:t>
            </a:r>
          </a:p>
          <a:p>
            <a:pPr marL="0" lvl="0" indent="0" algn="l" rtl="0">
              <a:spcBef>
                <a:spcPts val="0"/>
              </a:spcBef>
              <a:spcAft>
                <a:spcPts val="0"/>
              </a:spcAft>
              <a:buNone/>
            </a:pPr>
            <a:r>
              <a:rPr lang="en-US" dirty="0"/>
              <a:t>a player can use the tiles R, A and C to construct the</a:t>
            </a:r>
          </a:p>
          <a:p>
            <a:pPr marL="0" lvl="0" indent="0" algn="l" rtl="0">
              <a:spcBef>
                <a:spcPts val="0"/>
              </a:spcBef>
              <a:spcAft>
                <a:spcPts val="0"/>
              </a:spcAft>
              <a:buNone/>
            </a:pPr>
            <a:r>
              <a:rPr lang="en-US" dirty="0"/>
              <a:t>word CAR or ARC. In this analogy, each product is represented</a:t>
            </a:r>
          </a:p>
          <a:p>
            <a:pPr marL="0" lvl="0" indent="0" algn="l" rtl="0">
              <a:spcBef>
                <a:spcPts val="0"/>
              </a:spcBef>
              <a:spcAft>
                <a:spcPts val="0"/>
              </a:spcAft>
              <a:buNone/>
            </a:pPr>
            <a:r>
              <a:rPr lang="en-US" dirty="0"/>
              <a:t>by a word, and each capability, or module of embedded</a:t>
            </a:r>
          </a:p>
          <a:p>
            <a:pPr marL="0" lvl="0" indent="0" algn="l" rtl="0">
              <a:spcBef>
                <a:spcPts val="0"/>
              </a:spcBef>
              <a:spcAft>
                <a:spcPts val="0"/>
              </a:spcAft>
              <a:buNone/>
            </a:pPr>
            <a:r>
              <a:rPr lang="en-US" dirty="0"/>
              <a:t>knowledge, is represented by a letter. We assume that</a:t>
            </a:r>
          </a:p>
          <a:p>
            <a:pPr marL="0" lvl="0" indent="0" algn="l" rtl="0">
              <a:spcBef>
                <a:spcPts val="0"/>
              </a:spcBef>
              <a:spcAft>
                <a:spcPts val="0"/>
              </a:spcAft>
              <a:buNone/>
            </a:pPr>
            <a:r>
              <a:rPr lang="en-US" dirty="0"/>
              <a:t>each player has plenty of copies of the letters they have. Our</a:t>
            </a:r>
          </a:p>
          <a:p>
            <a:pPr marL="0" lvl="0" indent="0" algn="l" rtl="0">
              <a:spcBef>
                <a:spcPts val="0"/>
              </a:spcBef>
              <a:spcAft>
                <a:spcPts val="0"/>
              </a:spcAft>
              <a:buNone/>
            </a:pPr>
            <a:r>
              <a:rPr lang="en-US" dirty="0"/>
              <a:t>measure of economic complexity corresponds to estimating</a:t>
            </a:r>
          </a:p>
          <a:p>
            <a:pPr marL="0" lvl="0" indent="0" algn="l" rtl="0">
              <a:spcBef>
                <a:spcPts val="0"/>
              </a:spcBef>
              <a:spcAft>
                <a:spcPts val="0"/>
              </a:spcAft>
              <a:buNone/>
            </a:pPr>
            <a:r>
              <a:rPr lang="en-US" dirty="0"/>
              <a:t>what fraction of the alphabet a player possesses, knowing</a:t>
            </a:r>
          </a:p>
          <a:p>
            <a:pPr marL="0" lvl="0" indent="0" algn="l" rtl="0">
              <a:spcBef>
                <a:spcPts val="0"/>
              </a:spcBef>
              <a:spcAft>
                <a:spcPts val="0"/>
              </a:spcAft>
              <a:buNone/>
            </a:pPr>
            <a:r>
              <a:rPr lang="en-US" dirty="0"/>
              <a:t>only how many words he or she can make, and how many</a:t>
            </a:r>
          </a:p>
          <a:p>
            <a:pPr marL="0" lvl="0" indent="0" algn="l" rtl="0">
              <a:spcBef>
                <a:spcPts val="0"/>
              </a:spcBef>
              <a:spcAft>
                <a:spcPts val="0"/>
              </a:spcAft>
              <a:buNone/>
            </a:pPr>
            <a:r>
              <a:rPr lang="en-US" dirty="0"/>
              <a:t>other players can also make those same words.</a:t>
            </a:r>
          </a:p>
          <a:p>
            <a:pPr marL="0" lvl="0" indent="0" algn="l" rtl="0">
              <a:spcBef>
                <a:spcPts val="0"/>
              </a:spcBef>
              <a:spcAft>
                <a:spcPts val="0"/>
              </a:spcAft>
              <a:buNone/>
            </a:pPr>
            <a:r>
              <a:rPr lang="en-US" dirty="0"/>
              <a:t>Players who have more letters will be able to make more</a:t>
            </a:r>
          </a:p>
          <a:p>
            <a:pPr marL="0" lvl="0" indent="0" algn="l" rtl="0">
              <a:spcBef>
                <a:spcPts val="0"/>
              </a:spcBef>
              <a:spcAft>
                <a:spcPts val="0"/>
              </a:spcAft>
              <a:buNone/>
            </a:pPr>
            <a:r>
              <a:rPr lang="en-US" dirty="0"/>
              <a:t>H words. So we can expect the diversity of words (products)</a:t>
            </a:r>
          </a:p>
          <a:p>
            <a:pPr marL="0" lvl="0" indent="0" algn="l" rtl="0">
              <a:spcBef>
                <a:spcPts val="0"/>
              </a:spcBef>
              <a:spcAft>
                <a:spcPts val="0"/>
              </a:spcAft>
              <a:buNone/>
            </a:pPr>
            <a:r>
              <a:rPr lang="en-US" dirty="0"/>
              <a:t>that a player (country) can make to be strongly related to the</a:t>
            </a:r>
          </a:p>
          <a:p>
            <a:pPr marL="0" lvl="0" indent="0" algn="l" rtl="0">
              <a:spcBef>
                <a:spcPts val="0"/>
              </a:spcBef>
              <a:spcAft>
                <a:spcPts val="0"/>
              </a:spcAft>
              <a:buNone/>
            </a:pPr>
            <a:r>
              <a:rPr lang="en-US" dirty="0"/>
              <a:t>number of letters (capabilities) that he (it) has. Long words</a:t>
            </a:r>
          </a:p>
          <a:p>
            <a:pPr marL="0" lvl="0" indent="0" algn="l" rtl="0">
              <a:spcBef>
                <a:spcPts val="0"/>
              </a:spcBef>
              <a:spcAft>
                <a:spcPts val="0"/>
              </a:spcAft>
              <a:buNone/>
            </a:pPr>
            <a:r>
              <a:rPr lang="en-US" dirty="0"/>
              <a:t>will tend to be rare, since they can only be put together by</a:t>
            </a:r>
          </a:p>
          <a:p>
            <a:pPr marL="0" lvl="0" indent="0" algn="l" rtl="0">
              <a:spcBef>
                <a:spcPts val="0"/>
              </a:spcBef>
              <a:spcAft>
                <a:spcPts val="0"/>
              </a:spcAft>
              <a:buNone/>
            </a:pPr>
            <a:r>
              <a:rPr lang="en-US" dirty="0"/>
              <a:t>players with many letters. Hence, the number of players</a:t>
            </a:r>
          </a:p>
          <a:p>
            <a:pPr marL="0" lvl="0" indent="0" algn="l" rtl="0">
              <a:spcBef>
                <a:spcPts val="0"/>
              </a:spcBef>
              <a:spcAft>
                <a:spcPts val="0"/>
              </a:spcAft>
              <a:buNone/>
            </a:pPr>
            <a:r>
              <a:rPr lang="en-US" dirty="0"/>
              <a:t>that can make a word tells us something about the variety</a:t>
            </a:r>
          </a:p>
          <a:p>
            <a:pPr marL="0" lvl="0" indent="0" algn="l" rtl="0">
              <a:spcBef>
                <a:spcPts val="0"/>
              </a:spcBef>
              <a:spcAft>
                <a:spcPts val="0"/>
              </a:spcAft>
              <a:buNone/>
            </a:pPr>
            <a:r>
              <a:rPr lang="en-US" dirty="0"/>
              <a:t>of letters each word requires: longer words tend to be less</a:t>
            </a:r>
          </a:p>
          <a:p>
            <a:pPr marL="0" lvl="0" indent="0" algn="l" rtl="0">
              <a:spcBef>
                <a:spcPts val="0"/>
              </a:spcBef>
              <a:spcAft>
                <a:spcPts val="0"/>
              </a:spcAft>
              <a:buNone/>
            </a:pPr>
            <a:r>
              <a:rPr lang="en-US" dirty="0"/>
              <a:t>ubiquitous, while shorter words tend to be more common.</a:t>
            </a:r>
          </a:p>
          <a:p>
            <a:pPr marL="0" lvl="0" indent="0" algn="l" rtl="0">
              <a:spcBef>
                <a:spcPts val="0"/>
              </a:spcBef>
              <a:spcAft>
                <a:spcPts val="0"/>
              </a:spcAft>
              <a:buNone/>
            </a:pPr>
            <a:r>
              <a:rPr lang="en-US" dirty="0"/>
              <a:t>Similarly, ubiquitous products are more likely to require few</a:t>
            </a:r>
          </a:p>
          <a:p>
            <a:pPr marL="0" lvl="0" indent="0" algn="l" rtl="0">
              <a:spcBef>
                <a:spcPts val="0"/>
              </a:spcBef>
              <a:spcAft>
                <a:spcPts val="0"/>
              </a:spcAft>
              <a:buNone/>
            </a:pPr>
            <a:r>
              <a:rPr lang="en-US" dirty="0"/>
              <a:t>capabilities, and less ubiquitous products are more likely to</a:t>
            </a:r>
          </a:p>
          <a:p>
            <a:pPr marL="0" lvl="0" indent="0" algn="l" rtl="0">
              <a:spcBef>
                <a:spcPts val="0"/>
              </a:spcBef>
              <a:spcAft>
                <a:spcPts val="0"/>
              </a:spcAft>
              <a:buNone/>
            </a:pPr>
            <a:r>
              <a:rPr lang="en-US" dirty="0"/>
              <a:t>require a large variety of capabilities.</a:t>
            </a:r>
          </a:p>
          <a:p>
            <a:pPr marL="0" lvl="0" indent="0" algn="l" rtl="0">
              <a:spcBef>
                <a:spcPts val="0"/>
              </a:spcBef>
              <a:spcAft>
                <a:spcPts val="0"/>
              </a:spcAft>
              <a:buNone/>
            </a:pPr>
            <a:r>
              <a:rPr lang="en-US" dirty="0"/>
              <a:t>Diversity and ubiquity are, respectively, crude approximations</a:t>
            </a:r>
          </a:p>
          <a:p>
            <a:pPr marL="0" lvl="0" indent="0" algn="l" rtl="0">
              <a:spcBef>
                <a:spcPts val="0"/>
              </a:spcBef>
              <a:spcAft>
                <a:spcPts val="0"/>
              </a:spcAft>
              <a:buNone/>
            </a:pPr>
            <a:r>
              <a:rPr lang="en-US" dirty="0"/>
              <a:t>of the variety of capabilities available in a country</a:t>
            </a:r>
          </a:p>
          <a:p>
            <a:pPr marL="0" lvl="0" indent="0" algn="l" rtl="0">
              <a:spcBef>
                <a:spcPts val="0"/>
              </a:spcBef>
              <a:spcAft>
                <a:spcPts val="0"/>
              </a:spcAft>
              <a:buNone/>
            </a:pPr>
            <a:r>
              <a:rPr lang="en-US" dirty="0"/>
              <a:t>or required by a product. Both of these mappings are affected</a:t>
            </a:r>
          </a:p>
          <a:p>
            <a:pPr marL="0" lvl="0" indent="0" algn="l" rtl="0">
              <a:spcBef>
                <a:spcPts val="0"/>
              </a:spcBef>
              <a:spcAft>
                <a:spcPts val="0"/>
              </a:spcAft>
              <a:buNone/>
            </a:pPr>
            <a:r>
              <a:rPr lang="en-US" dirty="0"/>
              <a:t>by the existence of rare letters, such as Q and X. For</a:t>
            </a:r>
          </a:p>
          <a:p>
            <a:pPr marL="0" lvl="0" indent="0" algn="l" rtl="0">
              <a:spcBef>
                <a:spcPts val="0"/>
              </a:spcBef>
              <a:spcAft>
                <a:spcPts val="0"/>
              </a:spcAft>
              <a:buNone/>
            </a:pPr>
            <a:r>
              <a:rPr lang="en-US" dirty="0"/>
              <a:t>instance, players holding rare letters will be able to put together</a:t>
            </a:r>
          </a:p>
          <a:p>
            <a:pPr marL="0" lvl="0" indent="0" algn="l" rtl="0">
              <a:spcBef>
                <a:spcPts val="0"/>
              </a:spcBef>
              <a:spcAft>
                <a:spcPts val="0"/>
              </a:spcAft>
              <a:buNone/>
            </a:pPr>
            <a:r>
              <a:rPr lang="en-US" dirty="0"/>
              <a:t>words that few other players can make, not because</a:t>
            </a:r>
          </a:p>
          <a:p>
            <a:pPr marL="0" lvl="0" indent="0" algn="l" rtl="0">
              <a:spcBef>
                <a:spcPts val="0"/>
              </a:spcBef>
              <a:spcAft>
                <a:spcPts val="0"/>
              </a:spcAft>
              <a:buNone/>
            </a:pPr>
            <a:r>
              <a:rPr lang="en-US" dirty="0"/>
              <a:t>they have many letters, but because the letters that they</a:t>
            </a:r>
          </a:p>
          <a:p>
            <a:pPr marL="0" lvl="0" indent="0" algn="l" rtl="0">
              <a:spcBef>
                <a:spcPts val="0"/>
              </a:spcBef>
              <a:spcAft>
                <a:spcPts val="0"/>
              </a:spcAft>
              <a:buNone/>
            </a:pPr>
            <a:r>
              <a:rPr lang="en-US" dirty="0"/>
              <a:t>have are rare. This is just like rare natural resources, such</a:t>
            </a:r>
          </a:p>
          <a:p>
            <a:pPr marL="0" lvl="0" indent="0" algn="l" rtl="0">
              <a:spcBef>
                <a:spcPts val="0"/>
              </a:spcBef>
              <a:spcAft>
                <a:spcPts val="0"/>
              </a:spcAft>
              <a:buNone/>
            </a:pPr>
            <a:r>
              <a:rPr lang="en-US" dirty="0"/>
              <a:t>as uranium or diamonds. Yet, we can see whether low ubiquity</a:t>
            </a:r>
          </a:p>
          <a:p>
            <a:pPr marL="0" lvl="0" indent="0" algn="l" rtl="0">
              <a:spcBef>
                <a:spcPts val="0"/>
              </a:spcBef>
              <a:spcAft>
                <a:spcPts val="0"/>
              </a:spcAft>
              <a:buNone/>
            </a:pPr>
            <a:r>
              <a:rPr lang="en-US" dirty="0"/>
              <a:t>originates in scarcity or complexity by looking at the</a:t>
            </a:r>
          </a:p>
          <a:p>
            <a:pPr marL="0" lvl="0" indent="0" algn="l" rtl="0">
              <a:spcBef>
                <a:spcPts val="0"/>
              </a:spcBef>
              <a:spcAft>
                <a:spcPts val="0"/>
              </a:spcAft>
              <a:buNone/>
            </a:pPr>
            <a:r>
              <a:rPr lang="en-US" dirty="0"/>
              <a:t>number of other words that the makers of rare words are</a:t>
            </a:r>
          </a:p>
          <a:p>
            <a:pPr marL="0" lvl="0" indent="0" algn="l" rtl="0">
              <a:spcBef>
                <a:spcPts val="0"/>
              </a:spcBef>
              <a:spcAft>
                <a:spcPts val="0"/>
              </a:spcAft>
              <a:buNone/>
            </a:pPr>
            <a:r>
              <a:rPr lang="en-US" dirty="0"/>
              <a:t>able to form. If these players can only make a few other</a:t>
            </a:r>
          </a:p>
          <a:p>
            <a:pPr marL="0" lvl="0" indent="0" algn="l" rtl="0">
              <a:spcBef>
                <a:spcPts val="0"/>
              </a:spcBef>
              <a:spcAft>
                <a:spcPts val="0"/>
              </a:spcAft>
              <a:buNone/>
            </a:pPr>
            <a:r>
              <a:rPr lang="en-US" dirty="0"/>
              <a:t>words, then it is likely that rarity explains the low ubiquity.</a:t>
            </a:r>
          </a:p>
          <a:p>
            <a:pPr marL="0" lvl="0" indent="0" algn="l" rtl="0">
              <a:spcBef>
                <a:spcPts val="0"/>
              </a:spcBef>
              <a:spcAft>
                <a:spcPts val="0"/>
              </a:spcAft>
              <a:buNone/>
            </a:pPr>
            <a:r>
              <a:rPr lang="en-US" dirty="0"/>
              <a:t>However, if the players that can make these rare words are,</a:t>
            </a:r>
          </a:p>
          <a:p>
            <a:pPr marL="0" lvl="0" indent="0" algn="l" rtl="0">
              <a:spcBef>
                <a:spcPts val="0"/>
              </a:spcBef>
              <a:spcAft>
                <a:spcPts val="0"/>
              </a:spcAft>
              <a:buNone/>
            </a:pPr>
            <a:r>
              <a:rPr lang="en-US" dirty="0"/>
              <a:t>in general, able to put together many other words, then it</a:t>
            </a:r>
          </a:p>
          <a:p>
            <a:pPr marL="0" lvl="0" indent="0" algn="l" rtl="0">
              <a:spcBef>
                <a:spcPts val="0"/>
              </a:spcBef>
              <a:spcAft>
                <a:spcPts val="0"/>
              </a:spcAft>
              <a:buNone/>
            </a:pPr>
            <a:r>
              <a:rPr lang="en-US" dirty="0"/>
              <a:t>is likely that the low ubiquity of the word reflects the fact</a:t>
            </a:r>
          </a:p>
          <a:p>
            <a:pPr marL="0" lvl="0" indent="0" algn="l" rtl="0">
              <a:spcBef>
                <a:spcPts val="0"/>
              </a:spcBef>
              <a:spcAft>
                <a:spcPts val="0"/>
              </a:spcAft>
              <a:buNone/>
            </a:pPr>
            <a:r>
              <a:rPr lang="en-US" dirty="0"/>
              <a:t>that it requires a large number of letters and not just a few</a:t>
            </a:r>
          </a:p>
          <a:p>
            <a:pPr marL="0" lvl="0" indent="0" algn="l" rtl="0">
              <a:spcBef>
                <a:spcPts val="0"/>
              </a:spcBef>
              <a:spcAft>
                <a:spcPts val="0"/>
              </a:spcAft>
              <a:buNone/>
            </a:pPr>
            <a:r>
              <a:rPr lang="en-US" dirty="0"/>
              <a:t>rare ones.</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t>-Through linear regression analysis results, we could observe that, economic complexity is the factor that contributes the most to the R-square, meaning that it is the most correlated with the economic development of a country compared to other universal indicators such as: </a:t>
            </a:r>
            <a:r>
              <a:rPr lang="en-US" dirty="0"/>
              <a:t>Political stability, rule of law and government effectiveness, etc. </a:t>
            </a:r>
          </a:p>
          <a:p>
            <a:pPr marL="0" lvl="0" indent="0" algn="l" rtl="0">
              <a:spcBef>
                <a:spcPts val="0"/>
              </a:spcBef>
              <a:spcAft>
                <a:spcPts val="0"/>
              </a:spcAft>
              <a:buNone/>
            </a:pPr>
            <a:r>
              <a:rPr lang="en-US" dirty="0"/>
              <a:t>-Such observation could solidify our argument that the research on this topic will help provide </a:t>
            </a:r>
            <a:r>
              <a:rPr lang="en-US" baseline="0" dirty="0"/>
              <a:t>some valuable reference on the effectiveness of economic development from a perspective of economic structure.</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a:t>
            </a:r>
            <a:r>
              <a:rPr lang="en-US" baseline="0" dirty="0"/>
              <a:t> expect GDP and ECI to be somehow correlated. We can also set them as the two dimensions within which we locate economies.</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For illustration purposes, consider the case of Ghana and</a:t>
            </a:r>
          </a:p>
          <a:p>
            <a:pPr marL="0" lvl="0" indent="0" algn="l" rtl="0">
              <a:spcBef>
                <a:spcPts val="0"/>
              </a:spcBef>
              <a:spcAft>
                <a:spcPts val="0"/>
              </a:spcAft>
              <a:buNone/>
            </a:pPr>
            <a:r>
              <a:rPr lang="en-US" dirty="0"/>
              <a:t>Thailand. Both countries had similar levels of schooling in</a:t>
            </a:r>
          </a:p>
          <a:p>
            <a:pPr marL="0" lvl="0" indent="0" algn="l" rtl="0">
              <a:spcBef>
                <a:spcPts val="0"/>
              </a:spcBef>
              <a:spcAft>
                <a:spcPts val="0"/>
              </a:spcAft>
              <a:buNone/>
            </a:pPr>
            <a:r>
              <a:rPr lang="en-US" dirty="0"/>
              <a:t>1970, but Ghana expanded education more vigorously than</a:t>
            </a:r>
          </a:p>
          <a:p>
            <a:pPr marL="0" lvl="0" indent="0" algn="l" rtl="0">
              <a:spcBef>
                <a:spcPts val="0"/>
              </a:spcBef>
              <a:spcAft>
                <a:spcPts val="0"/>
              </a:spcAft>
              <a:buNone/>
            </a:pPr>
            <a:r>
              <a:rPr lang="en-US" dirty="0"/>
              <a:t>Thailand in the subsequent 40 years. </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But </a:t>
            </a:r>
            <a:r>
              <a:rPr lang="en-US" dirty="0" err="1"/>
              <a:t>Ghana’seconomic</a:t>
            </a:r>
            <a:r>
              <a:rPr lang="en-US" dirty="0"/>
              <a:t> complexity and income stagnated as it remained</a:t>
            </a:r>
          </a:p>
          <a:p>
            <a:pPr marL="0" lvl="0" indent="0" algn="l" rtl="0">
              <a:spcBef>
                <a:spcPts val="0"/>
              </a:spcBef>
              <a:spcAft>
                <a:spcPts val="0"/>
              </a:spcAft>
              <a:buNone/>
            </a:pPr>
            <a:r>
              <a:rPr lang="en-US" dirty="0"/>
              <a:t>an exporter of cocoa, aluminum, fish and forest products.</a:t>
            </a:r>
          </a:p>
          <a:p>
            <a:pPr marL="0" lvl="0" indent="0" algn="l" rtl="0">
              <a:spcBef>
                <a:spcPts val="0"/>
              </a:spcBef>
              <a:spcAft>
                <a:spcPts val="0"/>
              </a:spcAft>
              <a:buNone/>
            </a:pPr>
            <a:r>
              <a:rPr lang="en-US" dirty="0"/>
              <a:t>By contrast, between 1970 and 1985 Thailand underwent</a:t>
            </a:r>
          </a:p>
          <a:p>
            <a:pPr marL="0" lvl="0" indent="0" algn="l" rtl="0">
              <a:spcBef>
                <a:spcPts val="0"/>
              </a:spcBef>
              <a:spcAft>
                <a:spcPts val="0"/>
              </a:spcAft>
              <a:buNone/>
            </a:pPr>
            <a:r>
              <a:rPr lang="en-US" dirty="0"/>
              <a:t>a massive increase in economic complexity, equivalent to</a:t>
            </a:r>
          </a:p>
          <a:p>
            <a:pPr marL="0" lvl="0" indent="0" algn="l" rtl="0">
              <a:spcBef>
                <a:spcPts val="0"/>
              </a:spcBef>
              <a:spcAft>
                <a:spcPts val="0"/>
              </a:spcAft>
              <a:buNone/>
            </a:pPr>
            <a:r>
              <a:rPr lang="en-US" dirty="0"/>
              <a:t>a change of one standard deviation in the Economic Complexity</a:t>
            </a:r>
          </a:p>
          <a:p>
            <a:pPr marL="0" lvl="0" indent="0" algn="l" rtl="0">
              <a:spcBef>
                <a:spcPts val="0"/>
              </a:spcBef>
              <a:spcAft>
                <a:spcPts val="0"/>
              </a:spcAft>
              <a:buNone/>
            </a:pPr>
            <a:r>
              <a:rPr lang="en-US" dirty="0"/>
              <a:t>Index. This caused a sustained economic</a:t>
            </a:r>
          </a:p>
          <a:p>
            <a:pPr marL="0" lvl="0" indent="0" algn="l" rtl="0">
              <a:spcBef>
                <a:spcPts val="0"/>
              </a:spcBef>
              <a:spcAft>
                <a:spcPts val="0"/>
              </a:spcAft>
              <a:buNone/>
            </a:pPr>
            <a:r>
              <a:rPr lang="en-US" dirty="0"/>
              <a:t>boom in Thailand after 1985. As a consequence, the level of</a:t>
            </a:r>
          </a:p>
          <a:p>
            <a:pPr marL="0" lvl="0" indent="0" algn="l" rtl="0">
              <a:spcBef>
                <a:spcPts val="0"/>
              </a:spcBef>
              <a:spcAft>
                <a:spcPts val="0"/>
              </a:spcAft>
              <a:buNone/>
            </a:pPr>
            <a:r>
              <a:rPr lang="en-US" dirty="0"/>
              <a:t>income per capita between Ghana and Thailand has since</a:t>
            </a:r>
          </a:p>
          <a:p>
            <a:pPr marL="0" lvl="0" indent="0" algn="l" rtl="0">
              <a:spcBef>
                <a:spcPts val="0"/>
              </a:spcBef>
              <a:spcAft>
                <a:spcPts val="0"/>
              </a:spcAft>
              <a:buNone/>
            </a:pPr>
            <a:r>
              <a:rPr lang="en-US" dirty="0"/>
              <a:t>diverged dramatically.</a:t>
            </a:r>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Next, we measure these indicators’ ability to predict future</a:t>
            </a:r>
          </a:p>
          <a:p>
            <a:pPr marL="0" lvl="0" indent="0" algn="l" rtl="0">
              <a:spcBef>
                <a:spcPts val="0"/>
              </a:spcBef>
              <a:spcAft>
                <a:spcPts val="0"/>
              </a:spcAft>
              <a:buNone/>
            </a:pPr>
            <a:r>
              <a:rPr lang="en-US" dirty="0"/>
              <a:t>economic growth, using the same technique that we</a:t>
            </a:r>
          </a:p>
          <a:p>
            <a:pPr marL="0" lvl="0" indent="0" algn="l" rtl="0">
              <a:spcBef>
                <a:spcPts val="0"/>
              </a:spcBef>
              <a:spcAft>
                <a:spcPts val="0"/>
              </a:spcAft>
              <a:buNone/>
            </a:pPr>
            <a:r>
              <a:rPr lang="en-US" dirty="0"/>
              <a:t>employed to compare ECI to the WGIs</a:t>
            </a:r>
          </a:p>
          <a:p>
            <a:pPr marL="0" lvl="0" indent="0" algn="l" rtl="0">
              <a:spcBef>
                <a:spcPts val="0"/>
              </a:spcBef>
              <a:spcAft>
                <a:spcPts val="0"/>
              </a:spcAft>
              <a:buNone/>
            </a:pPr>
            <a:r>
              <a:rPr lang="en-US" dirty="0"/>
              <a:t>We begin by looking at the relationship between education,</a:t>
            </a:r>
          </a:p>
          <a:p>
            <a:pPr marL="0" lvl="0" indent="0" algn="l" rtl="0">
              <a:spcBef>
                <a:spcPts val="0"/>
              </a:spcBef>
              <a:spcAft>
                <a:spcPts val="0"/>
              </a:spcAft>
              <a:buNone/>
            </a:pPr>
            <a:r>
              <a:rPr lang="en-US" dirty="0"/>
              <a:t>complexity and a country’s level of income per capita. While</a:t>
            </a:r>
          </a:p>
          <a:p>
            <a:pPr marL="0" lvl="0" indent="0" algn="l" rtl="0">
              <a:spcBef>
                <a:spcPts val="0"/>
              </a:spcBef>
              <a:spcAft>
                <a:spcPts val="0"/>
              </a:spcAft>
              <a:buNone/>
            </a:pPr>
            <a:r>
              <a:rPr lang="en-US" dirty="0"/>
              <a:t>data on years of schooling and school enrollment is available</a:t>
            </a:r>
          </a:p>
          <a:p>
            <a:pPr marL="0" lvl="0" indent="0" algn="l" rtl="0">
              <a:spcBef>
                <a:spcPts val="0"/>
              </a:spcBef>
              <a:spcAft>
                <a:spcPts val="0"/>
              </a:spcAft>
              <a:buNone/>
            </a:pPr>
            <a:r>
              <a:rPr lang="en-US" dirty="0"/>
              <a:t>for several years, the data on educational quality exists</a:t>
            </a:r>
          </a:p>
          <a:p>
            <a:pPr marL="0" lvl="0" indent="0" algn="l" rtl="0">
              <a:spcBef>
                <a:spcPts val="0"/>
              </a:spcBef>
              <a:spcAft>
                <a:spcPts val="0"/>
              </a:spcAft>
              <a:buNone/>
            </a:pPr>
            <a:r>
              <a:rPr lang="en-US" dirty="0"/>
              <a:t>only for a cross-section of countries around the year 2000.</a:t>
            </a:r>
          </a:p>
          <a:p>
            <a:pPr marL="0" lvl="0" indent="0" algn="l" rtl="0">
              <a:spcBef>
                <a:spcPts val="0"/>
              </a:spcBef>
              <a:spcAft>
                <a:spcPts val="0"/>
              </a:spcAft>
              <a:buNone/>
            </a:pPr>
            <a:r>
              <a:rPr lang="en-US" dirty="0"/>
              <a:t>We use the data for this year to estimate equations where</a:t>
            </a:r>
          </a:p>
          <a:p>
            <a:pPr marL="0" lvl="0" indent="0" algn="l" rtl="0">
              <a:spcBef>
                <a:spcPts val="0"/>
              </a:spcBef>
              <a:spcAft>
                <a:spcPts val="0"/>
              </a:spcAft>
              <a:buNone/>
            </a:pPr>
            <a:r>
              <a:rPr lang="en-US" dirty="0"/>
              <a:t>the dependent variable is the level of income per capita</a:t>
            </a:r>
          </a:p>
          <a:p>
            <a:pPr marL="0" lvl="0" indent="0" algn="l" rtl="0">
              <a:spcBef>
                <a:spcPts val="0"/>
              </a:spcBef>
              <a:spcAft>
                <a:spcPts val="0"/>
              </a:spcAft>
              <a:buNone/>
            </a:pPr>
            <a:r>
              <a:rPr lang="en-US" dirty="0"/>
              <a:t>and the independent variables are the years of schooling of</a:t>
            </a:r>
          </a:p>
          <a:p>
            <a:pPr marL="0" lvl="0" indent="0" algn="l" rtl="0">
              <a:spcBef>
                <a:spcPts val="0"/>
              </a:spcBef>
              <a:spcAft>
                <a:spcPts val="0"/>
              </a:spcAft>
              <a:buNone/>
            </a:pPr>
            <a:r>
              <a:rPr lang="en-US" dirty="0"/>
              <a:t>the labor force, the </a:t>
            </a:r>
            <a:r>
              <a:rPr lang="en-US" dirty="0" err="1"/>
              <a:t>Hanushek</a:t>
            </a:r>
            <a:r>
              <a:rPr lang="en-US" dirty="0"/>
              <a:t> and </a:t>
            </a:r>
            <a:r>
              <a:rPr lang="en-US" dirty="0" err="1"/>
              <a:t>Woessmann</a:t>
            </a:r>
            <a:r>
              <a:rPr lang="en-US" dirty="0"/>
              <a:t> measure of</a:t>
            </a:r>
          </a:p>
          <a:p>
            <a:pPr marL="0" lvl="0" indent="0" algn="l" rtl="0">
              <a:spcBef>
                <a:spcPts val="0"/>
              </a:spcBef>
              <a:spcAft>
                <a:spcPts val="0"/>
              </a:spcAft>
              <a:buNone/>
            </a:pPr>
            <a:r>
              <a:rPr lang="en-US" dirty="0"/>
              <a:t>cognitive ability, and the ECI. We do not use school enrollment</a:t>
            </a:r>
          </a:p>
          <a:p>
            <a:pPr marL="0" lvl="0" indent="0" algn="l" rtl="0">
              <a:spcBef>
                <a:spcPts val="0"/>
              </a:spcBef>
              <a:spcAft>
                <a:spcPts val="0"/>
              </a:spcAft>
              <a:buNone/>
            </a:pPr>
            <a:r>
              <a:rPr lang="en-US" dirty="0"/>
              <a:t>as this variable affects future human capital but not</a:t>
            </a:r>
          </a:p>
          <a:p>
            <a:pPr marL="0" lvl="0" indent="0" algn="l" rtl="0">
              <a:spcBef>
                <a:spcPts val="0"/>
              </a:spcBef>
              <a:spcAft>
                <a:spcPts val="0"/>
              </a:spcAft>
              <a:buNone/>
            </a:pPr>
            <a:r>
              <a:rPr lang="en-US" dirty="0"/>
              <a:t>the human capital invested in creating today’s income. The</a:t>
            </a:r>
          </a:p>
          <a:p>
            <a:pPr marL="0" lvl="0" indent="0" algn="l" rtl="0">
              <a:spcBef>
                <a:spcPts val="0"/>
              </a:spcBef>
              <a:spcAft>
                <a:spcPts val="0"/>
              </a:spcAft>
              <a:buNone/>
            </a:pPr>
            <a:r>
              <a:rPr lang="en-US" dirty="0"/>
              <a:t>results, presented in Figure 4.7, indicate that the Economic</a:t>
            </a:r>
          </a:p>
          <a:p>
            <a:pPr marL="0" lvl="0" indent="0" algn="l" rtl="0">
              <a:spcBef>
                <a:spcPts val="0"/>
              </a:spcBef>
              <a:spcAft>
                <a:spcPts val="0"/>
              </a:spcAft>
              <a:buNone/>
            </a:pPr>
            <a:r>
              <a:rPr lang="en-US" dirty="0"/>
              <a:t>Complexity Index explains 17.2 percent of the variance</a:t>
            </a:r>
          </a:p>
          <a:p>
            <a:pPr marL="0" lvl="0" indent="0" algn="l" rtl="0">
              <a:spcBef>
                <a:spcPts val="0"/>
              </a:spcBef>
              <a:spcAft>
                <a:spcPts val="0"/>
              </a:spcAft>
              <a:buNone/>
            </a:pPr>
            <a:r>
              <a:rPr lang="en-US" dirty="0"/>
              <a:t>while years of schooling and cognitive ability account for</a:t>
            </a:r>
          </a:p>
          <a:p>
            <a:pPr marL="0" lvl="0" indent="0" algn="l" rtl="0">
              <a:spcBef>
                <a:spcPts val="0"/>
              </a:spcBef>
              <a:spcAft>
                <a:spcPts val="0"/>
              </a:spcAft>
              <a:buNone/>
            </a:pPr>
            <a:r>
              <a:rPr lang="en-US" dirty="0"/>
              <a:t>only 3.6 percent of the variance when combined.</a:t>
            </a:r>
          </a:p>
          <a:p>
            <a:pPr marL="0" lvl="0" indent="0" algn="l" rtl="0">
              <a:spcBef>
                <a:spcPts val="0"/>
              </a:spcBef>
              <a:spcAft>
                <a:spcPts val="0"/>
              </a:spcAft>
              <a:buNone/>
            </a:pPr>
            <a:r>
              <a:rPr lang="en-US" dirty="0"/>
              <a:t>We also look at the ability of human capital and complexity</a:t>
            </a:r>
          </a:p>
          <a:p>
            <a:pPr marL="0" lvl="0" indent="0" algn="l" rtl="0">
              <a:spcBef>
                <a:spcPts val="0"/>
              </a:spcBef>
              <a:spcAft>
                <a:spcPts val="0"/>
              </a:spcAft>
              <a:buNone/>
            </a:pPr>
            <a:r>
              <a:rPr lang="en-US" dirty="0"/>
              <a:t>to explain future growth. To do this we follow a similar</a:t>
            </a:r>
          </a:p>
          <a:p>
            <a:pPr marL="0" lvl="0" indent="0" algn="l" rtl="0">
              <a:spcBef>
                <a:spcPts val="0"/>
              </a:spcBef>
              <a:spcAft>
                <a:spcPts val="0"/>
              </a:spcAft>
              <a:buNone/>
            </a:pPr>
            <a:r>
              <a:rPr lang="en-US" dirty="0"/>
              <a:t>methodology as before (see Technical Box 4.2). In this case,</a:t>
            </a:r>
          </a:p>
          <a:p>
            <a:pPr marL="0" lvl="0" indent="0" algn="l" rtl="0">
              <a:spcBef>
                <a:spcPts val="0"/>
              </a:spcBef>
              <a:spcAft>
                <a:spcPts val="0"/>
              </a:spcAft>
              <a:buNone/>
            </a:pPr>
            <a:r>
              <a:rPr lang="en-US" dirty="0"/>
              <a:t>we include data on school enrollment at the secondary and</a:t>
            </a:r>
          </a:p>
          <a:p>
            <a:pPr marL="0" lvl="0" indent="0" algn="l" rtl="0">
              <a:spcBef>
                <a:spcPts val="0"/>
              </a:spcBef>
              <a:spcAft>
                <a:spcPts val="0"/>
              </a:spcAft>
              <a:buNone/>
            </a:pPr>
            <a:r>
              <a:rPr lang="en-US" dirty="0"/>
              <a:t>tertiary levels as these would affect the years of schooling</a:t>
            </a:r>
          </a:p>
          <a:p>
            <a:pPr marL="0" lvl="0" indent="0" algn="l" rtl="0">
              <a:spcBef>
                <a:spcPts val="0"/>
              </a:spcBef>
              <a:spcAft>
                <a:spcPts val="0"/>
              </a:spcAft>
              <a:buNone/>
            </a:pPr>
            <a:r>
              <a:rPr lang="en-US" dirty="0"/>
              <a:t>of the labor force going forward. We do not include cognitive</a:t>
            </a:r>
          </a:p>
          <a:p>
            <a:pPr marL="0" lvl="0" indent="0" algn="l" rtl="0">
              <a:spcBef>
                <a:spcPts val="0"/>
              </a:spcBef>
              <a:spcAft>
                <a:spcPts val="0"/>
              </a:spcAft>
              <a:buNone/>
            </a:pPr>
            <a:r>
              <a:rPr lang="en-US" dirty="0"/>
              <a:t>ability as this variable exists only for a single year.</a:t>
            </a:r>
          </a:p>
          <a:p>
            <a:pPr marL="0" lvl="0" indent="0" algn="l" rtl="0">
              <a:spcBef>
                <a:spcPts val="0"/>
              </a:spcBef>
              <a:spcAft>
                <a:spcPts val="0"/>
              </a:spcAft>
              <a:buNone/>
            </a:pPr>
            <a:r>
              <a:rPr lang="en-US" dirty="0"/>
              <a:t>Figure 4.8 shows that economic complexity accounts for</a:t>
            </a:r>
          </a:p>
          <a:p>
            <a:pPr marL="0" lvl="0" indent="0" algn="l" rtl="0">
              <a:spcBef>
                <a:spcPts val="0"/>
              </a:spcBef>
              <a:spcAft>
                <a:spcPts val="0"/>
              </a:spcAft>
              <a:buNone/>
            </a:pPr>
            <a:r>
              <a:rPr lang="en-US" dirty="0"/>
              <a:t>12.1 percent of the variance in economic growth rates for</a:t>
            </a:r>
          </a:p>
          <a:p>
            <a:pPr marL="0" lvl="0" indent="0" algn="l" rtl="0">
              <a:spcBef>
                <a:spcPts val="0"/>
              </a:spcBef>
              <a:spcAft>
                <a:spcPts val="0"/>
              </a:spcAft>
              <a:buNone/>
            </a:pPr>
            <a:r>
              <a:rPr lang="en-US" dirty="0"/>
              <a:t>the three decades between 1978 and 2008. All education</a:t>
            </a:r>
          </a:p>
          <a:p>
            <a:pPr marL="0" lvl="0" indent="0" algn="l" rtl="0">
              <a:spcBef>
                <a:spcPts val="0"/>
              </a:spcBef>
              <a:spcAft>
                <a:spcPts val="0"/>
              </a:spcAft>
              <a:buNone/>
            </a:pPr>
            <a:r>
              <a:rPr lang="en-US" dirty="0"/>
              <a:t>variables, on the other hand, account only for 2.6 percent</a:t>
            </a:r>
          </a:p>
          <a:p>
            <a:pPr marL="0" lvl="0" indent="0" algn="l" rtl="0">
              <a:spcBef>
                <a:spcPts val="0"/>
              </a:spcBef>
              <a:spcAft>
                <a:spcPts val="0"/>
              </a:spcAft>
              <a:buNone/>
            </a:pPr>
            <a:r>
              <a:rPr lang="en-US" dirty="0"/>
              <a:t>when combined.</a:t>
            </a:r>
          </a:p>
          <a:p>
            <a:pPr marL="0" lvl="0" indent="0" algn="l" rtl="0">
              <a:spcBef>
                <a:spcPts val="0"/>
              </a:spcBef>
              <a:spcAft>
                <a:spcPts val="0"/>
              </a:spcAft>
              <a:buNone/>
            </a:pPr>
            <a:r>
              <a:rPr lang="en-US" dirty="0"/>
              <a:t>These results show that the Economic Complexity Index</a:t>
            </a:r>
          </a:p>
          <a:p>
            <a:pPr marL="0" lvl="0" indent="0" algn="l" rtl="0">
              <a:spcBef>
                <a:spcPts val="0"/>
              </a:spcBef>
              <a:spcAft>
                <a:spcPts val="0"/>
              </a:spcAft>
              <a:buNone/>
            </a:pPr>
            <a:r>
              <a:rPr lang="en-US" dirty="0"/>
              <a:t>contains information that is more directly related to a country’s</a:t>
            </a:r>
          </a:p>
          <a:p>
            <a:pPr marL="0" lvl="0" indent="0" algn="l" rtl="0">
              <a:spcBef>
                <a:spcPts val="0"/>
              </a:spcBef>
              <a:spcAft>
                <a:spcPts val="0"/>
              </a:spcAft>
              <a:buNone/>
            </a:pPr>
            <a:r>
              <a:rPr lang="en-US" dirty="0"/>
              <a:t>level of income and its future rate of growth than the</a:t>
            </a:r>
          </a:p>
          <a:p>
            <a:pPr marL="0" lvl="0" indent="0" algn="l" rtl="0">
              <a:spcBef>
                <a:spcPts val="0"/>
              </a:spcBef>
              <a:spcAft>
                <a:spcPts val="0"/>
              </a:spcAft>
              <a:buNone/>
            </a:pPr>
            <a:r>
              <a:rPr lang="en-US" dirty="0"/>
              <a:t>standard variables used to measure human capital.</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Finally, we look at measures of competitiveness. The most</a:t>
            </a:r>
          </a:p>
          <a:p>
            <a:pPr marL="0" lvl="0" indent="0" algn="l" rtl="0">
              <a:spcBef>
                <a:spcPts val="0"/>
              </a:spcBef>
              <a:spcAft>
                <a:spcPts val="0"/>
              </a:spcAft>
              <a:buNone/>
            </a:pPr>
            <a:r>
              <a:rPr lang="en-US" dirty="0"/>
              <a:t>respected source of these measures is the World Economic</a:t>
            </a:r>
          </a:p>
          <a:p>
            <a:pPr marL="0" lvl="0" indent="0" algn="l" rtl="0">
              <a:spcBef>
                <a:spcPts val="0"/>
              </a:spcBef>
              <a:spcAft>
                <a:spcPts val="0"/>
              </a:spcAft>
              <a:buNone/>
            </a:pPr>
            <a:r>
              <a:rPr lang="en-US" dirty="0"/>
              <a:t>Forum’s Global Competitiveness Index (GCI). The GCI has</a:t>
            </a:r>
          </a:p>
          <a:p>
            <a:pPr marL="0" lvl="0" indent="0" algn="l" rtl="0">
              <a:spcBef>
                <a:spcPts val="0"/>
              </a:spcBef>
              <a:spcAft>
                <a:spcPts val="0"/>
              </a:spcAft>
              <a:buNone/>
            </a:pPr>
            <a:r>
              <a:rPr lang="en-US" dirty="0"/>
              <a:t>been published since 1979. Over the course of more than</a:t>
            </a:r>
          </a:p>
          <a:p>
            <a:pPr marL="0" lvl="0" indent="0" algn="l" rtl="0">
              <a:spcBef>
                <a:spcPts val="0"/>
              </a:spcBef>
              <a:spcAft>
                <a:spcPts val="0"/>
              </a:spcAft>
              <a:buNone/>
            </a:pPr>
            <a:r>
              <a:rPr lang="en-US" dirty="0"/>
              <a:t>30 years, the coverage of the GCI has been expanded and</a:t>
            </a:r>
          </a:p>
          <a:p>
            <a:pPr marL="0" lvl="0" indent="0" algn="l" rtl="0">
              <a:spcBef>
                <a:spcPts val="0"/>
              </a:spcBef>
              <a:spcAft>
                <a:spcPts val="0"/>
              </a:spcAft>
              <a:buNone/>
            </a:pPr>
            <a:r>
              <a:rPr lang="en-US" dirty="0"/>
              <a:t>improved methodologically, going through two major revisions</a:t>
            </a:r>
          </a:p>
          <a:p>
            <a:pPr marL="0" lvl="0" indent="0" algn="l" rtl="0">
              <a:spcBef>
                <a:spcPts val="0"/>
              </a:spcBef>
              <a:spcAft>
                <a:spcPts val="0"/>
              </a:spcAft>
              <a:buNone/>
            </a:pPr>
            <a:r>
              <a:rPr lang="en-US" dirty="0"/>
              <a:t>in 2001 and 2006. By 1995, the GCR ranked less than</a:t>
            </a:r>
          </a:p>
          <a:p>
            <a:pPr marL="0" lvl="0" indent="0" algn="l" rtl="0">
              <a:spcBef>
                <a:spcPts val="0"/>
              </a:spcBef>
              <a:spcAft>
                <a:spcPts val="0"/>
              </a:spcAft>
              <a:buNone/>
            </a:pPr>
            <a:r>
              <a:rPr lang="en-US" dirty="0"/>
              <a:t>50 countries, but over the years this number has increased,</a:t>
            </a:r>
          </a:p>
          <a:p>
            <a:pPr marL="0" lvl="0" indent="0" algn="l" rtl="0">
              <a:spcBef>
                <a:spcPts val="0"/>
              </a:spcBef>
              <a:spcAft>
                <a:spcPts val="0"/>
              </a:spcAft>
              <a:buNone/>
            </a:pPr>
            <a:r>
              <a:rPr lang="en-US" dirty="0"/>
              <a:t>now reaching over 130 countries</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latin typeface="Times New Roman" pitchFamily="18" charset="0"/>
                <a:cs typeface="Times New Roman" pitchFamily="18" charset="0"/>
              </a:rPr>
              <a:t>Increased economic complexity is necessary for a society to be able to hold and use a larger amount of productive knowledge, and we can measure it from the mix of products that countries are able to make</a:t>
            </a:r>
          </a:p>
          <a:p>
            <a:pPr marL="0" lvl="0" indent="0" algn="l" rtl="0">
              <a:spcBef>
                <a:spcPts val="0"/>
              </a:spcBef>
              <a:spcAft>
                <a:spcPts val="0"/>
              </a:spcAft>
              <a:buNone/>
            </a:pPr>
            <a:r>
              <a:rPr lang="en-US" dirty="0"/>
              <a:t> That’s why we need to define production matrix</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second concept we want to dive into is the one called ”production matrix”. </a:t>
            </a:r>
          </a:p>
          <a:p>
            <a:pPr marL="0" lvl="0" indent="0" algn="l" rtl="0">
              <a:spcBef>
                <a:spcPts val="0"/>
              </a:spcBef>
              <a:spcAft>
                <a:spcPts val="0"/>
              </a:spcAft>
              <a:buNone/>
            </a:pPr>
            <a:r>
              <a:rPr lang="en-US" dirty="0"/>
              <a:t>-</a:t>
            </a:r>
            <a:r>
              <a:rPr lang="en-US" sz="1100" b="0" i="0" u="none" strike="noStrike" cap="none" dirty="0">
                <a:solidFill>
                  <a:srgbClr val="000000"/>
                </a:solidFill>
                <a:effectLst/>
                <a:latin typeface="Arial"/>
                <a:ea typeface="Arial"/>
                <a:cs typeface="Arial"/>
                <a:sym typeface="Arial"/>
              </a:rPr>
              <a:t>With no authoritative and universal data source regarding production by industries, we estimate the production by volume of export. However, export is affected by political, geographical and all kinds of factors, hence cannot precisely represent the production. A way to improve this will be ,if we could get the access to these resources, to replace the export by actual production dataset and that should enhance the performance of the metric to a great extent.</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-Instead if absolute advantage in production, we are more interested in the comparative advantage when we discuss how dominant a country is with respect to a product. For instance, due to the size and population, China is likely to have a larger volume of export in almost every product compared to Cambodia. However, in practice, Cambodia is always comparatively dominant in some products of which the national production divided by the sum of national production of all products are higher than China. Similarly, we use comparative measure to offset the fact that some products are always produced in a larger quantity across countries. </a:t>
            </a:r>
          </a:p>
          <a:p>
            <a:pPr marL="0" lvl="0" indent="0" algn="l" rtl="0">
              <a:spcBef>
                <a:spcPts val="0"/>
              </a:spcBef>
              <a:spcAft>
                <a:spcPts val="0"/>
              </a:spcAft>
              <a:buNone/>
            </a:pP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Balassa defines Revealed Comparative Advantage (RCA) as </a:t>
                </a:r>
                <a:r>
                  <a:rPr lang="en-US" sz="1100" b="0" i="1" u="none" strike="noStrike" cap="none" dirty="0">
                    <a:solidFill>
                      <a:srgbClr val="000000"/>
                    </a:solidFill>
                    <a:effectLst/>
                    <a:latin typeface="Arial"/>
                    <a:ea typeface="Arial"/>
                    <a:cs typeface="Arial"/>
                    <a:sym typeface="Arial"/>
                  </a:rPr>
                  <a:t>“a country has Revealed Comparative Advantage in a product if it exports more than its “fair” share, that is, a share that is equal to the share of total world trade that the product represents.” </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Formally, given the volume of production for a pair of country c and product p, we define </a:t>
                </a:r>
                <a:r>
                  <a:rPr lang="en-US" sz="1100" b="0" i="0" u="none" strike="noStrike" cap="none" dirty="0" err="1">
                    <a:solidFill>
                      <a:srgbClr val="000000"/>
                    </a:solidFill>
                    <a:effectLst/>
                    <a:latin typeface="Arial"/>
                    <a:ea typeface="Arial"/>
                    <a:cs typeface="Arial"/>
                    <a:sym typeface="Arial"/>
                  </a:rPr>
                  <a:t>RCA</a:t>
                </a:r>
                <a:r>
                  <a:rPr lang="en-US" sz="1100" b="0" i="0" u="none" strike="noStrike" cap="none" baseline="-25000" dirty="0" err="1">
                    <a:solidFill>
                      <a:srgbClr val="000000"/>
                    </a:solidFill>
                    <a:effectLst/>
                    <a:latin typeface="Arial"/>
                    <a:ea typeface="Arial"/>
                    <a:cs typeface="Arial"/>
                    <a:sym typeface="Arial"/>
                  </a:rPr>
                  <a:t>cp</a:t>
                </a:r>
                <a:r>
                  <a:rPr lang="en-US" sz="1100" b="0" i="0" u="none" strike="noStrike" cap="none" dirty="0">
                    <a:solidFill>
                      <a:srgbClr val="000000"/>
                    </a:solidFill>
                    <a:effectLst/>
                    <a:latin typeface="Arial"/>
                    <a:ea typeface="Arial"/>
                    <a:cs typeface="Arial"/>
                    <a:sym typeface="Arial"/>
                  </a:rPr>
                  <a:t> as </a:t>
                </a:r>
              </a:p>
              <a:p>
                <a14:m>
                  <m:oMath xmlns:m="http://schemas.openxmlformats.org/officeDocument/2006/math">
                    <m:sSub>
                      <m:sSubPr>
                        <m:ctrlPr>
                          <a:rPr lang="en-US" sz="1100" b="0" i="1" u="none" strike="noStrike" cap="none">
                            <a:solidFill>
                              <a:srgbClr val="000000"/>
                            </a:solidFill>
                            <a:effectLst/>
                            <a:latin typeface="Cambria Math" panose="02040503050406030204" pitchFamily="18" charset="0"/>
                            <a:ea typeface="Arial"/>
                            <a:cs typeface="Arial"/>
                            <a:sym typeface="Arial"/>
                          </a:rPr>
                        </m:ctrlPr>
                      </m:sSubPr>
                      <m:e>
                        <m:r>
                          <a:rPr lang="en-US" sz="1100" b="0" i="1" u="none" strike="noStrike" cap="none">
                            <a:solidFill>
                              <a:srgbClr val="000000"/>
                            </a:solidFill>
                            <a:effectLst/>
                            <a:latin typeface="Cambria Math" panose="02040503050406030204" pitchFamily="18" charset="0"/>
                            <a:ea typeface="Arial"/>
                            <a:cs typeface="Arial"/>
                            <a:sym typeface="Arial"/>
                          </a:rPr>
                          <m:t>𝑅𝐶𝐴</m:t>
                        </m:r>
                      </m:e>
                      <m:sub>
                        <m:r>
                          <a:rPr lang="en-US" sz="1100" b="0" i="1" u="none" strike="noStrike" cap="none">
                            <a:solidFill>
                              <a:srgbClr val="000000"/>
                            </a:solidFill>
                            <a:effectLst/>
                            <a:latin typeface="Cambria Math" panose="02040503050406030204" pitchFamily="18" charset="0"/>
                            <a:ea typeface="Arial"/>
                            <a:cs typeface="Arial"/>
                            <a:sym typeface="Arial"/>
                          </a:rPr>
                          <m:t>𝑐𝑝</m:t>
                        </m:r>
                      </m:sub>
                    </m:sSub>
                    <m:r>
                      <a:rPr lang="en-US" sz="1100" b="0" i="1" u="none" strike="noStrike" cap="none">
                        <a:solidFill>
                          <a:srgbClr val="000000"/>
                        </a:solidFill>
                        <a:effectLst/>
                        <a:latin typeface="Cambria Math" panose="02040503050406030204" pitchFamily="18" charset="0"/>
                        <a:ea typeface="Arial"/>
                        <a:cs typeface="Arial"/>
                        <a:sym typeface="Arial"/>
                      </a:rPr>
                      <m:t>=</m:t>
                    </m:r>
                    <m:f>
                      <m:fPr>
                        <m:ctrlPr>
                          <a:rPr lang="en-US" sz="1100" b="0" i="1" u="none" strike="noStrike" cap="none">
                            <a:solidFill>
                              <a:srgbClr val="000000"/>
                            </a:solidFill>
                            <a:effectLst/>
                            <a:latin typeface="Cambria Math" panose="02040503050406030204" pitchFamily="18" charset="0"/>
                            <a:ea typeface="Arial"/>
                            <a:cs typeface="Arial"/>
                            <a:sym typeface="Arial"/>
                          </a:rPr>
                        </m:ctrlPr>
                      </m:fPr>
                      <m:num>
                        <m:sSub>
                          <m:sSubPr>
                            <m:ctrlPr>
                              <a:rPr lang="en-US" sz="1100" b="0" i="1" u="none" strike="noStrike" cap="none">
                                <a:solidFill>
                                  <a:srgbClr val="000000"/>
                                </a:solidFill>
                                <a:effectLst/>
                                <a:latin typeface="Cambria Math" panose="02040503050406030204" pitchFamily="18" charset="0"/>
                                <a:ea typeface="Arial"/>
                                <a:cs typeface="Arial"/>
                                <a:sym typeface="Arial"/>
                              </a:rPr>
                            </m:ctrlPr>
                          </m:sSubPr>
                          <m:e>
                            <m:r>
                              <a:rPr lang="en-US" sz="1100" b="0" i="1" u="none" strike="noStrike" cap="none">
                                <a:solidFill>
                                  <a:srgbClr val="000000"/>
                                </a:solidFill>
                                <a:effectLst/>
                                <a:latin typeface="Cambria Math" panose="02040503050406030204" pitchFamily="18" charset="0"/>
                                <a:ea typeface="Arial"/>
                                <a:cs typeface="Arial"/>
                                <a:sym typeface="Arial"/>
                              </a:rPr>
                              <m:t>𝑋</m:t>
                            </m:r>
                          </m:e>
                          <m:sub>
                            <m:r>
                              <a:rPr lang="en-US" sz="1100" b="0" i="1" u="none" strike="noStrike" cap="none">
                                <a:solidFill>
                                  <a:srgbClr val="000000"/>
                                </a:solidFill>
                                <a:effectLst/>
                                <a:latin typeface="Cambria Math" panose="02040503050406030204" pitchFamily="18" charset="0"/>
                                <a:ea typeface="Arial"/>
                                <a:cs typeface="Arial"/>
                                <a:sym typeface="Arial"/>
                              </a:rPr>
                              <m:t>𝑐𝑝</m:t>
                            </m:r>
                          </m:sub>
                        </m:sSub>
                      </m:num>
                      <m:den>
                        <m:nary>
                          <m:naryPr>
                            <m:chr m:val="∑"/>
                            <m:limLoc m:val="undOvr"/>
                            <m:supHide m:val="on"/>
                            <m:ctrlPr>
                              <a:rPr lang="en-US" sz="1100" b="0" i="1" u="none" strike="noStrike" cap="none">
                                <a:solidFill>
                                  <a:srgbClr val="000000"/>
                                </a:solidFill>
                                <a:effectLst/>
                                <a:latin typeface="Cambria Math" panose="02040503050406030204" pitchFamily="18" charset="0"/>
                                <a:ea typeface="Arial"/>
                                <a:cs typeface="Arial"/>
                                <a:sym typeface="Arial"/>
                              </a:rPr>
                            </m:ctrlPr>
                          </m:naryPr>
                          <m:sub>
                            <m:r>
                              <a:rPr lang="en-US" sz="1100" b="0" i="1" u="none" strike="noStrike" cap="none">
                                <a:solidFill>
                                  <a:srgbClr val="000000"/>
                                </a:solidFill>
                                <a:effectLst/>
                                <a:latin typeface="Cambria Math" panose="02040503050406030204" pitchFamily="18" charset="0"/>
                                <a:ea typeface="Arial"/>
                                <a:cs typeface="Arial"/>
                                <a:sym typeface="Arial"/>
                              </a:rPr>
                              <m:t>𝑐</m:t>
                            </m:r>
                          </m:sub>
                          <m:sup/>
                          <m:e>
                            <m:sSub>
                              <m:sSubPr>
                                <m:ctrlPr>
                                  <a:rPr lang="en-US" sz="1100" b="0" i="1" u="none" strike="noStrike" cap="none">
                                    <a:solidFill>
                                      <a:srgbClr val="000000"/>
                                    </a:solidFill>
                                    <a:effectLst/>
                                    <a:latin typeface="Cambria Math" panose="02040503050406030204" pitchFamily="18" charset="0"/>
                                    <a:ea typeface="Arial"/>
                                    <a:cs typeface="Arial"/>
                                    <a:sym typeface="Arial"/>
                                  </a:rPr>
                                </m:ctrlPr>
                              </m:sSubPr>
                              <m:e>
                                <m:r>
                                  <a:rPr lang="en-US" sz="1100" b="0" i="1" u="none" strike="noStrike" cap="none">
                                    <a:solidFill>
                                      <a:srgbClr val="000000"/>
                                    </a:solidFill>
                                    <a:effectLst/>
                                    <a:latin typeface="Cambria Math" panose="02040503050406030204" pitchFamily="18" charset="0"/>
                                    <a:ea typeface="Arial"/>
                                    <a:cs typeface="Arial"/>
                                    <a:sym typeface="Arial"/>
                                  </a:rPr>
                                  <m:t>𝑋</m:t>
                                </m:r>
                              </m:e>
                              <m:sub>
                                <m:r>
                                  <a:rPr lang="en-US" sz="1100" b="0" i="1" u="none" strike="noStrike" cap="none">
                                    <a:solidFill>
                                      <a:srgbClr val="000000"/>
                                    </a:solidFill>
                                    <a:effectLst/>
                                    <a:latin typeface="Cambria Math" panose="02040503050406030204" pitchFamily="18" charset="0"/>
                                    <a:ea typeface="Arial"/>
                                    <a:cs typeface="Arial"/>
                                    <a:sym typeface="Arial"/>
                                  </a:rPr>
                                  <m:t>𝑐𝑝</m:t>
                                </m:r>
                              </m:sub>
                            </m:sSub>
                          </m:e>
                        </m:nary>
                      </m:den>
                    </m:f>
                    <m:r>
                      <a:rPr lang="en-US" sz="1100" b="0" i="1" u="none" strike="noStrike" cap="none">
                        <a:solidFill>
                          <a:srgbClr val="000000"/>
                        </a:solidFill>
                        <a:effectLst/>
                        <a:latin typeface="Cambria Math" panose="02040503050406030204" pitchFamily="18" charset="0"/>
                        <a:ea typeface="Arial"/>
                        <a:cs typeface="Arial"/>
                        <a:sym typeface="Arial"/>
                      </a:rPr>
                      <m:t>/</m:t>
                    </m:r>
                    <m:f>
                      <m:fPr>
                        <m:ctrlPr>
                          <a:rPr lang="en-US" sz="1100" b="0" i="1" u="none" strike="noStrike" cap="none">
                            <a:solidFill>
                              <a:srgbClr val="000000"/>
                            </a:solidFill>
                            <a:effectLst/>
                            <a:latin typeface="Cambria Math" panose="02040503050406030204" pitchFamily="18" charset="0"/>
                            <a:ea typeface="Arial"/>
                            <a:cs typeface="Arial"/>
                            <a:sym typeface="Arial"/>
                          </a:rPr>
                        </m:ctrlPr>
                      </m:fPr>
                      <m:num>
                        <m:nary>
                          <m:naryPr>
                            <m:chr m:val="∑"/>
                            <m:limLoc m:val="undOvr"/>
                            <m:supHide m:val="on"/>
                            <m:ctrlPr>
                              <a:rPr lang="en-US" sz="1100" b="0" i="1" u="none" strike="noStrike" cap="none">
                                <a:solidFill>
                                  <a:srgbClr val="000000"/>
                                </a:solidFill>
                                <a:effectLst/>
                                <a:latin typeface="Cambria Math" panose="02040503050406030204" pitchFamily="18" charset="0"/>
                                <a:ea typeface="Arial"/>
                                <a:cs typeface="Arial"/>
                                <a:sym typeface="Arial"/>
                              </a:rPr>
                            </m:ctrlPr>
                          </m:naryPr>
                          <m:sub>
                            <m:r>
                              <a:rPr lang="en-US" sz="1100" b="0" i="1" u="none" strike="noStrike" cap="none">
                                <a:solidFill>
                                  <a:srgbClr val="000000"/>
                                </a:solidFill>
                                <a:effectLst/>
                                <a:latin typeface="Cambria Math" panose="02040503050406030204" pitchFamily="18" charset="0"/>
                                <a:ea typeface="Arial"/>
                                <a:cs typeface="Arial"/>
                                <a:sym typeface="Arial"/>
                              </a:rPr>
                              <m:t>𝑝</m:t>
                            </m:r>
                          </m:sub>
                          <m:sup/>
                          <m:e>
                            <m:sSub>
                              <m:sSubPr>
                                <m:ctrlPr>
                                  <a:rPr lang="en-US" sz="1100" b="0" i="1" u="none" strike="noStrike" cap="none">
                                    <a:solidFill>
                                      <a:srgbClr val="000000"/>
                                    </a:solidFill>
                                    <a:effectLst/>
                                    <a:latin typeface="Cambria Math" panose="02040503050406030204" pitchFamily="18" charset="0"/>
                                    <a:ea typeface="Arial"/>
                                    <a:cs typeface="Arial"/>
                                    <a:sym typeface="Arial"/>
                                  </a:rPr>
                                </m:ctrlPr>
                              </m:sSubPr>
                              <m:e>
                                <m:r>
                                  <a:rPr lang="en-US" sz="1100" b="0" i="1" u="none" strike="noStrike" cap="none">
                                    <a:solidFill>
                                      <a:srgbClr val="000000"/>
                                    </a:solidFill>
                                    <a:effectLst/>
                                    <a:latin typeface="Cambria Math" panose="02040503050406030204" pitchFamily="18" charset="0"/>
                                    <a:ea typeface="Arial"/>
                                    <a:cs typeface="Arial"/>
                                    <a:sym typeface="Arial"/>
                                  </a:rPr>
                                  <m:t>𝑋</m:t>
                                </m:r>
                              </m:e>
                              <m:sub>
                                <m:r>
                                  <a:rPr lang="en-US" sz="1100" b="0" i="1" u="none" strike="noStrike" cap="none">
                                    <a:solidFill>
                                      <a:srgbClr val="000000"/>
                                    </a:solidFill>
                                    <a:effectLst/>
                                    <a:latin typeface="Cambria Math" panose="02040503050406030204" pitchFamily="18" charset="0"/>
                                    <a:ea typeface="Arial"/>
                                    <a:cs typeface="Arial"/>
                                    <a:sym typeface="Arial"/>
                                  </a:rPr>
                                  <m:t>𝑐𝑝</m:t>
                                </m:r>
                              </m:sub>
                            </m:sSub>
                          </m:e>
                        </m:nary>
                      </m:num>
                      <m:den>
                        <m:nary>
                          <m:naryPr>
                            <m:chr m:val="∑"/>
                            <m:limLoc m:val="undOvr"/>
                            <m:supHide m:val="on"/>
                            <m:ctrlPr>
                              <a:rPr lang="en-US" sz="1100" b="0" i="1" u="none" strike="noStrike" cap="none">
                                <a:solidFill>
                                  <a:srgbClr val="000000"/>
                                </a:solidFill>
                                <a:effectLst/>
                                <a:latin typeface="Cambria Math" panose="02040503050406030204" pitchFamily="18" charset="0"/>
                                <a:ea typeface="Arial"/>
                                <a:cs typeface="Arial"/>
                                <a:sym typeface="Arial"/>
                              </a:rPr>
                            </m:ctrlPr>
                          </m:naryPr>
                          <m:sub>
                            <m:r>
                              <a:rPr lang="en-US" sz="1100" b="0" i="1" u="none" strike="noStrike" cap="none">
                                <a:solidFill>
                                  <a:srgbClr val="000000"/>
                                </a:solidFill>
                                <a:effectLst/>
                                <a:latin typeface="Cambria Math" panose="02040503050406030204" pitchFamily="18" charset="0"/>
                                <a:ea typeface="Arial"/>
                                <a:cs typeface="Arial"/>
                                <a:sym typeface="Arial"/>
                              </a:rPr>
                              <m:t>𝑐</m:t>
                            </m:r>
                            <m:r>
                              <a:rPr lang="en-US" sz="1100" b="0" i="1" u="none" strike="noStrike" cap="none">
                                <a:solidFill>
                                  <a:srgbClr val="000000"/>
                                </a:solidFill>
                                <a:effectLst/>
                                <a:latin typeface="Cambria Math" panose="02040503050406030204" pitchFamily="18" charset="0"/>
                                <a:ea typeface="Arial"/>
                                <a:cs typeface="Arial"/>
                                <a:sym typeface="Arial"/>
                              </a:rPr>
                              <m:t>,</m:t>
                            </m:r>
                            <m:r>
                              <a:rPr lang="en-US" sz="1100" b="0" i="1" u="none" strike="noStrike" cap="none">
                                <a:solidFill>
                                  <a:srgbClr val="000000"/>
                                </a:solidFill>
                                <a:effectLst/>
                                <a:latin typeface="Cambria Math" panose="02040503050406030204" pitchFamily="18" charset="0"/>
                                <a:ea typeface="Arial"/>
                                <a:cs typeface="Arial"/>
                                <a:sym typeface="Arial"/>
                              </a:rPr>
                              <m:t>𝑝</m:t>
                            </m:r>
                          </m:sub>
                          <m:sup/>
                          <m:e>
                            <m:sSub>
                              <m:sSubPr>
                                <m:ctrlPr>
                                  <a:rPr lang="en-US" sz="1100" b="0" i="1" u="none" strike="noStrike" cap="none">
                                    <a:solidFill>
                                      <a:srgbClr val="000000"/>
                                    </a:solidFill>
                                    <a:effectLst/>
                                    <a:latin typeface="Cambria Math" panose="02040503050406030204" pitchFamily="18" charset="0"/>
                                    <a:ea typeface="Arial"/>
                                    <a:cs typeface="Arial"/>
                                    <a:sym typeface="Arial"/>
                                  </a:rPr>
                                </m:ctrlPr>
                              </m:sSubPr>
                              <m:e>
                                <m:r>
                                  <a:rPr lang="en-US" sz="1100" b="0" i="1" u="none" strike="noStrike" cap="none">
                                    <a:solidFill>
                                      <a:srgbClr val="000000"/>
                                    </a:solidFill>
                                    <a:effectLst/>
                                    <a:latin typeface="Cambria Math" panose="02040503050406030204" pitchFamily="18" charset="0"/>
                                    <a:ea typeface="Arial"/>
                                    <a:cs typeface="Arial"/>
                                    <a:sym typeface="Arial"/>
                                  </a:rPr>
                                  <m:t>𝑋</m:t>
                                </m:r>
                              </m:e>
                              <m:sub>
                                <m:r>
                                  <a:rPr lang="en-US" sz="1100" b="0" i="1" u="none" strike="noStrike" cap="none">
                                    <a:solidFill>
                                      <a:srgbClr val="000000"/>
                                    </a:solidFill>
                                    <a:effectLst/>
                                    <a:latin typeface="Cambria Math" panose="02040503050406030204" pitchFamily="18" charset="0"/>
                                    <a:ea typeface="Arial"/>
                                    <a:cs typeface="Arial"/>
                                    <a:sym typeface="Arial"/>
                                  </a:rPr>
                                  <m:t>𝑐𝑝</m:t>
                                </m:r>
                              </m:sub>
                            </m:sSub>
                          </m:e>
                        </m:nary>
                      </m:den>
                    </m:f>
                  </m:oMath>
                </a14:m>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Accordingly, we define the matrix of comparative advantage in production for countries and products. “1” indicates the advantage, while “0” indicates the opposite.</a:t>
                </a:r>
              </a:p>
              <a:p>
                <a:endParaRPr lang="en-US" sz="1100" b="0" i="0" u="none" strike="noStrike" cap="none" dirty="0">
                  <a:solidFill>
                    <a:srgbClr val="000000"/>
                  </a:solidFill>
                  <a:effectLst/>
                  <a:latin typeface="Arial"/>
                  <a:ea typeface="Arial"/>
                  <a:cs typeface="Arial"/>
                  <a:sym typeface="Arial"/>
                </a:endParaRPr>
              </a:p>
              <a:p>
                <a14:m>
                  <m:oMath xmlns:m="http://schemas.openxmlformats.org/officeDocument/2006/math">
                    <m:sSub>
                      <m:sSubPr>
                        <m:ctrlPr>
                          <a:rPr lang="en-US" sz="1100" b="0" i="1" u="none" strike="noStrike" cap="none">
                            <a:solidFill>
                              <a:srgbClr val="000000"/>
                            </a:solidFill>
                            <a:effectLst/>
                            <a:latin typeface="Cambria Math" panose="02040503050406030204" pitchFamily="18" charset="0"/>
                            <a:ea typeface="Arial"/>
                            <a:cs typeface="Arial"/>
                            <a:sym typeface="Arial"/>
                          </a:rPr>
                        </m:ctrlPr>
                      </m:sSubPr>
                      <m:e>
                        <m:r>
                          <a:rPr lang="en-US" sz="1100" b="0" i="1" u="none" strike="noStrike" cap="none">
                            <a:solidFill>
                              <a:srgbClr val="000000"/>
                            </a:solidFill>
                            <a:effectLst/>
                            <a:latin typeface="Cambria Math" panose="02040503050406030204" pitchFamily="18" charset="0"/>
                            <a:ea typeface="Arial"/>
                            <a:cs typeface="Arial"/>
                            <a:sym typeface="Arial"/>
                          </a:rPr>
                          <m:t>𝑀</m:t>
                        </m:r>
                      </m:e>
                      <m:sub>
                        <m:r>
                          <a:rPr lang="en-US" sz="1100" b="0" i="1" u="none" strike="noStrike" cap="none">
                            <a:solidFill>
                              <a:srgbClr val="000000"/>
                            </a:solidFill>
                            <a:effectLst/>
                            <a:latin typeface="Cambria Math" panose="02040503050406030204" pitchFamily="18" charset="0"/>
                            <a:ea typeface="Arial"/>
                            <a:cs typeface="Arial"/>
                            <a:sym typeface="Arial"/>
                          </a:rPr>
                          <m:t>𝑐𝑝</m:t>
                        </m:r>
                      </m:sub>
                    </m:sSub>
                    <m:r>
                      <a:rPr lang="en-US" sz="1100" b="0" i="1" u="none" strike="noStrike" cap="none">
                        <a:solidFill>
                          <a:srgbClr val="000000"/>
                        </a:solidFill>
                        <a:effectLst/>
                        <a:latin typeface="Cambria Math" panose="02040503050406030204" pitchFamily="18" charset="0"/>
                        <a:ea typeface="Arial"/>
                        <a:cs typeface="Arial"/>
                        <a:sym typeface="Arial"/>
                      </a:rPr>
                      <m:t>=</m:t>
                    </m:r>
                    <m:d>
                      <m:dPr>
                        <m:begChr m:val="{"/>
                        <m:endChr m:val=""/>
                        <m:ctrlPr>
                          <a:rPr lang="en-US" sz="1100" b="0" i="1" u="none" strike="noStrike" cap="none">
                            <a:solidFill>
                              <a:srgbClr val="000000"/>
                            </a:solidFill>
                            <a:effectLst/>
                            <a:latin typeface="Cambria Math" panose="02040503050406030204" pitchFamily="18" charset="0"/>
                            <a:ea typeface="Arial"/>
                            <a:cs typeface="Arial"/>
                            <a:sym typeface="Arial"/>
                          </a:rPr>
                        </m:ctrlPr>
                      </m:dPr>
                      <m:e>
                        <m:r>
                          <a:rPr lang="en-US" sz="1100" b="0" i="1" u="none" strike="noStrike" cap="none">
                            <a:solidFill>
                              <a:srgbClr val="000000"/>
                            </a:solidFill>
                            <a:effectLst/>
                            <a:latin typeface="Cambria Math" panose="02040503050406030204" pitchFamily="18" charset="0"/>
                            <a:ea typeface="Arial"/>
                            <a:cs typeface="Arial"/>
                            <a:sym typeface="Arial"/>
                          </a:rPr>
                          <m:t> </m:t>
                        </m:r>
                        <m:eqArr>
                          <m:eqArrPr>
                            <m:ctrlPr>
                              <a:rPr lang="en-US" sz="1100" b="0" i="1" u="none" strike="noStrike" cap="none">
                                <a:solidFill>
                                  <a:srgbClr val="000000"/>
                                </a:solidFill>
                                <a:effectLst/>
                                <a:latin typeface="Cambria Math" panose="02040503050406030204" pitchFamily="18" charset="0"/>
                                <a:ea typeface="Arial"/>
                                <a:cs typeface="Arial"/>
                                <a:sym typeface="Arial"/>
                              </a:rPr>
                            </m:ctrlPr>
                          </m:eqArrPr>
                          <m:e>
                            <m:r>
                              <a:rPr lang="en-US" sz="1100" b="0" i="1" u="none" strike="noStrike" cap="none">
                                <a:solidFill>
                                  <a:srgbClr val="000000"/>
                                </a:solidFill>
                                <a:effectLst/>
                                <a:latin typeface="Cambria Math" panose="02040503050406030204" pitchFamily="18" charset="0"/>
                                <a:ea typeface="Arial"/>
                                <a:cs typeface="Arial"/>
                                <a:sym typeface="Arial"/>
                              </a:rPr>
                              <m:t>1  </m:t>
                            </m:r>
                            <m:sSub>
                              <m:sSubPr>
                                <m:ctrlPr>
                                  <a:rPr lang="en-US" sz="1100" b="0" i="1" u="none" strike="noStrike" cap="none">
                                    <a:solidFill>
                                      <a:srgbClr val="000000"/>
                                    </a:solidFill>
                                    <a:effectLst/>
                                    <a:latin typeface="Cambria Math" panose="02040503050406030204" pitchFamily="18" charset="0"/>
                                    <a:ea typeface="Arial"/>
                                    <a:cs typeface="Arial"/>
                                    <a:sym typeface="Arial"/>
                                  </a:rPr>
                                </m:ctrlPr>
                              </m:sSubPr>
                              <m:e>
                                <m:r>
                                  <a:rPr lang="en-US" sz="1100" b="0" i="1" u="none" strike="noStrike" cap="none">
                                    <a:solidFill>
                                      <a:srgbClr val="000000"/>
                                    </a:solidFill>
                                    <a:effectLst/>
                                    <a:latin typeface="Cambria Math" panose="02040503050406030204" pitchFamily="18" charset="0"/>
                                    <a:ea typeface="Arial"/>
                                    <a:cs typeface="Arial"/>
                                    <a:sym typeface="Arial"/>
                                  </a:rPr>
                                  <m:t>    </m:t>
                                </m:r>
                                <m:r>
                                  <a:rPr lang="en-US" sz="1100" b="0" i="1" u="none" strike="noStrike" cap="none">
                                    <a:solidFill>
                                      <a:srgbClr val="000000"/>
                                    </a:solidFill>
                                    <a:effectLst/>
                                    <a:latin typeface="Cambria Math" panose="02040503050406030204" pitchFamily="18" charset="0"/>
                                    <a:ea typeface="Arial"/>
                                    <a:cs typeface="Arial"/>
                                    <a:sym typeface="Arial"/>
                                  </a:rPr>
                                  <m:t>𝑅𝐶𝐴</m:t>
                                </m:r>
                              </m:e>
                              <m:sub>
                                <m:r>
                                  <a:rPr lang="en-US" sz="1100" b="0" i="1" u="none" strike="noStrike" cap="none">
                                    <a:solidFill>
                                      <a:srgbClr val="000000"/>
                                    </a:solidFill>
                                    <a:effectLst/>
                                    <a:latin typeface="Cambria Math" panose="02040503050406030204" pitchFamily="18" charset="0"/>
                                    <a:ea typeface="Arial"/>
                                    <a:cs typeface="Arial"/>
                                    <a:sym typeface="Arial"/>
                                  </a:rPr>
                                  <m:t>𝑐𝑝</m:t>
                                </m:r>
                              </m:sub>
                            </m:sSub>
                            <m:r>
                              <a:rPr lang="en-US" sz="1100" b="0" i="1" u="none" strike="noStrike" cap="none">
                                <a:solidFill>
                                  <a:srgbClr val="000000"/>
                                </a:solidFill>
                                <a:effectLst/>
                                <a:latin typeface="Cambria Math" panose="02040503050406030204" pitchFamily="18" charset="0"/>
                                <a:ea typeface="Arial"/>
                                <a:cs typeface="Arial"/>
                                <a:sym typeface="Arial"/>
                              </a:rPr>
                              <m:t>≥1</m:t>
                            </m:r>
                          </m:e>
                          <m:e>
                            <m:r>
                              <a:rPr lang="en-US" sz="1100" b="0" i="1" u="none" strike="noStrike" cap="none">
                                <a:solidFill>
                                  <a:srgbClr val="000000"/>
                                </a:solidFill>
                                <a:effectLst/>
                                <a:latin typeface="Cambria Math" panose="02040503050406030204" pitchFamily="18" charset="0"/>
                                <a:ea typeface="Arial"/>
                                <a:cs typeface="Arial"/>
                                <a:sym typeface="Arial"/>
                              </a:rPr>
                              <m:t>  0      </m:t>
                            </m:r>
                            <m:r>
                              <a:rPr lang="en-US" sz="1100" b="0" i="1" u="none" strike="noStrike" cap="none">
                                <a:solidFill>
                                  <a:srgbClr val="000000"/>
                                </a:solidFill>
                                <a:effectLst/>
                                <a:latin typeface="Cambria Math" panose="02040503050406030204" pitchFamily="18" charset="0"/>
                                <a:ea typeface="Arial"/>
                                <a:cs typeface="Arial"/>
                                <a:sym typeface="Arial"/>
                              </a:rPr>
                              <m:t>𝑂𝑡h𝑒𝑟𝑤𝑖𝑠𝑒</m:t>
                            </m:r>
                          </m:e>
                        </m:eqArr>
                      </m:e>
                    </m:d>
                  </m:oMath>
                </a14:m>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Choice>
        <mc:Fallback xmlns="">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Balassa defines Revealed Comparative Advantage (RCA) as </a:t>
                </a:r>
                <a:r>
                  <a:rPr lang="en-US" sz="1100" b="0" i="1" u="none" strike="noStrike" cap="none" dirty="0">
                    <a:solidFill>
                      <a:srgbClr val="000000"/>
                    </a:solidFill>
                    <a:effectLst/>
                    <a:latin typeface="Arial"/>
                    <a:ea typeface="Arial"/>
                    <a:cs typeface="Arial"/>
                    <a:sym typeface="Arial"/>
                  </a:rPr>
                  <a:t>“a country has Revealed Comparative Advantage in a product if it exports more than its “fair” share, that is, a share that is equal to the share of total world trade that the product represents.” </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Formally, given the volume of production for a pair of country c and product p, we define </a:t>
                </a:r>
                <a:r>
                  <a:rPr lang="en-US" sz="1100" b="0" i="0" u="none" strike="noStrike" cap="none" dirty="0" err="1">
                    <a:solidFill>
                      <a:srgbClr val="000000"/>
                    </a:solidFill>
                    <a:effectLst/>
                    <a:latin typeface="Arial"/>
                    <a:ea typeface="Arial"/>
                    <a:cs typeface="Arial"/>
                    <a:sym typeface="Arial"/>
                  </a:rPr>
                  <a:t>RCA</a:t>
                </a:r>
                <a:r>
                  <a:rPr lang="en-US" sz="1100" b="0" i="0" u="none" strike="noStrike" cap="none" baseline="-25000" dirty="0" err="1">
                    <a:solidFill>
                      <a:srgbClr val="000000"/>
                    </a:solidFill>
                    <a:effectLst/>
                    <a:latin typeface="Arial"/>
                    <a:ea typeface="Arial"/>
                    <a:cs typeface="Arial"/>
                    <a:sym typeface="Arial"/>
                  </a:rPr>
                  <a:t>cp</a:t>
                </a:r>
                <a:r>
                  <a:rPr lang="en-US" sz="1100" b="0" i="0" u="none" strike="noStrike" cap="none" dirty="0">
                    <a:solidFill>
                      <a:srgbClr val="000000"/>
                    </a:solidFill>
                    <a:effectLst/>
                    <a:latin typeface="Arial"/>
                    <a:ea typeface="Arial"/>
                    <a:cs typeface="Arial"/>
                    <a:sym typeface="Arial"/>
                  </a:rPr>
                  <a:t> as </a:t>
                </a:r>
              </a:p>
              <a:p>
                <a:r>
                  <a:rPr lang="en-US" sz="1100" b="0" i="0" u="none" strike="noStrike" cap="none">
                    <a:solidFill>
                      <a:srgbClr val="000000"/>
                    </a:solidFill>
                    <a:effectLst/>
                    <a:latin typeface="Arial"/>
                    <a:cs typeface="Arial"/>
                    <a:sym typeface="Arial"/>
                  </a:rPr>
                  <a:t>〖</a:t>
                </a:r>
                <a:r>
                  <a:rPr lang="en-US" sz="1100" b="0" i="0" u="none" strike="noStrike" cap="none">
                    <a:solidFill>
                      <a:srgbClr val="000000"/>
                    </a:solidFill>
                    <a:effectLst/>
                    <a:latin typeface="Arial"/>
                    <a:ea typeface="Arial"/>
                    <a:cs typeface="Arial"/>
                    <a:sym typeface="Arial"/>
                  </a:rPr>
                  <a:t>𝑅𝐶𝐴〗_𝑐𝑝=𝑋_𝑐𝑝/(∑1_𝑐▒𝑋_𝑐𝑝 )/</a:t>
                </a:r>
                <a:r>
                  <a:rPr lang="en-US" sz="1100" b="0" i="0" u="none" strike="noStrike" cap="none">
                    <a:solidFill>
                      <a:srgbClr val="000000"/>
                    </a:solidFill>
                    <a:effectLst/>
                    <a:latin typeface="Arial"/>
                    <a:cs typeface="Arial"/>
                    <a:sym typeface="Arial"/>
                  </a:rPr>
                  <a:t>(∑1_</a:t>
                </a:r>
                <a:r>
                  <a:rPr lang="en-US" sz="1100" b="0" i="0" u="none" strike="noStrike" cap="none">
                    <a:solidFill>
                      <a:srgbClr val="000000"/>
                    </a:solidFill>
                    <a:effectLst/>
                    <a:latin typeface="Arial"/>
                    <a:ea typeface="Arial"/>
                    <a:cs typeface="Arial"/>
                    <a:sym typeface="Arial"/>
                  </a:rPr>
                  <a:t>𝑝▒𝑋_𝑐𝑝 )/(∑1_(𝑐,𝑝)▒𝑋_𝑐𝑝 )</a:t>
                </a:r>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Accordingly, we define the matrix of comparative advantage in production for countries and products. “1” indicates the advantage, while “0” indicates the opposite.</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a:solidFill>
                      <a:srgbClr val="000000"/>
                    </a:solidFill>
                    <a:effectLst/>
                    <a:latin typeface="Arial"/>
                    <a:ea typeface="Arial"/>
                    <a:cs typeface="Arial"/>
                    <a:sym typeface="Arial"/>
                  </a:rPr>
                  <a:t>𝑀_𝑐𝑝=</a:t>
                </a:r>
                <a:r>
                  <a:rPr lang="en-US" sz="1100" b="0" i="0" u="none" strike="noStrike" cap="none">
                    <a:solidFill>
                      <a:srgbClr val="000000"/>
                    </a:solidFill>
                    <a:effectLst/>
                    <a:latin typeface="Arial"/>
                    <a:cs typeface="Arial"/>
                    <a:sym typeface="Arial"/>
                  </a:rPr>
                  <a:t>{</a:t>
                </a:r>
                <a:r>
                  <a:rPr lang="en-US" sz="1100" b="0" i="0" u="none" strike="noStrike" cap="none">
                    <a:solidFill>
                      <a:srgbClr val="000000"/>
                    </a:solidFill>
                    <a:effectLst/>
                    <a:latin typeface="Arial"/>
                    <a:ea typeface="Arial"/>
                    <a:cs typeface="Arial"/>
                    <a:sym typeface="Arial"/>
                  </a:rPr>
                  <a:t> █(1  〖    𝑅𝐶𝐴〗_𝑐𝑝≥1@  0      𝑂𝑡ℎ𝑒𝑟𝑤𝑖𝑠𝑒)┤</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Fallback>
      </mc:AlternateContent>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475fa313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475fa313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-when we want to determine how dominant a country is in making a certain product, we have to consider the variety of productive knowledge the country holds, and the difficulty of making the product defined by the productive knowledge required in production.</a:t>
            </a:r>
            <a:r>
              <a:rPr lang="en-US" dirty="0">
                <a:effectLst/>
              </a:rPr>
              <a:t> </a:t>
            </a:r>
          </a:p>
          <a:p>
            <a:pPr marL="0" lvl="0" indent="0" algn="l" rtl="0">
              <a:spcBef>
                <a:spcPts val="0"/>
              </a:spcBef>
              <a:spcAft>
                <a:spcPts val="0"/>
              </a:spcAft>
              <a:buNone/>
            </a:pPr>
            <a:r>
              <a:rPr lang="en-US" dirty="0">
                <a:effectLst/>
              </a:rPr>
              <a:t>-So here comes our third concept – “Diversity and Ubiquity”</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475fa313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475fa313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9700" lvl="0" indent="0" algn="l" rtl="0">
              <a:spcBef>
                <a:spcPts val="0"/>
              </a:spcBef>
              <a:spcAft>
                <a:spcPts val="0"/>
              </a:spcAft>
              <a:buClr>
                <a:srgbClr val="000000"/>
              </a:buClr>
              <a:buSzPts val="1400"/>
              <a:buFont typeface="Times New Roman"/>
              <a:buNone/>
            </a:pPr>
            <a:r>
              <a:rPr lang="en-US" altLang="zh-CN" sz="1100" dirty="0">
                <a:solidFill>
                  <a:srgbClr val="000000"/>
                </a:solidFill>
                <a:latin typeface="Times New Roman"/>
                <a:ea typeface="Times New Roman"/>
                <a:cs typeface="Times New Roman"/>
                <a:sym typeface="Times New Roman"/>
              </a:rPr>
              <a:t>While </a:t>
            </a:r>
            <a:r>
              <a:rPr lang="en" sz="1100" dirty="0">
                <a:solidFill>
                  <a:srgbClr val="000000"/>
                </a:solidFill>
                <a:latin typeface="Times New Roman"/>
                <a:ea typeface="Times New Roman"/>
                <a:cs typeface="Times New Roman"/>
                <a:sym typeface="Times New Roman"/>
              </a:rPr>
              <a:t>diversity measures how many products a country can produce</a:t>
            </a:r>
            <a:r>
              <a:rPr lang="en-US" sz="1100" dirty="0">
                <a:solidFill>
                  <a:srgbClr val="000000"/>
                </a:solidFill>
                <a:latin typeface="Times New Roman"/>
                <a:ea typeface="Times New Roman"/>
                <a:cs typeface="Times New Roman"/>
                <a:sym typeface="Times New Roman"/>
              </a:rPr>
              <a:t>,</a:t>
            </a:r>
            <a:r>
              <a:rPr lang="en-US" sz="1100" baseline="0" dirty="0">
                <a:solidFill>
                  <a:srgbClr val="000000"/>
                </a:solidFill>
                <a:latin typeface="Times New Roman"/>
                <a:ea typeface="Times New Roman"/>
                <a:cs typeface="Times New Roman"/>
                <a:sym typeface="Times New Roman"/>
              </a:rPr>
              <a:t> </a:t>
            </a:r>
            <a:r>
              <a:rPr lang="en" sz="1100" dirty="0">
                <a:solidFill>
                  <a:srgbClr val="000000"/>
                </a:solidFill>
                <a:latin typeface="Times New Roman"/>
                <a:ea typeface="Times New Roman"/>
                <a:cs typeface="Times New Roman"/>
                <a:sym typeface="Times New Roman"/>
              </a:rPr>
              <a:t>ubiquity measures how many countries are capable </a:t>
            </a:r>
            <a:r>
              <a:rPr lang="en-US" sz="1100" dirty="0">
                <a:solidFill>
                  <a:srgbClr val="000000"/>
                </a:solidFill>
                <a:latin typeface="Times New Roman"/>
                <a:ea typeface="Times New Roman"/>
                <a:cs typeface="Times New Roman"/>
                <a:sym typeface="Times New Roman"/>
              </a:rPr>
              <a:t>of producing</a:t>
            </a:r>
            <a:r>
              <a:rPr lang="en-US" sz="1100" baseline="0" dirty="0">
                <a:solidFill>
                  <a:srgbClr val="000000"/>
                </a:solidFill>
                <a:latin typeface="Times New Roman"/>
                <a:ea typeface="Times New Roman"/>
                <a:cs typeface="Times New Roman"/>
                <a:sym typeface="Times New Roman"/>
              </a:rPr>
              <a:t> a certain product</a:t>
            </a:r>
            <a:r>
              <a:rPr lang="en-US" sz="1100" dirty="0">
                <a:solidFill>
                  <a:srgbClr val="000000"/>
                </a:solidFill>
                <a:latin typeface="Times New Roman"/>
                <a:ea typeface="Times New Roman"/>
                <a:cs typeface="Times New Roman"/>
                <a:sym typeface="Times New Roman"/>
              </a:rPr>
              <a:t>.</a:t>
            </a:r>
            <a:r>
              <a:rPr lang="en-US" sz="1100" baseline="0" dirty="0">
                <a:solidFill>
                  <a:srgbClr val="000000"/>
                </a:solidFill>
                <a:latin typeface="Times New Roman"/>
                <a:ea typeface="Times New Roman"/>
                <a:cs typeface="Times New Roman"/>
                <a:sym typeface="Times New Roman"/>
              </a:rPr>
              <a:t> </a:t>
            </a:r>
            <a:r>
              <a:rPr lang="en" sz="1100" dirty="0">
                <a:solidFill>
                  <a:srgbClr val="000000"/>
                </a:solidFill>
                <a:latin typeface="Times New Roman"/>
                <a:ea typeface="Times New Roman"/>
                <a:cs typeface="Times New Roman"/>
                <a:sym typeface="Times New Roman"/>
              </a:rPr>
              <a:t>The Diversity and Ubiquity are a pair of complements and can be used to iteratively correct each other</a:t>
            </a:r>
            <a:r>
              <a:rPr lang="en-US" sz="1100" dirty="0">
                <a:solidFill>
                  <a:srgbClr val="000000"/>
                </a:solidFill>
                <a:latin typeface="Arial"/>
                <a:ea typeface="Arial"/>
                <a:cs typeface="Arial"/>
                <a:sym typeface="Arial"/>
              </a:rPr>
              <a:t>.</a:t>
            </a:r>
            <a:r>
              <a:rPr lang="en-US" sz="1100" baseline="0" dirty="0">
                <a:solidFill>
                  <a:srgbClr val="000000"/>
                </a:solidFill>
                <a:latin typeface="Arial"/>
                <a:ea typeface="Arial"/>
                <a:cs typeface="Arial"/>
                <a:sym typeface="Arial"/>
              </a:rPr>
              <a:t> </a:t>
            </a:r>
          </a:p>
          <a:p>
            <a:pPr marL="139700" lvl="0" indent="0" algn="l" rtl="0">
              <a:spcBef>
                <a:spcPts val="0"/>
              </a:spcBef>
              <a:spcAft>
                <a:spcPts val="0"/>
              </a:spcAft>
              <a:buClr>
                <a:srgbClr val="000000"/>
              </a:buClr>
              <a:buSzPts val="1400"/>
              <a:buFont typeface="Times New Roman"/>
              <a:buNone/>
            </a:pPr>
            <a:endParaRPr lang="en-US" sz="1100" baseline="0" dirty="0">
              <a:solidFill>
                <a:srgbClr val="000000"/>
              </a:solidFill>
              <a:latin typeface="Arial"/>
              <a:ea typeface="Arial"/>
              <a:cs typeface="Arial"/>
              <a:sym typeface="Arial"/>
            </a:endParaRPr>
          </a:p>
          <a:p>
            <a:pPr marL="139700" lvl="0" indent="0" algn="l" rtl="0">
              <a:spcBef>
                <a:spcPts val="0"/>
              </a:spcBef>
              <a:spcAft>
                <a:spcPts val="0"/>
              </a:spcAft>
              <a:buClr>
                <a:srgbClr val="000000"/>
              </a:buClr>
              <a:buSzPts val="1400"/>
              <a:buFont typeface="Times New Roman"/>
              <a:buNone/>
            </a:pPr>
            <a:r>
              <a:rPr lang="en-US" sz="1100" dirty="0">
                <a:solidFill>
                  <a:srgbClr val="000000"/>
                </a:solidFill>
                <a:latin typeface="Times New Roman"/>
                <a:ea typeface="Times New Roman"/>
                <a:cs typeface="Times New Roman"/>
                <a:sym typeface="Times New Roman"/>
              </a:rPr>
              <a:t>To help you understand the idea, here is an example. We can use a sword to peel an apple, since the sword is sharp, portable and qualified in all extents for peeling an apple. Analogically, sword has all the ‘productive knowledge’ required to peel an apple. In contrast, your laptop or Calculus textbook may not be good choices.</a:t>
            </a:r>
            <a:r>
              <a:rPr lang="en-US" sz="1100" baseline="0" dirty="0">
                <a:solidFill>
                  <a:srgbClr val="000000"/>
                </a:solidFill>
                <a:latin typeface="Times New Roman"/>
                <a:ea typeface="Times New Roman"/>
                <a:cs typeface="Times New Roman"/>
                <a:sym typeface="Times New Roman"/>
              </a:rPr>
              <a:t> Thus</a:t>
            </a:r>
            <a:r>
              <a:rPr lang="en-US" sz="1100" dirty="0">
                <a:solidFill>
                  <a:srgbClr val="000000"/>
                </a:solidFill>
                <a:latin typeface="Times New Roman"/>
                <a:ea typeface="Times New Roman"/>
                <a:cs typeface="Times New Roman"/>
                <a:sym typeface="Times New Roman"/>
              </a:rPr>
              <a:t>, as long as we have access to handy peelers and knives, we are less likely to use the sword, because peeling an apple doesn’t seem to be a difficult task and we have tons of options. However, if we live in a world with only a sword, laptop, Calculus textbook, and apples, then sword suddenly becomes the most “elegant” apple peeler.  Whether sword is good at peeling apple also depends on the amount and competitiveness of other candidates. </a:t>
            </a:r>
          </a:p>
          <a:p>
            <a:pPr marL="139700" lvl="0" indent="0" algn="l" rtl="0">
              <a:spcBef>
                <a:spcPts val="0"/>
              </a:spcBef>
              <a:spcAft>
                <a:spcPts val="0"/>
              </a:spcAft>
              <a:buClr>
                <a:srgbClr val="000000"/>
              </a:buClr>
              <a:buSzPts val="1400"/>
              <a:buFont typeface="Times New Roman"/>
              <a:buNone/>
            </a:pPr>
            <a:endParaRPr lang="en-US" sz="1100" dirty="0">
              <a:solidFill>
                <a:srgbClr val="000000"/>
              </a:solidFill>
              <a:latin typeface="Times New Roman"/>
              <a:ea typeface="Times New Roman"/>
              <a:cs typeface="Times New Roman"/>
              <a:sym typeface="Times New Roman"/>
            </a:endParaRPr>
          </a:p>
          <a:p>
            <a:pPr marL="139700" marR="0" lvl="0" indent="0" algn="l" defTabSz="914400" rtl="0" eaLnBrk="1" fontAlgn="auto" latinLnBrk="0" hangingPunct="1">
              <a:lnSpc>
                <a:spcPct val="100000"/>
              </a:lnSpc>
              <a:spcBef>
                <a:spcPts val="0"/>
              </a:spcBef>
              <a:spcAft>
                <a:spcPts val="0"/>
              </a:spcAft>
              <a:buClr>
                <a:srgbClr val="000000"/>
              </a:buClr>
              <a:buSzPts val="1400"/>
              <a:buFont typeface="Times New Roman"/>
              <a:buNone/>
              <a:tabLst/>
              <a:defRPr/>
            </a:pPr>
            <a:r>
              <a:rPr lang="en-US" sz="1100" b="0" i="0" u="none" strike="noStrike" cap="none" dirty="0">
                <a:solidFill>
                  <a:srgbClr val="000000"/>
                </a:solidFill>
                <a:effectLst/>
                <a:latin typeface="Arial"/>
                <a:ea typeface="Arial"/>
                <a:cs typeface="Arial"/>
                <a:sym typeface="Arial"/>
              </a:rPr>
              <a:t>As shown in the apple peeler analogy, the diversity and ubiquity are a pair of complements and can be used to iteratively correct each other. For a country with high Diversity, we go through the Ubiquity of all products the country makes to determine whether the high Diversity attributes to exceptional productivity or a mass production of low-end products. For a product with high Ubiquity, we examine the Diversity of all its production sources to determine whether the high Ubiquity indicates the product to be high-end or just less demanded. In a few iterations, the effectiveness of correction converges to zero and the cross-correction process terminates. </a:t>
            </a:r>
          </a:p>
          <a:p>
            <a:pPr marL="139700" lvl="0" indent="0" algn="l" rtl="0">
              <a:spcBef>
                <a:spcPts val="0"/>
              </a:spcBef>
              <a:spcAft>
                <a:spcPts val="0"/>
              </a:spcAft>
              <a:buClr>
                <a:srgbClr val="000000"/>
              </a:buClr>
              <a:buSzPts val="1400"/>
              <a:buFont typeface="Times New Roman"/>
              <a:buNone/>
            </a:pPr>
            <a:endParaRPr lang="en-US" sz="1100" dirty="0">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Countries</a:t>
            </a:r>
            <a:r>
              <a:rPr lang="en-US" baseline="0" dirty="0"/>
              <a:t>’ production maps can be drawn based on their export data. Here we show, for instance, the goods that United States and Mexico export in 2017. The two charts provide us with direct information on which products these two countries primarily export in that year. However, how do we know exporting chemical products is necessarily more advanced/more advantageous to exporting machines or transportation? We need to find a measure to quantify and qualitatively evaluate countries’ exports utilizing the idea of ubiquity and diversity aforementioned.</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Furthermore, we are able to</a:t>
            </a:r>
            <a:r>
              <a:rPr lang="en-US" baseline="0" dirty="0"/>
              <a:t> observe that products with high level of complexities are often co-exported with other products of high complexities, meaning that these products are “closer to” each other because they require a similar set of complicated skills to manufacture. This also inspires us to observe, manage and optimize the product spaces of countries in later sections.</a:t>
            </a: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Based on these observations,</a:t>
            </a:r>
            <a:r>
              <a:rPr lang="en-US" baseline="0" dirty="0"/>
              <a:t> we formally define ECI and PCI here. </a:t>
            </a:r>
            <a:r>
              <a:rPr lang="en" sz="1100" dirty="0">
                <a:solidFill>
                  <a:srgbClr val="000000"/>
                </a:solidFill>
                <a:latin typeface="Times New Roman" pitchFamily="18" charset="0"/>
                <a:ea typeface="Arial"/>
                <a:cs typeface="Times New Roman" pitchFamily="18" charset="0"/>
                <a:sym typeface="Arial"/>
              </a:rPr>
              <a:t>The second largest eigenvector of </a:t>
            </a:r>
            <a:r>
              <a:rPr lang="en" sz="1100" dirty="0" err="1">
                <a:solidFill>
                  <a:srgbClr val="000000"/>
                </a:solidFill>
                <a:latin typeface="Times New Roman" pitchFamily="18" charset="0"/>
                <a:ea typeface="Arial"/>
                <a:cs typeface="Times New Roman" pitchFamily="18" charset="0"/>
                <a:sym typeface="Arial"/>
              </a:rPr>
              <a:t>M</a:t>
            </a:r>
            <a:r>
              <a:rPr lang="en" sz="1100" baseline="-25000" dirty="0" err="1">
                <a:solidFill>
                  <a:srgbClr val="000000"/>
                </a:solidFill>
                <a:latin typeface="Times New Roman" pitchFamily="18" charset="0"/>
                <a:ea typeface="Arial"/>
                <a:cs typeface="Times New Roman" pitchFamily="18" charset="0"/>
                <a:sym typeface="Arial"/>
              </a:rPr>
              <a:t>cc</a:t>
            </a:r>
            <a:r>
              <a:rPr lang="en" sz="1100" dirty="0">
                <a:solidFill>
                  <a:srgbClr val="000000"/>
                </a:solidFill>
                <a:latin typeface="Times New Roman" pitchFamily="18" charset="0"/>
                <a:ea typeface="Arial"/>
                <a:cs typeface="Times New Roman" pitchFamily="18" charset="0"/>
                <a:sym typeface="Arial"/>
              </a:rPr>
              <a:t> best preserves the information about variance in the system, which is just Economic Complexity. Hence, we define the Economic Complexity Index</a:t>
            </a:r>
            <a:r>
              <a:rPr lang="en-US" sz="1100" dirty="0">
                <a:solidFill>
                  <a:srgbClr val="000000"/>
                </a:solidFill>
                <a:latin typeface="Times New Roman" pitchFamily="18" charset="0"/>
                <a:ea typeface="Arial"/>
                <a:cs typeface="Times New Roman" pitchFamily="18" charset="0"/>
                <a:sym typeface="Arial"/>
              </a:rPr>
              <a:t> as shown in here.</a:t>
            </a:r>
            <a:r>
              <a:rPr lang="en-US" sz="1100" baseline="0" dirty="0">
                <a:solidFill>
                  <a:srgbClr val="000000"/>
                </a:solidFill>
                <a:latin typeface="Times New Roman" pitchFamily="18" charset="0"/>
                <a:ea typeface="Arial"/>
                <a:cs typeface="Times New Roman" pitchFamily="18" charset="0"/>
                <a:sym typeface="Arial"/>
              </a:rPr>
              <a:t> </a:t>
            </a:r>
            <a:r>
              <a:rPr lang="en" sz="1100" dirty="0">
                <a:solidFill>
                  <a:srgbClr val="000000"/>
                </a:solidFill>
                <a:latin typeface="Times New Roman" pitchFamily="18" charset="0"/>
                <a:ea typeface="Arial"/>
                <a:cs typeface="Times New Roman" pitchFamily="18" charset="0"/>
                <a:sym typeface="Arial"/>
              </a:rPr>
              <a:t>Similarly, we can calculate the second largest eigenvector of </a:t>
            </a:r>
            <a:r>
              <a:rPr lang="en" sz="1100" dirty="0" err="1">
                <a:solidFill>
                  <a:srgbClr val="000000"/>
                </a:solidFill>
                <a:latin typeface="Times New Roman" pitchFamily="18" charset="0"/>
                <a:ea typeface="Arial"/>
                <a:cs typeface="Times New Roman" pitchFamily="18" charset="0"/>
                <a:sym typeface="Arial"/>
              </a:rPr>
              <a:t>M</a:t>
            </a:r>
            <a:r>
              <a:rPr lang="en" sz="1100" baseline="-25000" dirty="0" err="1">
                <a:solidFill>
                  <a:srgbClr val="000000"/>
                </a:solidFill>
                <a:latin typeface="Times New Roman" pitchFamily="18" charset="0"/>
                <a:ea typeface="Arial"/>
                <a:cs typeface="Times New Roman" pitchFamily="18" charset="0"/>
                <a:sym typeface="Arial"/>
              </a:rPr>
              <a:t>pp</a:t>
            </a:r>
            <a:r>
              <a:rPr lang="en" sz="1100" baseline="-25000" dirty="0">
                <a:solidFill>
                  <a:srgbClr val="000000"/>
                </a:solidFill>
                <a:latin typeface="Times New Roman" pitchFamily="18" charset="0"/>
                <a:ea typeface="Arial"/>
                <a:cs typeface="Times New Roman" pitchFamily="18" charset="0"/>
                <a:sym typeface="Arial"/>
              </a:rPr>
              <a:t>’,</a:t>
            </a:r>
            <a:r>
              <a:rPr lang="en" sz="1100" dirty="0">
                <a:solidFill>
                  <a:srgbClr val="000000"/>
                </a:solidFill>
                <a:latin typeface="Times New Roman" pitchFamily="18" charset="0"/>
                <a:ea typeface="Arial"/>
                <a:cs typeface="Times New Roman" pitchFamily="18" charset="0"/>
                <a:sym typeface="Arial"/>
              </a:rPr>
              <a:t> and define Product Complexity Index ( PCI) </a:t>
            </a:r>
            <a:r>
              <a:rPr lang="en-US" sz="1100" dirty="0">
                <a:solidFill>
                  <a:srgbClr val="000000"/>
                </a:solidFill>
                <a:latin typeface="Times New Roman" pitchFamily="18" charset="0"/>
                <a:ea typeface="Arial"/>
                <a:cs typeface="Times New Roman" pitchFamily="18" charset="0"/>
                <a:sym typeface="Arial"/>
              </a:rPr>
              <a:t>accordingly.</a:t>
            </a: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we provide a direct</a:t>
            </a:r>
            <a:r>
              <a:rPr lang="en-US" baseline="0" dirty="0"/>
              <a:t> comparison of ECI across countries from 2013-2017. It can be seen that Japan and Germany, despite the fact that they do not have the highest GDP in the world (mostly due to a constraint of their country size and labor forces), exhibit top-tier economic complexity. The trends in general are consistent with our expectations when trying to define ”developed economies,” and reveal information on economic qualities of countries, which are typically not contained in the plain GDP numbers.</a:t>
            </a: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75fa313b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75fa313b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As aforementioned, the economy is always facing multiple paths in the journey of economic development, or equivalently, expansion of product space. While a certain sequence is efficient and reasonable for some countries, it may not be the case for others. Certain products are close substitutes. They share high proximity in a sense that possessing the productive knowledge embedded in their production resembles to each other. We then define connectedness of a product as the numeric average of proximity of it to all other products.  After calculation, high-end products clearly exhibit high connectedness, while rudimental products tend to be far away from other products. The intuition is to the joint probability of co-producing two products as the estimator of proximity. However, this doesn’t work out well. Instead, we use the minimum between the conditional probability of exporting product p given the country is currently exporting product p’ and that of exporting p’ given the country is exporting p, as our measure. We choose the minimum of each pair of conditional probability to minimize the false positive rate.</a:t>
            </a:r>
          </a:p>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75fa313b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75fa313b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Formally,</a:t>
            </a:r>
            <a:r>
              <a:rPr lang="en-US" baseline="0" dirty="0"/>
              <a:t> we see that </a:t>
            </a:r>
            <a:r>
              <a:rPr lang="en-US" sz="1100" baseline="0" dirty="0">
                <a:solidFill>
                  <a:srgbClr val="000000"/>
                </a:solidFill>
                <a:latin typeface="Times New Roman" pitchFamily="18" charset="0"/>
                <a:ea typeface="Times New Roman"/>
                <a:cs typeface="Times New Roman" pitchFamily="18" charset="0"/>
                <a:sym typeface="Times New Roman"/>
              </a:rPr>
              <a:t>certain </a:t>
            </a:r>
            <a:r>
              <a:rPr lang="en" sz="1100" dirty="0">
                <a:solidFill>
                  <a:srgbClr val="000000"/>
                </a:solidFill>
                <a:latin typeface="Times New Roman" pitchFamily="18" charset="0"/>
                <a:ea typeface="Times New Roman"/>
                <a:cs typeface="Times New Roman" pitchFamily="18" charset="0"/>
                <a:sym typeface="Times New Roman"/>
              </a:rPr>
              <a:t>products are composed of similar productive knowledge. We define connectedness of </a:t>
            </a:r>
            <a:r>
              <a:rPr lang="en-US" sz="1100" dirty="0">
                <a:solidFill>
                  <a:srgbClr val="000000"/>
                </a:solidFill>
                <a:latin typeface="Times New Roman" pitchFamily="18" charset="0"/>
                <a:ea typeface="Times New Roman"/>
                <a:cs typeface="Times New Roman" pitchFamily="18" charset="0"/>
                <a:sym typeface="Times New Roman"/>
              </a:rPr>
              <a:t>a</a:t>
            </a:r>
            <a:r>
              <a:rPr lang="en" sz="1100" dirty="0">
                <a:solidFill>
                  <a:srgbClr val="000000"/>
                </a:solidFill>
                <a:latin typeface="Times New Roman" pitchFamily="18" charset="0"/>
                <a:ea typeface="Times New Roman"/>
                <a:cs typeface="Times New Roman" pitchFamily="18" charset="0"/>
                <a:sym typeface="Times New Roman"/>
              </a:rPr>
              <a:t> product as the numeric average of proximity of it to all other products</a:t>
            </a:r>
            <a:r>
              <a:rPr lang="en-US" sz="1100" dirty="0">
                <a:solidFill>
                  <a:srgbClr val="000000"/>
                </a:solidFill>
                <a:latin typeface="Times New Roman" pitchFamily="18" charset="0"/>
                <a:ea typeface="Times New Roman"/>
                <a:cs typeface="Times New Roman" pitchFamily="18" charset="0"/>
                <a:sym typeface="Times New Roman"/>
              </a:rPr>
              <a:t>. </a:t>
            </a:r>
            <a:r>
              <a:rPr lang="en" sz="1100" dirty="0">
                <a:solidFill>
                  <a:srgbClr val="000000"/>
                </a:solidFill>
                <a:latin typeface="Times New Roman" pitchFamily="18" charset="0"/>
                <a:ea typeface="Times New Roman"/>
                <a:cs typeface="Times New Roman" pitchFamily="18" charset="0"/>
                <a:sym typeface="Times New Roman"/>
              </a:rPr>
              <a:t>We define the smaller conditional probability of exporting product p given the country is currently exporting product p’ and that of exporting p’ given the country is exporting p, as proximity. </a:t>
            </a:r>
            <a:r>
              <a:rPr lang="en-US" sz="1100" b="0" i="0" u="none" strike="noStrike" cap="none" dirty="0">
                <a:solidFill>
                  <a:srgbClr val="000000"/>
                </a:solidFill>
                <a:effectLst/>
                <a:latin typeface="Arial"/>
                <a:ea typeface="Arial"/>
                <a:cs typeface="Arial"/>
                <a:sym typeface="Arial"/>
              </a:rPr>
              <a:t>The difficulty for a country to produce a product outside its product space is simply the connectedness of the product to all products currently in the product space. We normalize it formally define it as Distance.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 sz="1100" dirty="0">
              <a:solidFill>
                <a:srgbClr val="000000"/>
              </a:solidFill>
              <a:latin typeface="Times New Roman" pitchFamily="18" charset="0"/>
              <a:ea typeface="Times New Roman"/>
              <a:cs typeface="Times New Roman" pitchFamily="18" charset="0"/>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475fa313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475fa313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are still in need of an estimator of profitability. Again, the profit of exploring a new product is not limited to the increase of GDP, or any figures on fiscal report. It’s more about the decrement of Distance to all other products far away from the product space. Such products should not be weighted uniformly. The more complex a product is, the higher value it should be assigned. We first calculate the total unexploited value for a country c, before and after the advance of a new product. The difference should be the “revenue” for the country c to develop product p. The “cost” is just a measurement of the difficulty of developing the product. The Opportunity Gain is simply the “revenue” net of “cost”. There is a trade-off between the increment of Total Unexploited Value and the difficulty of developing the product. While the advance of a new product draws all products closer to the product space, the low complexity and huge distance of the product also incur a cost. If the product is an extreme outlier far from the product space, and is loosely connected to other products, the Opportunity Gain can even go negative.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475fa313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475fa313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concept of Opportunity Gain, as well as ECI, is the foundation of the metric we introduce in the report. It’s important for us to understand that Opportunity Gain is only a conceptual estimate of the net gain of developing a product. It’s not measured in dollars or any real-world units. It is expressed in term of productive knowledge, and is too conceptual to be implemented in strategy making process directly. That’s why we further elaborate on the Opportunity Gain to calculate the marginal Opportunity Gain later</a:t>
            </a:r>
            <a:r>
              <a:rPr lang="en-US" sz="1100" b="0" i="0" u="none" strike="noStrike" cap="none" baseline="0" dirty="0">
                <a:solidFill>
                  <a:srgbClr val="000000"/>
                </a:solidFill>
                <a:effectLst/>
                <a:latin typeface="Arial"/>
                <a:ea typeface="Arial"/>
                <a:cs typeface="Arial"/>
                <a:sym typeface="Arial"/>
              </a:rPr>
              <a:t> on in our works</a:t>
            </a:r>
            <a:r>
              <a:rPr lang="en-US" sz="1100" b="0" i="0" u="none" strike="noStrike" cap="none" dirty="0">
                <a:solidFill>
                  <a:srgbClr val="000000"/>
                </a:solidFill>
                <a:effectLst/>
                <a:latin typeface="Arial"/>
                <a:ea typeface="Arial"/>
                <a:cs typeface="Arial"/>
                <a:sym typeface="Arial"/>
              </a:rPr>
              <a:t>.</a:t>
            </a:r>
          </a:p>
          <a:p>
            <a:pPr marL="0" lvl="0" indent="0" algn="l" rtl="0">
              <a:spcBef>
                <a:spcPts val="0"/>
              </a:spcBef>
              <a:spcAft>
                <a:spcPts val="0"/>
              </a:spcAft>
              <a:buNone/>
            </a:pP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475de84d53_0_1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475de84d53_0_1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start our own</a:t>
            </a:r>
            <a:r>
              <a:rPr lang="en-US" baseline="0" dirty="0"/>
              <a:t> works by formally categorizing the export products, defining the actual development index (ADI) and conducting regional and global comparison.</a:t>
            </a: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475de84d53_0_9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475de84d53_0_9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main data source in this research is the UN </a:t>
            </a:r>
            <a:r>
              <a:rPr lang="en-US" dirty="0" err="1"/>
              <a:t>Comtrade</a:t>
            </a:r>
            <a:r>
              <a:rPr lang="en-US" dirty="0"/>
              <a:t> Website, which provides us with valuable information on countries’ export data on an annual basis, including highly specific export data for more than 5000 categories of products. In order to have a holistic vision of the product space of a country, however, a level of categorization is required. Product groups in UN </a:t>
            </a:r>
            <a:r>
              <a:rPr lang="en-US" dirty="0" err="1"/>
              <a:t>Comtrade</a:t>
            </a:r>
            <a:r>
              <a:rPr lang="en-US" dirty="0"/>
              <a:t> are labelled from 010000-999999, with the first two-digits representing a general category to which the product belongs. Based on the 99 categories as extracted from the label, we further group the products into 18 major and widely-accepted industry categories, as shown in here.</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Note that the high-tech industry group is not a distinct industry but rather an aggregated industry that encompasses the most complicated products from the most technologically-advanced industries (as measured by PCI). This industry serves as an indicator for us to quantitatively evaluate how well a country has performed in developing cutting-edge technologies and closing its technical gap with advanced economies, which has become a topic of wide concern today. Indeed, when we rank the 18 categories based on </a:t>
            </a:r>
            <a:r>
              <a:rPr lang="en-US" dirty="0" err="1"/>
              <a:t>PfCI</a:t>
            </a:r>
            <a:r>
              <a:rPr lang="en-US" dirty="0"/>
              <a:t> (i.e., Product Family Complexity Index, an equivalent concept of PCI calculated based on the 18 categorized product families), high-tech industry has the highest </a:t>
            </a:r>
            <a:r>
              <a:rPr lang="en-US" dirty="0" err="1"/>
              <a:t>PfCI</a:t>
            </a:r>
            <a:r>
              <a:rPr lang="en-US" dirty="0"/>
              <a:t> among all industry families. </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further observe a strong positive correlation between the GDP and the export of high-tech products. A high adjusted R-square of 67.6% exists between GDP and high-tech exports, indicating that more successful economics, as measure by GDP, tend to be those that are capable of producing and exporting high-tech products as we defined.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Based on the product categorization aforementioned, the first step to understanding the </a:t>
            </a:r>
            <a:r>
              <a:rPr lang="en-US" dirty="0" err="1"/>
              <a:t>prodict</a:t>
            </a:r>
            <a:r>
              <a:rPr lang="en-US" dirty="0"/>
              <a:t> space of different economies is to capture their production</a:t>
            </a:r>
            <a:r>
              <a:rPr lang="en-US" baseline="0" dirty="0"/>
              <a:t> </a:t>
            </a:r>
            <a:r>
              <a:rPr lang="en-US" dirty="0"/>
              <a:t>strategies between 2009 and 2014 on a complexity level. In </a:t>
            </a:r>
            <a:r>
              <a:rPr lang="en-US" dirty="0" err="1"/>
              <a:t>Hausmann</a:t>
            </a:r>
            <a:r>
              <a:rPr lang="en-US" dirty="0"/>
              <a:t> and Hidalgo (2009), distance is defined to be a measure of how far a country is from a certain product not in its product space. We extend this concept to all product families and quantify how technically equipped a country is to develop corresponding product families. In other words, the shorter the distance between a country and a product group, the more capable a country is in developing products within that group. </a:t>
            </a:r>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endParaRPr lang="en-US" dirty="0"/>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Based on this concept of distance between countries and product families, we defining the net distance change between two periods as the Actual Developmental Index (ADI), which measures by how much a country has moved in the direction of a certain product family in its product space during the period. Our export data allows us to calculate and compare ADI of countries over the 18 product groups from 2009 to 2014, where a positive ADI indicates a shortening of the distance (i.e., relative advancement of the industry), and a negative ADI indicates the reverse. Note that this number is a normalized value that represents relative distance change in a global scale, and thus a negative value implies not an absolute degeneration of a certain industry, but rather a relative prioritization of other industries.</a:t>
            </a:r>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 </a:t>
            </a:r>
          </a:p>
          <a:p>
            <a:pPr marL="158750" marR="0" lvl="0" indent="0" algn="l" defTabSz="914400" rtl="0" eaLnBrk="1" fontAlgn="auto" latinLnBrk="0" hangingPunct="1">
              <a:lnSpc>
                <a:spcPct val="100000"/>
              </a:lnSpc>
              <a:spcBef>
                <a:spcPts val="0"/>
              </a:spcBef>
              <a:spcAft>
                <a:spcPts val="0"/>
              </a:spcAft>
              <a:buClr>
                <a:srgbClr val="000000"/>
              </a:buClr>
              <a:buSzPts val="1100"/>
              <a:buNone/>
              <a:tabLst/>
              <a:defRPr/>
            </a:pPr>
            <a:r>
              <a:rPr lang="en-US" dirty="0"/>
              <a:t>As shown by the example of China here, during the period from 2009 to 2014, China has focused on products with a moderate level of complexity and those requiring intermediate skills, including service, machinery and high-tech, which are rather advanced among developing economies. </a:t>
            </a:r>
          </a:p>
        </p:txBody>
      </p:sp>
    </p:spTree>
    <p:extLst>
      <p:ext uri="{BB962C8B-B14F-4D97-AF65-F5344CB8AC3E}">
        <p14:creationId xmlns:p14="http://schemas.microsoft.com/office/powerpoint/2010/main" val="19041964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475de84d53_0_10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475de84d53_0_10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next question to ask is how the strategy adopted by countries differ from each other and what trends we can observe. Here we illustrate the production strategies, as measured by ADI, adopted by a selected group of developed and emerging economies in the world, respectively. It can be directly observed that leading economies, such as U.S. and Germany, in general focus on products with higher level of complexity. Reasonably, emerging economics such as China</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and India have devoted the majority of their efforts into intermediate industry groups while developed economies rely more on advanced industry groups. This trend holds true in general, regardless of the continent or the time period, and thus could serves as an indicator for which phase of development a country is currently in as evaluated from their production strategy. Nevertheless, in order to more quantitative evaluate the effectiveness of different development strategies, we dive into the product space in depth in the next section to understand how countries should develop on an individual basis.</a:t>
            </a:r>
          </a:p>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475de84d53_0_10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475de84d53_0_10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that we know how</a:t>
            </a:r>
            <a:r>
              <a:rPr lang="en-US" baseline="0" dirty="0"/>
              <a:t> countries have developed, we should continue to evaluate how they should have developed, and we do so in our works through production space design &amp; optimization. We bring out the concepts of suggested development vector, sequential development strategy, sensitivity analysis and contingency plan to offer quantitative growth plans for countries, depending on their current level of development.</a:t>
            </a: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475de84d53_0_1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475de84d53_0_1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As aforementioned, distance gives us an idea of how far each new product is from a country’s current mix of exports. As defined in </a:t>
            </a:r>
            <a:r>
              <a:rPr lang="en-US" sz="1100" b="0" i="0" u="none" strike="noStrike" cap="none" dirty="0" err="1">
                <a:solidFill>
                  <a:srgbClr val="000000"/>
                </a:solidFill>
                <a:effectLst/>
                <a:latin typeface="Arial"/>
                <a:ea typeface="Arial"/>
                <a:cs typeface="Arial"/>
                <a:sym typeface="Arial"/>
              </a:rPr>
              <a:t>Hausmann</a:t>
            </a:r>
            <a:r>
              <a:rPr lang="en-US" sz="1100" b="0" i="0" u="none" strike="noStrike" cap="none" dirty="0">
                <a:solidFill>
                  <a:srgbClr val="000000"/>
                </a:solidFill>
                <a:effectLst/>
                <a:latin typeface="Arial"/>
                <a:ea typeface="Arial"/>
                <a:cs typeface="Arial"/>
                <a:sym typeface="Arial"/>
              </a:rPr>
              <a:t> and Hidalgo (2009), distance is “the weighted proportion of products connected to goods p that country c is not exporting, i.e., MCP=0.”  Based on this definition, the distance between a country and any product that the country is currently exporting (i.e., the country is a significant exporter in the product as compared to global average) is zero. Similarly, opportunity gain quantifies the contribution of a new product in term of opening up the doors to more and more complex products. Intuitively, a product that a country is currently exporting (i.e., MCP=1) has an opportunity gain of zero. And unreasonable investment on certain product p would lead to a relative decrement in export of more profitable products, and therefore lead to a negative opportunity gain of product p. The opportunity gain is not the only estimator of a country’s level of economic development. However, among countries with comparable economics quantity, those having higher ECI often have economics structures that are in better shape.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define the ranking of opportunity gain for a country c, as the Suggested Development Vector (SDV) of c. Here we summarize the SDV of a couple of countries</a:t>
            </a:r>
            <a:r>
              <a:rPr lang="en-US" sz="1100" b="0" i="0" u="none" strike="noStrike" cap="none" baseline="0" dirty="0">
                <a:solidFill>
                  <a:srgbClr val="000000"/>
                </a:solidFill>
                <a:effectLst/>
                <a:latin typeface="Arial"/>
                <a:ea typeface="Arial"/>
                <a:cs typeface="Arial"/>
                <a:sym typeface="Arial"/>
              </a:rPr>
              <a:t> in the world</a:t>
            </a:r>
            <a:r>
              <a:rPr lang="en-US" sz="1100" b="0" i="0" u="none" strike="noStrike" cap="none" dirty="0">
                <a:solidFill>
                  <a:srgbClr val="000000"/>
                </a:solidFill>
                <a:effectLst/>
                <a:latin typeface="Arial"/>
                <a:ea typeface="Arial"/>
                <a:cs typeface="Arial"/>
                <a:sym typeface="Arial"/>
              </a:rPr>
              <a:t>. The result shows that leading countries barely have any industries with positive opportunity gain. In other words, those countries are already in the most stable and efficient economic structure. Without the necessity of economic transition, those countries merely need to maintain a steady and balanced economic development. In contrast, developing countries such as Brazil and India have nearly half of industries with positive opportunity gain, and share common interests in manufacturing and machinery.</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It is noteworthy that not all leading economies have reached a stable equilibrium in terms of their economic structure, and in fact, it is possible for developing economies to have better balanced economic structures, despite the fact that their output quantities might not be as significant on a global scale. The result shows as that the analysis conducted on an economic complexity level might serve as a complement to existing economic indicators such as GDP, which provide information on quantity but not quality of countries’ economic progress.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aforementioned differences in economic structure between relatively advanced economies and developing economies imply that we need to adopt different methods for analyzing economies in different stages. For countries that have a large number of industries with positive opportunity gains, we need a sequential strategy that allows prioritization of certain industries to develop in the first stage. On the other hand, for countries that have already obtained a relatively stable economic structure, it is more important to answer questions such as how sensitive the countries are to shocks in various industries and what their contingency plans should be in those cases. Therefore, the rest of this section provides methods and examples to analyze those two groups of countries in a separate manner.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475de84d53_0_10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475de84d53_0_1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sequential economic development strategy aims to approximate the most efficient order of industrial development for countries with multiple industries to advance into. As discussed earlier, opportunity gain measures the potential profit in terms of economic complexity when a country invests on a product p to an extent such that the MCP bumps up from 0 to 1 (i.e., the country becomes a significant exporter in that product). Obviously, the difficulty of bumping up MCP varies across industries. Thus, we capture this variation of difficulty by defining the concept of marginal opportunity gains</a:t>
            </a:r>
            <a:r>
              <a:rPr lang="en-US" sz="1100" b="0" i="0" u="none" strike="noStrike" cap="none" baseline="0" dirty="0">
                <a:solidFill>
                  <a:srgbClr val="000000"/>
                </a:solidFill>
                <a:effectLst/>
                <a:latin typeface="Arial"/>
                <a:ea typeface="Arial"/>
                <a:cs typeface="Arial"/>
                <a:sym typeface="Arial"/>
              </a:rPr>
              <a:t> here.</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each iteration, we order all 18 industries based on their current marginal opportunity gain, and prioritize the industry with the highest marginal opportunity gain. We increase the prioritized industry’s export to an extent that the MCP firmly bumps up to 1. Then we re-perform calculations on countries’ marginal opportunity gains and update the next industry for the country to develop. Following this algorithm, we derive the iterative strategy for Morocco as an example. In Table 7, the industries are ranked by marginal opportunity gains in decreasing order, where dark grey indicates positive opportunity gain, gray indicates zero opportunity gains, and light grey indicates negative opportunity gains.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475de84d53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475de84d53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illustrate this idea using the</a:t>
            </a:r>
            <a:r>
              <a:rPr lang="en-US" baseline="0" dirty="0"/>
              <a:t> calculation results of Morocco. </a:t>
            </a:r>
            <a:r>
              <a:rPr lang="en-US" dirty="0"/>
              <a:t>The tables show that at present Morocco lacks necessary industrial power, and therefore barely has advantage in manufactured goods. Basic products such as textile, food and preparation are the foundation of intermediate-level products, and industries such as raw manufacturing and daily instrument are the second easiest step. It is noteworthy that the significance of high-tech drops extensively after the development of service re-opens the door of light industries and intermediate-level industries such as transportation and metals. Because Morocco has a large gap between its current product space and advanced product groups such as high-tech and machinery, it is extremely costly for Morocco to develop these two products even in the final stable stage, and Morocco may have a compelling industrial structure without a comparative edge in these two industry groups.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sequential development strategy above applies when a large number of industries with positive opportunity gains are being considered, and may serve as a general reference for countries in deciding which industries to prioritize by providing information on the dollar-weighted costs of developing these industries. However, since we are pivoting the algorithm on industries of one certain country, the strategy admittedly ignores dynamics of concurrent development in other economies, i.e., possible changes in economic structure of other countries and trade flows on a global scale. In reality, the predicting power of the sequential development strategy might not be strong when the planning horizon is too long, and countries should probably consider only the first few iterations when making prioritization decisions. Nevertheless, the strength of this algorithm lies in the fact that it is easy for countries to re-calculate/update the strategies once new export information becomes available. Moreover, it is meaningful to for countries to make such calculations on a rolling basis and observe how their prioritizations have changed in the past years and whether new adjustments are needed.</a:t>
            </a:r>
          </a:p>
          <a:p>
            <a:pPr marL="0" lvl="0" indent="0" algn="l" rtl="0">
              <a:spcBef>
                <a:spcPts val="0"/>
              </a:spcBef>
              <a:spcAft>
                <a:spcPts val="0"/>
              </a:spcAft>
              <a:buNone/>
            </a:pPr>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475de84d53_0_1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475de84d53_0_1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It’s worth noting that the Sequential Development Strategy is not universally applicable to all countries. It’s designed for less developed countries that have many positive Opportunity Gain industries. If there’s barely any positive Opportunity Gain industries, the Sequential Development Strategy obviously is obviously meaningless. In fact, most developed and fast developing countries fall into the category and their Suggested Development Vectors (SDV) exhibit a similar pattern.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lvl="0" indent="0" algn="l" rtl="0">
              <a:spcBef>
                <a:spcPts val="0"/>
              </a:spcBef>
              <a:spcAft>
                <a:spcPts val="0"/>
              </a:spcAft>
              <a:buNone/>
            </a:pPr>
            <a:r>
              <a:rPr lang="en-US" dirty="0"/>
              <a:t>However, there are also extreme cases, such as France in 2009. Financial hardship resulting from the global economic crisis have led to strikes, unemployment and other forms of widespread social unrest. Such upheavals further contribute to a massive regression in all industries. Hence, even though France is a well-developed country, it can also exhibit a SDV with many positive Opportunity Gain industries, which precisely represents the hardship France went through back in 2009.</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Therefore, instead of focusing on how to further balance the structure of product space, developed countries should take precautions against unexpected strikes and forecast the adverse effects industry by industry.  The regression of an industry with low PCI and low Opportunity Gain is less dangerous than that of cornerstone industries. High-tech is such a representative of the cornerstone industries, because High-tech connects to most of the profitable products that developed countries are currently specializing in. For the same token, Food and Preparation is one of the less fundamental industries for developed countries. Such intuition can be rigorously proved by the sensitivity analysis we are about to introduce.</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The sensitivity analysis aims to approximate the volatility of SDV subject to an instant increment or decrement of export and is mainly implemented on developed countries that</a:t>
            </a:r>
            <a:r>
              <a:rPr lang="en-US" baseline="0" dirty="0"/>
              <a:t> </a:t>
            </a:r>
            <a:r>
              <a:rPr lang="en-US" dirty="0"/>
              <a:t>have few industries with positive opportunity gains. To be more specific, sensitivity score is the least-squared slope for the linear regression between percentage change of production for</a:t>
            </a:r>
            <a:r>
              <a:rPr lang="en-US" baseline="0" dirty="0"/>
              <a:t> </a:t>
            </a:r>
            <a:r>
              <a:rPr lang="en-US" dirty="0"/>
              <a:t>Country C and Product P and the </a:t>
            </a:r>
            <a:r>
              <a:rPr lang="en-US" dirty="0" err="1"/>
              <a:t>EfCI</a:t>
            </a:r>
            <a:r>
              <a:rPr lang="en-US" dirty="0"/>
              <a:t> of C.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When the opportunity gain of the industry is negative, the sensitivity analysis approximates how an over-development of the industry jeopardizes the economic structure of a country. When the opportunity gain of the industry is zero, the sensitivity analysis determines whether the further development of the industry shapes the country a better economic structure, and predicts how the SDV would change accordingly.  Specifically, as we reduce the export of such an industry to 25%-50% of its original value, a few other industries originally with negative opportunity gain would probably become profitable. We separate the increment and decrement of production in the sensitivity analysis, because they tend to show vast difference. The extreme profitability of a spike of production doesn’t imply a shrink is always followed by a painful crisis.  </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As we expect, the shift of Food and Preparation production doesn’t alter the SDV at all. In contrast, the boom of High-tech can stimulate and bring extra potential to other high complexity industries, including Machinery, Transportation and Daily Instrument.</a:t>
            </a:r>
          </a:p>
          <a:p>
            <a:pPr marL="0" lvl="0" indent="0" algn="l" rtl="0">
              <a:spcBef>
                <a:spcPts val="0"/>
              </a:spcBef>
              <a:spcAft>
                <a:spcPts val="0"/>
              </a:spcAft>
              <a:buNone/>
            </a:pPr>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475de84d53_0_10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475de84d53_0_1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Contingency Plan aims to present a set of solutions with respect to upheavals in different industries. Instead of compensating for the declining production directly, the best strategy is to develop those incipiently profitable industries. In this manner, we can derive the contingency strategy for countries to deal with possible abrupt declines of crucial industries.  In some cases, the SDV remains unchanged even when a zero-opportunity-gain industry declines to its 20% in terms of export. We can then conclude the industry is not indispensable to the country. </a:t>
            </a:r>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475de84d53_0_10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475de84d53_0_10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Obviously,</a:t>
            </a:r>
            <a:r>
              <a:rPr lang="en-US" baseline="0" dirty="0"/>
              <a:t> we need to justify the aforementioned suggestions on prioritization and contingency plans by illustrating their effectiveness to countries’ macroeconomic outlook. We do so by formally defining the structural optimality index and showing some examples in this section.</a:t>
            </a:r>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475de84d53_0_10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475de84d53_0_10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Indeed, such choice of prioritization has proven to be a significant factor in deciding the economic outcomes of countries. In order to quantitatively evaluate how effective our development strategies are and how deviations from the suggested developmental path will lead to suboptimal growth results, we define the measure – Structural Optimality Index (SOI) – on a country level as the R-Square obtained from regressing the country’s actual development over the suggested development strategy. Both strategies are quantified in nature, with the actual development represented by export increase in every major industry groups and the suggested development strategy represented by the opportunity gains of developing the corresponding industry groups as calculated in previous sections. The adjusted R-square from the regression thus provides us with a quantified measure of how the development path adopted by the country has fitted with/differed from calculations on a complexity level.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After obtaining this measure for all countries in our database, we further regress countries’ five-year economic growth, which as defined as the net increase in GDP (USD), over their SOI. The</a:t>
            </a:r>
            <a:r>
              <a:rPr lang="en-US" baseline="0" dirty="0"/>
              <a:t> graph and table here </a:t>
            </a:r>
            <a:r>
              <a:rPr lang="en-US" dirty="0"/>
              <a:t>illustrate the regression output, which shows a strong positive correlation between countries’ SOI and their five-year GDP growth, significant at the 1% level and achieving an adjusted R2 of 11.9%. In other words, the more a country develops as suggested by calculations on a complexity level, the better economic outcomes it achieves.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475de84d53_0_1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475de84d53_0_1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To explain this finding in a more intuitive way, we take China and France as a comparison. As the regression graphs here suggest,</a:t>
            </a:r>
            <a:r>
              <a:rPr lang="en-US" baseline="0" dirty="0"/>
              <a:t> </a:t>
            </a:r>
            <a:r>
              <a:rPr lang="en-US" dirty="0"/>
              <a:t>the export increases of China in various industries demonstrate a high level of correlation with the opportunity gains of those industries, having an adjusted R-square (i.e., SOI) of around 82.8%. In fact, China ranks the 1st place among all countries in terms of SOI, meaning that it is developing in quite an optimal way, and also ranks the 1st place in terms of its economic growth rate from 2009 to 2014.</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situation in China is in direct contrast to that in developed economies such as France, where there is a moderate SOI of around 14.2% and a corresponding annual growth rate of merely 1.1%, ranking it a slow-developing economy during the period. In sum, France’s stagnant economic progress from 2009 to 2014 can be at least partially explained by a mismatched development strategy that demonstrates a considerable level of deviations from the suggested developmental path as calculated through opportunity gains. In specific, France invested/exported heavily in the transportation industry, while it should have focused more on industry groups such as service and machinery, which actually have higher opportunity gains based on calculations.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contrast of situations in China and France offers a glimpse of how</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the economic outcome of countries is positively associated with their structural optimality. In particular, countries such as China tend to have better growth, as measured by GDP, when they follow industry prioritization strategies closely based on opportunity gains, and the reverse is true for countries such as France. While a strict causality is hard to be established in this case because it is hard to control variables in such natural experiments, the correlated phenomenon is widely observed across different time spans of our interest. This implied that the calculations and further research on a complexity level are of importance and great values to countries, and may offer a guide for them to properly access and prioritize certain industries in face of practical constraints such as time and budget.</a:t>
            </a:r>
          </a:p>
          <a:p>
            <a:pPr marL="0" lvl="0" indent="0" algn="l" rtl="0">
              <a:spcBef>
                <a:spcPts val="0"/>
              </a:spcBef>
              <a:spcAft>
                <a:spcPts val="0"/>
              </a:spcAft>
              <a:buNone/>
            </a:pPr>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475de84d53_0_1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475de84d53_0_1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conclusion, we follow the footsteps on previous works related to Economic Complexity Index and put in more analysis on the product space for each country into the general framework. In particular, we categorized the highly specific global export data available on UN </a:t>
            </a:r>
            <a:r>
              <a:rPr lang="en-US" dirty="0" err="1"/>
              <a:t>Comtrade</a:t>
            </a:r>
            <a:r>
              <a:rPr lang="en-US" dirty="0"/>
              <a:t> to 18 manageable and intuitive industry categories. Extending the definitions of product complexity index to product families, we calculate distance between countries and product families in a corresponding manner and observe how countries have positioned themselves in their product space during the time span of our interest.</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We then dive into the question of how countries should develop given their current position in the product space and solve for strategies for countries on an individual basis. We propose a sequential development strategy for developing economies to prioritize certain industries in their expansion of their product space. We also put forward sensitivity analysis and contingency plan to prepare developed and fast developing countries for upheavals in their product space, especially solutions to deal with a possible collapse of their cornerstone industries.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particular, we come up with the structural optimality index to quantitatively measure and compare the strategies adopted by countries against the suggested developmental path. Regression shows a strong positive correlation between countries’ structural optimality and their economic outcomes, measured by GDP growth. This suggests that countries’ product space, as well as decisions to be made on the product space, are of great research values to economies and more works remain to be done in order to obtain a deeper understanding of how countries interact on the global production network.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More detailed analyses of fifteen selected economies can be found in the appendix of this presentation, and they largely represent how countries of each kind should develop in this ever-changing global market.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476aa49042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476aa49042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475fa313b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475fa313bc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475fa313b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475fa313b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5ff6084c4b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5ff6084c4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476aa49042_3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476aa49042_3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476aa49042_3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476aa49042_3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476aa49042_3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476aa49042_3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476aa49042_3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476aa49042_3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4777ffeb1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4777ffeb1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4777ffeb1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4777ffeb1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477cb0a07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477cb0a0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477cb0a07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477cb0a07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477cb0a07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477cb0a07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477cb0a07c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477cb0a07c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5ff6084c4b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5ff6084c4b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5ff6084c4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5ff6084c4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5ff6084c4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5ff6084c4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5ff6084c4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5ff6084c4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5ff6084c4b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5ff6084c4b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5ff6084c4b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5ff6084c4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5ff6084c4b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5ff6084c4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609f9883a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609f9883a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609f9883a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609f9883a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475de84d53_0_10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475de84d53_0_1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37781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1600"/>
              </a:spcBef>
              <a:spcAft>
                <a:spcPts val="0"/>
              </a:spcAft>
              <a:buClr>
                <a:schemeClr val="lt1"/>
              </a:buClr>
              <a:buSzPts val="1100"/>
              <a:buChar char="○"/>
              <a:defRPr>
                <a:solidFill>
                  <a:schemeClr val="lt1"/>
                </a:solidFill>
              </a:defRPr>
            </a:lvl2pPr>
            <a:lvl3pPr marL="1371600" lvl="2" indent="-298450" algn="ctr">
              <a:spcBef>
                <a:spcPts val="1600"/>
              </a:spcBef>
              <a:spcAft>
                <a:spcPts val="0"/>
              </a:spcAft>
              <a:buClr>
                <a:schemeClr val="lt1"/>
              </a:buClr>
              <a:buSzPts val="1100"/>
              <a:buChar char="■"/>
              <a:defRPr>
                <a:solidFill>
                  <a:schemeClr val="lt1"/>
                </a:solidFill>
              </a:defRPr>
            </a:lvl3pPr>
            <a:lvl4pPr marL="1828800" lvl="3" indent="-298450" algn="ctr">
              <a:spcBef>
                <a:spcPts val="1600"/>
              </a:spcBef>
              <a:spcAft>
                <a:spcPts val="0"/>
              </a:spcAft>
              <a:buClr>
                <a:schemeClr val="lt1"/>
              </a:buClr>
              <a:buSzPts val="1100"/>
              <a:buChar char="●"/>
              <a:defRPr>
                <a:solidFill>
                  <a:schemeClr val="lt1"/>
                </a:solidFill>
              </a:defRPr>
            </a:lvl4pPr>
            <a:lvl5pPr marL="2286000" lvl="4" indent="-298450" algn="ctr">
              <a:spcBef>
                <a:spcPts val="1600"/>
              </a:spcBef>
              <a:spcAft>
                <a:spcPts val="0"/>
              </a:spcAft>
              <a:buClr>
                <a:schemeClr val="lt1"/>
              </a:buClr>
              <a:buSzPts val="1100"/>
              <a:buChar char="○"/>
              <a:defRPr>
                <a:solidFill>
                  <a:schemeClr val="lt1"/>
                </a:solidFill>
              </a:defRPr>
            </a:lvl5pPr>
            <a:lvl6pPr marL="2743200" lvl="5" indent="-298450" algn="ctr">
              <a:spcBef>
                <a:spcPts val="1600"/>
              </a:spcBef>
              <a:spcAft>
                <a:spcPts val="0"/>
              </a:spcAft>
              <a:buClr>
                <a:schemeClr val="lt1"/>
              </a:buClr>
              <a:buSzPts val="1100"/>
              <a:buChar char="■"/>
              <a:defRPr>
                <a:solidFill>
                  <a:schemeClr val="lt1"/>
                </a:solidFill>
              </a:defRPr>
            </a:lvl6pPr>
            <a:lvl7pPr marL="3200400" lvl="6" indent="-298450" algn="ctr">
              <a:spcBef>
                <a:spcPts val="1600"/>
              </a:spcBef>
              <a:spcAft>
                <a:spcPts val="0"/>
              </a:spcAft>
              <a:buClr>
                <a:schemeClr val="lt1"/>
              </a:buClr>
              <a:buSzPts val="1100"/>
              <a:buChar char="●"/>
              <a:defRPr>
                <a:solidFill>
                  <a:schemeClr val="lt1"/>
                </a:solidFill>
              </a:defRPr>
            </a:lvl7pPr>
            <a:lvl8pPr marL="3657600" lvl="7" indent="-298450" algn="ctr">
              <a:spcBef>
                <a:spcPts val="1600"/>
              </a:spcBef>
              <a:spcAft>
                <a:spcPts val="0"/>
              </a:spcAft>
              <a:buClr>
                <a:schemeClr val="lt1"/>
              </a:buClr>
              <a:buSzPts val="1100"/>
              <a:buChar char="○"/>
              <a:defRPr>
                <a:solidFill>
                  <a:schemeClr val="lt1"/>
                </a:solidFill>
              </a:defRPr>
            </a:lvl8pPr>
            <a:lvl9pPr marL="4114800" lvl="8" indent="-298450" algn="ctr">
              <a:spcBef>
                <a:spcPts val="1600"/>
              </a:spcBef>
              <a:spcAft>
                <a:spcPts val="160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160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png"/><Relationship Id="rId7" Type="http://schemas.openxmlformats.org/officeDocument/2006/relationships/diagramQuickStyle" Target="../diagrams/quickStyle3.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6.jpeg"/><Relationship Id="rId9" Type="http://schemas.microsoft.com/office/2007/relationships/diagramDrawing" Target="../diagrams/drawing3.xml"/></Relationships>
</file>

<file path=ppt/slides/_rels/slide1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png"/><Relationship Id="rId7" Type="http://schemas.openxmlformats.org/officeDocument/2006/relationships/diagramColors" Target="../diagrams/colors4.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17.emf"/><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package" Target="../embeddings/Microsoft_Word_Document1.docx"/><Relationship Id="rId5" Type="http://schemas.openxmlformats.org/officeDocument/2006/relationships/image" Target="../media/image16.emf"/><Relationship Id="rId4" Type="http://schemas.openxmlformats.org/officeDocument/2006/relationships/package" Target="../embeddings/Microsoft_Word_Document.docx"/></Relationships>
</file>

<file path=ppt/slides/_rels/slide27.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png"/><Relationship Id="rId9" Type="http://schemas.openxmlformats.org/officeDocument/2006/relationships/image" Target="../media/image24.png"/></Relationships>
</file>

<file path=ppt/slides/_rels/slide28.xml.rels><?xml version="1.0" encoding="UTF-8" standalone="yes"?>
<Relationships xmlns="http://schemas.openxmlformats.org/package/2006/relationships"><Relationship Id="rId8" Type="http://schemas.openxmlformats.org/officeDocument/2006/relationships/package" Target="../embeddings/Microsoft_Word_Document4.docx"/><Relationship Id="rId13" Type="http://schemas.openxmlformats.org/officeDocument/2006/relationships/image" Target="../media/image29.emf"/><Relationship Id="rId18" Type="http://schemas.openxmlformats.org/officeDocument/2006/relationships/package" Target="../embeddings/Microsoft_Word_Document9.docx"/><Relationship Id="rId3" Type="http://schemas.openxmlformats.org/officeDocument/2006/relationships/notesSlide" Target="../notesSlides/notesSlide28.xml"/><Relationship Id="rId7" Type="http://schemas.openxmlformats.org/officeDocument/2006/relationships/image" Target="../media/image26.emf"/><Relationship Id="rId12" Type="http://schemas.openxmlformats.org/officeDocument/2006/relationships/package" Target="../embeddings/Microsoft_Word_Document6.docx"/><Relationship Id="rId17" Type="http://schemas.openxmlformats.org/officeDocument/2006/relationships/image" Target="../media/image31.emf"/><Relationship Id="rId2" Type="http://schemas.openxmlformats.org/officeDocument/2006/relationships/slideLayout" Target="../slideLayouts/slideLayout3.xml"/><Relationship Id="rId16" Type="http://schemas.openxmlformats.org/officeDocument/2006/relationships/package" Target="../embeddings/Microsoft_Word_Document8.docx"/><Relationship Id="rId1" Type="http://schemas.openxmlformats.org/officeDocument/2006/relationships/vmlDrawing" Target="../drawings/vmlDrawing2.vml"/><Relationship Id="rId6" Type="http://schemas.openxmlformats.org/officeDocument/2006/relationships/package" Target="../embeddings/Microsoft_Word_Document3.docx"/><Relationship Id="rId11" Type="http://schemas.openxmlformats.org/officeDocument/2006/relationships/image" Target="../media/image28.emf"/><Relationship Id="rId5" Type="http://schemas.openxmlformats.org/officeDocument/2006/relationships/image" Target="../media/image25.emf"/><Relationship Id="rId15" Type="http://schemas.openxmlformats.org/officeDocument/2006/relationships/image" Target="../media/image30.emf"/><Relationship Id="rId10" Type="http://schemas.openxmlformats.org/officeDocument/2006/relationships/package" Target="../embeddings/Microsoft_Word_Document5.docx"/><Relationship Id="rId19" Type="http://schemas.openxmlformats.org/officeDocument/2006/relationships/image" Target="../media/image32.emf"/><Relationship Id="rId4" Type="http://schemas.openxmlformats.org/officeDocument/2006/relationships/package" Target="../embeddings/Microsoft_Word_Document2.docx"/><Relationship Id="rId9" Type="http://schemas.openxmlformats.org/officeDocument/2006/relationships/image" Target="../media/image27.emf"/><Relationship Id="rId14" Type="http://schemas.openxmlformats.org/officeDocument/2006/relationships/package" Target="../embeddings/Microsoft_Word_Document7.docx"/></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40.emf"/><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package" Target="../embeddings/Microsoft_Word_Document11.docx"/><Relationship Id="rId5" Type="http://schemas.openxmlformats.org/officeDocument/2006/relationships/image" Target="../media/image39.emf"/><Relationship Id="rId4" Type="http://schemas.openxmlformats.org/officeDocument/2006/relationships/package" Target="../embeddings/Microsoft_Word_Document10.docx"/></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notesSlide" Target="../notesSlides/notesSlide34.xml"/><Relationship Id="rId7" Type="http://schemas.openxmlformats.org/officeDocument/2006/relationships/package" Target="../embeddings/Microsoft_Word_Document13.docx"/><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43.emf"/><Relationship Id="rId5" Type="http://schemas.openxmlformats.org/officeDocument/2006/relationships/package" Target="../embeddings/Microsoft_Word_Document12.docx"/><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notesSlide" Target="../notesSlides/notesSlide35.xml"/><Relationship Id="rId7" Type="http://schemas.openxmlformats.org/officeDocument/2006/relationships/image" Target="../media/image47.emf"/><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package" Target="../embeddings/Microsoft_Word_Document15.docx"/><Relationship Id="rId5" Type="http://schemas.openxmlformats.org/officeDocument/2006/relationships/image" Target="../media/image46.emf"/><Relationship Id="rId4" Type="http://schemas.openxmlformats.org/officeDocument/2006/relationships/package" Target="../embeddings/Microsoft_Word_Document14.docx"/></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57.png"/></Relationships>
</file>

<file path=ppt/slides/_rels/slide4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66.png"/><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5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5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5.xml"/><Relationship Id="rId1" Type="http://schemas.openxmlformats.org/officeDocument/2006/relationships/slideLayout" Target="../slideLayouts/slideLayout3.xml"/><Relationship Id="rId5" Type="http://schemas.openxmlformats.org/officeDocument/2006/relationships/image" Target="../media/image79.png"/><Relationship Id="rId4" Type="http://schemas.openxmlformats.org/officeDocument/2006/relationships/image" Target="../media/image78.png"/></Relationships>
</file>

<file path=ppt/slides/_rels/slide56.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5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7.xml"/><Relationship Id="rId1" Type="http://schemas.openxmlformats.org/officeDocument/2006/relationships/slideLayout" Target="../slideLayouts/slideLayout3.xml"/><Relationship Id="rId5" Type="http://schemas.openxmlformats.org/officeDocument/2006/relationships/image" Target="../media/image88.png"/><Relationship Id="rId4" Type="http://schemas.openxmlformats.org/officeDocument/2006/relationships/image" Target="../media/image87.png"/></Relationships>
</file>

<file path=ppt/slides/_rels/slide58.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58.xml"/><Relationship Id="rId1" Type="http://schemas.openxmlformats.org/officeDocument/2006/relationships/slideLayout" Target="../slideLayouts/slideLayout3.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5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9.xml"/><Relationship Id="rId1" Type="http://schemas.openxmlformats.org/officeDocument/2006/relationships/slideLayout" Target="../slideLayouts/slideLayout3.xml"/><Relationship Id="rId5" Type="http://schemas.openxmlformats.org/officeDocument/2006/relationships/image" Target="../media/image97.png"/><Relationship Id="rId4" Type="http://schemas.openxmlformats.org/officeDocument/2006/relationships/image" Target="../media/image96.png"/></Relationships>
</file>

<file path=ppt/slides/_rels/slide6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0.xml"/><Relationship Id="rId1" Type="http://schemas.openxmlformats.org/officeDocument/2006/relationships/slideLayout" Target="../slideLayouts/slideLayout3.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6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1.xml"/><Relationship Id="rId1" Type="http://schemas.openxmlformats.org/officeDocument/2006/relationships/slideLayout" Target="../slideLayouts/slideLayout3.xml"/><Relationship Id="rId5" Type="http://schemas.openxmlformats.org/officeDocument/2006/relationships/image" Target="../media/image104.png"/><Relationship Id="rId4" Type="http://schemas.openxmlformats.org/officeDocument/2006/relationships/image" Target="../media/image103.png"/></Relationships>
</file>

<file path=ppt/slides/_rels/slide62.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62.xml"/><Relationship Id="rId1" Type="http://schemas.openxmlformats.org/officeDocument/2006/relationships/slideLayout" Target="../slideLayouts/slideLayout3.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6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3.xml"/><Relationship Id="rId1" Type="http://schemas.openxmlformats.org/officeDocument/2006/relationships/slideLayout" Target="../slideLayouts/slideLayout3.xml"/><Relationship Id="rId5" Type="http://schemas.openxmlformats.org/officeDocument/2006/relationships/image" Target="../media/image112.png"/><Relationship Id="rId4" Type="http://schemas.openxmlformats.org/officeDocument/2006/relationships/image" Target="../media/image111.png"/></Relationships>
</file>

<file path=ppt/slides/_rels/slide64.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notesSlide" Target="../notesSlides/notesSlide64.xml"/><Relationship Id="rId1" Type="http://schemas.openxmlformats.org/officeDocument/2006/relationships/slideLayout" Target="../slideLayouts/slideLayout3.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6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65.xml"/><Relationship Id="rId1" Type="http://schemas.openxmlformats.org/officeDocument/2006/relationships/slideLayout" Target="../slideLayouts/slideLayout3.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6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6.xml"/><Relationship Id="rId1" Type="http://schemas.openxmlformats.org/officeDocument/2006/relationships/slideLayout" Target="../slideLayouts/slideLayout3.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6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7.xml"/><Relationship Id="rId1" Type="http://schemas.openxmlformats.org/officeDocument/2006/relationships/slideLayout" Target="../slideLayouts/slideLayout3.xml"/><Relationship Id="rId5" Type="http://schemas.openxmlformats.org/officeDocument/2006/relationships/image" Target="../media/image129.png"/><Relationship Id="rId4" Type="http://schemas.openxmlformats.org/officeDocument/2006/relationships/image" Target="../media/image128.png"/></Relationships>
</file>

<file path=ppt/slides/_rels/slide6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68.xml"/><Relationship Id="rId1" Type="http://schemas.openxmlformats.org/officeDocument/2006/relationships/slideLayout" Target="../slideLayouts/slideLayout3.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6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69.xml"/><Relationship Id="rId1" Type="http://schemas.openxmlformats.org/officeDocument/2006/relationships/slideLayout" Target="../slideLayouts/slideLayout3.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70.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0.xml"/><Relationship Id="rId1" Type="http://schemas.openxmlformats.org/officeDocument/2006/relationships/slideLayout" Target="../slideLayouts/slideLayout3.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7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71.xml"/><Relationship Id="rId1" Type="http://schemas.openxmlformats.org/officeDocument/2006/relationships/slideLayout" Target="../slideLayouts/slideLayout3.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7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2.xml"/><Relationship Id="rId1" Type="http://schemas.openxmlformats.org/officeDocument/2006/relationships/slideLayout" Target="../slideLayouts/slideLayout3.xml"/><Relationship Id="rId5" Type="http://schemas.openxmlformats.org/officeDocument/2006/relationships/image" Target="../media/image148.png"/><Relationship Id="rId4" Type="http://schemas.openxmlformats.org/officeDocument/2006/relationships/image" Target="../media/image147.png"/></Relationships>
</file>

<file path=ppt/slides/_rels/slide73.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49.png"/><Relationship Id="rId7" Type="http://schemas.openxmlformats.org/officeDocument/2006/relationships/image" Target="../media/image153.png"/><Relationship Id="rId2" Type="http://schemas.openxmlformats.org/officeDocument/2006/relationships/notesSlide" Target="../notesSlides/notesSlide73.xml"/><Relationship Id="rId1" Type="http://schemas.openxmlformats.org/officeDocument/2006/relationships/slideLayout" Target="../slideLayouts/slideLayout3.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041600"/>
            <a:ext cx="7012500" cy="187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dirty="0">
                <a:latin typeface="Times New Roman"/>
                <a:ea typeface="Times New Roman"/>
                <a:cs typeface="Times New Roman"/>
                <a:sym typeface="Times New Roman"/>
              </a:rPr>
              <a:t>Complexity-based Economic and Production Analysis: Overview and Country Report</a:t>
            </a:r>
            <a:endParaRPr sz="2600" dirty="0">
              <a:latin typeface="Times New Roman"/>
              <a:ea typeface="Times New Roman"/>
              <a:cs typeface="Times New Roman"/>
              <a:sym typeface="Times New Roman"/>
            </a:endParaRPr>
          </a:p>
        </p:txBody>
      </p:sp>
      <p:sp>
        <p:nvSpPr>
          <p:cNvPr id="278" name="Google Shape;278;p13"/>
          <p:cNvSpPr txBox="1">
            <a:spLocks noGrp="1"/>
          </p:cNvSpPr>
          <p:nvPr>
            <p:ph type="subTitle" idx="1"/>
          </p:nvPr>
        </p:nvSpPr>
        <p:spPr>
          <a:xfrm>
            <a:off x="824000" y="3367700"/>
            <a:ext cx="5387100" cy="695400"/>
          </a:xfrm>
          <a:prstGeom prst="rect">
            <a:avLst/>
          </a:prstGeom>
        </p:spPr>
        <p:txBody>
          <a:bodyPr spcFirstLastPara="1" wrap="square" lIns="91425" tIns="91425" rIns="91425" bIns="91425" anchor="t" anchorCtr="0">
            <a:noAutofit/>
          </a:bodyPr>
          <a:lstStyle/>
          <a:p>
            <a:pPr marL="0" lvl="0" indent="0"/>
            <a:r>
              <a:rPr lang="en" dirty="0" err="1">
                <a:latin typeface="Times New Roman"/>
                <a:ea typeface="Times New Roman"/>
                <a:cs typeface="Times New Roman"/>
                <a:sym typeface="Times New Roman"/>
              </a:rPr>
              <a:t>Soulaymane</a:t>
            </a:r>
            <a:r>
              <a:rPr lang="en" dirty="0">
                <a:latin typeface="Times New Roman"/>
                <a:ea typeface="Times New Roman"/>
                <a:cs typeface="Times New Roman"/>
                <a:sym typeface="Times New Roman"/>
              </a:rPr>
              <a:t> </a:t>
            </a:r>
            <a:r>
              <a:rPr lang="en" dirty="0" err="1">
                <a:latin typeface="Times New Roman"/>
                <a:ea typeface="Times New Roman"/>
                <a:cs typeface="Times New Roman"/>
                <a:sym typeface="Times New Roman"/>
              </a:rPr>
              <a:t>Kachani</a:t>
            </a:r>
            <a:r>
              <a:rPr lang="en" dirty="0">
                <a:latin typeface="Times New Roman"/>
                <a:ea typeface="Times New Roman"/>
                <a:cs typeface="Times New Roman"/>
                <a:sym typeface="Times New Roman"/>
              </a:rPr>
              <a:t>, </a:t>
            </a:r>
            <a:r>
              <a:rPr lang="en" dirty="0" err="1">
                <a:latin typeface="Times New Roman"/>
                <a:ea typeface="Times New Roman"/>
                <a:cs typeface="Times New Roman"/>
                <a:sym typeface="Times New Roman"/>
              </a:rPr>
              <a:t>Heyang</a:t>
            </a:r>
            <a:r>
              <a:rPr lang="en" dirty="0">
                <a:latin typeface="Times New Roman"/>
                <a:ea typeface="Times New Roman"/>
                <a:cs typeface="Times New Roman"/>
                <a:sym typeface="Times New Roman"/>
              </a:rPr>
              <a:t> Huang, </a:t>
            </a:r>
            <a:r>
              <a:rPr lang="en" dirty="0" err="1">
                <a:latin typeface="Times New Roman"/>
                <a:ea typeface="Times New Roman"/>
                <a:cs typeface="Times New Roman"/>
                <a:sym typeface="Times New Roman"/>
              </a:rPr>
              <a:t>Lun</a:t>
            </a:r>
            <a:r>
              <a:rPr lang="en" dirty="0">
                <a:latin typeface="Times New Roman"/>
                <a:ea typeface="Times New Roman"/>
                <a:cs typeface="Times New Roman"/>
                <a:sym typeface="Times New Roman"/>
              </a:rPr>
              <a:t> Li, </a:t>
            </a:r>
            <a:r>
              <a:rPr lang="en" dirty="0" err="1">
                <a:latin typeface="Times New Roman"/>
                <a:ea typeface="Times New Roman"/>
                <a:cs typeface="Times New Roman"/>
                <a:sym typeface="Times New Roman"/>
              </a:rPr>
              <a:t>Jiayu</a:t>
            </a:r>
            <a:r>
              <a:rPr lang="en" dirty="0">
                <a:latin typeface="Times New Roman"/>
                <a:ea typeface="Times New Roman"/>
                <a:cs typeface="Times New Roman"/>
                <a:sym typeface="Times New Roman"/>
              </a:rPr>
              <a:t> Zhao</a:t>
            </a:r>
            <a:endParaRPr dirty="0">
              <a:latin typeface="Times New Roman"/>
              <a:ea typeface="Times New Roman"/>
              <a:cs typeface="Times New Roman"/>
              <a:sym typeface="Times New Roman"/>
            </a:endParaRPr>
          </a:p>
          <a:p>
            <a:pPr marL="0" lvl="0" indent="0" algn="l" rtl="0">
              <a:spcBef>
                <a:spcPts val="0"/>
              </a:spcBef>
              <a:spcAft>
                <a:spcPts val="0"/>
              </a:spcAft>
              <a:buNone/>
            </a:pPr>
            <a:r>
              <a:rPr lang="en" dirty="0">
                <a:latin typeface="Times New Roman"/>
                <a:ea typeface="Times New Roman"/>
                <a:cs typeface="Times New Roman"/>
                <a:sym typeface="Times New Roman"/>
              </a:rPr>
              <a:t>Columbia University</a:t>
            </a:r>
            <a:endParaRPr dirty="0">
              <a:latin typeface="Times New Roman"/>
              <a:ea typeface="Times New Roman"/>
              <a:cs typeface="Times New Roman"/>
              <a:sym typeface="Times New Roman"/>
            </a:endParaRPr>
          </a:p>
        </p:txBody>
      </p:sp>
      <p:sp>
        <p:nvSpPr>
          <p:cNvPr id="279" name="Google Shape;279;p13"/>
          <p:cNvSpPr txBox="1">
            <a:spLocks noGrp="1"/>
          </p:cNvSpPr>
          <p:nvPr>
            <p:ph type="ctrTitle"/>
          </p:nvPr>
        </p:nvSpPr>
        <p:spPr>
          <a:xfrm>
            <a:off x="824000" y="2647950"/>
            <a:ext cx="7012500" cy="53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Times New Roman"/>
                <a:ea typeface="Times New Roman"/>
                <a:cs typeface="Times New Roman"/>
                <a:sym typeface="Times New Roman"/>
              </a:rPr>
              <a:t>With analysis for Brazil, China, Egypt, France, Germany, Japan, Malaysia, Mexico, Morocco, South Africa, South Korea, Spain, Turkey, UAE and USA</a:t>
            </a:r>
            <a:endParaRPr sz="1600">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49F0774-97AA-0341-B326-C9CE059A1249}"/>
              </a:ext>
            </a:extLst>
          </p:cNvPr>
          <p:cNvSpPr txBox="1"/>
          <p:nvPr/>
        </p:nvSpPr>
        <p:spPr>
          <a:xfrm>
            <a:off x="5878286" y="4167051"/>
            <a:ext cx="1958214" cy="307777"/>
          </a:xfrm>
          <a:prstGeom prst="rect">
            <a:avLst/>
          </a:prstGeom>
          <a:noFill/>
        </p:spPr>
        <p:txBody>
          <a:bodyPr wrap="square" rtlCol="0">
            <a:spAutoFit/>
          </a:bodyPr>
          <a:lstStyle/>
          <a:p>
            <a:r>
              <a:rPr lang="en-US" dirty="0">
                <a:solidFill>
                  <a:schemeClr val="bg1"/>
                </a:solidFill>
              </a:rPr>
              <a:t>September 27</a:t>
            </a:r>
            <a:r>
              <a:rPr lang="en-US" baseline="30000" dirty="0">
                <a:solidFill>
                  <a:schemeClr val="bg1"/>
                </a:solidFill>
              </a:rPr>
              <a:t>th</a:t>
            </a:r>
            <a:r>
              <a:rPr lang="en-US" dirty="0">
                <a:solidFill>
                  <a:schemeClr val="bg1"/>
                </a:solidFill>
              </a:rPr>
              <a:t>, 2019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Contents</a:t>
            </a:r>
            <a:endParaRPr>
              <a:latin typeface="Times New Roman"/>
              <a:ea typeface="Times New Roman"/>
              <a:cs typeface="Times New Roman"/>
              <a:sym typeface="Times New Roman"/>
            </a:endParaRPr>
          </a:p>
        </p:txBody>
      </p:sp>
      <p:sp>
        <p:nvSpPr>
          <p:cNvPr id="285" name="Google Shape;285;p14"/>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latin typeface="Times New Roman"/>
                <a:ea typeface="Times New Roman"/>
                <a:cs typeface="Times New Roman"/>
                <a:sym typeface="Times New Roman"/>
              </a:rPr>
              <a:t>1. Overview</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2. Economic Complexity Framework</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3. Production Analysis</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4. Product Space Design</a:t>
            </a:r>
            <a:endParaRPr sz="1400" dirty="0">
              <a:latin typeface="Times New Roman"/>
              <a:ea typeface="Times New Roman"/>
              <a:cs typeface="Times New Roman"/>
              <a:sym typeface="Times New Roman"/>
            </a:endParaRPr>
          </a:p>
          <a:p>
            <a:pPr marL="0" indent="0">
              <a:spcBef>
                <a:spcPts val="1600"/>
              </a:spcBef>
              <a:buNone/>
            </a:pPr>
            <a:r>
              <a:rPr lang="en" sz="1400" dirty="0">
                <a:latin typeface="Times New Roman"/>
                <a:ea typeface="Times New Roman"/>
                <a:cs typeface="Times New Roman"/>
                <a:sym typeface="Times New Roman"/>
              </a:rPr>
              <a:t>5. Macro-level Predictions</a:t>
            </a:r>
            <a:endParaRPr lang="en-US" sz="1400" dirty="0">
              <a:latin typeface="Times New Roman"/>
              <a:ea typeface="Times New Roman"/>
              <a:cs typeface="Times New Roman"/>
              <a:sym typeface="Times New Roman"/>
            </a:endParaRPr>
          </a:p>
          <a:p>
            <a:pPr marL="0" indent="0">
              <a:spcBef>
                <a:spcPts val="1600"/>
              </a:spcBef>
              <a:buNone/>
            </a:pPr>
            <a:r>
              <a:rPr lang="en-US" sz="1400" dirty="0">
                <a:latin typeface="Times New Roman"/>
                <a:ea typeface="Times New Roman"/>
                <a:cs typeface="Times New Roman"/>
                <a:sym typeface="Times New Roman"/>
              </a:rPr>
              <a:t>6.</a:t>
            </a:r>
            <a:r>
              <a:rPr lang="en" sz="1400" dirty="0">
                <a:latin typeface="Times New Roman"/>
                <a:ea typeface="Times New Roman"/>
                <a:cs typeface="Times New Roman"/>
                <a:sym typeface="Times New Roman"/>
              </a:rPr>
              <a:t> Appendix</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US" sz="1400" dirty="0">
                <a:latin typeface="Times New Roman"/>
                <a:ea typeface="Times New Roman"/>
                <a:cs typeface="Times New Roman"/>
                <a:sym typeface="Times New Roman"/>
              </a:rPr>
              <a:t>7</a:t>
            </a:r>
            <a:r>
              <a:rPr lang="en" sz="1400" dirty="0">
                <a:latin typeface="Times New Roman"/>
                <a:ea typeface="Times New Roman"/>
                <a:cs typeface="Times New Roman"/>
                <a:sym typeface="Times New Roman"/>
              </a:rPr>
              <a:t>. Reference</a:t>
            </a:r>
          </a:p>
        </p:txBody>
      </p:sp>
      <p:sp>
        <p:nvSpPr>
          <p:cNvPr id="286" name="Google Shape;286;p1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1. Overview</a:t>
            </a:r>
            <a:endParaRPr>
              <a:latin typeface="Times New Roman"/>
              <a:ea typeface="Times New Roman"/>
              <a:cs typeface="Times New Roman"/>
              <a:sym typeface="Times New Roman"/>
            </a:endParaRPr>
          </a:p>
        </p:txBody>
      </p:sp>
      <p:sp>
        <p:nvSpPr>
          <p:cNvPr id="292" name="Google Shape;292;p1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sp>
        <p:nvSpPr>
          <p:cNvPr id="293" name="Google Shape;293;p15"/>
          <p:cNvSpPr txBox="1">
            <a:spLocks noGrp="1"/>
          </p:cNvSpPr>
          <p:nvPr>
            <p:ph type="body" idx="1"/>
          </p:nvPr>
        </p:nvSpPr>
        <p:spPr>
          <a:xfrm>
            <a:off x="1303800" y="1224750"/>
            <a:ext cx="7030500" cy="3302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With an increasing volume of international trade, countries are more specialized than ever in production and have diversified into distinct production patterns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Based on global export data available to us, in this report we examine countries’ growth paths and product spaces on a complexity level, during the period from 2009 to 2014</a:t>
            </a:r>
            <a:endParaRPr sz="1400" dirty="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rest of the report is organized as follows:</a:t>
            </a:r>
            <a:endParaRPr sz="1400" b="1" dirty="0">
              <a:solidFill>
                <a:srgbClr val="000000"/>
              </a:solidFill>
              <a:latin typeface="Times New Roman"/>
              <a:ea typeface="Times New Roman"/>
              <a:cs typeface="Times New Roman"/>
              <a:sym typeface="Times New Roman"/>
            </a:endParaRPr>
          </a:p>
          <a:p>
            <a:pPr marL="457200" lvl="0" indent="0" algn="l" rtl="0">
              <a:spcBef>
                <a:spcPts val="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294" name="Google Shape;294;p15"/>
          <p:cNvSpPr/>
          <p:nvPr/>
        </p:nvSpPr>
        <p:spPr>
          <a:xfrm>
            <a:off x="1455700" y="2583000"/>
            <a:ext cx="1479900" cy="489900"/>
          </a:xfrm>
          <a:prstGeom prst="roundRect">
            <a:avLst>
              <a:gd name="adj" fmla="val 16667"/>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2</a:t>
            </a:r>
            <a:endParaRPr>
              <a:latin typeface="Times New Roman"/>
              <a:ea typeface="Times New Roman"/>
              <a:cs typeface="Times New Roman"/>
              <a:sym typeface="Times New Roman"/>
            </a:endParaRPr>
          </a:p>
        </p:txBody>
      </p:sp>
      <p:sp>
        <p:nvSpPr>
          <p:cNvPr id="295" name="Google Shape;295;p15"/>
          <p:cNvSpPr/>
          <p:nvPr/>
        </p:nvSpPr>
        <p:spPr>
          <a:xfrm>
            <a:off x="3129775" y="2583000"/>
            <a:ext cx="5204400" cy="489900"/>
          </a:xfrm>
          <a:prstGeom prst="roundRect">
            <a:avLst>
              <a:gd name="adj" fmla="val 16667"/>
            </a:avLst>
          </a:prstGeom>
          <a:solidFill>
            <a:srgbClr val="D0E0E3"/>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Countries’ economic complexity is quantified the same way as defined by Hausmann and Hidalgo (2009)</a:t>
            </a:r>
            <a:endParaRPr/>
          </a:p>
        </p:txBody>
      </p:sp>
      <p:sp>
        <p:nvSpPr>
          <p:cNvPr id="296" name="Google Shape;296;p15"/>
          <p:cNvSpPr/>
          <p:nvPr/>
        </p:nvSpPr>
        <p:spPr>
          <a:xfrm>
            <a:off x="1455675" y="3149100"/>
            <a:ext cx="1479900" cy="489900"/>
          </a:xfrm>
          <a:prstGeom prst="roundRect">
            <a:avLst>
              <a:gd name="adj" fmla="val 16667"/>
            </a:avLst>
          </a:prstGeom>
          <a:solidFill>
            <a:srgbClr val="A2C4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3</a:t>
            </a:r>
            <a:endParaRPr>
              <a:latin typeface="Times New Roman"/>
              <a:ea typeface="Times New Roman"/>
              <a:cs typeface="Times New Roman"/>
              <a:sym typeface="Times New Roman"/>
            </a:endParaRPr>
          </a:p>
        </p:txBody>
      </p:sp>
      <p:sp>
        <p:nvSpPr>
          <p:cNvPr id="297" name="Google Shape;297;p15"/>
          <p:cNvSpPr/>
          <p:nvPr/>
        </p:nvSpPr>
        <p:spPr>
          <a:xfrm>
            <a:off x="3129775" y="3149100"/>
            <a:ext cx="5204400" cy="489900"/>
          </a:xfrm>
          <a:prstGeom prst="roundRect">
            <a:avLst>
              <a:gd name="adj" fmla="val 16667"/>
            </a:avLst>
          </a:prstGeom>
          <a:solidFill>
            <a:srgbClr val="A2C4C9"/>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Products are grouped into industry families and the growth paths adopted by countries during the period are closely examined</a:t>
            </a:r>
            <a:endParaRPr>
              <a:latin typeface="Times New Roman"/>
              <a:ea typeface="Times New Roman"/>
              <a:cs typeface="Times New Roman"/>
              <a:sym typeface="Times New Roman"/>
            </a:endParaRPr>
          </a:p>
        </p:txBody>
      </p:sp>
      <p:sp>
        <p:nvSpPr>
          <p:cNvPr id="298" name="Google Shape;298;p15"/>
          <p:cNvSpPr/>
          <p:nvPr/>
        </p:nvSpPr>
        <p:spPr>
          <a:xfrm>
            <a:off x="1455675" y="3715200"/>
            <a:ext cx="1479900" cy="489900"/>
          </a:xfrm>
          <a:prstGeom prst="roundRect">
            <a:avLst>
              <a:gd name="adj" fmla="val 16667"/>
            </a:avLst>
          </a:prstGeom>
          <a:solidFill>
            <a:srgbClr val="76A5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4</a:t>
            </a:r>
            <a:endParaRPr>
              <a:latin typeface="Times New Roman"/>
              <a:ea typeface="Times New Roman"/>
              <a:cs typeface="Times New Roman"/>
              <a:sym typeface="Times New Roman"/>
            </a:endParaRPr>
          </a:p>
        </p:txBody>
      </p:sp>
      <p:sp>
        <p:nvSpPr>
          <p:cNvPr id="299" name="Google Shape;299;p15"/>
          <p:cNvSpPr/>
          <p:nvPr/>
        </p:nvSpPr>
        <p:spPr>
          <a:xfrm>
            <a:off x="1455675" y="4281300"/>
            <a:ext cx="14799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5</a:t>
            </a:r>
            <a:endParaRPr>
              <a:latin typeface="Times New Roman"/>
              <a:ea typeface="Times New Roman"/>
              <a:cs typeface="Times New Roman"/>
              <a:sym typeface="Times New Roman"/>
            </a:endParaRPr>
          </a:p>
        </p:txBody>
      </p:sp>
      <p:sp>
        <p:nvSpPr>
          <p:cNvPr id="300" name="Google Shape;300;p15"/>
          <p:cNvSpPr/>
          <p:nvPr/>
        </p:nvSpPr>
        <p:spPr>
          <a:xfrm>
            <a:off x="3129775" y="3715200"/>
            <a:ext cx="5204400" cy="489900"/>
          </a:xfrm>
          <a:prstGeom prst="roundRect">
            <a:avLst>
              <a:gd name="adj" fmla="val 16667"/>
            </a:avLst>
          </a:prstGeom>
          <a:solidFill>
            <a:srgbClr val="76A5AF"/>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Analyses are conducted on countries’ sequential development strategy, sensitivity to industry upheaval and the contingency plan</a:t>
            </a:r>
            <a:endParaRPr>
              <a:latin typeface="Times New Roman"/>
              <a:ea typeface="Times New Roman"/>
              <a:cs typeface="Times New Roman"/>
              <a:sym typeface="Times New Roman"/>
            </a:endParaRPr>
          </a:p>
        </p:txBody>
      </p:sp>
      <p:sp>
        <p:nvSpPr>
          <p:cNvPr id="301" name="Google Shape;301;p15"/>
          <p:cNvSpPr/>
          <p:nvPr/>
        </p:nvSpPr>
        <p:spPr>
          <a:xfrm>
            <a:off x="3129775" y="4281300"/>
            <a:ext cx="52044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Macro-level results are used to assess countries’ structural optimality</a:t>
            </a:r>
            <a:endParaRPr>
              <a:latin typeface="Times New Roman"/>
              <a:ea typeface="Times New Roman"/>
              <a:cs typeface="Times New Roman"/>
              <a:sym typeface="Times New Roman"/>
            </a:endParaRPr>
          </a:p>
        </p:txBody>
      </p:sp>
      <p:sp>
        <p:nvSpPr>
          <p:cNvPr id="302" name="Google Shape;302;p15"/>
          <p:cNvSpPr/>
          <p:nvPr/>
        </p:nvSpPr>
        <p:spPr>
          <a:xfrm>
            <a:off x="1455675" y="4668600"/>
            <a:ext cx="14799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imes New Roman"/>
                <a:ea typeface="Times New Roman"/>
                <a:cs typeface="Times New Roman"/>
                <a:sym typeface="Times New Roman"/>
              </a:rPr>
              <a:t>Section </a:t>
            </a:r>
            <a:r>
              <a:rPr lang="en-US" dirty="0">
                <a:latin typeface="Times New Roman"/>
                <a:ea typeface="Times New Roman"/>
                <a:cs typeface="Times New Roman"/>
                <a:sym typeface="Times New Roman"/>
              </a:rPr>
              <a:t>6</a:t>
            </a:r>
            <a:endParaRPr dirty="0">
              <a:latin typeface="Times New Roman"/>
              <a:ea typeface="Times New Roman"/>
              <a:cs typeface="Times New Roman"/>
              <a:sym typeface="Times New Roman"/>
            </a:endParaRPr>
          </a:p>
        </p:txBody>
      </p:sp>
      <p:sp>
        <p:nvSpPr>
          <p:cNvPr id="303" name="Google Shape;303;p15"/>
          <p:cNvSpPr/>
          <p:nvPr/>
        </p:nvSpPr>
        <p:spPr>
          <a:xfrm>
            <a:off x="3129775" y="4668600"/>
            <a:ext cx="52044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Country-specific results are available for further reviews</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6"/>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6"/>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latin typeface="Times New Roman"/>
                <a:ea typeface="Times New Roman"/>
                <a:cs typeface="Times New Roman"/>
                <a:sym typeface="Times New Roman"/>
              </a:rPr>
              <a:t>2. Economic Complexity Framework</a:t>
            </a:r>
            <a:endParaRPr>
              <a:latin typeface="Times New Roman"/>
              <a:ea typeface="Times New Roman"/>
              <a:cs typeface="Times New Roman"/>
              <a:sym typeface="Times New Roman"/>
            </a:endParaRPr>
          </a:p>
        </p:txBody>
      </p:sp>
      <p:sp>
        <p:nvSpPr>
          <p:cNvPr id="311" name="Google Shape;311;p16"/>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2.1 Economic Complexity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2.2 Production Matrix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2.3 Diversity and Ubiquity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2.4 Economic &amp; Product Complexity Index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2.5 Proximity and Distance</a:t>
            </a:r>
            <a:endParaRPr sz="1400">
              <a:latin typeface="Times New Roman"/>
              <a:ea typeface="Times New Roman"/>
              <a:cs typeface="Times New Roman"/>
              <a:sym typeface="Times New Roman"/>
            </a:endParaRPr>
          </a:p>
          <a:p>
            <a:pPr marL="0" lvl="0" indent="0" algn="l" rtl="0">
              <a:spcBef>
                <a:spcPts val="1600"/>
              </a:spcBef>
              <a:spcAft>
                <a:spcPts val="1600"/>
              </a:spcAft>
              <a:buNone/>
            </a:pPr>
            <a:r>
              <a:rPr lang="en" sz="1400">
                <a:latin typeface="Times New Roman"/>
                <a:ea typeface="Times New Roman"/>
                <a:cs typeface="Times New Roman"/>
                <a:sym typeface="Times New Roman"/>
              </a:rPr>
              <a:t>2.6 Opportunity Gain</a:t>
            </a:r>
            <a:endParaRPr sz="1400">
              <a:latin typeface="Times New Roman"/>
              <a:ea typeface="Times New Roman"/>
              <a:cs typeface="Times New Roman"/>
              <a:sym typeface="Times New Roman"/>
            </a:endParaRPr>
          </a:p>
        </p:txBody>
      </p:sp>
      <p:sp>
        <p:nvSpPr>
          <p:cNvPr id="312" name="Google Shape;312;p1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a:p>
        </p:txBody>
      </p:sp>
      <p:sp>
        <p:nvSpPr>
          <p:cNvPr id="8" name="TextBox 7"/>
          <p:cNvSpPr txBox="1"/>
          <p:nvPr/>
        </p:nvSpPr>
        <p:spPr>
          <a:xfrm>
            <a:off x="1120250" y="1266169"/>
            <a:ext cx="4605453" cy="1384995"/>
          </a:xfrm>
          <a:prstGeom prst="rect">
            <a:avLst/>
          </a:prstGeom>
          <a:noFill/>
        </p:spPr>
        <p:txBody>
          <a:bodyPr wrap="square" rtlCol="0">
            <a:spAutoFit/>
          </a:bodyPr>
          <a:lstStyle/>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In the era of globalization, more and more economies decide to specialize in the production. The global market and international organizations allow the knowledge that is held by the few to reach many.</a:t>
            </a:r>
          </a:p>
          <a:p>
            <a:pPr>
              <a:buFont typeface="Arial" pitchFamily="34" charset="0"/>
              <a:buChar char="•"/>
            </a:pPr>
            <a:endParaRPr lang="en-US"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graphicFrame>
        <p:nvGraphicFramePr>
          <p:cNvPr id="14" name="图示 13"/>
          <p:cNvGraphicFramePr/>
          <p:nvPr>
            <p:extLst>
              <p:ext uri="{D42A27DB-BD31-4B8C-83A1-F6EECF244321}">
                <p14:modId xmlns:p14="http://schemas.microsoft.com/office/powerpoint/2010/main" val="566443073"/>
              </p:ext>
            </p:extLst>
          </p:nvPr>
        </p:nvGraphicFramePr>
        <p:xfrm>
          <a:off x="524109" y="2481943"/>
          <a:ext cx="4605453" cy="27061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10" name="图片 9"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a:t>
            </a:fld>
            <a:endParaRPr/>
          </a:p>
        </p:txBody>
      </p:sp>
      <p:sp>
        <p:nvSpPr>
          <p:cNvPr id="8" name="矩形 7"/>
          <p:cNvSpPr/>
          <p:nvPr/>
        </p:nvSpPr>
        <p:spPr>
          <a:xfrm>
            <a:off x="1136976" y="1358013"/>
            <a:ext cx="4572000" cy="1169551"/>
          </a:xfrm>
          <a:prstGeom prst="rect">
            <a:avLst/>
          </a:prstGeom>
        </p:spPr>
        <p:txBody>
          <a:bodyPr>
            <a:spAutoFit/>
          </a:bodyPr>
          <a:lstStyle/>
          <a:p>
            <a:r>
              <a:rPr lang="en-US" dirty="0">
                <a:latin typeface="Times New Roman" pitchFamily="18" charset="0"/>
                <a:cs typeface="Times New Roman" pitchFamily="18" charset="0"/>
              </a:rPr>
              <a:t>Meanwhile, the uneven distribution of  productive knowledge is widening gap between rich and poor economies. The uneven distribution is expressed in the diversity and sophistication of products the economies produce.</a:t>
            </a:r>
            <a:endParaRPr lang="en-US" dirty="0"/>
          </a:p>
        </p:txBody>
      </p:sp>
      <p:pic>
        <p:nvPicPr>
          <p:cNvPr id="9" name="图片 8" descr="crop-gdp.jpg"/>
          <p:cNvPicPr>
            <a:picLocks noChangeAspect="1"/>
          </p:cNvPicPr>
          <p:nvPr/>
        </p:nvPicPr>
        <p:blipFill>
          <a:blip r:embed="rId4"/>
          <a:stretch>
            <a:fillRect/>
          </a:stretch>
        </p:blipFill>
        <p:spPr>
          <a:xfrm>
            <a:off x="234174" y="2527564"/>
            <a:ext cx="5464097" cy="2615936"/>
          </a:xfrm>
          <a:prstGeom prst="rect">
            <a:avLst/>
          </a:prstGeom>
          <a:effectLst>
            <a:softEdge rad="63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grpSp>
        <p:nvGrpSpPr>
          <p:cNvPr id="2" name="组合 11"/>
          <p:cNvGrpSpPr/>
          <p:nvPr/>
        </p:nvGrpSpPr>
        <p:grpSpPr>
          <a:xfrm>
            <a:off x="1617782" y="2171688"/>
            <a:ext cx="3303252" cy="2462716"/>
            <a:chOff x="936702" y="1505415"/>
            <a:chExt cx="3397406" cy="2499959"/>
          </a:xfrm>
        </p:grpSpPr>
        <p:sp>
          <p:nvSpPr>
            <p:cNvPr id="9" name="圆角矩形 8"/>
            <p:cNvSpPr/>
            <p:nvPr/>
          </p:nvSpPr>
          <p:spPr>
            <a:xfrm>
              <a:off x="936702" y="1505415"/>
              <a:ext cx="3378820" cy="94785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矩形 7"/>
            <p:cNvSpPr/>
            <p:nvPr/>
          </p:nvSpPr>
          <p:spPr>
            <a:xfrm>
              <a:off x="1070516" y="1577950"/>
              <a:ext cx="3066585" cy="738664"/>
            </a:xfrm>
            <a:prstGeom prst="rect">
              <a:avLst/>
            </a:prstGeom>
          </p:spPr>
          <p:txBody>
            <a:bodyPr wrap="square">
              <a:spAutoFit/>
            </a:bodyPr>
            <a:lstStyle/>
            <a:p>
              <a:r>
                <a:rPr lang="en-US" dirty="0">
                  <a:latin typeface="Times New Roman" pitchFamily="18" charset="0"/>
                  <a:cs typeface="Times New Roman" pitchFamily="18" charset="0"/>
                </a:rPr>
                <a:t>The complexity of an economy is related to the multiplicity of useful knowledge embedded in it.</a:t>
              </a:r>
            </a:p>
          </p:txBody>
        </p:sp>
        <p:sp>
          <p:nvSpPr>
            <p:cNvPr id="10" name="圆角矩形 9"/>
            <p:cNvSpPr/>
            <p:nvPr/>
          </p:nvSpPr>
          <p:spPr>
            <a:xfrm>
              <a:off x="955288" y="2708117"/>
              <a:ext cx="3378820" cy="129725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矩形 10"/>
            <p:cNvSpPr/>
            <p:nvPr/>
          </p:nvSpPr>
          <p:spPr>
            <a:xfrm>
              <a:off x="1089102" y="2789576"/>
              <a:ext cx="3066585" cy="1169550"/>
            </a:xfrm>
            <a:prstGeom prst="rect">
              <a:avLst/>
            </a:prstGeom>
          </p:spPr>
          <p:txBody>
            <a:bodyPr wrap="square">
              <a:spAutoFit/>
            </a:bodyPr>
            <a:lstStyle/>
            <a:p>
              <a:r>
                <a:rPr lang="en-US" dirty="0">
                  <a:latin typeface="Times New Roman" pitchFamily="18" charset="0"/>
                  <a:cs typeface="Times New Roman" pitchFamily="18" charset="0"/>
                </a:rPr>
                <a:t>Economic complexity, therefore, is expressed in the composition of a country’s productive output and reflects the structure that emerges to hold and combine knowledge</a:t>
              </a:r>
            </a:p>
          </p:txBody>
        </p:sp>
      </p:grpSp>
      <p:pic>
        <p:nvPicPr>
          <p:cNvPr id="14" name="图片 13"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13" name="TextBox 12"/>
          <p:cNvSpPr txBox="1"/>
          <p:nvPr/>
        </p:nvSpPr>
        <p:spPr>
          <a:xfrm>
            <a:off x="1608992" y="1538654"/>
            <a:ext cx="3324949" cy="338554"/>
          </a:xfrm>
          <a:prstGeom prst="rect">
            <a:avLst/>
          </a:prstGeom>
          <a:noFill/>
        </p:spPr>
        <p:txBody>
          <a:bodyPr wrap="none" rtlCol="0">
            <a:spAutoFit/>
          </a:bodyPr>
          <a:lstStyle/>
          <a:p>
            <a:r>
              <a:rPr lang="en-US" sz="1600" b="1" dirty="0">
                <a:latin typeface="Times New Roman" pitchFamily="18" charset="0"/>
                <a:cs typeface="Times New Roman" pitchFamily="18" charset="0"/>
              </a:rPr>
              <a:t> Definition of Economic Complexity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13" name="图片 12" descr="world-map.png"/>
          <p:cNvPicPr>
            <a:picLocks noChangeAspect="1"/>
          </p:cNvPicPr>
          <p:nvPr/>
        </p:nvPicPr>
        <p:blipFill>
          <a:blip r:embed="rId3"/>
          <a:stretch>
            <a:fillRect/>
          </a:stretch>
        </p:blipFill>
        <p:spPr>
          <a:xfrm rot="5400000">
            <a:off x="4729470" y="979506"/>
            <a:ext cx="5143500" cy="3184488"/>
          </a:xfrm>
          <a:prstGeom prst="rect">
            <a:avLst/>
          </a:prstGeom>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sp>
        <p:nvSpPr>
          <p:cNvPr id="8" name="矩形 7"/>
          <p:cNvSpPr/>
          <p:nvPr/>
        </p:nvSpPr>
        <p:spPr>
          <a:xfrm>
            <a:off x="1136976" y="1241279"/>
            <a:ext cx="4572000" cy="307777"/>
          </a:xfrm>
          <a:prstGeom prst="rect">
            <a:avLst/>
          </a:prstGeom>
        </p:spPr>
        <p:txBody>
          <a:bodyPr>
            <a:spAutoFit/>
          </a:bodyPr>
          <a:lstStyle/>
          <a:p>
            <a:r>
              <a:rPr lang="en-US" dirty="0">
                <a:latin typeface="Times New Roman" pitchFamily="18" charset="0"/>
                <a:cs typeface="Times New Roman" pitchFamily="18" charset="0"/>
              </a:rPr>
              <a:t> There are two types of productive knowledge: </a:t>
            </a:r>
            <a:endParaRPr lang="en-US" dirty="0"/>
          </a:p>
        </p:txBody>
      </p:sp>
      <p:grpSp>
        <p:nvGrpSpPr>
          <p:cNvPr id="19" name="组合 18"/>
          <p:cNvGrpSpPr/>
          <p:nvPr/>
        </p:nvGrpSpPr>
        <p:grpSpPr>
          <a:xfrm>
            <a:off x="4713971" y="2240579"/>
            <a:ext cx="1611195" cy="1509854"/>
            <a:chOff x="3766402" y="1816823"/>
            <a:chExt cx="1611195" cy="1509854"/>
          </a:xfrm>
        </p:grpSpPr>
        <p:grpSp>
          <p:nvGrpSpPr>
            <p:cNvPr id="16" name="组合 15"/>
            <p:cNvGrpSpPr/>
            <p:nvPr/>
          </p:nvGrpSpPr>
          <p:grpSpPr>
            <a:xfrm>
              <a:off x="3766402" y="1816823"/>
              <a:ext cx="1611195" cy="1509854"/>
              <a:chOff x="0" y="387"/>
              <a:chExt cx="1611195" cy="1509854"/>
            </a:xfrm>
          </p:grpSpPr>
          <p:sp>
            <p:nvSpPr>
              <p:cNvPr id="17" name="圆角矩形 16"/>
              <p:cNvSpPr/>
              <p:nvPr/>
            </p:nvSpPr>
            <p:spPr>
              <a:xfrm>
                <a:off x="0" y="387"/>
                <a:ext cx="1611195" cy="1509854"/>
              </a:xfrm>
              <a:prstGeom prst="roundRect">
                <a:avLst/>
              </a:prstGeom>
            </p:spPr>
            <p:style>
              <a:lnRef idx="1">
                <a:schemeClr val="accent3"/>
              </a:lnRef>
              <a:fillRef idx="2">
                <a:schemeClr val="accent3"/>
              </a:fillRef>
              <a:effectRef idx="1">
                <a:schemeClr val="accent3"/>
              </a:effectRef>
              <a:fontRef idx="minor">
                <a:schemeClr val="dk1"/>
              </a:fontRef>
            </p:style>
          </p:sp>
          <p:sp>
            <p:nvSpPr>
              <p:cNvPr id="18" name="圆角矩形 4"/>
              <p:cNvSpPr/>
              <p:nvPr/>
            </p:nvSpPr>
            <p:spPr>
              <a:xfrm>
                <a:off x="73705" y="74092"/>
                <a:ext cx="1463785" cy="136244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endParaRPr lang="en-US" sz="1400" kern="1200" dirty="0"/>
              </a:p>
            </p:txBody>
          </p:sp>
        </p:grpSp>
        <p:sp>
          <p:nvSpPr>
            <p:cNvPr id="15" name="矩形 14"/>
            <p:cNvSpPr/>
            <p:nvPr/>
          </p:nvSpPr>
          <p:spPr>
            <a:xfrm>
              <a:off x="3784922" y="1923377"/>
              <a:ext cx="1539432" cy="1384995"/>
            </a:xfrm>
            <a:prstGeom prst="rect">
              <a:avLst/>
            </a:prstGeom>
          </p:spPr>
          <p:txBody>
            <a:bodyPr wrap="square">
              <a:spAutoFit/>
            </a:bodyPr>
            <a:lstStyle/>
            <a:p>
              <a:r>
                <a:rPr lang="en-US" dirty="0">
                  <a:latin typeface="Times New Roman" pitchFamily="18" charset="0"/>
                  <a:cs typeface="Times New Roman" pitchFamily="18" charset="0"/>
                </a:rPr>
                <a:t> A lack of crucial tacit knowledge is the hindrance that an economy faces in its development and growth</a:t>
              </a:r>
              <a:endParaRPr lang="en-US" dirty="0"/>
            </a:p>
          </p:txBody>
        </p:sp>
      </p:grpSp>
      <p:graphicFrame>
        <p:nvGraphicFramePr>
          <p:cNvPr id="12" name="图示 11"/>
          <p:cNvGraphicFramePr/>
          <p:nvPr>
            <p:extLst>
              <p:ext uri="{D42A27DB-BD31-4B8C-83A1-F6EECF244321}">
                <p14:modId xmlns:p14="http://schemas.microsoft.com/office/powerpoint/2010/main" val="1455661419"/>
              </p:ext>
            </p:extLst>
          </p:nvPr>
        </p:nvGraphicFramePr>
        <p:xfrm>
          <a:off x="676287" y="1604456"/>
          <a:ext cx="4027988" cy="31714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9</a:t>
            </a:fld>
            <a:endParaRPr/>
          </a:p>
        </p:txBody>
      </p:sp>
      <p:sp>
        <p:nvSpPr>
          <p:cNvPr id="8" name="TextBox 7"/>
          <p:cNvSpPr txBox="1"/>
          <p:nvPr/>
        </p:nvSpPr>
        <p:spPr>
          <a:xfrm>
            <a:off x="1120250" y="1266169"/>
            <a:ext cx="4605453" cy="1600438"/>
          </a:xfrm>
          <a:prstGeom prst="rect">
            <a:avLst/>
          </a:prstGeom>
          <a:noFill/>
        </p:spPr>
        <p:txBody>
          <a:bodyPr wrap="square" rtlCol="0">
            <a:spAutoFit/>
          </a:bodyPr>
          <a:lstStyle/>
          <a:p>
            <a:pPr>
              <a:buFont typeface="Arial" pitchFamily="34" charset="0"/>
              <a:buChar char="•"/>
            </a:pPr>
            <a:r>
              <a:rPr lang="en-US" dirty="0">
                <a:latin typeface="Times New Roman" pitchFamily="18" charset="0"/>
                <a:cs typeface="Times New Roman" pitchFamily="18" charset="0"/>
              </a:rPr>
              <a:t> Embedding tacit knowledge is a long and costly process, so people are trained for specific tasks and organizations are geared towards specific goals</a:t>
            </a:r>
          </a:p>
          <a:p>
            <a:endParaRPr lang="en-US" dirty="0">
              <a:latin typeface="Times New Roman" pitchFamily="18" charset="0"/>
              <a:cs typeface="Times New Roman" pitchFamily="18" charset="0"/>
            </a:endParaRPr>
          </a:p>
          <a:p>
            <a:pPr>
              <a:buFont typeface="Arial" pitchFamily="34" charset="0"/>
              <a:buChar char="•"/>
            </a:pPr>
            <a:r>
              <a:rPr lang="en-US" dirty="0">
                <a:latin typeface="Times New Roman" pitchFamily="18" charset="0"/>
                <a:cs typeface="Times New Roman" pitchFamily="18" charset="0"/>
              </a:rPr>
              <a:t> We define capability as modularized chunks of knowledge that are fully necessary for someone to perform certain functions</a:t>
            </a: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10</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6" name="图片 5" descr="majors-post-image-250sq.jpg"/>
          <p:cNvPicPr>
            <a:picLocks noChangeAspect="1"/>
          </p:cNvPicPr>
          <p:nvPr/>
        </p:nvPicPr>
        <p:blipFill>
          <a:blip r:embed="rId4"/>
          <a:stretch>
            <a:fillRect/>
          </a:stretch>
        </p:blipFill>
        <p:spPr>
          <a:xfrm>
            <a:off x="1974604" y="2066926"/>
            <a:ext cx="2381250" cy="2381250"/>
          </a:xfrm>
          <a:prstGeom prst="rect">
            <a:avLst/>
          </a:prstGeom>
        </p:spPr>
      </p:pic>
      <p:sp>
        <p:nvSpPr>
          <p:cNvPr id="7" name="矩形 6"/>
          <p:cNvSpPr/>
          <p:nvPr/>
        </p:nvSpPr>
        <p:spPr>
          <a:xfrm>
            <a:off x="888023" y="1428695"/>
            <a:ext cx="4572000" cy="738664"/>
          </a:xfrm>
          <a:prstGeom prst="rect">
            <a:avLst/>
          </a:prstGeom>
        </p:spPr>
        <p:txBody>
          <a:bodyPr>
            <a:spAutoFit/>
          </a:bodyPr>
          <a:lstStyle/>
          <a:p>
            <a:pPr>
              <a:buFont typeface="Arial" pitchFamily="34" charset="0"/>
              <a:buChar char="•"/>
            </a:pPr>
            <a:r>
              <a:rPr lang="en-US" dirty="0">
                <a:latin typeface="Times New Roman" pitchFamily="18" charset="0"/>
                <a:cs typeface="Times New Roman" pitchFamily="18" charset="0"/>
              </a:rPr>
              <a:t>  Nowadays, the society coins more capability modules  and further breaks down existing modules into branches to respond to the the rapid technological development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11</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6" name="图片 5" descr="DoL-Job-Growth-by-Occupation-2014-2024.jpg"/>
          <p:cNvPicPr>
            <a:picLocks noChangeAspect="1"/>
          </p:cNvPicPr>
          <p:nvPr/>
        </p:nvPicPr>
        <p:blipFill>
          <a:blip r:embed="rId4"/>
          <a:srcRect t="6106" r="1209" b="6460"/>
          <a:stretch>
            <a:fillRect/>
          </a:stretch>
        </p:blipFill>
        <p:spPr>
          <a:xfrm>
            <a:off x="1351501" y="1362799"/>
            <a:ext cx="4064558" cy="314764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12</a:t>
            </a:fld>
            <a:endParaRPr/>
          </a:p>
        </p:txBody>
      </p:sp>
      <p:sp>
        <p:nvSpPr>
          <p:cNvPr id="8" name="TextBox 7"/>
          <p:cNvSpPr txBox="1"/>
          <p:nvPr/>
        </p:nvSpPr>
        <p:spPr>
          <a:xfrm>
            <a:off x="1120250" y="1266169"/>
            <a:ext cx="4605453" cy="523220"/>
          </a:xfrm>
          <a:prstGeom prst="rect">
            <a:avLst/>
          </a:prstGeom>
          <a:noFill/>
        </p:spPr>
        <p:txBody>
          <a:bodyPr wrap="square" rtlCol="0">
            <a:spAutoFit/>
          </a:bodyPr>
          <a:lstStyle/>
          <a:p>
            <a:r>
              <a:rPr lang="en-US" dirty="0">
                <a:latin typeface="Times New Roman" pitchFamily="18" charset="0"/>
                <a:cs typeface="Times New Roman" pitchFamily="18" charset="0"/>
              </a:rPr>
              <a:t>Assume that a person has the capacity to hold an amount of tacit knowledge equal to one </a:t>
            </a:r>
            <a:r>
              <a:rPr lang="en-US" i="1" dirty="0" err="1">
                <a:latin typeface="Times New Roman" pitchFamily="18" charset="0"/>
                <a:cs typeface="Times New Roman" pitchFamily="18" charset="0"/>
              </a:rPr>
              <a:t>personbyte</a:t>
            </a:r>
            <a:r>
              <a:rPr lang="en-US" i="1" dirty="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6" name="图片 5" descr="generation-byte.jpg"/>
          <p:cNvPicPr>
            <a:picLocks noChangeAspect="1"/>
          </p:cNvPicPr>
          <p:nvPr/>
        </p:nvPicPr>
        <p:blipFill>
          <a:blip r:embed="rId4"/>
          <a:stretch>
            <a:fillRect/>
          </a:stretch>
        </p:blipFill>
        <p:spPr>
          <a:xfrm>
            <a:off x="1214887" y="1820007"/>
            <a:ext cx="3673013" cy="220686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13</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7" name="图片 6" descr="shirt.jpg"/>
          <p:cNvPicPr>
            <a:picLocks noChangeAspect="1"/>
          </p:cNvPicPr>
          <p:nvPr/>
        </p:nvPicPr>
        <p:blipFill>
          <a:blip r:embed="rId4"/>
          <a:stretch>
            <a:fillRect/>
          </a:stretch>
        </p:blipFill>
        <p:spPr>
          <a:xfrm>
            <a:off x="4141170" y="1505722"/>
            <a:ext cx="1496889" cy="1671964"/>
          </a:xfrm>
          <a:prstGeom prst="rect">
            <a:avLst/>
          </a:prstGeom>
        </p:spPr>
      </p:pic>
      <p:graphicFrame>
        <p:nvGraphicFramePr>
          <p:cNvPr id="10" name="图示 9"/>
          <p:cNvGraphicFramePr/>
          <p:nvPr/>
        </p:nvGraphicFramePr>
        <p:xfrm>
          <a:off x="342901" y="1389184"/>
          <a:ext cx="3736731" cy="182538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14</a:t>
            </a:fld>
            <a:endParaRPr/>
          </a:p>
        </p:txBody>
      </p:sp>
      <p:sp>
        <p:nvSpPr>
          <p:cNvPr id="8" name="TextBox 7"/>
          <p:cNvSpPr txBox="1"/>
          <p:nvPr/>
        </p:nvSpPr>
        <p:spPr>
          <a:xfrm>
            <a:off x="1005950" y="1424431"/>
            <a:ext cx="4605453" cy="1600438"/>
          </a:xfrm>
          <a:prstGeom prst="rect">
            <a:avLst/>
          </a:prstGeom>
          <a:noFill/>
        </p:spPr>
        <p:txBody>
          <a:bodyPr wrap="square" rtlCol="0">
            <a:spAutoFit/>
          </a:bodyPr>
          <a:lstStyle/>
          <a:p>
            <a:r>
              <a:rPr lang="en-US" dirty="0">
                <a:latin typeface="Times New Roman" pitchFamily="18" charset="0"/>
                <a:cs typeface="Times New Roman" pitchFamily="18" charset="0"/>
              </a:rPr>
              <a:t>Knowledge can only be accumulated, transferred and</a:t>
            </a:r>
          </a:p>
          <a:p>
            <a:r>
              <a:rPr lang="en-US" dirty="0">
                <a:latin typeface="Times New Roman" pitchFamily="18" charset="0"/>
                <a:cs typeface="Times New Roman" pitchFamily="18" charset="0"/>
              </a:rPr>
              <a:t>preserved if it is embedded in networks of individuals and</a:t>
            </a:r>
          </a:p>
          <a:p>
            <a:r>
              <a:rPr lang="en-US" dirty="0">
                <a:latin typeface="Times New Roman" pitchFamily="18" charset="0"/>
                <a:cs typeface="Times New Roman" pitchFamily="18" charset="0"/>
              </a:rPr>
              <a:t>organizations that put this knowledge into productive use.</a:t>
            </a:r>
          </a:p>
          <a:p>
            <a:r>
              <a:rPr lang="en-US" dirty="0">
                <a:latin typeface="Times New Roman" pitchFamily="18" charset="0"/>
                <a:cs typeface="Times New Roman" pitchFamily="18" charset="0"/>
              </a:rPr>
              <a:t>Knowledge that is not used, however, is also not transferred,</a:t>
            </a:r>
          </a:p>
          <a:p>
            <a:r>
              <a:rPr lang="en-US" dirty="0">
                <a:latin typeface="Times New Roman" pitchFamily="18" charset="0"/>
                <a:cs typeface="Times New Roman" pitchFamily="18" charset="0"/>
              </a:rPr>
              <a:t>and will disappear once the individuals and organization stop functioning</a:t>
            </a:r>
          </a:p>
          <a:p>
            <a:endParaRPr lang="en-US"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graphicFrame>
        <p:nvGraphicFramePr>
          <p:cNvPr id="6" name="图示 5"/>
          <p:cNvGraphicFramePr/>
          <p:nvPr/>
        </p:nvGraphicFramePr>
        <p:xfrm>
          <a:off x="1524000" y="2813538"/>
          <a:ext cx="3135923" cy="17902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15</a:t>
            </a:fld>
            <a:endParaRPr/>
          </a:p>
        </p:txBody>
      </p:sp>
      <p:sp>
        <p:nvSpPr>
          <p:cNvPr id="8" name="TextBox 7"/>
          <p:cNvSpPr txBox="1"/>
          <p:nvPr/>
        </p:nvSpPr>
        <p:spPr>
          <a:xfrm>
            <a:off x="1964311" y="1389262"/>
            <a:ext cx="4605453" cy="338554"/>
          </a:xfrm>
          <a:prstGeom prst="rect">
            <a:avLst/>
          </a:prstGeom>
          <a:noFill/>
        </p:spPr>
        <p:txBody>
          <a:bodyPr wrap="square" rtlCol="0">
            <a:spAutoFit/>
          </a:bodyPr>
          <a:lstStyle/>
          <a:p>
            <a:r>
              <a:rPr lang="en-US" sz="1600" b="1" dirty="0">
                <a:latin typeface="Times New Roman" pitchFamily="18" charset="0"/>
                <a:cs typeface="Times New Roman" pitchFamily="18" charset="0"/>
              </a:rPr>
              <a:t>Game of Scrabble </a:t>
            </a: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6" name="图片 5" descr="cartoon-person-12066721.jpg"/>
          <p:cNvPicPr>
            <a:picLocks noChangeAspect="1"/>
          </p:cNvPicPr>
          <p:nvPr/>
        </p:nvPicPr>
        <p:blipFill>
          <a:blip r:embed="rId4"/>
          <a:srcRect r="21071"/>
          <a:stretch>
            <a:fillRect/>
          </a:stretch>
        </p:blipFill>
        <p:spPr>
          <a:xfrm>
            <a:off x="781184" y="1784838"/>
            <a:ext cx="478677" cy="923192"/>
          </a:xfrm>
          <a:prstGeom prst="rect">
            <a:avLst/>
          </a:prstGeom>
        </p:spPr>
      </p:pic>
      <p:pic>
        <p:nvPicPr>
          <p:cNvPr id="7" name="图片 6" descr="cartoon-person-12066721.jpg"/>
          <p:cNvPicPr>
            <a:picLocks noChangeAspect="1"/>
          </p:cNvPicPr>
          <p:nvPr/>
        </p:nvPicPr>
        <p:blipFill>
          <a:blip r:embed="rId4"/>
          <a:srcRect r="21071"/>
          <a:stretch>
            <a:fillRect/>
          </a:stretch>
        </p:blipFill>
        <p:spPr>
          <a:xfrm>
            <a:off x="2648092" y="1770185"/>
            <a:ext cx="478677" cy="923192"/>
          </a:xfrm>
          <a:prstGeom prst="rect">
            <a:avLst/>
          </a:prstGeom>
        </p:spPr>
      </p:pic>
      <p:pic>
        <p:nvPicPr>
          <p:cNvPr id="9" name="图片 8" descr="cartoon-person-12066721.jpg"/>
          <p:cNvPicPr>
            <a:picLocks noChangeAspect="1"/>
          </p:cNvPicPr>
          <p:nvPr/>
        </p:nvPicPr>
        <p:blipFill>
          <a:blip r:embed="rId4"/>
          <a:srcRect r="21071"/>
          <a:stretch>
            <a:fillRect/>
          </a:stretch>
        </p:blipFill>
        <p:spPr>
          <a:xfrm>
            <a:off x="4749457" y="1770185"/>
            <a:ext cx="478677" cy="923192"/>
          </a:xfrm>
          <a:prstGeom prst="rect">
            <a:avLst/>
          </a:prstGeom>
        </p:spPr>
      </p:pic>
      <p:sp>
        <p:nvSpPr>
          <p:cNvPr id="15" name="矩形 14"/>
          <p:cNvSpPr/>
          <p:nvPr/>
        </p:nvSpPr>
        <p:spPr>
          <a:xfrm>
            <a:off x="175846" y="2716755"/>
            <a:ext cx="518091"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7" name="矩形 16"/>
          <p:cNvSpPr/>
          <p:nvPr/>
        </p:nvSpPr>
        <p:spPr>
          <a:xfrm>
            <a:off x="2631832" y="2631763"/>
            <a:ext cx="518091"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8" name="矩形 17"/>
          <p:cNvSpPr/>
          <p:nvPr/>
        </p:nvSpPr>
        <p:spPr>
          <a:xfrm>
            <a:off x="4759569" y="2781232"/>
            <a:ext cx="518091"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9" name="矩形 18"/>
          <p:cNvSpPr/>
          <p:nvPr/>
        </p:nvSpPr>
        <p:spPr>
          <a:xfrm>
            <a:off x="759069" y="2772440"/>
            <a:ext cx="51809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0" name="矩形 19"/>
          <p:cNvSpPr/>
          <p:nvPr/>
        </p:nvSpPr>
        <p:spPr>
          <a:xfrm>
            <a:off x="442546" y="3150509"/>
            <a:ext cx="51809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R</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1" name="矩形 20"/>
          <p:cNvSpPr/>
          <p:nvPr/>
        </p:nvSpPr>
        <p:spPr>
          <a:xfrm>
            <a:off x="2658208" y="3194471"/>
            <a:ext cx="492444"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2" name="矩形 21"/>
          <p:cNvSpPr/>
          <p:nvPr/>
        </p:nvSpPr>
        <p:spPr>
          <a:xfrm>
            <a:off x="4390292" y="2930701"/>
            <a:ext cx="51809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B</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3" name="矩形 22"/>
          <p:cNvSpPr/>
          <p:nvPr/>
        </p:nvSpPr>
        <p:spPr>
          <a:xfrm>
            <a:off x="3009899" y="2939493"/>
            <a:ext cx="51809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D</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4" name="矩形 23"/>
          <p:cNvSpPr/>
          <p:nvPr/>
        </p:nvSpPr>
        <p:spPr>
          <a:xfrm>
            <a:off x="1383323" y="3950608"/>
            <a:ext cx="1184941"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CAR</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5" name="矩形 24"/>
          <p:cNvSpPr/>
          <p:nvPr/>
        </p:nvSpPr>
        <p:spPr>
          <a:xfrm>
            <a:off x="3519854" y="3941817"/>
            <a:ext cx="1159293"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PAD</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6" name="矩形 25"/>
          <p:cNvSpPr/>
          <p:nvPr/>
        </p:nvSpPr>
        <p:spPr>
          <a:xfrm>
            <a:off x="876301" y="3320494"/>
            <a:ext cx="492444"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7" name="矩形 26"/>
          <p:cNvSpPr/>
          <p:nvPr/>
        </p:nvSpPr>
        <p:spPr>
          <a:xfrm>
            <a:off x="1175238" y="2854500"/>
            <a:ext cx="518092" cy="646331"/>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D</a:t>
            </a:r>
            <a:endParaRPr lang="zh-CN" alt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8" name="图片 7"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16</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 name="TextBox 15"/>
          <p:cNvSpPr txBox="1"/>
          <p:nvPr/>
        </p:nvSpPr>
        <p:spPr>
          <a:xfrm>
            <a:off x="825190" y="1416205"/>
            <a:ext cx="4638907" cy="523220"/>
          </a:xfrm>
          <a:prstGeom prst="rect">
            <a:avLst/>
          </a:prstGeom>
          <a:noFill/>
        </p:spPr>
        <p:txBody>
          <a:bodyPr wrap="square" rtlCol="0">
            <a:spAutoFit/>
          </a:bodyPr>
          <a:lstStyle/>
          <a:p>
            <a:r>
              <a:rPr lang="en-US" dirty="0">
                <a:latin typeface="Times New Roman" pitchFamily="18" charset="0"/>
                <a:cs typeface="Times New Roman" pitchFamily="18" charset="0"/>
              </a:rPr>
              <a:t>The economic complexity more effectively captures growth relevant information than the six world governance indicators.</a:t>
            </a:r>
          </a:p>
        </p:txBody>
      </p:sp>
      <p:pic>
        <p:nvPicPr>
          <p:cNvPr id="17" name="Picture 4"/>
          <p:cNvPicPr>
            <a:picLocks noChangeAspect="1" noChangeArrowheads="1"/>
          </p:cNvPicPr>
          <p:nvPr/>
        </p:nvPicPr>
        <p:blipFill>
          <a:blip r:embed="rId4"/>
          <a:srcRect l="7206" t="15407" r="7304" b="11175"/>
          <a:stretch>
            <a:fillRect/>
          </a:stretch>
        </p:blipFill>
        <p:spPr bwMode="auto">
          <a:xfrm>
            <a:off x="275819" y="1987910"/>
            <a:ext cx="5645476" cy="2725807"/>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17</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53954" name="Picture 2"/>
          <p:cNvPicPr>
            <a:picLocks noChangeAspect="1" noChangeArrowheads="1"/>
          </p:cNvPicPr>
          <p:nvPr/>
        </p:nvPicPr>
        <p:blipFill>
          <a:blip r:embed="rId4"/>
          <a:srcRect l="26089" t="16852" r="23517" b="14275"/>
          <a:stretch>
            <a:fillRect/>
          </a:stretch>
        </p:blipFill>
        <p:spPr bwMode="auto">
          <a:xfrm>
            <a:off x="703382" y="1406769"/>
            <a:ext cx="4774222" cy="3668476"/>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18</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54978" name="Picture 2"/>
          <p:cNvPicPr>
            <a:picLocks noChangeAspect="1" noChangeArrowheads="1"/>
          </p:cNvPicPr>
          <p:nvPr/>
        </p:nvPicPr>
        <p:blipFill>
          <a:blip r:embed="rId4"/>
          <a:srcRect l="8513" t="14654" r="35326" b="14275"/>
          <a:stretch>
            <a:fillRect/>
          </a:stretch>
        </p:blipFill>
        <p:spPr bwMode="auto">
          <a:xfrm>
            <a:off x="1239716" y="1371600"/>
            <a:ext cx="3596054" cy="2558562"/>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19</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56002" name="Picture 2"/>
          <p:cNvPicPr>
            <a:picLocks noChangeAspect="1" noChangeArrowheads="1"/>
          </p:cNvPicPr>
          <p:nvPr/>
        </p:nvPicPr>
        <p:blipFill>
          <a:blip r:embed="rId4"/>
          <a:srcRect l="8376" t="17829" r="35326" b="10123"/>
          <a:stretch>
            <a:fillRect/>
          </a:stretch>
        </p:blipFill>
        <p:spPr bwMode="auto">
          <a:xfrm>
            <a:off x="0" y="1966688"/>
            <a:ext cx="2936631" cy="2112942"/>
          </a:xfrm>
          <a:prstGeom prst="rect">
            <a:avLst/>
          </a:prstGeom>
          <a:noFill/>
          <a:ln w="9525">
            <a:noFill/>
            <a:miter lim="800000"/>
            <a:headEnd/>
            <a:tailEnd/>
          </a:ln>
          <a:effectLst/>
        </p:spPr>
      </p:pic>
      <p:pic>
        <p:nvPicPr>
          <p:cNvPr id="7" name="Picture 2"/>
          <p:cNvPicPr>
            <a:picLocks noChangeAspect="1" noChangeArrowheads="1"/>
          </p:cNvPicPr>
          <p:nvPr/>
        </p:nvPicPr>
        <p:blipFill>
          <a:blip r:embed="rId5"/>
          <a:srcRect l="7964" t="19050" r="36012" b="13298"/>
          <a:stretch>
            <a:fillRect/>
          </a:stretch>
        </p:blipFill>
        <p:spPr bwMode="auto">
          <a:xfrm>
            <a:off x="3059724" y="1923835"/>
            <a:ext cx="3006968" cy="2041496"/>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20</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58050" name="Picture 2"/>
          <p:cNvPicPr>
            <a:picLocks noChangeAspect="1" noChangeArrowheads="1"/>
          </p:cNvPicPr>
          <p:nvPr/>
        </p:nvPicPr>
        <p:blipFill>
          <a:blip r:embed="rId4"/>
          <a:srcRect l="16478" t="20027" r="22281" b="34790"/>
          <a:stretch>
            <a:fillRect/>
          </a:stretch>
        </p:blipFill>
        <p:spPr bwMode="auto">
          <a:xfrm>
            <a:off x="615462" y="1591407"/>
            <a:ext cx="4800600" cy="1991281"/>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21</a:t>
            </a:fld>
            <a:endParaRPr/>
          </a:p>
        </p:txBody>
      </p:sp>
      <p:sp>
        <p:nvSpPr>
          <p:cNvPr id="8" name="TextBox 7"/>
          <p:cNvSpPr txBox="1"/>
          <p:nvPr/>
        </p:nvSpPr>
        <p:spPr>
          <a:xfrm>
            <a:off x="1120250" y="1266169"/>
            <a:ext cx="4605453" cy="307777"/>
          </a:xfrm>
          <a:prstGeom prst="rect">
            <a:avLst/>
          </a:prstGeom>
          <a:noFill/>
        </p:spPr>
        <p:txBody>
          <a:bodyPr wrap="square" rtlCol="0">
            <a:spAutoFit/>
          </a:bodyPr>
          <a:lstStyle/>
          <a:p>
            <a:pPr>
              <a:buFont typeface="Arial" pitchFamily="34" charset="0"/>
              <a:buChar char="•"/>
            </a:pPr>
            <a:r>
              <a:rPr lang="en-US" dirty="0">
                <a:latin typeface="Times New Roman" pitchFamily="18" charset="0"/>
                <a:cs typeface="Times New Roman" pitchFamily="18" charset="0"/>
              </a:rPr>
              <a:t>s</a:t>
            </a: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59074" name="Picture 2"/>
          <p:cNvPicPr>
            <a:picLocks noChangeAspect="1" noChangeArrowheads="1"/>
          </p:cNvPicPr>
          <p:nvPr/>
        </p:nvPicPr>
        <p:blipFill>
          <a:blip r:embed="rId4"/>
          <a:srcRect l="17164" t="25156" r="21045" b="20136"/>
          <a:stretch>
            <a:fillRect/>
          </a:stretch>
        </p:blipFill>
        <p:spPr bwMode="auto">
          <a:xfrm>
            <a:off x="773723" y="1406768"/>
            <a:ext cx="4844562" cy="2411515"/>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22</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pic>
        <p:nvPicPr>
          <p:cNvPr id="260098" name="Picture 2"/>
          <p:cNvPicPr>
            <a:picLocks noChangeAspect="1" noChangeArrowheads="1"/>
          </p:cNvPicPr>
          <p:nvPr/>
        </p:nvPicPr>
        <p:blipFill>
          <a:blip r:embed="rId4"/>
          <a:srcRect l="23206" t="45671" r="27499" b="23312"/>
          <a:stretch>
            <a:fillRect/>
          </a:stretch>
        </p:blipFill>
        <p:spPr bwMode="auto">
          <a:xfrm>
            <a:off x="281352" y="1600201"/>
            <a:ext cx="5592111" cy="1978268"/>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23</a:t>
            </a:fld>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6" name="文本占位符 2"/>
          <p:cNvSpPr>
            <a:spLocks noGrp="1"/>
          </p:cNvSpPr>
          <p:nvPr>
            <p:ph type="body" idx="1"/>
          </p:nvPr>
        </p:nvSpPr>
        <p:spPr>
          <a:xfrm>
            <a:off x="714716" y="1611981"/>
            <a:ext cx="7030500" cy="2541600"/>
          </a:xfrm>
        </p:spPr>
        <p:txBody>
          <a:bodyPr/>
          <a:lstStyle/>
          <a:p>
            <a:pPr>
              <a:buNone/>
            </a:pPr>
            <a:r>
              <a:rPr lang="en-US" sz="1400" dirty="0">
                <a:latin typeface="Times New Roman" pitchFamily="18" charset="0"/>
                <a:cs typeface="Times New Roman" pitchFamily="18" charset="0"/>
              </a:rPr>
              <a:t>We conclude that the Economic Complexity Index can account</a:t>
            </a:r>
          </a:p>
          <a:p>
            <a:pPr>
              <a:buNone/>
            </a:pPr>
            <a:r>
              <a:rPr lang="en-US" sz="1400" dirty="0">
                <a:latin typeface="Times New Roman" pitchFamily="18" charset="0"/>
                <a:cs typeface="Times New Roman" pitchFamily="18" charset="0"/>
              </a:rPr>
              <a:t>for a significant fraction of the cross-country variation</a:t>
            </a:r>
          </a:p>
          <a:p>
            <a:pPr>
              <a:buNone/>
            </a:pPr>
            <a:r>
              <a:rPr lang="en-US" sz="1400" dirty="0">
                <a:latin typeface="Times New Roman" pitchFamily="18" charset="0"/>
                <a:cs typeface="Times New Roman" pitchFamily="18" charset="0"/>
              </a:rPr>
              <a:t>in income per capita and economic growth, and that</a:t>
            </a:r>
          </a:p>
          <a:p>
            <a:pPr>
              <a:buNone/>
            </a:pPr>
            <a:r>
              <a:rPr lang="en-US" sz="1400" dirty="0">
                <a:latin typeface="Times New Roman" pitchFamily="18" charset="0"/>
                <a:cs typeface="Times New Roman" pitchFamily="18" charset="0"/>
              </a:rPr>
              <a:t>the ECI is a much stronger predictor of growth than other</a:t>
            </a:r>
          </a:p>
          <a:p>
            <a:pPr>
              <a:buNone/>
            </a:pPr>
            <a:r>
              <a:rPr lang="en-US" sz="1400" dirty="0">
                <a:latin typeface="Times New Roman" pitchFamily="18" charset="0"/>
                <a:cs typeface="Times New Roman" pitchFamily="18" charset="0"/>
              </a:rPr>
              <a:t>commonly used indicators that measure human capital,</a:t>
            </a:r>
          </a:p>
          <a:p>
            <a:pPr>
              <a:buNone/>
            </a:pPr>
            <a:r>
              <a:rPr lang="en-US" sz="1400" dirty="0">
                <a:latin typeface="Times New Roman" pitchFamily="18" charset="0"/>
                <a:cs typeface="Times New Roman" pitchFamily="18" charset="0"/>
              </a:rPr>
              <a:t>governance or competitiveness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24</a:t>
            </a:fld>
            <a:endParaRPr/>
          </a:p>
        </p:txBody>
      </p:sp>
      <p:sp>
        <p:nvSpPr>
          <p:cNvPr id="8" name="TextBox 7"/>
          <p:cNvSpPr txBox="1"/>
          <p:nvPr/>
        </p:nvSpPr>
        <p:spPr>
          <a:xfrm>
            <a:off x="874065" y="1512353"/>
            <a:ext cx="4605453" cy="954107"/>
          </a:xfrm>
          <a:prstGeom prst="rect">
            <a:avLst/>
          </a:prstGeom>
          <a:noFill/>
        </p:spPr>
        <p:txBody>
          <a:bodyPr wrap="square" rtlCol="0">
            <a:spAutoFit/>
          </a:bodyPr>
          <a:lstStyle/>
          <a:p>
            <a:r>
              <a:rPr lang="en-US" dirty="0">
                <a:latin typeface="Times New Roman" pitchFamily="18" charset="0"/>
                <a:cs typeface="Times New Roman" pitchFamily="18" charset="0"/>
              </a:rPr>
              <a:t>Increased economic complexity is necessary for a society to be able to hold and use a larger amount of productive knowledge, and we can measure it from the mix of products that countries are able to make</a:t>
            </a: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2.2 Production Matrix</a:t>
            </a:r>
            <a:endParaRPr dirty="0">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25</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文本占位符 9"/>
          <p:cNvSpPr>
            <a:spLocks noGrp="1"/>
          </p:cNvSpPr>
          <p:nvPr>
            <p:ph type="body" idx="1"/>
          </p:nvPr>
        </p:nvSpPr>
        <p:spPr>
          <a:xfrm>
            <a:off x="1303800" y="1465953"/>
            <a:ext cx="3781156" cy="2541600"/>
          </a:xfrm>
        </p:spPr>
        <p:txBody>
          <a:bodyPr/>
          <a:lstStyle/>
          <a:p>
            <a:r>
              <a:rPr lang="en-US" sz="1400" dirty="0">
                <a:latin typeface="Times New Roman" pitchFamily="18" charset="0"/>
                <a:cs typeface="Times New Roman" pitchFamily="18" charset="0"/>
              </a:rPr>
              <a:t>When consider which products play important roles in a country’s production, we should take into account of the export volume of the country and that of the product in the world trade.</a:t>
            </a:r>
          </a:p>
          <a:p>
            <a:r>
              <a:rPr lang="en-US" sz="1400" dirty="0">
                <a:latin typeface="Times New Roman" pitchFamily="18" charset="0"/>
                <a:cs typeface="Times New Roman" pitchFamily="18" charset="0"/>
              </a:rPr>
              <a:t>In other words, we should use comparative advantage instead of absolute advantage as our criterion.</a:t>
            </a:r>
          </a:p>
        </p:txBody>
      </p:sp>
      <p:pic>
        <p:nvPicPr>
          <p:cNvPr id="7" name="图片 6" descr="world-map.png"/>
          <p:cNvPicPr>
            <a:picLocks noChangeAspect="1"/>
          </p:cNvPicPr>
          <p:nvPr/>
        </p:nvPicPr>
        <p:blipFill>
          <a:blip r:embed="rId3"/>
          <a:stretch>
            <a:fillRect/>
          </a:stretch>
        </p:blipFill>
        <p:spPr>
          <a:xfrm rot="5400000">
            <a:off x="4562646" y="979506"/>
            <a:ext cx="5143500" cy="318448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14" name="圆角矩形 13"/>
          <p:cNvSpPr/>
          <p:nvPr/>
        </p:nvSpPr>
        <p:spPr>
          <a:xfrm>
            <a:off x="3425299" y="2364808"/>
            <a:ext cx="2648675" cy="63467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2" name="圆角矩形 11"/>
          <p:cNvSpPr/>
          <p:nvPr/>
        </p:nvSpPr>
        <p:spPr>
          <a:xfrm>
            <a:off x="3446520" y="3879163"/>
            <a:ext cx="2648675" cy="63467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2.2 Production Matrix</a:t>
            </a:r>
            <a:endParaRPr dirty="0">
              <a:latin typeface="Times New Roman"/>
              <a:ea typeface="Times New Roman"/>
              <a:cs typeface="Times New Roman"/>
              <a:sym typeface="Times New Roman"/>
            </a:endParaRPr>
          </a:p>
        </p:txBody>
      </p:sp>
      <p:sp>
        <p:nvSpPr>
          <p:cNvPr id="315" name="Google Shape;315;p18"/>
          <p:cNvSpPr txBox="1">
            <a:spLocks noGrp="1"/>
          </p:cNvSpPr>
          <p:nvPr>
            <p:ph type="body" idx="1"/>
          </p:nvPr>
        </p:nvSpPr>
        <p:spPr>
          <a:xfrm>
            <a:off x="1077671" y="1450809"/>
            <a:ext cx="7030500" cy="33024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Balassa defines Revealed Comparative Advantage (RCA) as</a:t>
            </a:r>
            <a:r>
              <a:rPr lang="en" sz="1400" i="1" dirty="0">
                <a:solidFill>
                  <a:srgbClr val="000000"/>
                </a:solidFill>
                <a:latin typeface="Times New Roman"/>
                <a:ea typeface="Times New Roman"/>
                <a:cs typeface="Times New Roman"/>
                <a:sym typeface="Times New Roman"/>
              </a:rPr>
              <a:t>“a country has Revealed Comparative Advantage in a product if it exports more than its “fair” share, that is, a share that is equal to the share of total world trade that the product represents.”</a:t>
            </a:r>
          </a:p>
          <a:p>
            <a:pPr marL="457200" lvl="0" indent="-317500" algn="just" rtl="0">
              <a:spcBef>
                <a:spcPts val="0"/>
              </a:spcBef>
              <a:spcAft>
                <a:spcPts val="0"/>
              </a:spcAft>
              <a:buClr>
                <a:srgbClr val="000000"/>
              </a:buClr>
              <a:buSzPts val="1400"/>
              <a:buNone/>
            </a:pPr>
            <a:endParaRPr lang="en" sz="1400" i="1" dirty="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None/>
            </a:pPr>
            <a:endParaRPr lang="en" sz="1400" i="1" dirty="0">
              <a:solidFill>
                <a:srgbClr val="000000"/>
              </a:solidFill>
              <a:latin typeface="Times New Roman"/>
              <a:ea typeface="Times New Roman"/>
              <a:cs typeface="Times New Roman"/>
              <a:sym typeface="Times New Roman"/>
            </a:endParaRPr>
          </a:p>
          <a:p>
            <a:pPr marL="457200" lvl="0" indent="-317500" algn="ctr" rtl="0">
              <a:spcBef>
                <a:spcPts val="0"/>
              </a:spcBef>
              <a:spcAft>
                <a:spcPts val="0"/>
              </a:spcAft>
              <a:buClr>
                <a:srgbClr val="000000"/>
              </a:buClr>
              <a:buSzPts val="1400"/>
              <a:buNone/>
            </a:pPr>
            <a:endParaRPr lang="en" sz="1400" i="1" dirty="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endParaRPr lang="en" sz="1400" i="1" dirty="0">
              <a:solidFill>
                <a:srgbClr val="000000"/>
              </a:solidFill>
              <a:latin typeface="Times New Roman"/>
              <a:ea typeface="Times New Roman"/>
              <a:cs typeface="Times New Roman"/>
              <a:sym typeface="Times New Roman"/>
            </a:endParaRPr>
          </a:p>
          <a:p>
            <a:pPr lvl="0" indent="-317500" algn="just">
              <a:buClr>
                <a:srgbClr val="000000"/>
              </a:buClr>
              <a:buSzPts val="1400"/>
              <a:buFont typeface="Times New Roman"/>
              <a:buChar char="●"/>
            </a:pPr>
            <a:r>
              <a:rPr lang="en-US" sz="1400" dirty="0">
                <a:latin typeface="Times New Roman" pitchFamily="18" charset="0"/>
                <a:cs typeface="Times New Roman" pitchFamily="18" charset="0"/>
              </a:rPr>
              <a:t>Accordingly, we define the matrix of comparative advantage in production for countries and products. “1” indicates the advantage, while “0” indicates the opposite</a:t>
            </a:r>
            <a:endParaRPr sz="1400" dirty="0">
              <a:solidFill>
                <a:srgbClr val="000000"/>
              </a:solidFill>
              <a:latin typeface="Times New Roman" pitchFamily="18" charset="0"/>
              <a:ea typeface="Times New Roman"/>
              <a:cs typeface="Times New Roman" pitchFamily="18" charset="0"/>
              <a:sym typeface="Times New Roman"/>
            </a:endParaRPr>
          </a:p>
          <a:p>
            <a:pPr marL="457200" lvl="0" indent="0" algn="l" rtl="0">
              <a:spcBef>
                <a:spcPts val="0"/>
              </a:spcBef>
              <a:spcAft>
                <a:spcPts val="0"/>
              </a:spcAft>
              <a:buNone/>
            </a:pPr>
            <a:endParaRPr sz="1400" dirty="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b="1" dirty="0">
              <a:solidFill>
                <a:srgbClr val="000000"/>
              </a:solidFill>
              <a:latin typeface="Times New Roman"/>
              <a:ea typeface="Times New Roman"/>
              <a:cs typeface="Times New Roman"/>
              <a:sym typeface="Times New Roman"/>
            </a:endParaRPr>
          </a:p>
          <a:p>
            <a:pPr marL="457200" lvl="0" indent="0" algn="l" rtl="0">
              <a:spcBef>
                <a:spcPts val="0"/>
              </a:spcBef>
              <a:spcAft>
                <a:spcPts val="0"/>
              </a:spcAft>
              <a:buNone/>
            </a:pPr>
            <a:endParaRPr sz="1400" b="1"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26</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30" name="Object 6"/>
          <p:cNvGraphicFramePr>
            <a:graphicFrameLocks noChangeAspect="1"/>
          </p:cNvGraphicFramePr>
          <p:nvPr/>
        </p:nvGraphicFramePr>
        <p:xfrm>
          <a:off x="1873583" y="4027060"/>
          <a:ext cx="5727700" cy="333375"/>
        </p:xfrm>
        <a:graphic>
          <a:graphicData uri="http://schemas.openxmlformats.org/presentationml/2006/ole">
            <mc:AlternateContent xmlns:mc="http://schemas.openxmlformats.org/markup-compatibility/2006">
              <mc:Choice xmlns:v="urn:schemas-microsoft-com:vml" Requires="v">
                <p:oleObj spid="_x0000_s112705" name="文档" r:id="rId4" imgW="5728027" imgH="333012" progId="Word.Document.12">
                  <p:embed/>
                </p:oleObj>
              </mc:Choice>
              <mc:Fallback>
                <p:oleObj name="文档" r:id="rId4" imgW="5728027" imgH="333012" progId="Word.Document.12">
                  <p:embed/>
                  <p:pic>
                    <p:nvPicPr>
                      <p:cNvPr id="0" name="Picture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3583" y="4027060"/>
                        <a:ext cx="57277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1031" name="Object 7"/>
          <p:cNvGraphicFramePr>
            <a:graphicFrameLocks noChangeAspect="1"/>
          </p:cNvGraphicFramePr>
          <p:nvPr/>
        </p:nvGraphicFramePr>
        <p:xfrm>
          <a:off x="1875415" y="2467322"/>
          <a:ext cx="5727700" cy="407987"/>
        </p:xfrm>
        <a:graphic>
          <a:graphicData uri="http://schemas.openxmlformats.org/presentationml/2006/ole">
            <mc:AlternateContent xmlns:mc="http://schemas.openxmlformats.org/markup-compatibility/2006">
              <mc:Choice xmlns:v="urn:schemas-microsoft-com:vml" Requires="v">
                <p:oleObj spid="_x0000_s112706" name="文档" r:id="rId6" imgW="5728027" imgH="407895" progId="Word.Document.12">
                  <p:embed/>
                </p:oleObj>
              </mc:Choice>
              <mc:Fallback>
                <p:oleObj name="文档" r:id="rId6" imgW="5728027" imgH="407895" progId="Word.Document.12">
                  <p:embed/>
                  <p:pic>
                    <p:nvPicPr>
                      <p:cNvPr id="0" name="Picture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5415" y="2467322"/>
                        <a:ext cx="5727700"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9"/>
          <p:cNvSpPr txBox="1">
            <a:spLocks noGrp="1"/>
          </p:cNvSpPr>
          <p:nvPr>
            <p:ph type="title"/>
          </p:nvPr>
        </p:nvSpPr>
        <p:spPr>
          <a:xfrm>
            <a:off x="1303800" y="446040"/>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2.3 Diversity and Ubiquity</a:t>
            </a:r>
            <a:endParaRPr dirty="0">
              <a:latin typeface="Times New Roman"/>
              <a:ea typeface="Times New Roman"/>
              <a:cs typeface="Times New Roman"/>
              <a:sym typeface="Times New Roman"/>
            </a:endParaRPr>
          </a:p>
        </p:txBody>
      </p:sp>
      <p:sp>
        <p:nvSpPr>
          <p:cNvPr id="325" name="Google Shape;325;p19"/>
          <p:cNvSpPr txBox="1">
            <a:spLocks noGrp="1"/>
          </p:cNvSpPr>
          <p:nvPr>
            <p:ph type="sldNum" idx="12"/>
          </p:nvPr>
        </p:nvSpPr>
        <p:spPr>
          <a:xfrm>
            <a:off x="8433260" y="4749900"/>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27</a:t>
            </a:fld>
            <a:endParaRPr dirty="0"/>
          </a:p>
        </p:txBody>
      </p:sp>
      <p:sp>
        <p:nvSpPr>
          <p:cNvPr id="4815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DengXian" charset="-122"/>
                <a:cs typeface="Times New Roman" pitchFamily="18" charset="0"/>
              </a:rPr>
              <a:t>	</a:t>
            </a:r>
            <a:r>
              <a:rPr kumimoji="0" lang="en-US" altLang="zh-CN" sz="800" b="0" i="0" u="none" strike="noStrike" cap="none" normalizeH="0" baseline="0">
                <a:ln>
                  <a:noFill/>
                </a:ln>
                <a:solidFill>
                  <a:schemeClr val="tx1"/>
                </a:solidFill>
                <a:effectLst/>
                <a:latin typeface="Arial" pitchFamily="34" charset="0"/>
                <a:cs typeface="Arial" pitchFamily="34" charset="0"/>
              </a:rPr>
              <a:t> </a:t>
            </a:r>
            <a:endParaRPr kumimoji="0" lang="en-US" altLang="zh-CN" sz="1800" b="0" i="0" u="none" strike="noStrike" cap="none" normalizeH="0" baseline="0">
              <a:ln>
                <a:noFill/>
              </a:ln>
              <a:solidFill>
                <a:schemeClr val="tx1"/>
              </a:solidFill>
              <a:effectLst/>
              <a:latin typeface="Arial" pitchFamily="34" charset="0"/>
              <a:cs typeface="Arial" pitchFamily="34" charset="0"/>
            </a:endParaRPr>
          </a:p>
        </p:txBody>
      </p:sp>
      <p:grpSp>
        <p:nvGrpSpPr>
          <p:cNvPr id="55" name="组合 54"/>
          <p:cNvGrpSpPr/>
          <p:nvPr/>
        </p:nvGrpSpPr>
        <p:grpSpPr>
          <a:xfrm>
            <a:off x="1291414" y="1081670"/>
            <a:ext cx="6447518" cy="3972622"/>
            <a:chOff x="544297" y="356838"/>
            <a:chExt cx="7125402" cy="4786662"/>
          </a:xfrm>
        </p:grpSpPr>
        <p:pic>
          <p:nvPicPr>
            <p:cNvPr id="38" name="图片 37" descr="X-ray.jpg"/>
            <p:cNvPicPr>
              <a:picLocks noChangeAspect="1"/>
            </p:cNvPicPr>
            <p:nvPr/>
          </p:nvPicPr>
          <p:blipFill>
            <a:blip r:embed="rId3"/>
            <a:stretch>
              <a:fillRect/>
            </a:stretch>
          </p:blipFill>
          <p:spPr>
            <a:xfrm>
              <a:off x="5928157" y="356838"/>
              <a:ext cx="1732731" cy="1207120"/>
            </a:xfrm>
            <a:prstGeom prst="rect">
              <a:avLst/>
            </a:prstGeom>
          </p:spPr>
        </p:pic>
        <p:grpSp>
          <p:nvGrpSpPr>
            <p:cNvPr id="54" name="组合 53"/>
            <p:cNvGrpSpPr/>
            <p:nvPr/>
          </p:nvGrpSpPr>
          <p:grpSpPr>
            <a:xfrm>
              <a:off x="544297" y="960398"/>
              <a:ext cx="7125402" cy="4183102"/>
              <a:chOff x="544297" y="960398"/>
              <a:chExt cx="7125402" cy="4183102"/>
            </a:xfrm>
          </p:grpSpPr>
          <p:pic>
            <p:nvPicPr>
              <p:cNvPr id="24" name="图片 23" descr="Agtn.png"/>
              <p:cNvPicPr>
                <a:picLocks noChangeAspect="1"/>
              </p:cNvPicPr>
              <p:nvPr/>
            </p:nvPicPr>
            <p:blipFill>
              <a:blip r:embed="rId4"/>
              <a:stretch>
                <a:fillRect/>
              </a:stretch>
            </p:blipFill>
            <p:spPr>
              <a:xfrm>
                <a:off x="546410" y="2613822"/>
                <a:ext cx="1728439" cy="1077232"/>
              </a:xfrm>
              <a:prstGeom prst="rect">
                <a:avLst/>
              </a:prstGeom>
            </p:spPr>
          </p:pic>
          <p:pic>
            <p:nvPicPr>
              <p:cNvPr id="25" name="图片 24" descr="cheese.jpg"/>
              <p:cNvPicPr>
                <a:picLocks noChangeAspect="1"/>
              </p:cNvPicPr>
              <p:nvPr/>
            </p:nvPicPr>
            <p:blipFill>
              <a:blip r:embed="rId5"/>
              <a:stretch>
                <a:fillRect/>
              </a:stretch>
            </p:blipFill>
            <p:spPr>
              <a:xfrm>
                <a:off x="5914715" y="2810107"/>
                <a:ext cx="1735021" cy="1151362"/>
              </a:xfrm>
              <a:prstGeom prst="rect">
                <a:avLst/>
              </a:prstGeom>
            </p:spPr>
          </p:pic>
          <p:pic>
            <p:nvPicPr>
              <p:cNvPr id="26" name="图片 25" descr="fish.jpg"/>
              <p:cNvPicPr>
                <a:picLocks noChangeAspect="1"/>
              </p:cNvPicPr>
              <p:nvPr/>
            </p:nvPicPr>
            <p:blipFill>
              <a:blip r:embed="rId6"/>
              <a:stretch>
                <a:fillRect/>
              </a:stretch>
            </p:blipFill>
            <p:spPr>
              <a:xfrm>
                <a:off x="5915201" y="3978932"/>
                <a:ext cx="1750034" cy="1164568"/>
              </a:xfrm>
              <a:prstGeom prst="rect">
                <a:avLst/>
              </a:prstGeom>
            </p:spPr>
          </p:pic>
          <p:pic>
            <p:nvPicPr>
              <p:cNvPr id="27" name="图片 26" descr="gahna.png"/>
              <p:cNvPicPr>
                <a:picLocks noChangeAspect="1"/>
              </p:cNvPicPr>
              <p:nvPr/>
            </p:nvPicPr>
            <p:blipFill>
              <a:blip r:embed="rId7"/>
              <a:stretch>
                <a:fillRect/>
              </a:stretch>
            </p:blipFill>
            <p:spPr>
              <a:xfrm>
                <a:off x="551406" y="3726909"/>
                <a:ext cx="1723443" cy="1148962"/>
              </a:xfrm>
              <a:prstGeom prst="rect">
                <a:avLst/>
              </a:prstGeom>
            </p:spPr>
          </p:pic>
          <p:pic>
            <p:nvPicPr>
              <p:cNvPr id="28" name="图片 27" descr="medicine.jpg"/>
              <p:cNvPicPr>
                <a:picLocks noChangeAspect="1"/>
              </p:cNvPicPr>
              <p:nvPr/>
            </p:nvPicPr>
            <p:blipFill>
              <a:blip r:embed="rId8"/>
              <a:stretch>
                <a:fillRect/>
              </a:stretch>
            </p:blipFill>
            <p:spPr>
              <a:xfrm>
                <a:off x="5921295" y="1605776"/>
                <a:ext cx="1748404" cy="1163483"/>
              </a:xfrm>
              <a:prstGeom prst="rect">
                <a:avLst/>
              </a:prstGeom>
            </p:spPr>
          </p:pic>
          <p:pic>
            <p:nvPicPr>
              <p:cNvPr id="29" name="图片 28" descr="Netherland.png"/>
              <p:cNvPicPr>
                <a:picLocks noChangeAspect="1"/>
              </p:cNvPicPr>
              <p:nvPr/>
            </p:nvPicPr>
            <p:blipFill>
              <a:blip r:embed="rId9"/>
              <a:stretch>
                <a:fillRect/>
              </a:stretch>
            </p:blipFill>
            <p:spPr>
              <a:xfrm>
                <a:off x="544297" y="1405054"/>
                <a:ext cx="1730564" cy="1151611"/>
              </a:xfrm>
              <a:prstGeom prst="rect">
                <a:avLst/>
              </a:prstGeom>
            </p:spPr>
          </p:pic>
          <p:cxnSp>
            <p:nvCxnSpPr>
              <p:cNvPr id="40" name="直接连接符 39"/>
              <p:cNvCxnSpPr>
                <a:stCxn id="29" idx="3"/>
                <a:endCxn id="38" idx="1"/>
              </p:cNvCxnSpPr>
              <p:nvPr/>
            </p:nvCxnSpPr>
            <p:spPr>
              <a:xfrm flipV="1">
                <a:off x="2274861" y="960398"/>
                <a:ext cx="3653296" cy="1020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29" idx="3"/>
                <a:endCxn id="28" idx="1"/>
              </p:cNvCxnSpPr>
              <p:nvPr/>
            </p:nvCxnSpPr>
            <p:spPr>
              <a:xfrm>
                <a:off x="2274861" y="1980860"/>
                <a:ext cx="3646434" cy="206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9" idx="3"/>
                <a:endCxn id="25" idx="1"/>
              </p:cNvCxnSpPr>
              <p:nvPr/>
            </p:nvCxnSpPr>
            <p:spPr>
              <a:xfrm>
                <a:off x="2274861" y="1980860"/>
                <a:ext cx="3639854" cy="1404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9" idx="3"/>
                <a:endCxn id="26" idx="1"/>
              </p:cNvCxnSpPr>
              <p:nvPr/>
            </p:nvCxnSpPr>
            <p:spPr>
              <a:xfrm>
                <a:off x="2274861" y="1980860"/>
                <a:ext cx="3640340" cy="2580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24" idx="3"/>
                <a:endCxn id="25" idx="1"/>
              </p:cNvCxnSpPr>
              <p:nvPr/>
            </p:nvCxnSpPr>
            <p:spPr>
              <a:xfrm>
                <a:off x="2274849" y="3152438"/>
                <a:ext cx="3639866" cy="233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27" idx="3"/>
                <a:endCxn id="26" idx="1"/>
              </p:cNvCxnSpPr>
              <p:nvPr/>
            </p:nvCxnSpPr>
            <p:spPr>
              <a:xfrm>
                <a:off x="2274849" y="4301390"/>
                <a:ext cx="3640352" cy="259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24" idx="3"/>
                <a:endCxn id="26" idx="1"/>
              </p:cNvCxnSpPr>
              <p:nvPr/>
            </p:nvCxnSpPr>
            <p:spPr>
              <a:xfrm>
                <a:off x="2274849" y="3152438"/>
                <a:ext cx="3640352" cy="1408778"/>
              </a:xfrm>
              <a:prstGeom prst="line">
                <a:avLst/>
              </a:prstGeom>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6" name="圆角矩形 35"/>
          <p:cNvSpPr/>
          <p:nvPr/>
        </p:nvSpPr>
        <p:spPr>
          <a:xfrm>
            <a:off x="1682142" y="4381498"/>
            <a:ext cx="2648675" cy="70412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 name="圆角矩形 34"/>
          <p:cNvSpPr/>
          <p:nvPr/>
        </p:nvSpPr>
        <p:spPr>
          <a:xfrm>
            <a:off x="3196537" y="3439611"/>
            <a:ext cx="2648675" cy="634679"/>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34" name="圆角矩形 33"/>
          <p:cNvSpPr/>
          <p:nvPr/>
        </p:nvSpPr>
        <p:spPr>
          <a:xfrm>
            <a:off x="5650373" y="2455763"/>
            <a:ext cx="1857596" cy="7157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3" name="圆角矩形 32"/>
          <p:cNvSpPr/>
          <p:nvPr/>
        </p:nvSpPr>
        <p:spPr>
          <a:xfrm>
            <a:off x="1435259" y="2465407"/>
            <a:ext cx="1857596" cy="706056"/>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23" name="Google Shape;323;p1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2.3 Diversity and Ubiquity</a:t>
            </a:r>
            <a:endParaRPr dirty="0">
              <a:latin typeface="Times New Roman"/>
              <a:ea typeface="Times New Roman"/>
              <a:cs typeface="Times New Roman"/>
              <a:sym typeface="Times New Roman"/>
            </a:endParaRPr>
          </a:p>
        </p:txBody>
      </p:sp>
      <p:sp>
        <p:nvSpPr>
          <p:cNvPr id="324" name="Google Shape;324;p19"/>
          <p:cNvSpPr txBox="1">
            <a:spLocks noGrp="1"/>
          </p:cNvSpPr>
          <p:nvPr>
            <p:ph type="body" idx="1"/>
          </p:nvPr>
        </p:nvSpPr>
        <p:spPr>
          <a:xfrm>
            <a:off x="1303800" y="13009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Diversity measures how many products a country can produce</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Ubiquity measures how many countries are capable to produce a product</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Diversity and Ubiquity are a pair of complements and can be used to iteratively correct each other</a:t>
            </a:r>
            <a:endParaRPr sz="1400"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25" name="Google Shape;325;p19"/>
          <p:cNvSpPr txBox="1">
            <a:spLocks noGrp="1"/>
          </p:cNvSpPr>
          <p:nvPr>
            <p:ph type="sldNum" idx="12"/>
          </p:nvPr>
        </p:nvSpPr>
        <p:spPr>
          <a:xfrm>
            <a:off x="8393173" y="4606724"/>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28</a:t>
            </a:fld>
            <a:endParaRPr dirty="0"/>
          </a:p>
        </p:txBody>
      </p:sp>
      <p:graphicFrame>
        <p:nvGraphicFramePr>
          <p:cNvPr id="48132" name="Object 4"/>
          <p:cNvGraphicFramePr>
            <a:graphicFrameLocks noChangeAspect="1"/>
          </p:cNvGraphicFramePr>
          <p:nvPr/>
        </p:nvGraphicFramePr>
        <p:xfrm>
          <a:off x="1510570" y="2529080"/>
          <a:ext cx="5727700" cy="196850"/>
        </p:xfrm>
        <a:graphic>
          <a:graphicData uri="http://schemas.openxmlformats.org/presentationml/2006/ole">
            <mc:AlternateContent xmlns:mc="http://schemas.openxmlformats.org/markup-compatibility/2006">
              <mc:Choice xmlns:v="urn:schemas-microsoft-com:vml" Requires="v">
                <p:oleObj spid="_x0000_s121077" name="文档" r:id="rId4" imgW="5728027" imgH="196207" progId="Word.Document.12">
                  <p:embed/>
                </p:oleObj>
              </mc:Choice>
              <mc:Fallback>
                <p:oleObj name="文档" r:id="rId4" imgW="5728027" imgH="196207" progId="Word.Document.12">
                  <p:embed/>
                  <p:pic>
                    <p:nvPicPr>
                      <p:cNvPr id="0" name="Picture 2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0570" y="2529080"/>
                        <a:ext cx="572770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48137" name="Object 9"/>
          <p:cNvGraphicFramePr>
            <a:graphicFrameLocks noChangeAspect="1"/>
          </p:cNvGraphicFramePr>
          <p:nvPr/>
        </p:nvGraphicFramePr>
        <p:xfrm>
          <a:off x="5738434" y="2505932"/>
          <a:ext cx="5727700" cy="196850"/>
        </p:xfrm>
        <a:graphic>
          <a:graphicData uri="http://schemas.openxmlformats.org/presentationml/2006/ole">
            <mc:AlternateContent xmlns:mc="http://schemas.openxmlformats.org/markup-compatibility/2006">
              <mc:Choice xmlns:v="urn:schemas-microsoft-com:vml" Requires="v">
                <p:oleObj spid="_x0000_s121078" name="文档" r:id="rId6" imgW="5728027" imgH="196207" progId="Word.Document.12">
                  <p:embed/>
                </p:oleObj>
              </mc:Choice>
              <mc:Fallback>
                <p:oleObj name="文档" r:id="rId6" imgW="5728027" imgH="196207" progId="Word.Document.12">
                  <p:embed/>
                  <p:pic>
                    <p:nvPicPr>
                      <p:cNvPr id="0" name="Picture 20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8434" y="2505932"/>
                        <a:ext cx="572770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48141" name="Object 13"/>
          <p:cNvGraphicFramePr>
            <a:graphicFrameLocks noChangeAspect="1"/>
          </p:cNvGraphicFramePr>
          <p:nvPr/>
        </p:nvGraphicFramePr>
        <p:xfrm>
          <a:off x="1529627" y="2816558"/>
          <a:ext cx="5727700" cy="290513"/>
        </p:xfrm>
        <a:graphic>
          <a:graphicData uri="http://schemas.openxmlformats.org/presentationml/2006/ole">
            <mc:AlternateContent xmlns:mc="http://schemas.openxmlformats.org/markup-compatibility/2006">
              <mc:Choice xmlns:v="urn:schemas-microsoft-com:vml" Requires="v">
                <p:oleObj spid="_x0000_s121079" name="文档" r:id="rId8" imgW="5728027" imgH="290170" progId="Word.Document.12">
                  <p:embed/>
                </p:oleObj>
              </mc:Choice>
              <mc:Fallback>
                <p:oleObj name="文档" r:id="rId8" imgW="5728027" imgH="290170" progId="Word.Document.12">
                  <p:embed/>
                  <p:pic>
                    <p:nvPicPr>
                      <p:cNvPr id="0" name="Picture 2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9627" y="2816558"/>
                        <a:ext cx="57277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48142" name="Object 14"/>
          <p:cNvGraphicFramePr>
            <a:graphicFrameLocks noChangeAspect="1"/>
          </p:cNvGraphicFramePr>
          <p:nvPr/>
        </p:nvGraphicFramePr>
        <p:xfrm>
          <a:off x="3702558" y="2683153"/>
          <a:ext cx="5727700" cy="434975"/>
        </p:xfrm>
        <a:graphic>
          <a:graphicData uri="http://schemas.openxmlformats.org/presentationml/2006/ole">
            <mc:AlternateContent xmlns:mc="http://schemas.openxmlformats.org/markup-compatibility/2006">
              <mc:Choice xmlns:v="urn:schemas-microsoft-com:vml" Requires="v">
                <p:oleObj spid="_x0000_s121080" name="文档" r:id="rId10" imgW="5728027" imgH="435616" progId="Word.Document.12">
                  <p:embed/>
                </p:oleObj>
              </mc:Choice>
              <mc:Fallback>
                <p:oleObj name="文档" r:id="rId10" imgW="5728027" imgH="435616" progId="Word.Document.12">
                  <p:embed/>
                  <p:pic>
                    <p:nvPicPr>
                      <p:cNvPr id="0" name="Picture 20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02558" y="2683153"/>
                        <a:ext cx="5727700"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48143" name="Object 15"/>
          <p:cNvGraphicFramePr>
            <a:graphicFrameLocks noChangeAspect="1"/>
          </p:cNvGraphicFramePr>
          <p:nvPr/>
        </p:nvGraphicFramePr>
        <p:xfrm>
          <a:off x="1717183" y="3523632"/>
          <a:ext cx="5727700" cy="455613"/>
        </p:xfrm>
        <a:graphic>
          <a:graphicData uri="http://schemas.openxmlformats.org/presentationml/2006/ole">
            <mc:AlternateContent xmlns:mc="http://schemas.openxmlformats.org/markup-compatibility/2006">
              <mc:Choice xmlns:v="urn:schemas-microsoft-com:vml" Requires="v">
                <p:oleObj spid="_x0000_s121081" name="文档" r:id="rId12" imgW="5728027" imgH="455056" progId="Word.Document.12">
                  <p:embed/>
                </p:oleObj>
              </mc:Choice>
              <mc:Fallback>
                <p:oleObj name="文档" r:id="rId12" imgW="5728027" imgH="455056" progId="Word.Document.12">
                  <p:embed/>
                  <p:pic>
                    <p:nvPicPr>
                      <p:cNvPr id="0" name="Picture 20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17183" y="3523632"/>
                        <a:ext cx="57277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48145" name="Object 17"/>
          <p:cNvGraphicFramePr>
            <a:graphicFrameLocks noChangeAspect="1"/>
          </p:cNvGraphicFramePr>
          <p:nvPr/>
        </p:nvGraphicFramePr>
        <p:xfrm>
          <a:off x="1772650" y="4755854"/>
          <a:ext cx="5727700" cy="306387"/>
        </p:xfrm>
        <a:graphic>
          <a:graphicData uri="http://schemas.openxmlformats.org/presentationml/2006/ole">
            <mc:AlternateContent xmlns:mc="http://schemas.openxmlformats.org/markup-compatibility/2006">
              <mc:Choice xmlns:v="urn:schemas-microsoft-com:vml" Requires="v">
                <p:oleObj spid="_x0000_s121082" name="文档" r:id="rId14" imgW="5728027" imgH="306731" progId="Word.Document.12">
                  <p:embed/>
                </p:oleObj>
              </mc:Choice>
              <mc:Fallback>
                <p:oleObj name="文档" r:id="rId14" imgW="5728027" imgH="306731" progId="Word.Document.12">
                  <p:embed/>
                  <p:pic>
                    <p:nvPicPr>
                      <p:cNvPr id="0" name="Picture 2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72650" y="4755854"/>
                        <a:ext cx="57277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4815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DengXian" charset="-122"/>
                <a:cs typeface="Times New Roman" pitchFamily="18" charset="0"/>
              </a:rPr>
              <a:t>	</a:t>
            </a:r>
            <a:r>
              <a:rPr kumimoji="0" lang="en-US" altLang="zh-CN" sz="800" b="0" i="0" u="none" strike="noStrike" cap="none" normalizeH="0" baseline="0">
                <a:ln>
                  <a:noFill/>
                </a:ln>
                <a:solidFill>
                  <a:schemeClr val="tx1"/>
                </a:solidFill>
                <a:effectLst/>
                <a:latin typeface="Arial" pitchFamily="34" charset="0"/>
                <a:cs typeface="Arial" pitchFamily="34" charset="0"/>
              </a:rPr>
              <a:t> </a:t>
            </a:r>
            <a:endParaRPr kumimoji="0" lang="en-US" altLang="zh-CN"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8152" name="Object 24"/>
          <p:cNvGraphicFramePr>
            <a:graphicFrameLocks noChangeAspect="1"/>
          </p:cNvGraphicFramePr>
          <p:nvPr/>
        </p:nvGraphicFramePr>
        <p:xfrm>
          <a:off x="1761075" y="4487325"/>
          <a:ext cx="5727700" cy="195263"/>
        </p:xfrm>
        <a:graphic>
          <a:graphicData uri="http://schemas.openxmlformats.org/presentationml/2006/ole">
            <mc:AlternateContent xmlns:mc="http://schemas.openxmlformats.org/markup-compatibility/2006">
              <mc:Choice xmlns:v="urn:schemas-microsoft-com:vml" Requires="v">
                <p:oleObj spid="_x0000_s121083" name="文档" r:id="rId16" imgW="5728027" imgH="195847" progId="Word.Document.12">
                  <p:embed/>
                </p:oleObj>
              </mc:Choice>
              <mc:Fallback>
                <p:oleObj name="文档" r:id="rId16" imgW="5728027" imgH="195847" progId="Word.Document.12">
                  <p:embed/>
                  <p:pic>
                    <p:nvPicPr>
                      <p:cNvPr id="0" name="Picture 2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61075" y="4487325"/>
                        <a:ext cx="5727700" cy="19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30" name="右箭头 29"/>
          <p:cNvSpPr/>
          <p:nvPr/>
        </p:nvSpPr>
        <p:spPr>
          <a:xfrm rot="2781642">
            <a:off x="3217760" y="3148314"/>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右箭头 30"/>
          <p:cNvSpPr/>
          <p:nvPr/>
        </p:nvSpPr>
        <p:spPr>
          <a:xfrm rot="8108223">
            <a:off x="5337859" y="3150244"/>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右箭头 31"/>
          <p:cNvSpPr/>
          <p:nvPr/>
        </p:nvSpPr>
        <p:spPr>
          <a:xfrm rot="5400000">
            <a:off x="4354013" y="4215127"/>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圆角矩形 36"/>
          <p:cNvSpPr/>
          <p:nvPr/>
        </p:nvSpPr>
        <p:spPr>
          <a:xfrm>
            <a:off x="4774517" y="4381498"/>
            <a:ext cx="2648675" cy="70412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aphicFrame>
        <p:nvGraphicFramePr>
          <p:cNvPr id="48154" name="Object 26"/>
          <p:cNvGraphicFramePr>
            <a:graphicFrameLocks noChangeAspect="1"/>
          </p:cNvGraphicFramePr>
          <p:nvPr/>
        </p:nvGraphicFramePr>
        <p:xfrm>
          <a:off x="4919663" y="4521200"/>
          <a:ext cx="5564187" cy="360363"/>
        </p:xfrm>
        <a:graphic>
          <a:graphicData uri="http://schemas.openxmlformats.org/presentationml/2006/ole">
            <mc:AlternateContent xmlns:mc="http://schemas.openxmlformats.org/markup-compatibility/2006">
              <mc:Choice xmlns:v="urn:schemas-microsoft-com:vml" Requires="v">
                <p:oleObj spid="_x0000_s121084" name="文档" r:id="rId18" imgW="5728027" imgH="306371" progId="Word.Document.12">
                  <p:embed/>
                </p:oleObj>
              </mc:Choice>
              <mc:Fallback>
                <p:oleObj name="文档" r:id="rId18" imgW="5728027" imgH="306371" progId="Word.Document.12">
                  <p:embed/>
                  <p:pic>
                    <p:nvPicPr>
                      <p:cNvPr id="0" name="Picture 2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19663" y="4521200"/>
                        <a:ext cx="5564187"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pic>
        <p:nvPicPr>
          <p:cNvPr id="18" name="图片 17" descr="US_export.png"/>
          <p:cNvPicPr>
            <a:picLocks noChangeAspect="1"/>
          </p:cNvPicPr>
          <p:nvPr/>
        </p:nvPicPr>
        <p:blipFill>
          <a:blip r:embed="rId3"/>
          <a:srcRect l="20982" t="15050" b="7979"/>
          <a:stretch>
            <a:fillRect/>
          </a:stretch>
        </p:blipFill>
        <p:spPr>
          <a:xfrm>
            <a:off x="-1" y="2018355"/>
            <a:ext cx="4538547" cy="2081175"/>
          </a:xfrm>
          <a:prstGeom prst="rect">
            <a:avLst/>
          </a:prstGeom>
        </p:spPr>
      </p:pic>
      <p:pic>
        <p:nvPicPr>
          <p:cNvPr id="159751" name="Picture 7"/>
          <p:cNvPicPr>
            <a:picLocks noChangeAspect="1" noChangeArrowheads="1"/>
          </p:cNvPicPr>
          <p:nvPr/>
        </p:nvPicPr>
        <p:blipFill>
          <a:blip r:embed="rId4"/>
          <a:srcRect l="20424" t="24217" r="1683" b="16648"/>
          <a:stretch>
            <a:fillRect/>
          </a:stretch>
        </p:blipFill>
        <p:spPr bwMode="auto">
          <a:xfrm>
            <a:off x="4650059" y="2018359"/>
            <a:ext cx="4494265" cy="2081064"/>
          </a:xfrm>
          <a:prstGeom prst="rect">
            <a:avLst/>
          </a:prstGeom>
          <a:noFill/>
          <a:ln w="9525">
            <a:noFill/>
            <a:miter lim="800000"/>
            <a:headEnd/>
            <a:tailEnd/>
          </a:ln>
          <a:effectLst/>
        </p:spPr>
      </p:pic>
      <p:sp>
        <p:nvSpPr>
          <p:cNvPr id="20" name="TextBox 19"/>
          <p:cNvSpPr txBox="1"/>
          <p:nvPr/>
        </p:nvSpPr>
        <p:spPr>
          <a:xfrm>
            <a:off x="1416209" y="1382800"/>
            <a:ext cx="6508651" cy="323165"/>
          </a:xfrm>
          <a:prstGeom prst="rect">
            <a:avLst/>
          </a:prstGeom>
          <a:noFill/>
        </p:spPr>
        <p:txBody>
          <a:bodyPr wrap="square" rtlCol="0">
            <a:spAutoFit/>
          </a:bodyPr>
          <a:lstStyle/>
          <a:p>
            <a:r>
              <a:rPr lang="en-US" sz="1500" b="1" dirty="0">
                <a:latin typeface="Times New Roman" pitchFamily="18" charset="0"/>
                <a:cs typeface="Times New Roman" pitchFamily="18" charset="0"/>
              </a:rPr>
              <a:t>Countries specialize in different  industries with distinct  level of productivity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30</a:t>
            </a:fld>
            <a:endParaRPr/>
          </a:p>
        </p:txBody>
      </p:sp>
      <p:graphicFrame>
        <p:nvGraphicFramePr>
          <p:cNvPr id="19" name="图示 18"/>
          <p:cNvGraphicFramePr/>
          <p:nvPr/>
        </p:nvGraphicFramePr>
        <p:xfrm>
          <a:off x="1159726" y="1048217"/>
          <a:ext cx="4661210" cy="3950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TextBox 22"/>
          <p:cNvSpPr txBox="1"/>
          <p:nvPr/>
        </p:nvSpPr>
        <p:spPr>
          <a:xfrm>
            <a:off x="5820936" y="1795339"/>
            <a:ext cx="2921620" cy="2031325"/>
          </a:xfrm>
          <a:prstGeom prst="rect">
            <a:avLst/>
          </a:prstGeom>
          <a:noFill/>
        </p:spPr>
        <p:txBody>
          <a:bodyPr wrap="square" rtlCol="0">
            <a:spAutoFit/>
          </a:bodyPr>
          <a:lstStyle/>
          <a:p>
            <a:pPr>
              <a:buFont typeface="Arial" pitchFamily="34" charset="0"/>
              <a:buChar char="•"/>
            </a:pPr>
            <a:r>
              <a:rPr lang="en-US" dirty="0">
                <a:latin typeface="Times New Roman" pitchFamily="18" charset="0"/>
                <a:cs typeface="Times New Roman" pitchFamily="18" charset="0"/>
              </a:rPr>
              <a:t> High complexity products are connected with a large amount of products</a:t>
            </a:r>
          </a:p>
          <a:p>
            <a:pPr>
              <a:buFont typeface="Arial" pitchFamily="34" charset="0"/>
              <a:buChar char="•"/>
            </a:pPr>
            <a:endParaRPr lang="en-US" dirty="0">
              <a:latin typeface="Times New Roman" pitchFamily="18" charset="0"/>
              <a:cs typeface="Times New Roman" pitchFamily="18" charset="0"/>
            </a:endParaRPr>
          </a:p>
          <a:p>
            <a:pPr>
              <a:buFont typeface="Arial" pitchFamily="34" charset="0"/>
              <a:buChar char="•"/>
            </a:pPr>
            <a:endParaRPr lang="en-US" dirty="0">
              <a:latin typeface="Times New Roman" pitchFamily="18" charset="0"/>
              <a:cs typeface="Times New Roman" pitchFamily="18" charset="0"/>
            </a:endParaRPr>
          </a:p>
          <a:p>
            <a:pPr>
              <a:buFont typeface="Arial" pitchFamily="34" charset="0"/>
              <a:buChar char="•"/>
            </a:pPr>
            <a:endParaRPr lang="en-US" dirty="0">
              <a:latin typeface="Times New Roman" pitchFamily="18" charset="0"/>
              <a:cs typeface="Times New Roman" pitchFamily="18" charset="0"/>
            </a:endParaRPr>
          </a:p>
          <a:p>
            <a:pPr>
              <a:buFont typeface="Arial" pitchFamily="34" charset="0"/>
              <a:buChar char="•"/>
            </a:pPr>
            <a:r>
              <a:rPr lang="en-US" dirty="0">
                <a:latin typeface="Times New Roman" pitchFamily="18" charset="0"/>
                <a:cs typeface="Times New Roman" pitchFamily="18" charset="0"/>
              </a:rPr>
              <a:t> High complexity products are close to other products with high complexity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13" name="圆角矩形 12"/>
          <p:cNvSpPr/>
          <p:nvPr/>
        </p:nvSpPr>
        <p:spPr>
          <a:xfrm>
            <a:off x="1267521" y="3337004"/>
            <a:ext cx="7114478" cy="170613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圆角矩形 11"/>
          <p:cNvSpPr/>
          <p:nvPr/>
        </p:nvSpPr>
        <p:spPr>
          <a:xfrm>
            <a:off x="1271239" y="1483115"/>
            <a:ext cx="7114478" cy="170613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2" name="Google Shape;332;p20"/>
          <p:cNvSpPr txBox="1">
            <a:spLocks noGrp="1"/>
          </p:cNvSpPr>
          <p:nvPr>
            <p:ph type="body" idx="1"/>
          </p:nvPr>
        </p:nvSpPr>
        <p:spPr>
          <a:xfrm>
            <a:off x="1303800" y="1483113"/>
            <a:ext cx="7030500" cy="366038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The second largest eigenvector of M</a:t>
            </a:r>
            <a:r>
              <a:rPr lang="en" sz="1400" baseline="-25000" dirty="0">
                <a:solidFill>
                  <a:srgbClr val="000000"/>
                </a:solidFill>
                <a:latin typeface="Times New Roman" pitchFamily="18" charset="0"/>
                <a:ea typeface="Arial"/>
                <a:cs typeface="Times New Roman" pitchFamily="18" charset="0"/>
                <a:sym typeface="Arial"/>
              </a:rPr>
              <a:t>cc</a:t>
            </a:r>
            <a:r>
              <a:rPr lang="en" sz="1400" dirty="0">
                <a:solidFill>
                  <a:srgbClr val="000000"/>
                </a:solidFill>
                <a:latin typeface="Times New Roman" pitchFamily="18" charset="0"/>
                <a:ea typeface="Arial"/>
                <a:cs typeface="Times New Roman" pitchFamily="18" charset="0"/>
                <a:sym typeface="Arial"/>
              </a:rPr>
              <a:t> best preserves the information about variance in the system, which is just Economic Complexity. Hence, we define the Economic Complexity Index ( ECI) as:</a:t>
            </a:r>
            <a:endParaRPr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	Where &lt;&gt; stands for numeric mean, and stdev stands for the standard deviation.</a:t>
            </a: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Similarly, we can calculate the second largest eigenvector of M</a:t>
            </a:r>
            <a:r>
              <a:rPr lang="en" sz="1400" baseline="-25000" dirty="0">
                <a:solidFill>
                  <a:srgbClr val="000000"/>
                </a:solidFill>
                <a:latin typeface="Times New Roman" pitchFamily="18" charset="0"/>
                <a:ea typeface="Arial"/>
                <a:cs typeface="Times New Roman" pitchFamily="18" charset="0"/>
                <a:sym typeface="Arial"/>
              </a:rPr>
              <a:t>pp’,</a:t>
            </a:r>
            <a:r>
              <a:rPr lang="en" sz="1400" dirty="0">
                <a:solidFill>
                  <a:srgbClr val="000000"/>
                </a:solidFill>
                <a:latin typeface="Times New Roman" pitchFamily="18" charset="0"/>
                <a:ea typeface="Arial"/>
                <a:cs typeface="Times New Roman" pitchFamily="18" charset="0"/>
                <a:sym typeface="Arial"/>
              </a:rPr>
              <a:t> and define Product Complexity Index ( PCI) as</a:t>
            </a:r>
            <a:endParaRPr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a:solidFill>
                  <a:srgbClr val="000000"/>
                </a:solidFill>
                <a:latin typeface="Times New Roman" pitchFamily="18" charset="0"/>
                <a:ea typeface="Arial"/>
                <a:cs typeface="Times New Roman" pitchFamily="18" charset="0"/>
                <a:sym typeface="Arial"/>
              </a:rPr>
              <a:t>	Where&lt;&gt; stands for numeric mean, and stdev stands for the standard deviation.</a:t>
            </a:r>
            <a:endParaRPr sz="1400" dirty="0">
              <a:solidFill>
                <a:srgbClr val="000000"/>
              </a:solidFill>
              <a:latin typeface="Times New Roman" pitchFamily="18" charset="0"/>
              <a:ea typeface="Arial"/>
              <a:cs typeface="Times New Roman" pitchFamily="18" charset="0"/>
              <a:sym typeface="Arial"/>
            </a:endParaRPr>
          </a:p>
          <a:p>
            <a:pPr marL="457200" lvl="0" indent="0" algn="l" rtl="0">
              <a:spcBef>
                <a:spcPts val="0"/>
              </a:spcBef>
              <a:spcAft>
                <a:spcPts val="0"/>
              </a:spcAft>
              <a:buNone/>
            </a:pPr>
            <a:endParaRPr sz="1400"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31</a:t>
            </a:fld>
            <a:endParaRPr/>
          </a:p>
        </p:txBody>
      </p:sp>
      <p:graphicFrame>
        <p:nvGraphicFramePr>
          <p:cNvPr id="46083" name="Object 3"/>
          <p:cNvGraphicFramePr>
            <a:graphicFrameLocks noChangeAspect="1"/>
          </p:cNvGraphicFramePr>
          <p:nvPr/>
        </p:nvGraphicFramePr>
        <p:xfrm>
          <a:off x="1373614" y="2290571"/>
          <a:ext cx="5727700" cy="449263"/>
        </p:xfrm>
        <a:graphic>
          <a:graphicData uri="http://schemas.openxmlformats.org/presentationml/2006/ole">
            <mc:AlternateContent xmlns:mc="http://schemas.openxmlformats.org/markup-compatibility/2006">
              <mc:Choice xmlns:v="urn:schemas-microsoft-com:vml" Requires="v">
                <p:oleObj spid="_x0000_s114751" name="文档" r:id="rId4" imgW="5728027" imgH="450016" progId="Word.Document.12">
                  <p:embed/>
                </p:oleObj>
              </mc:Choice>
              <mc:Fallback>
                <p:oleObj name="文档" r:id="rId4" imgW="5728027" imgH="450016" progId="Word.Document.12">
                  <p:embed/>
                  <p:pic>
                    <p:nvPicPr>
                      <p:cNvPr id="0" name="Picture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3614" y="2290571"/>
                        <a:ext cx="5727700"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46084" name="Object 4"/>
          <p:cNvGraphicFramePr>
            <a:graphicFrameLocks noChangeAspect="1"/>
          </p:cNvGraphicFramePr>
          <p:nvPr/>
        </p:nvGraphicFramePr>
        <p:xfrm>
          <a:off x="3728528" y="4098420"/>
          <a:ext cx="5727700" cy="314325"/>
        </p:xfrm>
        <a:graphic>
          <a:graphicData uri="http://schemas.openxmlformats.org/presentationml/2006/ole">
            <mc:AlternateContent xmlns:mc="http://schemas.openxmlformats.org/markup-compatibility/2006">
              <mc:Choice xmlns:v="urn:schemas-microsoft-com:vml" Requires="v">
                <p:oleObj spid="_x0000_s114752" name="文档" r:id="rId6" imgW="5728027" imgH="315011" progId="Word.Document.12">
                  <p:embed/>
                </p:oleObj>
              </mc:Choice>
              <mc:Fallback>
                <p:oleObj name="文档" r:id="rId6" imgW="5728027" imgH="315011" progId="Word.Document.12">
                  <p:embed/>
                  <p:pic>
                    <p:nvPicPr>
                      <p:cNvPr id="0" name="Picture 5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8528" y="4098420"/>
                        <a:ext cx="572770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32</a:t>
            </a:fld>
            <a:endParaRPr/>
          </a:p>
        </p:txBody>
      </p:sp>
      <p:pic>
        <p:nvPicPr>
          <p:cNvPr id="161795" name="Picture 3"/>
          <p:cNvPicPr>
            <a:picLocks noChangeAspect="1" noChangeArrowheads="1"/>
          </p:cNvPicPr>
          <p:nvPr/>
        </p:nvPicPr>
        <p:blipFill>
          <a:blip r:embed="rId3"/>
          <a:srcRect l="4296" t="28910" r="8279" b="19464"/>
          <a:stretch>
            <a:fillRect/>
          </a:stretch>
        </p:blipFill>
        <p:spPr bwMode="auto">
          <a:xfrm>
            <a:off x="401457" y="1973767"/>
            <a:ext cx="8396868" cy="2787804"/>
          </a:xfrm>
          <a:prstGeom prst="rect">
            <a:avLst/>
          </a:prstGeom>
          <a:noFill/>
          <a:ln w="9525">
            <a:noFill/>
            <a:miter lim="800000"/>
            <a:headEnd/>
            <a:tailEnd/>
          </a:ln>
          <a:effectLst/>
        </p:spPr>
      </p:pic>
      <p:sp>
        <p:nvSpPr>
          <p:cNvPr id="6" name="TextBox 5"/>
          <p:cNvSpPr txBox="1"/>
          <p:nvPr/>
        </p:nvSpPr>
        <p:spPr>
          <a:xfrm>
            <a:off x="416689" y="1297917"/>
            <a:ext cx="8542116" cy="523220"/>
          </a:xfrm>
          <a:prstGeom prst="rect">
            <a:avLst/>
          </a:prstGeom>
          <a:noFill/>
        </p:spPr>
        <p:txBody>
          <a:bodyPr wrap="square" rtlCol="0">
            <a:spAutoFit/>
          </a:bodyPr>
          <a:lstStyle/>
          <a:p>
            <a:r>
              <a:rPr lang="en-US" dirty="0">
                <a:latin typeface="Times New Roman" pitchFamily="18" charset="0"/>
                <a:cs typeface="Times New Roman" pitchFamily="18" charset="0"/>
              </a:rPr>
              <a:t>From the trend of Economic Complexity Index in nearby 5 years, we can have a rough picture of whether the countries are on the right track of economic development.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2.5 Proximity&amp;Distance</a:t>
            </a:r>
            <a:endParaRPr dirty="0">
              <a:latin typeface="Times New Roman"/>
              <a:ea typeface="Times New Roman"/>
              <a:cs typeface="Times New Roman"/>
              <a:sym typeface="Times New Roman"/>
            </a:endParaRPr>
          </a:p>
        </p:txBody>
      </p:sp>
      <p:sp>
        <p:nvSpPr>
          <p:cNvPr id="340" name="Google Shape;340;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33</a:t>
            </a:fld>
            <a:endParaRPr/>
          </a:p>
        </p:txBody>
      </p:sp>
      <p:pic>
        <p:nvPicPr>
          <p:cNvPr id="115717" name="Picture 5"/>
          <p:cNvPicPr>
            <a:picLocks noChangeAspect="1" noChangeArrowheads="1"/>
          </p:cNvPicPr>
          <p:nvPr/>
        </p:nvPicPr>
        <p:blipFill>
          <a:blip r:embed="rId3"/>
          <a:srcRect l="9768" t="14750" r="12864" b="10713"/>
          <a:stretch>
            <a:fillRect/>
          </a:stretch>
        </p:blipFill>
        <p:spPr bwMode="auto">
          <a:xfrm>
            <a:off x="1179065" y="1215482"/>
            <a:ext cx="7251850" cy="3928017"/>
          </a:xfrm>
          <a:prstGeom prst="rect">
            <a:avLst/>
          </a:prstGeom>
          <a:noFill/>
          <a:ln w="9525">
            <a:noFill/>
            <a:miter lim="800000"/>
            <a:headEnd/>
            <a:tailEnd/>
          </a:ln>
          <a:effectLst/>
        </p:spPr>
      </p:pic>
      <p:sp>
        <p:nvSpPr>
          <p:cNvPr id="11" name="右箭头 10"/>
          <p:cNvSpPr/>
          <p:nvPr/>
        </p:nvSpPr>
        <p:spPr>
          <a:xfrm>
            <a:off x="3590692" y="2029520"/>
            <a:ext cx="1728439" cy="992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Derive Proximity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18" name="图片 17" descr="00000.png"/>
          <p:cNvPicPr>
            <a:picLocks noChangeAspect="1"/>
          </p:cNvPicPr>
          <p:nvPr/>
        </p:nvPicPr>
        <p:blipFill>
          <a:blip r:embed="rId4"/>
          <a:srcRect l="2683" t="4569" r="31219"/>
          <a:stretch>
            <a:fillRect/>
          </a:stretch>
        </p:blipFill>
        <p:spPr>
          <a:xfrm>
            <a:off x="5218770" y="323379"/>
            <a:ext cx="3925229" cy="4795024"/>
          </a:xfrm>
          <a:prstGeom prst="rect">
            <a:avLst/>
          </a:prstGeom>
          <a:effectLst>
            <a:softEdge rad="63500"/>
          </a:effectLst>
        </p:spPr>
      </p:pic>
      <p:sp>
        <p:nvSpPr>
          <p:cNvPr id="338" name="Google Shape;338;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2.5 Proximity&amp;Distance</a:t>
            </a:r>
            <a:endParaRPr dirty="0">
              <a:latin typeface="Times New Roman"/>
              <a:ea typeface="Times New Roman"/>
              <a:cs typeface="Times New Roman"/>
              <a:sym typeface="Times New Roman"/>
            </a:endParaRPr>
          </a:p>
        </p:txBody>
      </p:sp>
      <p:sp>
        <p:nvSpPr>
          <p:cNvPr id="339" name="Google Shape;339;p21"/>
          <p:cNvSpPr txBox="1">
            <a:spLocks noGrp="1"/>
          </p:cNvSpPr>
          <p:nvPr>
            <p:ph type="body" idx="1"/>
          </p:nvPr>
        </p:nvSpPr>
        <p:spPr>
          <a:xfrm>
            <a:off x="1303800" y="1300950"/>
            <a:ext cx="4078428" cy="1083435"/>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pitchFamily="18" charset="0"/>
                <a:ea typeface="Times New Roman"/>
                <a:cs typeface="Times New Roman" pitchFamily="18" charset="0"/>
                <a:sym typeface="Times New Roman"/>
              </a:rPr>
              <a:t>Certain products are composed of similar productive knowledge. We define connectedness of z product as the numeric average of proximity of it to all other products</a:t>
            </a:r>
          </a:p>
          <a:p>
            <a:pPr marL="457200" lvl="0" indent="-317500" algn="l" rtl="0">
              <a:spcBef>
                <a:spcPts val="0"/>
              </a:spcBef>
              <a:spcAft>
                <a:spcPts val="0"/>
              </a:spcAft>
              <a:buClr>
                <a:srgbClr val="000000"/>
              </a:buClr>
              <a:buSzPts val="1400"/>
              <a:buFont typeface="Times New Roman"/>
              <a:buChar char="●"/>
            </a:pPr>
            <a:endParaRPr sz="1400" dirty="0">
              <a:solidFill>
                <a:srgbClr val="000000"/>
              </a:solidFill>
              <a:latin typeface="Times New Roman" pitchFamily="18" charset="0"/>
              <a:ea typeface="Times New Roman"/>
              <a:cs typeface="Times New Roman" pitchFamily="18" charset="0"/>
              <a:sym typeface="Times New Roman"/>
            </a:endParaRPr>
          </a:p>
          <a:p>
            <a:pPr marL="457200" lvl="0" indent="-304800" algn="l" rtl="0">
              <a:spcBef>
                <a:spcPts val="0"/>
              </a:spcBef>
              <a:spcAft>
                <a:spcPts val="0"/>
              </a:spcAft>
              <a:buClr>
                <a:srgbClr val="000000"/>
              </a:buClr>
              <a:buSzPts val="1200"/>
              <a:buFont typeface="Times New Roman"/>
              <a:buChar char="●"/>
            </a:pPr>
            <a:r>
              <a:rPr lang="en" sz="1400" dirty="0">
                <a:solidFill>
                  <a:srgbClr val="000000"/>
                </a:solidFill>
                <a:latin typeface="Times New Roman" pitchFamily="18" charset="0"/>
                <a:ea typeface="Times New Roman"/>
                <a:cs typeface="Times New Roman" pitchFamily="18" charset="0"/>
                <a:sym typeface="Times New Roman"/>
              </a:rPr>
              <a:t>We define the smaller conditional probability of exporting product p given the country is currently exporting product p’ and that of exporting p’ given the country is exporting p, as proximity. We then normalize Proximity as Distance</a:t>
            </a:r>
          </a:p>
          <a:p>
            <a:pPr marL="457200" lvl="0" indent="-304800" algn="l" rtl="0">
              <a:spcBef>
                <a:spcPts val="0"/>
              </a:spcBef>
              <a:spcAft>
                <a:spcPts val="0"/>
              </a:spcAft>
              <a:buClr>
                <a:srgbClr val="000000"/>
              </a:buClr>
              <a:buSzPts val="1200"/>
              <a:buFont typeface="Times New Roman"/>
              <a:buChar char="●"/>
            </a:pPr>
            <a:endParaRPr lang="en" sz="1400" dirty="0">
              <a:solidFill>
                <a:srgbClr val="000000"/>
              </a:solidFill>
              <a:latin typeface="Times New Roman" pitchFamily="18" charset="0"/>
              <a:ea typeface="Times New Roman"/>
              <a:cs typeface="Times New Roman" pitchFamily="18" charset="0"/>
              <a:sym typeface="Times New Roman"/>
            </a:endParaRPr>
          </a:p>
          <a:p>
            <a:pPr marL="457200" lvl="0" indent="-304800" algn="l" rtl="0">
              <a:spcBef>
                <a:spcPts val="0"/>
              </a:spcBef>
              <a:spcAft>
                <a:spcPts val="0"/>
              </a:spcAft>
              <a:buClr>
                <a:srgbClr val="000000"/>
              </a:buClr>
              <a:buSzPts val="1200"/>
              <a:buFont typeface="Times New Roman"/>
              <a:buChar char="●"/>
            </a:pPr>
            <a:endParaRPr lang="en" sz="1400" dirty="0">
              <a:solidFill>
                <a:srgbClr val="000000"/>
              </a:solidFill>
              <a:latin typeface="Times New Roman"/>
              <a:ea typeface="Times New Roman"/>
              <a:cs typeface="Times New Roman"/>
              <a:sym typeface="Times New Roman"/>
            </a:endParaRPr>
          </a:p>
        </p:txBody>
      </p:sp>
      <p:sp>
        <p:nvSpPr>
          <p:cNvPr id="340" name="Google Shape;340;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34</a:t>
            </a:fld>
            <a:endParaRPr/>
          </a:p>
        </p:txBody>
      </p:sp>
      <p:graphicFrame>
        <p:nvGraphicFramePr>
          <p:cNvPr id="44033" name="Object 1"/>
          <p:cNvGraphicFramePr>
            <a:graphicFrameLocks noChangeAspect="1"/>
          </p:cNvGraphicFramePr>
          <p:nvPr/>
        </p:nvGraphicFramePr>
        <p:xfrm>
          <a:off x="2410830" y="4160029"/>
          <a:ext cx="5727700" cy="320675"/>
        </p:xfrm>
        <a:graphic>
          <a:graphicData uri="http://schemas.openxmlformats.org/presentationml/2006/ole">
            <mc:AlternateContent xmlns:mc="http://schemas.openxmlformats.org/markup-compatibility/2006">
              <mc:Choice xmlns:v="urn:schemas-microsoft-com:vml" Requires="v">
                <p:oleObj spid="_x0000_s245823" name="文档" r:id="rId5" imgW="5728027" imgH="320051" progId="Word.Document.12">
                  <p:embed/>
                </p:oleObj>
              </mc:Choice>
              <mc:Fallback>
                <p:oleObj name="文档" r:id="rId5" imgW="5728027" imgH="320051" progId="Word.Document.12">
                  <p:embed/>
                  <p:pic>
                    <p:nvPicPr>
                      <p:cNvPr id="0" name="Picture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0830" y="4160029"/>
                        <a:ext cx="57277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44037" name="Object 5"/>
          <p:cNvGraphicFramePr>
            <a:graphicFrameLocks noChangeAspect="1"/>
          </p:cNvGraphicFramePr>
          <p:nvPr/>
        </p:nvGraphicFramePr>
        <p:xfrm>
          <a:off x="2425774" y="4588624"/>
          <a:ext cx="5727700" cy="317500"/>
        </p:xfrm>
        <a:graphic>
          <a:graphicData uri="http://schemas.openxmlformats.org/presentationml/2006/ole">
            <mc:AlternateContent xmlns:mc="http://schemas.openxmlformats.org/markup-compatibility/2006">
              <mc:Choice xmlns:v="urn:schemas-microsoft-com:vml" Requires="v">
                <p:oleObj spid="_x0000_s245824" name="文档" r:id="rId7" imgW="5728027" imgH="318251" progId="Word.Document.12">
                  <p:embed/>
                </p:oleObj>
              </mc:Choice>
              <mc:Fallback>
                <p:oleObj name="文档" r:id="rId7" imgW="5728027" imgH="318251" progId="Word.Document.12">
                  <p:embed/>
                  <p:pic>
                    <p:nvPicPr>
                      <p:cNvPr id="0" name="Picture 5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5774" y="4588624"/>
                        <a:ext cx="57277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50" name="圆角矩形 49"/>
          <p:cNvSpPr/>
          <p:nvPr/>
        </p:nvSpPr>
        <p:spPr>
          <a:xfrm>
            <a:off x="542544" y="3428460"/>
            <a:ext cx="3081599" cy="89821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45" name="Google Shape;34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2.6 Opportunity Gain</a:t>
            </a:r>
            <a:endParaRPr>
              <a:latin typeface="Times New Roman"/>
              <a:ea typeface="Times New Roman"/>
              <a:cs typeface="Times New Roman"/>
              <a:sym typeface="Times New Roman"/>
            </a:endParaRPr>
          </a:p>
        </p:txBody>
      </p:sp>
      <p:sp>
        <p:nvSpPr>
          <p:cNvPr id="346" name="Google Shape;346;p22"/>
          <p:cNvSpPr txBox="1">
            <a:spLocks noGrp="1"/>
          </p:cNvSpPr>
          <p:nvPr>
            <p:ph type="body" idx="1"/>
          </p:nvPr>
        </p:nvSpPr>
        <p:spPr>
          <a:xfrm>
            <a:off x="1303800" y="13009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profit of exploring a new product is defined as the decrement of Distance to all other products far away from the product space.The Distances are weighted by the complexity of products respectively</a:t>
            </a:r>
            <a:endParaRPr sz="1400" dirty="0">
              <a:solidFill>
                <a:srgbClr val="000000"/>
              </a:solidFill>
              <a:latin typeface="Times New Roman"/>
              <a:ea typeface="Times New Roman"/>
              <a:cs typeface="Times New Roman"/>
              <a:sym typeface="Times New Roman"/>
            </a:endParaRPr>
          </a:p>
        </p:txBody>
      </p:sp>
      <p:sp>
        <p:nvSpPr>
          <p:cNvPr id="347" name="Google Shape;347;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35</a:t>
            </a:fld>
            <a:endParaRPr/>
          </a:p>
        </p:txBody>
      </p:sp>
      <p:grpSp>
        <p:nvGrpSpPr>
          <p:cNvPr id="2" name="组合 9"/>
          <p:cNvGrpSpPr/>
          <p:nvPr/>
        </p:nvGrpSpPr>
        <p:grpSpPr>
          <a:xfrm>
            <a:off x="1206328" y="2294909"/>
            <a:ext cx="6318715" cy="687039"/>
            <a:chOff x="1117135" y="2473325"/>
            <a:chExt cx="6318715" cy="687039"/>
          </a:xfrm>
        </p:grpSpPr>
        <p:graphicFrame>
          <p:nvGraphicFramePr>
            <p:cNvPr id="41988" name="Object 4"/>
            <p:cNvGraphicFramePr>
              <a:graphicFrameLocks noChangeAspect="1"/>
            </p:cNvGraphicFramePr>
            <p:nvPr/>
          </p:nvGraphicFramePr>
          <p:xfrm>
            <a:off x="1708150" y="2473325"/>
            <a:ext cx="5727700" cy="196850"/>
          </p:xfrm>
          <a:graphic>
            <a:graphicData uri="http://schemas.openxmlformats.org/presentationml/2006/ole">
              <mc:AlternateContent xmlns:mc="http://schemas.openxmlformats.org/markup-compatibility/2006">
                <mc:Choice xmlns:v="urn:schemas-microsoft-com:vml" Requires="v">
                  <p:oleObj spid="_x0000_s116799" name="文档" r:id="rId4" imgW="5728027" imgH="196207" progId="Word.Document.12">
                    <p:embed/>
                  </p:oleObj>
                </mc:Choice>
                <mc:Fallback>
                  <p:oleObj name="文档" r:id="rId4" imgW="5728027" imgH="196207" progId="Word.Document.12">
                    <p:embed/>
                    <p:pic>
                      <p:nvPicPr>
                        <p:cNvPr id="0" name="Picture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8150" y="2473325"/>
                          <a:ext cx="572770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41989" name="Object 5"/>
            <p:cNvGraphicFramePr>
              <a:graphicFrameLocks noChangeAspect="1"/>
            </p:cNvGraphicFramePr>
            <p:nvPr/>
          </p:nvGraphicFramePr>
          <p:xfrm>
            <a:off x="1117135" y="2695227"/>
            <a:ext cx="5727700" cy="465137"/>
          </p:xfrm>
          <a:graphic>
            <a:graphicData uri="http://schemas.openxmlformats.org/presentationml/2006/ole">
              <mc:AlternateContent xmlns:mc="http://schemas.openxmlformats.org/markup-compatibility/2006">
                <mc:Choice xmlns:v="urn:schemas-microsoft-com:vml" Requires="v">
                  <p:oleObj spid="_x0000_s116800" name="文档" r:id="rId6" imgW="5728027" imgH="464417" progId="Word.Document.12">
                    <p:embed/>
                  </p:oleObj>
                </mc:Choice>
                <mc:Fallback>
                  <p:oleObj name="文档" r:id="rId6" imgW="5728027" imgH="464417" progId="Word.Document.12">
                    <p:embed/>
                    <p:pic>
                      <p:nvPicPr>
                        <p:cNvPr id="0" name="Picture 5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7135" y="2695227"/>
                          <a:ext cx="57277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pSp>
      <p:pic>
        <p:nvPicPr>
          <p:cNvPr id="12" name="图片 11" descr="image (1).jpg"/>
          <p:cNvPicPr>
            <a:picLocks noChangeAspect="1"/>
          </p:cNvPicPr>
          <p:nvPr/>
        </p:nvPicPr>
        <p:blipFill>
          <a:blip r:embed="rId8"/>
          <a:stretch>
            <a:fillRect/>
          </a:stretch>
        </p:blipFill>
        <p:spPr>
          <a:xfrm>
            <a:off x="5229921" y="2479753"/>
            <a:ext cx="3551663" cy="2663747"/>
          </a:xfrm>
          <a:prstGeom prst="rect">
            <a:avLst/>
          </a:prstGeom>
        </p:spPr>
      </p:pic>
      <p:cxnSp>
        <p:nvCxnSpPr>
          <p:cNvPr id="30" name="肘形连接符 29"/>
          <p:cNvCxnSpPr>
            <a:stCxn id="45" idx="3"/>
          </p:cNvCxnSpPr>
          <p:nvPr/>
        </p:nvCxnSpPr>
        <p:spPr>
          <a:xfrm>
            <a:off x="3657599" y="3872653"/>
            <a:ext cx="2219093" cy="9558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91014" y="3395599"/>
            <a:ext cx="3066585" cy="954107"/>
          </a:xfrm>
          <a:prstGeom prst="rect">
            <a:avLst/>
          </a:prstGeom>
        </p:spPr>
        <p:txBody>
          <a:bodyPr wrap="square">
            <a:spAutoFit/>
          </a:bodyPr>
          <a:lstStyle/>
          <a:p>
            <a:r>
              <a:rPr lang="en-US" dirty="0">
                <a:latin typeface="Times New Roman" pitchFamily="18" charset="0"/>
                <a:cs typeface="Times New Roman" pitchFamily="18" charset="0"/>
              </a:rPr>
              <a:t>However, the low complexity and connectedness of a product can also incur a cost that needs to be deducted from the opportunity gain</a:t>
            </a:r>
          </a:p>
        </p:txBody>
      </p:sp>
      <p:cxnSp>
        <p:nvCxnSpPr>
          <p:cNvPr id="48" name="肘形连接符 47"/>
          <p:cNvCxnSpPr>
            <a:stCxn id="45" idx="3"/>
          </p:cNvCxnSpPr>
          <p:nvPr/>
        </p:nvCxnSpPr>
        <p:spPr>
          <a:xfrm flipV="1">
            <a:off x="3657599" y="3066587"/>
            <a:ext cx="2207942" cy="80606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2.6 Opportunity Gain</a:t>
            </a:r>
            <a:endParaRPr>
              <a:latin typeface="Times New Roman"/>
              <a:ea typeface="Times New Roman"/>
              <a:cs typeface="Times New Roman"/>
              <a:sym typeface="Times New Roman"/>
            </a:endParaRPr>
          </a:p>
        </p:txBody>
      </p:sp>
      <p:sp>
        <p:nvSpPr>
          <p:cNvPr id="347" name="Google Shape;347;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36</a:t>
            </a:fld>
            <a:endParaRPr/>
          </a:p>
        </p:txBody>
      </p:sp>
      <p:sp>
        <p:nvSpPr>
          <p:cNvPr id="14" name="TextBox 13"/>
          <p:cNvSpPr txBox="1"/>
          <p:nvPr/>
        </p:nvSpPr>
        <p:spPr>
          <a:xfrm>
            <a:off x="825190" y="1349298"/>
            <a:ext cx="7428637" cy="738664"/>
          </a:xfrm>
          <a:prstGeom prst="rect">
            <a:avLst/>
          </a:prstGeom>
          <a:noFill/>
        </p:spPr>
        <p:txBody>
          <a:bodyPr wrap="none" rtlCol="0">
            <a:spAutoFit/>
          </a:bodyPr>
          <a:lstStyle/>
          <a:p>
            <a:r>
              <a:rPr lang="en-US" dirty="0">
                <a:latin typeface="Times New Roman" pitchFamily="18" charset="0"/>
                <a:cs typeface="Times New Roman" pitchFamily="18" charset="0"/>
              </a:rPr>
              <a:t>While the product space gives us a glimpse of productive knowledge embedded in an economy,</a:t>
            </a:r>
          </a:p>
          <a:p>
            <a:r>
              <a:rPr lang="en-US" dirty="0">
                <a:latin typeface="Times New Roman" pitchFamily="18" charset="0"/>
                <a:cs typeface="Times New Roman" pitchFamily="18" charset="0"/>
              </a:rPr>
              <a:t>we are still in need of a quantitative measure of the opportunity those productive knowledge implies.</a:t>
            </a:r>
          </a:p>
          <a:p>
            <a:r>
              <a:rPr lang="en-US" dirty="0">
                <a:latin typeface="Times New Roman" pitchFamily="18" charset="0"/>
                <a:cs typeface="Times New Roman" pitchFamily="18" charset="0"/>
              </a:rPr>
              <a:t>We define this measure as opportunity value.</a:t>
            </a:r>
          </a:p>
        </p:txBody>
      </p:sp>
      <p:pic>
        <p:nvPicPr>
          <p:cNvPr id="246788" name="Picture 4"/>
          <p:cNvPicPr>
            <a:picLocks noChangeAspect="1" noChangeArrowheads="1"/>
          </p:cNvPicPr>
          <p:nvPr/>
        </p:nvPicPr>
        <p:blipFill>
          <a:blip r:embed="rId3"/>
          <a:srcRect l="3309" t="15178" r="23721" b="10171"/>
          <a:stretch>
            <a:fillRect/>
          </a:stretch>
        </p:blipFill>
        <p:spPr bwMode="auto">
          <a:xfrm>
            <a:off x="2018371" y="2174488"/>
            <a:ext cx="4672361" cy="2687444"/>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3"/>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3"/>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3. Production Analysis</a:t>
            </a:r>
            <a:endParaRPr>
              <a:latin typeface="Times New Roman"/>
              <a:ea typeface="Times New Roman"/>
              <a:cs typeface="Times New Roman"/>
              <a:sym typeface="Times New Roman"/>
            </a:endParaRPr>
          </a:p>
        </p:txBody>
      </p:sp>
      <p:sp>
        <p:nvSpPr>
          <p:cNvPr id="368" name="Google Shape;368;p23"/>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3.1 Product Categorization</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3.2 Actual Development Index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3.3 Regional and Global Comparison</a:t>
            </a:r>
            <a:endParaRPr sz="1400">
              <a:latin typeface="Times New Roman"/>
              <a:ea typeface="Times New Roman"/>
              <a:cs typeface="Times New Roman"/>
              <a:sym typeface="Times New Roman"/>
            </a:endParaRPr>
          </a:p>
        </p:txBody>
      </p:sp>
      <p:sp>
        <p:nvSpPr>
          <p:cNvPr id="369" name="Google Shape;369;p2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3.1 Product Categorization</a:t>
            </a:r>
            <a:endParaRPr dirty="0">
              <a:latin typeface="Times New Roman"/>
              <a:ea typeface="Times New Roman"/>
              <a:cs typeface="Times New Roman"/>
              <a:sym typeface="Times New Roman"/>
            </a:endParaRPr>
          </a:p>
        </p:txBody>
      </p:sp>
      <p:sp>
        <p:nvSpPr>
          <p:cNvPr id="375" name="Google Shape;375;p24"/>
          <p:cNvSpPr txBox="1">
            <a:spLocks noGrp="1"/>
          </p:cNvSpPr>
          <p:nvPr>
            <p:ph type="body" idx="1"/>
          </p:nvPr>
        </p:nvSpPr>
        <p:spPr>
          <a:xfrm>
            <a:off x="1056750" y="14533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Product groups in UN Comtrade are labelled from 010000-999999, with the first two-digits representing a category to which the product belongs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From the 99 categories as extracted from the label, we further group the products into 18 major and widely-accepted industry categories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High-tech is an aggregated industry that indicates the most complicated products from the most technologically-advanced industries, as measured by PCI, and in regression it explains over 67.6% of countries’ GDP</a:t>
            </a:r>
            <a:endParaRPr sz="1400" dirty="0">
              <a:solidFill>
                <a:srgbClr val="000000"/>
              </a:solidFill>
              <a:latin typeface="Times New Roman"/>
              <a:ea typeface="Times New Roman"/>
              <a:cs typeface="Times New Roman"/>
              <a:sym typeface="Times New Roman"/>
            </a:endParaRPr>
          </a:p>
        </p:txBody>
      </p:sp>
      <p:graphicFrame>
        <p:nvGraphicFramePr>
          <p:cNvPr id="376" name="Google Shape;376;p24"/>
          <p:cNvGraphicFramePr/>
          <p:nvPr/>
        </p:nvGraphicFramePr>
        <p:xfrm>
          <a:off x="1209150" y="3426300"/>
          <a:ext cx="7381800" cy="1190225"/>
        </p:xfrm>
        <a:graphic>
          <a:graphicData uri="http://schemas.openxmlformats.org/drawingml/2006/table">
            <a:tbl>
              <a:tblPr>
                <a:noFill/>
                <a:tableStyleId>{A6C34FC9-E7BD-4A09-B0FE-A30243956E46}</a:tableStyleId>
              </a:tblPr>
              <a:tblGrid>
                <a:gridCol w="7381800">
                  <a:extLst>
                    <a:ext uri="{9D8B030D-6E8A-4147-A177-3AD203B41FA5}">
                      <a16:colId xmlns:a16="http://schemas.microsoft.com/office/drawing/2014/main" val="20000"/>
                    </a:ext>
                  </a:extLst>
                </a:gridCol>
              </a:tblGrid>
              <a:tr h="1190225">
                <a:tc>
                  <a:txBody>
                    <a:bodyPr/>
                    <a:lstStyle/>
                    <a:p>
                      <a:pPr marL="0" lvl="0" indent="0" algn="just" rtl="0">
                        <a:spcBef>
                          <a:spcPts val="0"/>
                        </a:spcBef>
                        <a:spcAft>
                          <a:spcPts val="0"/>
                        </a:spcAft>
                        <a:buNone/>
                      </a:pPr>
                      <a:r>
                        <a:rPr lang="en" sz="1200">
                          <a:solidFill>
                            <a:srgbClr val="134F5C"/>
                          </a:solidFill>
                          <a:latin typeface="Times New Roman"/>
                          <a:ea typeface="Times New Roman"/>
                          <a:cs typeface="Times New Roman"/>
                          <a:sym typeface="Times New Roman"/>
                        </a:rPr>
                        <a:t>Animal and By-product         Raw Manufacturing            Transportation                      Vegetable, Fruit and Plant</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Wood Product                        Weapon                               Food and Preparation           Clothing and Accessory</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Daily Instrument                    Mineral and Stone              Textile                                   Precious Stone</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Chemical                                Metal                                  Service                                  Chemical Manufacturing</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Machinery                              High-tech</a:t>
                      </a:r>
                      <a:endParaRPr sz="1200">
                        <a:solidFill>
                          <a:srgbClr val="134F5C"/>
                        </a:solidFill>
                        <a:latin typeface="Times New Roman"/>
                        <a:ea typeface="Times New Roman"/>
                        <a:cs typeface="Times New Roman"/>
                        <a:sym typeface="Times New Roman"/>
                      </a:endParaRPr>
                    </a:p>
                  </a:txBody>
                  <a:tcPr marL="91425" marR="91425" marT="91425" marB="91425">
                    <a:lnL w="28575" cap="flat" cmpd="sng">
                      <a:solidFill>
                        <a:schemeClr val="accent3"/>
                      </a:solidFill>
                      <a:prstDash val="solid"/>
                      <a:round/>
                      <a:headEnd type="none" w="sm" len="sm"/>
                      <a:tailEnd type="none" w="sm" len="sm"/>
                    </a:lnL>
                    <a:lnR w="28575" cap="flat" cmpd="sng">
                      <a:solidFill>
                        <a:schemeClr val="accent3"/>
                      </a:solidFill>
                      <a:prstDash val="solid"/>
                      <a:round/>
                      <a:headEnd type="none" w="sm" len="sm"/>
                      <a:tailEnd type="none" w="sm" len="sm"/>
                    </a:lnR>
                    <a:lnT w="28575" cap="flat" cmpd="sng">
                      <a:solidFill>
                        <a:schemeClr val="accent3"/>
                      </a:solidFill>
                      <a:prstDash val="solid"/>
                      <a:round/>
                      <a:headEnd type="none" w="sm" len="sm"/>
                      <a:tailEnd type="none" w="sm" len="sm"/>
                    </a:lnT>
                    <a:lnB w="28575" cap="flat" cmpd="sng">
                      <a:solidFill>
                        <a:schemeClr val="accent3"/>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77" name="Google Shape;377;p2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39</a:t>
            </a:fld>
            <a:endParaRPr lang="en"/>
          </a:p>
        </p:txBody>
      </p:sp>
      <p:sp>
        <p:nvSpPr>
          <p:cNvPr id="7" name="Google Shape;37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3.2 Actual Development Index</a:t>
            </a:r>
            <a:endParaRPr dirty="0">
              <a:latin typeface="Times New Roman"/>
              <a:ea typeface="Times New Roman"/>
              <a:cs typeface="Times New Roman"/>
              <a:sym typeface="Times New Roman"/>
            </a:endParaRPr>
          </a:p>
        </p:txBody>
      </p:sp>
      <p:sp>
        <p:nvSpPr>
          <p:cNvPr id="9" name="矩形 8"/>
          <p:cNvSpPr/>
          <p:nvPr/>
        </p:nvSpPr>
        <p:spPr>
          <a:xfrm>
            <a:off x="1349298" y="1318341"/>
            <a:ext cx="6456556" cy="1169551"/>
          </a:xfrm>
          <a:prstGeom prst="rect">
            <a:avLst/>
          </a:prstGeom>
        </p:spPr>
        <p:txBody>
          <a:bodyPr wrap="square">
            <a:spAutoFit/>
          </a:bodyPr>
          <a:lstStyle/>
          <a:p>
            <a:pPr marL="457200" lvl="0" indent="-317500">
              <a:buSzPts val="1400"/>
              <a:buFont typeface="Times New Roman"/>
              <a:buChar char="●"/>
            </a:pPr>
            <a:r>
              <a:rPr lang="en-US" dirty="0">
                <a:latin typeface="Times New Roman" pitchFamily="18" charset="0"/>
                <a:cs typeface="Times New Roman" pitchFamily="18" charset="0"/>
              </a:rPr>
              <a:t>Based on this concept of distance between countries and product families, we defining the net distance change between two periods as the Actual Developmental Index (ADI)</a:t>
            </a:r>
          </a:p>
          <a:p>
            <a:pPr marL="457200" lvl="0" indent="-317500">
              <a:buSzPts val="1400"/>
              <a:buFont typeface="Times New Roman"/>
              <a:buChar char="●"/>
            </a:pPr>
            <a:r>
              <a:rPr lang="en-US" dirty="0">
                <a:latin typeface="Times New Roman" pitchFamily="18" charset="0"/>
                <a:cs typeface="Times New Roman" pitchFamily="18" charset="0"/>
              </a:rPr>
              <a:t>ADI measures by how much a country has moved in the direction of a certain product family in its product space during the period, and is a relative concept</a:t>
            </a:r>
            <a:endParaRPr lang="en-US" dirty="0">
              <a:latin typeface="Times New Roman" pitchFamily="18" charset="0"/>
              <a:ea typeface="Times New Roman"/>
              <a:cs typeface="Times New Roman" pitchFamily="18" charset="0"/>
              <a:sym typeface="Times New Roman"/>
            </a:endParaRPr>
          </a:p>
        </p:txBody>
      </p:sp>
      <p:pic>
        <p:nvPicPr>
          <p:cNvPr id="1028" name="Picture 4" descr="https://lh5.googleusercontent.com/Bsomxp5vqPlCi2ufsBl0YkI_Hgq3edDqdX_TQEK3TDhZOI9-AN03iRIRYmr0fRZ5o56qFcjnEIWt_99jXvCJ2JnSxKLxI9qOmK0jmd0l6MQVDkO10aycXOfFgK70w2jvwmGIEE2QzsI"/>
          <p:cNvPicPr>
            <a:picLocks noChangeAspect="1" noChangeArrowheads="1"/>
          </p:cNvPicPr>
          <p:nvPr/>
        </p:nvPicPr>
        <p:blipFill>
          <a:blip r:embed="rId3"/>
          <a:srcRect/>
          <a:stretch>
            <a:fillRect/>
          </a:stretch>
        </p:blipFill>
        <p:spPr bwMode="auto">
          <a:xfrm>
            <a:off x="1494263" y="2443206"/>
            <a:ext cx="6228595" cy="2431197"/>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3.3 Regional and Global Comparison</a:t>
            </a:r>
            <a:endParaRPr>
              <a:latin typeface="Times New Roman"/>
              <a:ea typeface="Times New Roman"/>
              <a:cs typeface="Times New Roman"/>
              <a:sym typeface="Times New Roman"/>
            </a:endParaRPr>
          </a:p>
        </p:txBody>
      </p:sp>
      <p:sp>
        <p:nvSpPr>
          <p:cNvPr id="392" name="Google Shape;392;p26"/>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It can be observed that leading economies, such as U.S. and Germany, in general focus on products with higher level of complexity</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Reasonably, emerging economies such as China, South Korea, Singapore and India have devoted the majority of their efforts into intermediate industry groups</a:t>
            </a:r>
            <a:endParaRPr sz="1400">
              <a:solidFill>
                <a:srgbClr val="000000"/>
              </a:solidFill>
              <a:latin typeface="Times New Roman"/>
              <a:ea typeface="Times New Roman"/>
              <a:cs typeface="Times New Roman"/>
              <a:sym typeface="Times New Roman"/>
            </a:endParaRPr>
          </a:p>
        </p:txBody>
      </p:sp>
      <p:sp>
        <p:nvSpPr>
          <p:cNvPr id="393" name="Google Shape;393;p26"/>
          <p:cNvSpPr/>
          <p:nvPr/>
        </p:nvSpPr>
        <p:spPr>
          <a:xfrm>
            <a:off x="3425975" y="3019000"/>
            <a:ext cx="932700" cy="3018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USA</a:t>
            </a:r>
            <a:endParaRPr>
              <a:latin typeface="Times New Roman"/>
              <a:ea typeface="Times New Roman"/>
              <a:cs typeface="Times New Roman"/>
              <a:sym typeface="Times New Roman"/>
            </a:endParaRPr>
          </a:p>
        </p:txBody>
      </p:sp>
      <p:sp>
        <p:nvSpPr>
          <p:cNvPr id="394" name="Google Shape;394;p26"/>
          <p:cNvSpPr/>
          <p:nvPr/>
        </p:nvSpPr>
        <p:spPr>
          <a:xfrm>
            <a:off x="3425975" y="3809275"/>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Germany</a:t>
            </a:r>
            <a:endParaRPr>
              <a:latin typeface="Times New Roman"/>
              <a:ea typeface="Times New Roman"/>
              <a:cs typeface="Times New Roman"/>
              <a:sym typeface="Times New Roman"/>
            </a:endParaRPr>
          </a:p>
        </p:txBody>
      </p:sp>
      <p:sp>
        <p:nvSpPr>
          <p:cNvPr id="395" name="Google Shape;395;p26"/>
          <p:cNvSpPr/>
          <p:nvPr/>
        </p:nvSpPr>
        <p:spPr>
          <a:xfrm>
            <a:off x="5035325" y="3019000"/>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China</a:t>
            </a:r>
            <a:endParaRPr>
              <a:latin typeface="Times New Roman"/>
              <a:ea typeface="Times New Roman"/>
              <a:cs typeface="Times New Roman"/>
              <a:sym typeface="Times New Roman"/>
            </a:endParaRPr>
          </a:p>
        </p:txBody>
      </p:sp>
      <p:sp>
        <p:nvSpPr>
          <p:cNvPr id="396" name="Google Shape;396;p26"/>
          <p:cNvSpPr/>
          <p:nvPr/>
        </p:nvSpPr>
        <p:spPr>
          <a:xfrm>
            <a:off x="5035325" y="3809275"/>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India</a:t>
            </a:r>
            <a:endParaRPr>
              <a:latin typeface="Times New Roman"/>
              <a:ea typeface="Times New Roman"/>
              <a:cs typeface="Times New Roman"/>
              <a:sym typeface="Times New Roman"/>
            </a:endParaRPr>
          </a:p>
        </p:txBody>
      </p:sp>
      <p:sp>
        <p:nvSpPr>
          <p:cNvPr id="397" name="Google Shape;397;p26"/>
          <p:cNvSpPr txBox="1"/>
          <p:nvPr/>
        </p:nvSpPr>
        <p:spPr>
          <a:xfrm>
            <a:off x="646175" y="2441450"/>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Chemical Manufacturing</a:t>
            </a:r>
            <a:endParaRPr>
              <a:solidFill>
                <a:srgbClr val="666666"/>
              </a:solidFill>
              <a:latin typeface="Times New Roman"/>
              <a:ea typeface="Times New Roman"/>
              <a:cs typeface="Times New Roman"/>
              <a:sym typeface="Times New Roman"/>
            </a:endParaRPr>
          </a:p>
        </p:txBody>
      </p:sp>
      <p:sp>
        <p:nvSpPr>
          <p:cNvPr id="398" name="Google Shape;398;p26"/>
          <p:cNvSpPr txBox="1"/>
          <p:nvPr/>
        </p:nvSpPr>
        <p:spPr>
          <a:xfrm>
            <a:off x="570125" y="2849800"/>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Chemicals</a:t>
            </a:r>
            <a:endParaRPr>
              <a:solidFill>
                <a:srgbClr val="666666"/>
              </a:solidFill>
              <a:latin typeface="Times New Roman"/>
              <a:ea typeface="Times New Roman"/>
              <a:cs typeface="Times New Roman"/>
              <a:sym typeface="Times New Roman"/>
            </a:endParaRPr>
          </a:p>
        </p:txBody>
      </p:sp>
      <p:sp>
        <p:nvSpPr>
          <p:cNvPr id="399" name="Google Shape;399;p26"/>
          <p:cNvSpPr txBox="1"/>
          <p:nvPr/>
        </p:nvSpPr>
        <p:spPr>
          <a:xfrm>
            <a:off x="570125" y="3251038"/>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Service</a:t>
            </a:r>
            <a:endParaRPr>
              <a:solidFill>
                <a:srgbClr val="666666"/>
              </a:solidFill>
              <a:latin typeface="Times New Roman"/>
              <a:ea typeface="Times New Roman"/>
              <a:cs typeface="Times New Roman"/>
              <a:sym typeface="Times New Roman"/>
            </a:endParaRPr>
          </a:p>
        </p:txBody>
      </p:sp>
      <p:sp>
        <p:nvSpPr>
          <p:cNvPr id="400" name="Google Shape;400;p26"/>
          <p:cNvSpPr txBox="1"/>
          <p:nvPr/>
        </p:nvSpPr>
        <p:spPr>
          <a:xfrm>
            <a:off x="589925" y="3640063"/>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Transportation</a:t>
            </a:r>
            <a:endParaRPr>
              <a:solidFill>
                <a:srgbClr val="666666"/>
              </a:solidFill>
              <a:latin typeface="Times New Roman"/>
              <a:ea typeface="Times New Roman"/>
              <a:cs typeface="Times New Roman"/>
              <a:sym typeface="Times New Roman"/>
            </a:endParaRPr>
          </a:p>
        </p:txBody>
      </p:sp>
      <p:sp>
        <p:nvSpPr>
          <p:cNvPr id="401" name="Google Shape;401;p26"/>
          <p:cNvSpPr txBox="1"/>
          <p:nvPr/>
        </p:nvSpPr>
        <p:spPr>
          <a:xfrm>
            <a:off x="569975" y="4111063"/>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High-tech</a:t>
            </a:r>
            <a:endParaRPr>
              <a:solidFill>
                <a:srgbClr val="666666"/>
              </a:solidFill>
              <a:latin typeface="Times New Roman"/>
              <a:ea typeface="Times New Roman"/>
              <a:cs typeface="Times New Roman"/>
              <a:sym typeface="Times New Roman"/>
            </a:endParaRPr>
          </a:p>
        </p:txBody>
      </p:sp>
      <p:sp>
        <p:nvSpPr>
          <p:cNvPr id="402" name="Google Shape;402;p26"/>
          <p:cNvSpPr txBox="1"/>
          <p:nvPr/>
        </p:nvSpPr>
        <p:spPr>
          <a:xfrm>
            <a:off x="6860700" y="2441450"/>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Machinery</a:t>
            </a:r>
            <a:endParaRPr>
              <a:solidFill>
                <a:srgbClr val="666666"/>
              </a:solidFill>
              <a:latin typeface="Times New Roman"/>
              <a:ea typeface="Times New Roman"/>
              <a:cs typeface="Times New Roman"/>
              <a:sym typeface="Times New Roman"/>
            </a:endParaRPr>
          </a:p>
        </p:txBody>
      </p:sp>
      <p:sp>
        <p:nvSpPr>
          <p:cNvPr id="403" name="Google Shape;403;p26"/>
          <p:cNvSpPr txBox="1"/>
          <p:nvPr/>
        </p:nvSpPr>
        <p:spPr>
          <a:xfrm>
            <a:off x="6797075" y="2849800"/>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Precious Stone</a:t>
            </a:r>
            <a:endParaRPr>
              <a:solidFill>
                <a:srgbClr val="666666"/>
              </a:solidFill>
              <a:latin typeface="Times New Roman"/>
              <a:ea typeface="Times New Roman"/>
              <a:cs typeface="Times New Roman"/>
              <a:sym typeface="Times New Roman"/>
            </a:endParaRPr>
          </a:p>
        </p:txBody>
      </p:sp>
      <p:sp>
        <p:nvSpPr>
          <p:cNvPr id="404" name="Google Shape;404;p26"/>
          <p:cNvSpPr txBox="1"/>
          <p:nvPr/>
        </p:nvSpPr>
        <p:spPr>
          <a:xfrm>
            <a:off x="6644675" y="3724675"/>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Daily Instrument</a:t>
            </a:r>
            <a:endParaRPr>
              <a:solidFill>
                <a:srgbClr val="666666"/>
              </a:solidFill>
              <a:latin typeface="Times New Roman"/>
              <a:ea typeface="Times New Roman"/>
              <a:cs typeface="Times New Roman"/>
              <a:sym typeface="Times New Roman"/>
            </a:endParaRPr>
          </a:p>
        </p:txBody>
      </p:sp>
      <p:sp>
        <p:nvSpPr>
          <p:cNvPr id="405" name="Google Shape;405;p26"/>
          <p:cNvSpPr txBox="1"/>
          <p:nvPr/>
        </p:nvSpPr>
        <p:spPr>
          <a:xfrm>
            <a:off x="6813450" y="3327338"/>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Wood Product</a:t>
            </a:r>
            <a:endParaRPr>
              <a:solidFill>
                <a:srgbClr val="666666"/>
              </a:solidFill>
              <a:latin typeface="Times New Roman"/>
              <a:ea typeface="Times New Roman"/>
              <a:cs typeface="Times New Roman"/>
              <a:sym typeface="Times New Roman"/>
            </a:endParaRPr>
          </a:p>
        </p:txBody>
      </p:sp>
      <p:sp>
        <p:nvSpPr>
          <p:cNvPr id="406" name="Google Shape;406;p26"/>
          <p:cNvSpPr txBox="1"/>
          <p:nvPr/>
        </p:nvSpPr>
        <p:spPr>
          <a:xfrm>
            <a:off x="6965850" y="4137025"/>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Chemicals</a:t>
            </a:r>
            <a:endParaRPr>
              <a:solidFill>
                <a:srgbClr val="666666"/>
              </a:solidFill>
              <a:latin typeface="Times New Roman"/>
              <a:ea typeface="Times New Roman"/>
              <a:cs typeface="Times New Roman"/>
              <a:sym typeface="Times New Roman"/>
            </a:endParaRPr>
          </a:p>
        </p:txBody>
      </p:sp>
      <p:cxnSp>
        <p:nvCxnSpPr>
          <p:cNvPr id="407" name="Google Shape;407;p26"/>
          <p:cNvCxnSpPr>
            <a:stCxn id="397" idx="3"/>
            <a:endCxn id="393" idx="1"/>
          </p:cNvCxnSpPr>
          <p:nvPr/>
        </p:nvCxnSpPr>
        <p:spPr>
          <a:xfrm>
            <a:off x="2729375" y="2676950"/>
            <a:ext cx="696600" cy="492900"/>
          </a:xfrm>
          <a:prstGeom prst="straightConnector1">
            <a:avLst/>
          </a:prstGeom>
          <a:noFill/>
          <a:ln w="9525" cap="flat" cmpd="sng">
            <a:solidFill>
              <a:schemeClr val="dk2"/>
            </a:solidFill>
            <a:prstDash val="solid"/>
            <a:round/>
            <a:headEnd type="none" w="med" len="med"/>
            <a:tailEnd type="none" w="med" len="med"/>
          </a:ln>
        </p:spPr>
      </p:cxnSp>
      <p:cxnSp>
        <p:nvCxnSpPr>
          <p:cNvPr id="408" name="Google Shape;408;p26"/>
          <p:cNvCxnSpPr>
            <a:stCxn id="399" idx="3"/>
            <a:endCxn id="393" idx="1"/>
          </p:cNvCxnSpPr>
          <p:nvPr/>
        </p:nvCxnSpPr>
        <p:spPr>
          <a:xfrm rot="10800000" flipH="1">
            <a:off x="2653325" y="3170038"/>
            <a:ext cx="772800" cy="316500"/>
          </a:xfrm>
          <a:prstGeom prst="straightConnector1">
            <a:avLst/>
          </a:prstGeom>
          <a:noFill/>
          <a:ln w="9525" cap="flat" cmpd="sng">
            <a:solidFill>
              <a:schemeClr val="dk2"/>
            </a:solidFill>
            <a:prstDash val="solid"/>
            <a:round/>
            <a:headEnd type="none" w="med" len="med"/>
            <a:tailEnd type="none" w="med" len="med"/>
          </a:ln>
        </p:spPr>
      </p:cxnSp>
      <p:cxnSp>
        <p:nvCxnSpPr>
          <p:cNvPr id="409" name="Google Shape;409;p26"/>
          <p:cNvCxnSpPr>
            <a:endCxn id="394" idx="1"/>
          </p:cNvCxnSpPr>
          <p:nvPr/>
        </p:nvCxnSpPr>
        <p:spPr>
          <a:xfrm>
            <a:off x="2653175" y="3085375"/>
            <a:ext cx="772800" cy="874800"/>
          </a:xfrm>
          <a:prstGeom prst="straightConnector1">
            <a:avLst/>
          </a:prstGeom>
          <a:noFill/>
          <a:ln w="9525" cap="flat" cmpd="sng">
            <a:solidFill>
              <a:schemeClr val="dk2"/>
            </a:solidFill>
            <a:prstDash val="solid"/>
            <a:round/>
            <a:headEnd type="none" w="med" len="med"/>
            <a:tailEnd type="none" w="med" len="med"/>
          </a:ln>
        </p:spPr>
      </p:cxnSp>
      <p:cxnSp>
        <p:nvCxnSpPr>
          <p:cNvPr id="410" name="Google Shape;410;p26"/>
          <p:cNvCxnSpPr>
            <a:endCxn id="394" idx="1"/>
          </p:cNvCxnSpPr>
          <p:nvPr/>
        </p:nvCxnSpPr>
        <p:spPr>
          <a:xfrm>
            <a:off x="2653175" y="3486475"/>
            <a:ext cx="772800" cy="473700"/>
          </a:xfrm>
          <a:prstGeom prst="straightConnector1">
            <a:avLst/>
          </a:prstGeom>
          <a:noFill/>
          <a:ln w="9525" cap="flat" cmpd="sng">
            <a:solidFill>
              <a:schemeClr val="dk2"/>
            </a:solidFill>
            <a:prstDash val="solid"/>
            <a:round/>
            <a:headEnd type="none" w="med" len="med"/>
            <a:tailEnd type="none" w="med" len="med"/>
          </a:ln>
        </p:spPr>
      </p:cxnSp>
      <p:cxnSp>
        <p:nvCxnSpPr>
          <p:cNvPr id="411" name="Google Shape;411;p26"/>
          <p:cNvCxnSpPr>
            <a:stCxn id="400" idx="3"/>
            <a:endCxn id="394" idx="1"/>
          </p:cNvCxnSpPr>
          <p:nvPr/>
        </p:nvCxnSpPr>
        <p:spPr>
          <a:xfrm>
            <a:off x="2673125" y="3875563"/>
            <a:ext cx="753000" cy="84600"/>
          </a:xfrm>
          <a:prstGeom prst="straightConnector1">
            <a:avLst/>
          </a:prstGeom>
          <a:noFill/>
          <a:ln w="9525" cap="flat" cmpd="sng">
            <a:solidFill>
              <a:schemeClr val="dk2"/>
            </a:solidFill>
            <a:prstDash val="solid"/>
            <a:round/>
            <a:headEnd type="none" w="med" len="med"/>
            <a:tailEnd type="none" w="med" len="med"/>
          </a:ln>
        </p:spPr>
      </p:cxnSp>
      <p:cxnSp>
        <p:nvCxnSpPr>
          <p:cNvPr id="412" name="Google Shape;412;p26"/>
          <p:cNvCxnSpPr>
            <a:stCxn id="401" idx="3"/>
            <a:endCxn id="394" idx="1"/>
          </p:cNvCxnSpPr>
          <p:nvPr/>
        </p:nvCxnSpPr>
        <p:spPr>
          <a:xfrm rot="10800000" flipH="1">
            <a:off x="2653175" y="3960163"/>
            <a:ext cx="772800" cy="386400"/>
          </a:xfrm>
          <a:prstGeom prst="straightConnector1">
            <a:avLst/>
          </a:prstGeom>
          <a:noFill/>
          <a:ln w="9525" cap="flat" cmpd="sng">
            <a:solidFill>
              <a:schemeClr val="dk2"/>
            </a:solidFill>
            <a:prstDash val="solid"/>
            <a:round/>
            <a:headEnd type="none" w="med" len="med"/>
            <a:tailEnd type="none" w="med" len="med"/>
          </a:ln>
        </p:spPr>
      </p:cxnSp>
      <p:cxnSp>
        <p:nvCxnSpPr>
          <p:cNvPr id="413" name="Google Shape;413;p26"/>
          <p:cNvCxnSpPr>
            <a:stCxn id="395" idx="3"/>
            <a:endCxn id="402" idx="1"/>
          </p:cNvCxnSpPr>
          <p:nvPr/>
        </p:nvCxnSpPr>
        <p:spPr>
          <a:xfrm rot="10800000" flipH="1">
            <a:off x="5968025" y="2677000"/>
            <a:ext cx="892800" cy="492900"/>
          </a:xfrm>
          <a:prstGeom prst="straightConnector1">
            <a:avLst/>
          </a:prstGeom>
          <a:noFill/>
          <a:ln w="9525" cap="flat" cmpd="sng">
            <a:solidFill>
              <a:schemeClr val="dk2"/>
            </a:solidFill>
            <a:prstDash val="solid"/>
            <a:round/>
            <a:headEnd type="none" w="med" len="med"/>
            <a:tailEnd type="none" w="med" len="med"/>
          </a:ln>
        </p:spPr>
      </p:cxnSp>
      <p:cxnSp>
        <p:nvCxnSpPr>
          <p:cNvPr id="414" name="Google Shape;414;p26"/>
          <p:cNvCxnSpPr>
            <a:stCxn id="395" idx="3"/>
            <a:endCxn id="403" idx="1"/>
          </p:cNvCxnSpPr>
          <p:nvPr/>
        </p:nvCxnSpPr>
        <p:spPr>
          <a:xfrm rot="10800000" flipH="1">
            <a:off x="5968025" y="3085300"/>
            <a:ext cx="829200" cy="84600"/>
          </a:xfrm>
          <a:prstGeom prst="straightConnector1">
            <a:avLst/>
          </a:prstGeom>
          <a:noFill/>
          <a:ln w="9525" cap="flat" cmpd="sng">
            <a:solidFill>
              <a:schemeClr val="dk2"/>
            </a:solidFill>
            <a:prstDash val="solid"/>
            <a:round/>
            <a:headEnd type="none" w="med" len="med"/>
            <a:tailEnd type="none" w="med" len="med"/>
          </a:ln>
        </p:spPr>
      </p:cxnSp>
      <p:cxnSp>
        <p:nvCxnSpPr>
          <p:cNvPr id="415" name="Google Shape;415;p26"/>
          <p:cNvCxnSpPr>
            <a:stCxn id="395" idx="3"/>
            <a:endCxn id="406" idx="1"/>
          </p:cNvCxnSpPr>
          <p:nvPr/>
        </p:nvCxnSpPr>
        <p:spPr>
          <a:xfrm>
            <a:off x="5968025" y="3169900"/>
            <a:ext cx="997800" cy="1202700"/>
          </a:xfrm>
          <a:prstGeom prst="straightConnector1">
            <a:avLst/>
          </a:prstGeom>
          <a:noFill/>
          <a:ln w="9525" cap="flat" cmpd="sng">
            <a:solidFill>
              <a:schemeClr val="dk2"/>
            </a:solidFill>
            <a:prstDash val="solid"/>
            <a:round/>
            <a:headEnd type="none" w="med" len="med"/>
            <a:tailEnd type="none" w="med" len="med"/>
          </a:ln>
        </p:spPr>
      </p:cxnSp>
      <p:cxnSp>
        <p:nvCxnSpPr>
          <p:cNvPr id="416" name="Google Shape;416;p26"/>
          <p:cNvCxnSpPr>
            <a:stCxn id="396" idx="3"/>
            <a:endCxn id="402" idx="1"/>
          </p:cNvCxnSpPr>
          <p:nvPr/>
        </p:nvCxnSpPr>
        <p:spPr>
          <a:xfrm rot="10800000" flipH="1">
            <a:off x="5968025" y="2677075"/>
            <a:ext cx="892800" cy="1283100"/>
          </a:xfrm>
          <a:prstGeom prst="straightConnector1">
            <a:avLst/>
          </a:prstGeom>
          <a:noFill/>
          <a:ln w="9525" cap="flat" cmpd="sng">
            <a:solidFill>
              <a:schemeClr val="dk2"/>
            </a:solidFill>
            <a:prstDash val="solid"/>
            <a:round/>
            <a:headEnd type="none" w="med" len="med"/>
            <a:tailEnd type="none" w="med" len="med"/>
          </a:ln>
        </p:spPr>
      </p:cxnSp>
      <p:cxnSp>
        <p:nvCxnSpPr>
          <p:cNvPr id="417" name="Google Shape;417;p26"/>
          <p:cNvCxnSpPr>
            <a:stCxn id="396" idx="3"/>
            <a:endCxn id="405" idx="1"/>
          </p:cNvCxnSpPr>
          <p:nvPr/>
        </p:nvCxnSpPr>
        <p:spPr>
          <a:xfrm rot="10800000" flipH="1">
            <a:off x="5968025" y="3562975"/>
            <a:ext cx="845400" cy="397200"/>
          </a:xfrm>
          <a:prstGeom prst="straightConnector1">
            <a:avLst/>
          </a:prstGeom>
          <a:noFill/>
          <a:ln w="9525" cap="flat" cmpd="sng">
            <a:solidFill>
              <a:schemeClr val="dk2"/>
            </a:solidFill>
            <a:prstDash val="solid"/>
            <a:round/>
            <a:headEnd type="none" w="med" len="med"/>
            <a:tailEnd type="none" w="med" len="med"/>
          </a:ln>
        </p:spPr>
      </p:cxnSp>
      <p:cxnSp>
        <p:nvCxnSpPr>
          <p:cNvPr id="418" name="Google Shape;418;p26"/>
          <p:cNvCxnSpPr>
            <a:stCxn id="396" idx="3"/>
            <a:endCxn id="406" idx="1"/>
          </p:cNvCxnSpPr>
          <p:nvPr/>
        </p:nvCxnSpPr>
        <p:spPr>
          <a:xfrm>
            <a:off x="5968025" y="3960175"/>
            <a:ext cx="997800" cy="412500"/>
          </a:xfrm>
          <a:prstGeom prst="straightConnector1">
            <a:avLst/>
          </a:prstGeom>
          <a:noFill/>
          <a:ln w="9525" cap="flat" cmpd="sng">
            <a:solidFill>
              <a:schemeClr val="dk2"/>
            </a:solidFill>
            <a:prstDash val="solid"/>
            <a:round/>
            <a:headEnd type="none" w="med" len="med"/>
            <a:tailEnd type="none" w="med" len="med"/>
          </a:ln>
        </p:spPr>
      </p:cxnSp>
      <p:cxnSp>
        <p:nvCxnSpPr>
          <p:cNvPr id="419" name="Google Shape;419;p26"/>
          <p:cNvCxnSpPr>
            <a:stCxn id="396" idx="3"/>
            <a:endCxn id="404" idx="1"/>
          </p:cNvCxnSpPr>
          <p:nvPr/>
        </p:nvCxnSpPr>
        <p:spPr>
          <a:xfrm>
            <a:off x="5968025" y="3960175"/>
            <a:ext cx="676800" cy="0"/>
          </a:xfrm>
          <a:prstGeom prst="straightConnector1">
            <a:avLst/>
          </a:prstGeom>
          <a:noFill/>
          <a:ln w="9525" cap="flat" cmpd="sng">
            <a:solidFill>
              <a:schemeClr val="dk2"/>
            </a:solidFill>
            <a:prstDash val="solid"/>
            <a:round/>
            <a:headEnd type="none" w="med" len="med"/>
            <a:tailEnd type="none" w="med" len="med"/>
          </a:ln>
        </p:spPr>
      </p:cxnSp>
      <p:cxnSp>
        <p:nvCxnSpPr>
          <p:cNvPr id="420" name="Google Shape;420;p26"/>
          <p:cNvCxnSpPr/>
          <p:nvPr/>
        </p:nvCxnSpPr>
        <p:spPr>
          <a:xfrm>
            <a:off x="4718300" y="2557275"/>
            <a:ext cx="0" cy="2106300"/>
          </a:xfrm>
          <a:prstGeom prst="straightConnector1">
            <a:avLst/>
          </a:prstGeom>
          <a:noFill/>
          <a:ln w="19050" cap="flat" cmpd="sng">
            <a:solidFill>
              <a:schemeClr val="dk2"/>
            </a:solidFill>
            <a:prstDash val="dash"/>
            <a:round/>
            <a:headEnd type="none" w="med" len="med"/>
            <a:tailEnd type="none" w="med" len="med"/>
          </a:ln>
        </p:spPr>
      </p:cxnSp>
      <p:sp>
        <p:nvSpPr>
          <p:cNvPr id="421" name="Google Shape;421;p2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7"/>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7"/>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4. Production Space Design</a:t>
            </a:r>
            <a:endParaRPr>
              <a:latin typeface="Times New Roman"/>
              <a:ea typeface="Times New Roman"/>
              <a:cs typeface="Times New Roman"/>
              <a:sym typeface="Times New Roman"/>
            </a:endParaRPr>
          </a:p>
        </p:txBody>
      </p:sp>
      <p:sp>
        <p:nvSpPr>
          <p:cNvPr id="429" name="Google Shape;429;p27"/>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4.1 Suggested Development Vector</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4.2 Sequential Development Strategy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4.3 Sensitivity Analysis</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4.4 Contingency Plan</a:t>
            </a:r>
            <a:endParaRPr sz="1400">
              <a:latin typeface="Times New Roman"/>
              <a:ea typeface="Times New Roman"/>
              <a:cs typeface="Times New Roman"/>
              <a:sym typeface="Times New Roman"/>
            </a:endParaRPr>
          </a:p>
        </p:txBody>
      </p:sp>
      <p:sp>
        <p:nvSpPr>
          <p:cNvPr id="430" name="Google Shape;430;p2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4.1 Suggested Development Vector</a:t>
            </a:r>
            <a:endParaRPr>
              <a:latin typeface="Times New Roman"/>
              <a:ea typeface="Times New Roman"/>
              <a:cs typeface="Times New Roman"/>
              <a:sym typeface="Times New Roman"/>
            </a:endParaRPr>
          </a:p>
        </p:txBody>
      </p:sp>
      <p:sp>
        <p:nvSpPr>
          <p:cNvPr id="436" name="Google Shape;436;p28"/>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define the ranking of opportunity gain of a country as the Suggested Development Vector (SDV) of the country</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Leading economies are typically well-shaped and barely have any industries with positive opportunity gain, while emerging economies need a sequential strategy that allows for prioritization of certain industries</a:t>
            </a:r>
            <a:endParaRPr sz="1400">
              <a:solidFill>
                <a:srgbClr val="000000"/>
              </a:solidFill>
              <a:latin typeface="Times New Roman"/>
              <a:ea typeface="Times New Roman"/>
              <a:cs typeface="Times New Roman"/>
              <a:sym typeface="Times New Roman"/>
            </a:endParaRPr>
          </a:p>
        </p:txBody>
      </p:sp>
      <p:pic>
        <p:nvPicPr>
          <p:cNvPr id="437" name="Google Shape;437;p28"/>
          <p:cNvPicPr preferRelativeResize="0"/>
          <p:nvPr/>
        </p:nvPicPr>
        <p:blipFill>
          <a:blip r:embed="rId3">
            <a:alphaModFix/>
          </a:blip>
          <a:stretch>
            <a:fillRect/>
          </a:stretch>
        </p:blipFill>
        <p:spPr>
          <a:xfrm>
            <a:off x="1122975" y="2930450"/>
            <a:ext cx="7392151" cy="1719099"/>
          </a:xfrm>
          <a:prstGeom prst="rect">
            <a:avLst/>
          </a:prstGeom>
          <a:noFill/>
          <a:ln w="19050" cap="flat" cmpd="sng">
            <a:solidFill>
              <a:schemeClr val="accent3"/>
            </a:solidFill>
            <a:prstDash val="solid"/>
            <a:round/>
            <a:headEnd type="none" w="sm" len="sm"/>
            <a:tailEnd type="none" w="sm" len="sm"/>
          </a:ln>
        </p:spPr>
      </p:pic>
      <p:sp>
        <p:nvSpPr>
          <p:cNvPr id="438" name="Google Shape;438;p2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4.2 Sequential Development Strategy</a:t>
            </a:r>
            <a:endParaRPr>
              <a:latin typeface="Times New Roman"/>
              <a:ea typeface="Times New Roman"/>
              <a:cs typeface="Times New Roman"/>
              <a:sym typeface="Times New Roman"/>
            </a:endParaRPr>
          </a:p>
        </p:txBody>
      </p:sp>
      <p:sp>
        <p:nvSpPr>
          <p:cNvPr id="444" name="Google Shape;444;p29"/>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As the difficulty of bumping up MCP varies across industries, we need to capture this variation of difficulty by defining the concept of marginal opportunity gains as follows</a:t>
            </a:r>
            <a:endParaRPr sz="140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a:solidFill>
                <a:srgbClr val="000000"/>
              </a:solidFill>
              <a:latin typeface="Times New Roman"/>
              <a:ea typeface="Times New Roman"/>
              <a:cs typeface="Times New Roman"/>
              <a:sym typeface="Times New Roman"/>
            </a:endParaRPr>
          </a:p>
          <a:p>
            <a:pPr marL="457200" lvl="0" indent="-317500" algn="l" rtl="0">
              <a:spcBef>
                <a:spcPts val="160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 each iteration, we order all 18 industries based on their current marginal opportunity gain, and prioritize the industry with the highest marginal opportunity gain</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then increase the prioritized industry’s export to an extent that the MCP firmly bumps up to 1, and re-perform calculations to prioritize the next industry </a:t>
            </a:r>
            <a:endParaRPr sz="1400">
              <a:solidFill>
                <a:srgbClr val="000000"/>
              </a:solidFill>
              <a:latin typeface="Times New Roman"/>
              <a:ea typeface="Times New Roman"/>
              <a:cs typeface="Times New Roman"/>
              <a:sym typeface="Times New Roman"/>
            </a:endParaRPr>
          </a:p>
        </p:txBody>
      </p:sp>
      <p:pic>
        <p:nvPicPr>
          <p:cNvPr id="445" name="Google Shape;445;p29"/>
          <p:cNvPicPr preferRelativeResize="0"/>
          <p:nvPr/>
        </p:nvPicPr>
        <p:blipFill>
          <a:blip r:embed="rId3">
            <a:alphaModFix/>
          </a:blip>
          <a:stretch>
            <a:fillRect/>
          </a:stretch>
        </p:blipFill>
        <p:spPr>
          <a:xfrm>
            <a:off x="1805950" y="1908750"/>
            <a:ext cx="5748168" cy="999300"/>
          </a:xfrm>
          <a:prstGeom prst="rect">
            <a:avLst/>
          </a:prstGeom>
          <a:noFill/>
          <a:ln>
            <a:noFill/>
          </a:ln>
        </p:spPr>
      </p:pic>
      <p:sp>
        <p:nvSpPr>
          <p:cNvPr id="446" name="Google Shape;446;p2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0"/>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4.2 Sequential Development Strategy</a:t>
            </a:r>
            <a:endParaRPr>
              <a:latin typeface="Times New Roman"/>
              <a:ea typeface="Times New Roman"/>
              <a:cs typeface="Times New Roman"/>
              <a:sym typeface="Times New Roman"/>
            </a:endParaRPr>
          </a:p>
        </p:txBody>
      </p:sp>
      <p:sp>
        <p:nvSpPr>
          <p:cNvPr id="452" name="Google Shape;452;p30"/>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Calculated using the sequential strategy algorithm, the example of Morocco shows how the prioritization of a developing country evolves from basic products to intermediate-level products</a:t>
            </a:r>
            <a:endParaRPr sz="1400">
              <a:solidFill>
                <a:srgbClr val="000000"/>
              </a:solidFill>
              <a:latin typeface="Times New Roman"/>
              <a:ea typeface="Times New Roman"/>
              <a:cs typeface="Times New Roman"/>
              <a:sym typeface="Times New Roman"/>
            </a:endParaRPr>
          </a:p>
        </p:txBody>
      </p:sp>
      <p:pic>
        <p:nvPicPr>
          <p:cNvPr id="453" name="Google Shape;453;p30"/>
          <p:cNvPicPr preferRelativeResize="0"/>
          <p:nvPr/>
        </p:nvPicPr>
        <p:blipFill>
          <a:blip r:embed="rId3">
            <a:alphaModFix/>
          </a:blip>
          <a:stretch>
            <a:fillRect/>
          </a:stretch>
        </p:blipFill>
        <p:spPr>
          <a:xfrm>
            <a:off x="1386850" y="2288300"/>
            <a:ext cx="7117073" cy="667625"/>
          </a:xfrm>
          <a:prstGeom prst="rect">
            <a:avLst/>
          </a:prstGeom>
          <a:noFill/>
          <a:ln w="9525" cap="flat" cmpd="sng">
            <a:solidFill>
              <a:schemeClr val="accent3"/>
            </a:solidFill>
            <a:prstDash val="solid"/>
            <a:round/>
            <a:headEnd type="none" w="sm" len="sm"/>
            <a:tailEnd type="none" w="sm" len="sm"/>
          </a:ln>
        </p:spPr>
      </p:pic>
      <p:pic>
        <p:nvPicPr>
          <p:cNvPr id="454" name="Google Shape;454;p30"/>
          <p:cNvPicPr preferRelativeResize="0"/>
          <p:nvPr/>
        </p:nvPicPr>
        <p:blipFill>
          <a:blip r:embed="rId4">
            <a:alphaModFix/>
          </a:blip>
          <a:stretch>
            <a:fillRect/>
          </a:stretch>
        </p:blipFill>
        <p:spPr>
          <a:xfrm>
            <a:off x="1380000" y="3132625"/>
            <a:ext cx="7117076" cy="641280"/>
          </a:xfrm>
          <a:prstGeom prst="rect">
            <a:avLst/>
          </a:prstGeom>
          <a:noFill/>
          <a:ln w="9525" cap="flat" cmpd="sng">
            <a:solidFill>
              <a:schemeClr val="accent3"/>
            </a:solidFill>
            <a:prstDash val="solid"/>
            <a:round/>
            <a:headEnd type="none" w="sm" len="sm"/>
            <a:tailEnd type="none" w="sm" len="sm"/>
          </a:ln>
        </p:spPr>
      </p:pic>
      <p:pic>
        <p:nvPicPr>
          <p:cNvPr id="455" name="Google Shape;455;p30"/>
          <p:cNvPicPr preferRelativeResize="0"/>
          <p:nvPr/>
        </p:nvPicPr>
        <p:blipFill>
          <a:blip r:embed="rId5">
            <a:alphaModFix/>
          </a:blip>
          <a:stretch>
            <a:fillRect/>
          </a:stretch>
        </p:blipFill>
        <p:spPr>
          <a:xfrm>
            <a:off x="1380000" y="3969300"/>
            <a:ext cx="7117076" cy="622438"/>
          </a:xfrm>
          <a:prstGeom prst="rect">
            <a:avLst/>
          </a:prstGeom>
          <a:noFill/>
          <a:ln w="9525" cap="flat" cmpd="sng">
            <a:solidFill>
              <a:schemeClr val="accent3"/>
            </a:solidFill>
            <a:prstDash val="solid"/>
            <a:round/>
            <a:headEnd type="none" w="sm" len="sm"/>
            <a:tailEnd type="none" w="sm" len="sm"/>
          </a:ln>
        </p:spPr>
      </p:pic>
      <p:sp>
        <p:nvSpPr>
          <p:cNvPr id="456" name="Google Shape;456;p3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3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dirty="0">
                <a:latin typeface="Times New Roman"/>
                <a:ea typeface="Times New Roman"/>
                <a:cs typeface="Times New Roman"/>
                <a:sym typeface="Times New Roman"/>
              </a:rPr>
              <a:t>4.3 Sensitivity Analysis</a:t>
            </a:r>
            <a:endParaRPr dirty="0">
              <a:latin typeface="Times New Roman"/>
              <a:ea typeface="Times New Roman"/>
              <a:cs typeface="Times New Roman"/>
              <a:sym typeface="Times New Roman"/>
            </a:endParaRPr>
          </a:p>
        </p:txBody>
      </p:sp>
      <p:sp>
        <p:nvSpPr>
          <p:cNvPr id="449" name="Google Shape;449;p31"/>
          <p:cNvSpPr txBox="1">
            <a:spLocks noGrp="1"/>
          </p:cNvSpPr>
          <p:nvPr>
            <p:ph type="body" idx="1"/>
          </p:nvPr>
        </p:nvSpPr>
        <p:spPr>
          <a:xfrm>
            <a:off x="1303800" y="1340975"/>
            <a:ext cx="7030500" cy="2541600"/>
          </a:xfrm>
          <a:prstGeom prst="rect">
            <a:avLst/>
          </a:prstGeom>
        </p:spPr>
        <p:txBody>
          <a:bodyPr spcFirstLastPara="1" wrap="square" lIns="91425" tIns="91425" rIns="91425" bIns="91425" anchor="t" anchorCtr="0">
            <a:noAutofit/>
          </a:bodyPr>
          <a:lstStyle/>
          <a:p>
            <a:r>
              <a:rPr lang="en-US" sz="1400" dirty="0">
                <a:latin typeface="Times New Roman" pitchFamily="18" charset="0"/>
                <a:cs typeface="Times New Roman" pitchFamily="18" charset="0"/>
              </a:rPr>
              <a:t>The sensitivity analysis aims to approximate the volatility of SDV subject to an increment or decrement of export and is mainly implemented on developed countries that</a:t>
            </a:r>
          </a:p>
          <a:p>
            <a:pPr>
              <a:buNone/>
            </a:pPr>
            <a:r>
              <a:rPr lang="en-US" sz="1400" dirty="0">
                <a:latin typeface="Times New Roman" pitchFamily="18" charset="0"/>
                <a:cs typeface="Times New Roman" pitchFamily="18" charset="0"/>
              </a:rPr>
              <a:t>	have few industries with positive opportunity gains. </a:t>
            </a:r>
          </a:p>
          <a:p>
            <a:r>
              <a:rPr lang="en-US" sz="1400" dirty="0">
                <a:latin typeface="Times New Roman" pitchFamily="18" charset="0"/>
                <a:cs typeface="Times New Roman" pitchFamily="18" charset="0"/>
              </a:rPr>
              <a:t> To be more specific, sensitivity score is the least-squared slope for the linear regression between percentage change of production  and that of the E</a:t>
            </a:r>
            <a:r>
              <a:rPr lang="en-US" sz="1400" baseline="-25000" dirty="0">
                <a:latin typeface="Times New Roman" pitchFamily="18" charset="0"/>
                <a:cs typeface="Times New Roman" pitchFamily="18" charset="0"/>
              </a:rPr>
              <a:t> f</a:t>
            </a:r>
            <a:r>
              <a:rPr lang="en-US" sz="1400" dirty="0">
                <a:latin typeface="Times New Roman" pitchFamily="18" charset="0"/>
                <a:cs typeface="Times New Roman" pitchFamily="18" charset="0"/>
              </a:rPr>
              <a:t> CI</a:t>
            </a:r>
          </a:p>
          <a:p>
            <a:r>
              <a:rPr lang="en-US" sz="1400" dirty="0">
                <a:latin typeface="Times New Roman" pitchFamily="18" charset="0"/>
                <a:cs typeface="Times New Roman" pitchFamily="18" charset="0"/>
              </a:rPr>
              <a:t>We perform the sensitivity analysis of the aggregate of top ECI countries, including US, UK, Korea, Japan, South Korea, Singapore, Germany, and France, and use the result as the benchmark. The sensitivity score in 2014 and 2009 are shown below:</a:t>
            </a:r>
          </a:p>
          <a:p>
            <a:endParaRPr lang="en-US" sz="1400" dirty="0">
              <a:latin typeface="Times New Roman" pitchFamily="18" charset="0"/>
              <a:cs typeface="Times New Roman" pitchFamily="18" charset="0"/>
            </a:endParaRPr>
          </a:p>
          <a:p>
            <a:pPr>
              <a:buNone/>
            </a:pPr>
            <a:endParaRPr sz="1400" dirty="0">
              <a:latin typeface="Times New Roman" pitchFamily="18" charset="0"/>
              <a:cs typeface="Times New Roman" pitchFamily="18" charset="0"/>
            </a:endParaRPr>
          </a:p>
        </p:txBody>
      </p:sp>
      <p:sp>
        <p:nvSpPr>
          <p:cNvPr id="450" name="Google Shape;450;p3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45</a:t>
            </a:fld>
            <a:endParaRPr/>
          </a:p>
        </p:txBody>
      </p:sp>
      <p:sp>
        <p:nvSpPr>
          <p:cNvPr id="8" name="矩形 7"/>
          <p:cNvSpPr/>
          <p:nvPr/>
        </p:nvSpPr>
        <p:spPr>
          <a:xfrm>
            <a:off x="1115051" y="4581199"/>
            <a:ext cx="3062057" cy="307777"/>
          </a:xfrm>
          <a:prstGeom prst="rect">
            <a:avLst/>
          </a:prstGeom>
        </p:spPr>
        <p:txBody>
          <a:bodyPr wrap="none">
            <a:spAutoFit/>
          </a:bodyPr>
          <a:lstStyle/>
          <a:p>
            <a:r>
              <a:rPr lang="en-US" dirty="0">
                <a:latin typeface="Times New Roman" pitchFamily="18" charset="0"/>
                <a:cs typeface="Times New Roman" pitchFamily="18" charset="0"/>
              </a:rPr>
              <a:t>Sensitivity Score of Benchmark in 2014</a:t>
            </a:r>
          </a:p>
        </p:txBody>
      </p:sp>
      <p:sp>
        <p:nvSpPr>
          <p:cNvPr id="9" name="矩形 8"/>
          <p:cNvSpPr/>
          <p:nvPr/>
        </p:nvSpPr>
        <p:spPr>
          <a:xfrm>
            <a:off x="5103470" y="4566333"/>
            <a:ext cx="3062057" cy="307777"/>
          </a:xfrm>
          <a:prstGeom prst="rect">
            <a:avLst/>
          </a:prstGeom>
        </p:spPr>
        <p:txBody>
          <a:bodyPr wrap="none">
            <a:spAutoFit/>
          </a:bodyPr>
          <a:lstStyle/>
          <a:p>
            <a:r>
              <a:rPr lang="en-US" dirty="0">
                <a:latin typeface="Times New Roman" pitchFamily="18" charset="0"/>
                <a:cs typeface="Times New Roman" pitchFamily="18" charset="0"/>
              </a:rPr>
              <a:t>Sensitivity Score of Benchmark in 2009</a:t>
            </a:r>
          </a:p>
        </p:txBody>
      </p:sp>
      <p:graphicFrame>
        <p:nvGraphicFramePr>
          <p:cNvPr id="11" name="表格 10"/>
          <p:cNvGraphicFramePr>
            <a:graphicFrameLocks noGrp="1"/>
          </p:cNvGraphicFramePr>
          <p:nvPr>
            <p:extLst>
              <p:ext uri="{D42A27DB-BD31-4B8C-83A1-F6EECF244321}">
                <p14:modId xmlns:p14="http://schemas.microsoft.com/office/powerpoint/2010/main" val="2306869748"/>
              </p:ext>
            </p:extLst>
          </p:nvPr>
        </p:nvGraphicFramePr>
        <p:xfrm>
          <a:off x="965879" y="3497706"/>
          <a:ext cx="3431406" cy="1083945"/>
        </p:xfrm>
        <a:graphic>
          <a:graphicData uri="http://schemas.openxmlformats.org/drawingml/2006/table">
            <a:tbl>
              <a:tblPr/>
              <a:tblGrid>
                <a:gridCol w="1006384">
                  <a:extLst>
                    <a:ext uri="{9D8B030D-6E8A-4147-A177-3AD203B41FA5}">
                      <a16:colId xmlns:a16="http://schemas.microsoft.com/office/drawing/2014/main" val="20000"/>
                    </a:ext>
                  </a:extLst>
                </a:gridCol>
                <a:gridCol w="788133">
                  <a:extLst>
                    <a:ext uri="{9D8B030D-6E8A-4147-A177-3AD203B41FA5}">
                      <a16:colId xmlns:a16="http://schemas.microsoft.com/office/drawing/2014/main" val="20001"/>
                    </a:ext>
                  </a:extLst>
                </a:gridCol>
                <a:gridCol w="1636889">
                  <a:extLst>
                    <a:ext uri="{9D8B030D-6E8A-4147-A177-3AD203B41FA5}">
                      <a16:colId xmlns:a16="http://schemas.microsoft.com/office/drawing/2014/main" val="20002"/>
                    </a:ext>
                  </a:extLst>
                </a:gridCol>
              </a:tblGrid>
              <a:tr h="190500">
                <a:tc gridSpan="3">
                  <a:txBody>
                    <a:bodyPr/>
                    <a:lstStyle/>
                    <a:p>
                      <a:pPr algn="ctr" fontAlgn="b"/>
                      <a:r>
                        <a:rPr lang="en-US" sz="1100" b="1" i="0" u="none" strike="noStrike" dirty="0">
                          <a:solidFill>
                            <a:srgbClr val="000000"/>
                          </a:solidFill>
                          <a:latin typeface="Times New Roman"/>
                        </a:rPr>
                        <a:t>Sensitivity Score (2014)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dirty="0">
                          <a:solidFill>
                            <a:srgbClr val="000000"/>
                          </a:solidFill>
                          <a:latin typeface="Times New Roman"/>
                        </a:rPr>
                        <a:t>High-complexity Products</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dirty="0">
                          <a:solidFill>
                            <a:srgbClr val="000000"/>
                          </a:solidFill>
                          <a:latin typeface="Times New Roman"/>
                        </a:rPr>
                        <a:t>Food and Preparations</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190500">
                <a:tc>
                  <a:txBody>
                    <a:bodyPr/>
                    <a:lstStyle/>
                    <a:p>
                      <a:pPr algn="ctr" fontAlgn="t"/>
                      <a:r>
                        <a:rPr lang="en-US" sz="1100" b="0" i="0" u="none" strike="noStrike">
                          <a:solidFill>
                            <a:srgbClr val="000000"/>
                          </a:solidFill>
                          <a:latin typeface="Times New Roman"/>
                        </a:rPr>
                        <a:t>Decremental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1.676</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0.007</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190500">
                <a:tc>
                  <a:txBody>
                    <a:bodyPr/>
                    <a:lstStyle/>
                    <a:p>
                      <a:pPr algn="ctr" fontAlgn="t"/>
                      <a:r>
                        <a:rPr lang="en-US" sz="1100" b="0" i="0" u="none" strike="noStrike">
                          <a:solidFill>
                            <a:srgbClr val="000000"/>
                          </a:solidFill>
                          <a:latin typeface="Times New Roman"/>
                        </a:rPr>
                        <a:t>Incremental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1.195</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-0.006</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3"/>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3718351178"/>
              </p:ext>
            </p:extLst>
          </p:nvPr>
        </p:nvGraphicFramePr>
        <p:xfrm>
          <a:off x="5190092" y="3497254"/>
          <a:ext cx="3429001" cy="1083945"/>
        </p:xfrm>
        <a:graphic>
          <a:graphicData uri="http://schemas.openxmlformats.org/drawingml/2006/table">
            <a:tbl>
              <a:tblPr/>
              <a:tblGrid>
                <a:gridCol w="1005679">
                  <a:extLst>
                    <a:ext uri="{9D8B030D-6E8A-4147-A177-3AD203B41FA5}">
                      <a16:colId xmlns:a16="http://schemas.microsoft.com/office/drawing/2014/main" val="20000"/>
                    </a:ext>
                  </a:extLst>
                </a:gridCol>
                <a:gridCol w="787580">
                  <a:extLst>
                    <a:ext uri="{9D8B030D-6E8A-4147-A177-3AD203B41FA5}">
                      <a16:colId xmlns:a16="http://schemas.microsoft.com/office/drawing/2014/main" val="20001"/>
                    </a:ext>
                  </a:extLst>
                </a:gridCol>
                <a:gridCol w="1635742">
                  <a:extLst>
                    <a:ext uri="{9D8B030D-6E8A-4147-A177-3AD203B41FA5}">
                      <a16:colId xmlns:a16="http://schemas.microsoft.com/office/drawing/2014/main" val="20002"/>
                    </a:ext>
                  </a:extLst>
                </a:gridCol>
              </a:tblGrid>
              <a:tr h="190500">
                <a:tc gridSpan="3">
                  <a:txBody>
                    <a:bodyPr/>
                    <a:lstStyle/>
                    <a:p>
                      <a:pPr algn="ctr" fontAlgn="b"/>
                      <a:r>
                        <a:rPr lang="en-US" sz="1100" b="1" i="0" u="none" strike="noStrike" dirty="0">
                          <a:solidFill>
                            <a:srgbClr val="000000"/>
                          </a:solidFill>
                          <a:latin typeface="Times New Roman"/>
                        </a:rPr>
                        <a:t>Sensitivity Score (2009)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dirty="0">
                          <a:solidFill>
                            <a:srgbClr val="000000"/>
                          </a:solidFill>
                          <a:latin typeface="Times New Roman"/>
                        </a:rPr>
                        <a:t>High-complexity Products</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dirty="0">
                          <a:solidFill>
                            <a:srgbClr val="000000"/>
                          </a:solidFill>
                          <a:latin typeface="Times New Roman"/>
                        </a:rPr>
                        <a:t>Food and Preparations</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190500">
                <a:tc>
                  <a:txBody>
                    <a:bodyPr/>
                    <a:lstStyle/>
                    <a:p>
                      <a:pPr algn="ctr" fontAlgn="t"/>
                      <a:r>
                        <a:rPr lang="en-US" sz="1100" b="0" i="0" u="none" strike="noStrike">
                          <a:solidFill>
                            <a:srgbClr val="000000"/>
                          </a:solidFill>
                          <a:latin typeface="Times New Roman"/>
                        </a:rPr>
                        <a:t>Decremental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1.514</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-0.001</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190500">
                <a:tc>
                  <a:txBody>
                    <a:bodyPr/>
                    <a:lstStyle/>
                    <a:p>
                      <a:pPr algn="ctr" fontAlgn="t"/>
                      <a:r>
                        <a:rPr lang="en-US" sz="1100" b="0" i="0" u="none" strike="noStrike">
                          <a:solidFill>
                            <a:srgbClr val="000000"/>
                          </a:solidFill>
                          <a:latin typeface="Times New Roman"/>
                        </a:rPr>
                        <a:t>Incremental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1.294</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0.007</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4.4 Contingency Plan</a:t>
            </a:r>
            <a:endParaRPr>
              <a:latin typeface="Times New Roman"/>
              <a:ea typeface="Times New Roman"/>
              <a:cs typeface="Times New Roman"/>
              <a:sym typeface="Times New Roman"/>
            </a:endParaRPr>
          </a:p>
        </p:txBody>
      </p:sp>
      <p:sp>
        <p:nvSpPr>
          <p:cNvPr id="456" name="Google Shape;456;p32"/>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indent="0">
              <a:spcAft>
                <a:spcPts val="1600"/>
              </a:spcAft>
              <a:buNone/>
            </a:pPr>
            <a:r>
              <a:rPr lang="en-US" sz="1400" dirty="0">
                <a:latin typeface="Times New Roman" pitchFamily="18" charset="0"/>
                <a:cs typeface="Times New Roman" pitchFamily="18" charset="0"/>
              </a:rPr>
              <a:t>The Contingency Plan presents solutions to productivity decline within specific industries. Sometimes, the optimal solution to such downturns is not to invest in the industries undergoing downturns directly, but to support industries highly connected to such industries. </a:t>
            </a:r>
            <a:endParaRPr sz="1400" dirty="0">
              <a:latin typeface="Times New Roman" pitchFamily="18" charset="0"/>
              <a:cs typeface="Times New Roman" pitchFamily="18" charset="0"/>
            </a:endParaRPr>
          </a:p>
        </p:txBody>
      </p:sp>
      <p:sp>
        <p:nvSpPr>
          <p:cNvPr id="457" name="Google Shape;457;p3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46</a:t>
            </a:fld>
            <a:endParaRPr/>
          </a:p>
        </p:txBody>
      </p:sp>
      <p:graphicFrame>
        <p:nvGraphicFramePr>
          <p:cNvPr id="6" name="表格 5"/>
          <p:cNvGraphicFramePr>
            <a:graphicFrameLocks noGrp="1"/>
          </p:cNvGraphicFramePr>
          <p:nvPr>
            <p:extLst>
              <p:ext uri="{D42A27DB-BD31-4B8C-83A1-F6EECF244321}">
                <p14:modId xmlns:p14="http://schemas.microsoft.com/office/powerpoint/2010/main" val="2223761543"/>
              </p:ext>
            </p:extLst>
          </p:nvPr>
        </p:nvGraphicFramePr>
        <p:xfrm>
          <a:off x="5240890" y="2843275"/>
          <a:ext cx="2997200" cy="1405890"/>
        </p:xfrm>
        <a:graphic>
          <a:graphicData uri="http://schemas.openxmlformats.org/drawingml/2006/table">
            <a:tbl>
              <a:tblPr/>
              <a:tblGrid>
                <a:gridCol w="687256">
                  <a:extLst>
                    <a:ext uri="{9D8B030D-6E8A-4147-A177-3AD203B41FA5}">
                      <a16:colId xmlns:a16="http://schemas.microsoft.com/office/drawing/2014/main" val="20000"/>
                    </a:ext>
                  </a:extLst>
                </a:gridCol>
                <a:gridCol w="1393603">
                  <a:extLst>
                    <a:ext uri="{9D8B030D-6E8A-4147-A177-3AD203B41FA5}">
                      <a16:colId xmlns:a16="http://schemas.microsoft.com/office/drawing/2014/main" val="20001"/>
                    </a:ext>
                  </a:extLst>
                </a:gridCol>
                <a:gridCol w="916341">
                  <a:extLst>
                    <a:ext uri="{9D8B030D-6E8A-4147-A177-3AD203B41FA5}">
                      <a16:colId xmlns:a16="http://schemas.microsoft.com/office/drawing/2014/main" val="20002"/>
                    </a:ext>
                  </a:extLst>
                </a:gridCol>
              </a:tblGrid>
              <a:tr h="190500">
                <a:tc gridSpan="3">
                  <a:txBody>
                    <a:bodyPr/>
                    <a:lstStyle/>
                    <a:p>
                      <a:pPr algn="ctr" fontAlgn="b"/>
                      <a:r>
                        <a:rPr lang="en-US" sz="1100" b="1" i="0" u="none" strike="noStrike" dirty="0">
                          <a:solidFill>
                            <a:srgbClr val="000000"/>
                          </a:solidFill>
                          <a:latin typeface="Times New Roman"/>
                        </a:rPr>
                        <a:t>Contingency Plan (2009)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0</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1</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190500">
                <a:tc>
                  <a:txBody>
                    <a:bodyPr/>
                    <a:lstStyle/>
                    <a:p>
                      <a:pPr algn="ctr" fontAlgn="t"/>
                      <a:r>
                        <a:rPr lang="en-US" sz="1100" b="1" i="0" u="none" strike="noStrike" dirty="0">
                          <a:solidFill>
                            <a:srgbClr val="000000"/>
                          </a:solidFill>
                          <a:latin typeface="Times New Roman"/>
                        </a:rPr>
                        <a:t>High-complexity Products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Energy Drilling and Mining</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Refined and Processed Stones</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190500">
                <a:tc>
                  <a:txBody>
                    <a:bodyPr/>
                    <a:lstStyle/>
                    <a:p>
                      <a:pPr algn="ctr" fontAlgn="t"/>
                      <a:r>
                        <a:rPr lang="en-US" sz="1100" b="1" i="0" u="none" strike="noStrike" dirty="0">
                          <a:solidFill>
                            <a:srgbClr val="000000"/>
                          </a:solidFill>
                          <a:latin typeface="Times New Roman"/>
                        </a:rPr>
                        <a:t>Services and Utilities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Energy Drilling and Mining</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Refined and Processed Stones</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3"/>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127934288"/>
              </p:ext>
            </p:extLst>
          </p:nvPr>
        </p:nvGraphicFramePr>
        <p:xfrm>
          <a:off x="1404983" y="2843275"/>
          <a:ext cx="2997200" cy="1405890"/>
        </p:xfrm>
        <a:graphic>
          <a:graphicData uri="http://schemas.openxmlformats.org/drawingml/2006/table">
            <a:tbl>
              <a:tblPr/>
              <a:tblGrid>
                <a:gridCol w="687256">
                  <a:extLst>
                    <a:ext uri="{9D8B030D-6E8A-4147-A177-3AD203B41FA5}">
                      <a16:colId xmlns:a16="http://schemas.microsoft.com/office/drawing/2014/main" val="20000"/>
                    </a:ext>
                  </a:extLst>
                </a:gridCol>
                <a:gridCol w="1393603">
                  <a:extLst>
                    <a:ext uri="{9D8B030D-6E8A-4147-A177-3AD203B41FA5}">
                      <a16:colId xmlns:a16="http://schemas.microsoft.com/office/drawing/2014/main" val="20001"/>
                    </a:ext>
                  </a:extLst>
                </a:gridCol>
                <a:gridCol w="916341">
                  <a:extLst>
                    <a:ext uri="{9D8B030D-6E8A-4147-A177-3AD203B41FA5}">
                      <a16:colId xmlns:a16="http://schemas.microsoft.com/office/drawing/2014/main" val="20002"/>
                    </a:ext>
                  </a:extLst>
                </a:gridCol>
              </a:tblGrid>
              <a:tr h="190500">
                <a:tc gridSpan="3">
                  <a:txBody>
                    <a:bodyPr/>
                    <a:lstStyle/>
                    <a:p>
                      <a:pPr algn="ctr" fontAlgn="b"/>
                      <a:r>
                        <a:rPr lang="en-US" sz="1100" b="1" i="0" u="none" strike="noStrike" dirty="0">
                          <a:solidFill>
                            <a:srgbClr val="000000"/>
                          </a:solidFill>
                          <a:latin typeface="Times New Roman"/>
                        </a:rPr>
                        <a:t>Contingency Plan (2014)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0</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1</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190500">
                <a:tc>
                  <a:txBody>
                    <a:bodyPr/>
                    <a:lstStyle/>
                    <a:p>
                      <a:pPr algn="ctr" fontAlgn="t"/>
                      <a:r>
                        <a:rPr lang="en-US" sz="1100" b="1" i="0" u="none" strike="noStrike" dirty="0">
                          <a:solidFill>
                            <a:srgbClr val="000000"/>
                          </a:solidFill>
                          <a:latin typeface="Times New Roman"/>
                        </a:rPr>
                        <a:t>High-complexity Products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Animals and By-products</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Refined and Processed Stones</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190500">
                <a:tc>
                  <a:txBody>
                    <a:bodyPr/>
                    <a:lstStyle/>
                    <a:p>
                      <a:pPr algn="ctr" fontAlgn="t"/>
                      <a:r>
                        <a:rPr lang="en-US" sz="1100" b="1" i="0" u="none" strike="noStrike" dirty="0">
                          <a:solidFill>
                            <a:srgbClr val="000000"/>
                          </a:solidFill>
                          <a:latin typeface="Times New Roman"/>
                        </a:rPr>
                        <a:t>Services and Utilities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Services and Utilities</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Refined and Processed Stones</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3"/>
                  </a:ext>
                </a:extLst>
              </a:tr>
            </a:tbl>
          </a:graphicData>
        </a:graphic>
      </p:graphicFrame>
      <p:sp>
        <p:nvSpPr>
          <p:cNvPr id="8" name="矩形 7"/>
          <p:cNvSpPr/>
          <p:nvPr/>
        </p:nvSpPr>
        <p:spPr>
          <a:xfrm>
            <a:off x="1404983" y="4335872"/>
            <a:ext cx="3122971" cy="307777"/>
          </a:xfrm>
          <a:prstGeom prst="rect">
            <a:avLst/>
          </a:prstGeom>
        </p:spPr>
        <p:txBody>
          <a:bodyPr wrap="none">
            <a:spAutoFit/>
          </a:bodyPr>
          <a:lstStyle/>
          <a:p>
            <a:r>
              <a:rPr lang="en-US" dirty="0">
                <a:latin typeface="Times New Roman" pitchFamily="18" charset="0"/>
                <a:cs typeface="Times New Roman" pitchFamily="18" charset="0"/>
              </a:rPr>
              <a:t>Contingency Plan of Benchmark in 2014</a:t>
            </a:r>
          </a:p>
        </p:txBody>
      </p:sp>
      <p:sp>
        <p:nvSpPr>
          <p:cNvPr id="9" name="矩形 8"/>
          <p:cNvSpPr/>
          <p:nvPr/>
        </p:nvSpPr>
        <p:spPr>
          <a:xfrm>
            <a:off x="5359946" y="4321007"/>
            <a:ext cx="2759089" cy="307777"/>
          </a:xfrm>
          <a:prstGeom prst="rect">
            <a:avLst/>
          </a:prstGeom>
        </p:spPr>
        <p:txBody>
          <a:bodyPr wrap="none">
            <a:spAutoFit/>
          </a:bodyPr>
          <a:lstStyle/>
          <a:p>
            <a:r>
              <a:rPr lang="en-US" dirty="0">
                <a:latin typeface="Times New Roman" pitchFamily="18" charset="0"/>
                <a:cs typeface="Times New Roman" pitchFamily="18" charset="0"/>
              </a:rPr>
              <a:t>Contingency of Benchmark in 2009</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3"/>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3"/>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5. Macro-level Predictions</a:t>
            </a:r>
            <a:endParaRPr>
              <a:latin typeface="Times New Roman"/>
              <a:ea typeface="Times New Roman"/>
              <a:cs typeface="Times New Roman"/>
              <a:sym typeface="Times New Roman"/>
            </a:endParaRPr>
          </a:p>
        </p:txBody>
      </p:sp>
      <p:sp>
        <p:nvSpPr>
          <p:cNvPr id="480" name="Google Shape;480;p33"/>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5.1 Structural Optimality Index (SOI)</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5.2 SOI Examples and Implications</a:t>
            </a:r>
            <a:endParaRPr sz="1400">
              <a:latin typeface="Times New Roman"/>
              <a:ea typeface="Times New Roman"/>
              <a:cs typeface="Times New Roman"/>
              <a:sym typeface="Times New Roman"/>
            </a:endParaRPr>
          </a:p>
        </p:txBody>
      </p:sp>
      <p:sp>
        <p:nvSpPr>
          <p:cNvPr id="481" name="Google Shape;481;p3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3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5.1 Structural Optimality Index (SOI)</a:t>
            </a:r>
            <a:endParaRPr>
              <a:latin typeface="Times New Roman"/>
              <a:ea typeface="Times New Roman"/>
              <a:cs typeface="Times New Roman"/>
              <a:sym typeface="Times New Roman"/>
            </a:endParaRPr>
          </a:p>
        </p:txBody>
      </p:sp>
      <p:sp>
        <p:nvSpPr>
          <p:cNvPr id="487" name="Google Shape;487;p34"/>
          <p:cNvSpPr txBox="1">
            <a:spLocks noGrp="1"/>
          </p:cNvSpPr>
          <p:nvPr>
            <p:ph type="body" idx="1"/>
          </p:nvPr>
        </p:nvSpPr>
        <p:spPr>
          <a:xfrm>
            <a:off x="1303800" y="12247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Structural Optimality Index (SOI) is defined as the adjusted R-Square of export increase in industries ~ opportunity gains of industries </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SOI provides a quantified measure of how the development path adopted by a country fitted with/differed from calculations on a complexity level (i.e., the opportunity gains)</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further observe a significant correlation between SOI and five-year GDP increase of countries, indicating that structural optimality does impact economic outcomes</a:t>
            </a:r>
            <a:endParaRPr sz="1400">
              <a:solidFill>
                <a:srgbClr val="000000"/>
              </a:solidFill>
              <a:latin typeface="Times New Roman"/>
              <a:ea typeface="Times New Roman"/>
              <a:cs typeface="Times New Roman"/>
              <a:sym typeface="Times New Roman"/>
            </a:endParaRPr>
          </a:p>
        </p:txBody>
      </p:sp>
      <p:sp>
        <p:nvSpPr>
          <p:cNvPr id="488" name="Google Shape;488;p3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48</a:t>
            </a:fld>
            <a:endParaRPr/>
          </a:p>
        </p:txBody>
      </p:sp>
      <p:pic>
        <p:nvPicPr>
          <p:cNvPr id="489" name="Google Shape;489;p34"/>
          <p:cNvPicPr preferRelativeResize="0"/>
          <p:nvPr/>
        </p:nvPicPr>
        <p:blipFill>
          <a:blip r:embed="rId3">
            <a:alphaModFix/>
          </a:blip>
          <a:stretch>
            <a:fillRect/>
          </a:stretch>
        </p:blipFill>
        <p:spPr>
          <a:xfrm>
            <a:off x="1441325" y="2896575"/>
            <a:ext cx="4593726" cy="1995550"/>
          </a:xfrm>
          <a:prstGeom prst="rect">
            <a:avLst/>
          </a:prstGeom>
          <a:noFill/>
          <a:ln w="9525" cap="flat" cmpd="sng">
            <a:solidFill>
              <a:schemeClr val="accent3"/>
            </a:solidFill>
            <a:prstDash val="solid"/>
            <a:round/>
            <a:headEnd type="none" w="sm" len="sm"/>
            <a:tailEnd type="none" w="sm" len="sm"/>
          </a:ln>
        </p:spPr>
      </p:pic>
      <p:pic>
        <p:nvPicPr>
          <p:cNvPr id="490" name="Google Shape;490;p34"/>
          <p:cNvPicPr preferRelativeResize="0"/>
          <p:nvPr/>
        </p:nvPicPr>
        <p:blipFill>
          <a:blip r:embed="rId4">
            <a:alphaModFix/>
          </a:blip>
          <a:stretch>
            <a:fillRect/>
          </a:stretch>
        </p:blipFill>
        <p:spPr>
          <a:xfrm>
            <a:off x="6103625" y="2896575"/>
            <a:ext cx="2633475" cy="1610000"/>
          </a:xfrm>
          <a:prstGeom prst="rect">
            <a:avLst/>
          </a:prstGeom>
          <a:noFill/>
          <a:ln w="9525" cap="flat" cmpd="sng">
            <a:solidFill>
              <a:schemeClr val="accent3"/>
            </a:solidFill>
            <a:prstDash val="solid"/>
            <a:round/>
            <a:headEnd type="none" w="sm" len="sm"/>
            <a:tailEnd type="none" w="sm" len="sm"/>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5.2 SOI Examples and Implications</a:t>
            </a:r>
            <a:endParaRPr>
              <a:latin typeface="Times New Roman"/>
              <a:ea typeface="Times New Roman"/>
              <a:cs typeface="Times New Roman"/>
              <a:sym typeface="Times New Roman"/>
            </a:endParaRPr>
          </a:p>
        </p:txBody>
      </p:sp>
      <p:sp>
        <p:nvSpPr>
          <p:cNvPr id="496" name="Google Shape;496;p35"/>
          <p:cNvSpPr txBox="1">
            <a:spLocks noGrp="1"/>
          </p:cNvSpPr>
          <p:nvPr>
            <p:ph type="body" idx="1"/>
          </p:nvPr>
        </p:nvSpPr>
        <p:spPr>
          <a:xfrm>
            <a:off x="1303800" y="11914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Taking China and France for comparison, China ranks the 1</a:t>
            </a:r>
            <a:r>
              <a:rPr lang="en" sz="1400" baseline="30000">
                <a:solidFill>
                  <a:srgbClr val="000000"/>
                </a:solidFill>
                <a:latin typeface="Times New Roman"/>
                <a:ea typeface="Times New Roman"/>
                <a:cs typeface="Times New Roman"/>
                <a:sym typeface="Times New Roman"/>
              </a:rPr>
              <a:t>st</a:t>
            </a:r>
            <a:r>
              <a:rPr lang="en" sz="1400">
                <a:solidFill>
                  <a:srgbClr val="000000"/>
                </a:solidFill>
                <a:latin typeface="Times New Roman"/>
                <a:ea typeface="Times New Roman"/>
                <a:cs typeface="Times New Roman"/>
                <a:sym typeface="Times New Roman"/>
              </a:rPr>
              <a:t> place among all countries in terms of SOI (82.8%), and has the highest economic growth rate from 2009 to 2014</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 contrast, developed economies such as France, where there is a moderate SOI of around 14.2% and a corresponding annual growth rate of 1.1%</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Intermediate-term economic progress can be at least partially explained by the optimality of development strategy that countries choose to adopt</a:t>
            </a:r>
            <a:endParaRPr sz="1400">
              <a:solidFill>
                <a:srgbClr val="000000"/>
              </a:solidFill>
              <a:latin typeface="Times New Roman"/>
              <a:ea typeface="Times New Roman"/>
              <a:cs typeface="Times New Roman"/>
              <a:sym typeface="Times New Roman"/>
            </a:endParaRPr>
          </a:p>
        </p:txBody>
      </p:sp>
      <p:sp>
        <p:nvSpPr>
          <p:cNvPr id="497" name="Google Shape;497;p3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49</a:t>
            </a:fld>
            <a:endParaRPr/>
          </a:p>
        </p:txBody>
      </p:sp>
      <p:pic>
        <p:nvPicPr>
          <p:cNvPr id="498" name="Google Shape;498;p35"/>
          <p:cNvPicPr preferRelativeResize="0"/>
          <p:nvPr/>
        </p:nvPicPr>
        <p:blipFill>
          <a:blip r:embed="rId3">
            <a:alphaModFix/>
          </a:blip>
          <a:stretch>
            <a:fillRect/>
          </a:stretch>
        </p:blipFill>
        <p:spPr>
          <a:xfrm>
            <a:off x="5000035" y="2898400"/>
            <a:ext cx="3334266" cy="1928801"/>
          </a:xfrm>
          <a:prstGeom prst="rect">
            <a:avLst/>
          </a:prstGeom>
          <a:noFill/>
          <a:ln w="9525" cap="flat" cmpd="sng">
            <a:solidFill>
              <a:schemeClr val="accent1"/>
            </a:solidFill>
            <a:prstDash val="solid"/>
            <a:round/>
            <a:headEnd type="none" w="sm" len="sm"/>
            <a:tailEnd type="none" w="sm" len="sm"/>
          </a:ln>
        </p:spPr>
      </p:pic>
      <p:pic>
        <p:nvPicPr>
          <p:cNvPr id="499" name="Google Shape;499;p35"/>
          <p:cNvPicPr preferRelativeResize="0"/>
          <p:nvPr/>
        </p:nvPicPr>
        <p:blipFill>
          <a:blip r:embed="rId4">
            <a:alphaModFix/>
          </a:blip>
          <a:stretch>
            <a:fillRect/>
          </a:stretch>
        </p:blipFill>
        <p:spPr>
          <a:xfrm>
            <a:off x="1421801" y="2905200"/>
            <a:ext cx="3357774" cy="1928801"/>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37"/>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4" name="Google Shape;514;p37"/>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5" name="Google Shape;515;p3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6</a:t>
            </a:r>
            <a:r>
              <a:rPr lang="en" dirty="0">
                <a:latin typeface="Times New Roman"/>
                <a:ea typeface="Times New Roman"/>
                <a:cs typeface="Times New Roman"/>
                <a:sym typeface="Times New Roman"/>
              </a:rPr>
              <a:t>. Appendix</a:t>
            </a:r>
            <a:endParaRPr sz="1800" b="0" dirty="0">
              <a:latin typeface="Times New Roman"/>
              <a:ea typeface="Times New Roman"/>
              <a:cs typeface="Times New Roman"/>
              <a:sym typeface="Times New Roman"/>
            </a:endParaRPr>
          </a:p>
        </p:txBody>
      </p:sp>
      <p:sp>
        <p:nvSpPr>
          <p:cNvPr id="516" name="Google Shape;516;p3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50</a:t>
            </a:fld>
            <a:endParaRPr/>
          </a:p>
        </p:txBody>
      </p:sp>
      <p:sp>
        <p:nvSpPr>
          <p:cNvPr id="517" name="Google Shape;517;p37"/>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In this section we outline the most important calculations &amp; analysis results for a selected group of countries, including Brazil, China, Egypt, France, Germany, Japan, Malaysia, Mexico, Morocco, South Africa, South Korea, Spain, Turkey, UAE and USA</a:t>
            </a:r>
            <a:endParaRPr sz="1400">
              <a:solidFill>
                <a:srgbClr val="000000"/>
              </a:solidFill>
              <a:highlight>
                <a:srgbClr val="FFFFFF"/>
              </a:highlight>
              <a:latin typeface="Times New Roman"/>
              <a:ea typeface="Times New Roman"/>
              <a:cs typeface="Times New Roman"/>
              <a:sym typeface="Times New Roman"/>
            </a:endParaRPr>
          </a:p>
          <a:p>
            <a:pPr marL="914400" lvl="0" indent="0" algn="just" rtl="0">
              <a:spcBef>
                <a:spcPts val="0"/>
              </a:spcBef>
              <a:spcAft>
                <a:spcPts val="0"/>
              </a:spcAft>
              <a:buNone/>
            </a:pPr>
            <a:endParaRPr sz="1400">
              <a:solidFill>
                <a:srgbClr val="000000"/>
              </a:solidFill>
              <a:highlight>
                <a:srgbClr val="FFFFFF"/>
              </a:highlight>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For each country, we highlight its GDP &amp; ECI trend, Actual Development Index (ADI), Suggested Development Vector (SDV), sensitivity score &amp; plan, contingency table and Structural Optimality Index (SOI) during the period</a:t>
            </a:r>
            <a:endParaRPr sz="1400">
              <a:solidFill>
                <a:srgbClr val="000000"/>
              </a:solidFill>
              <a:highlight>
                <a:srgbClr val="FFFFFF"/>
              </a:highlight>
              <a:latin typeface="Times New Roman"/>
              <a:ea typeface="Times New Roman"/>
              <a:cs typeface="Times New Roman"/>
              <a:sym typeface="Times New Roman"/>
            </a:endParaRPr>
          </a:p>
          <a:p>
            <a:pPr marL="0" lvl="0" indent="0" algn="just" rtl="0">
              <a:spcBef>
                <a:spcPts val="0"/>
              </a:spcBef>
              <a:spcAft>
                <a:spcPts val="0"/>
              </a:spcAft>
              <a:buNone/>
            </a:pPr>
            <a:r>
              <a:rPr lang="en" sz="1400" b="1">
                <a:solidFill>
                  <a:srgbClr val="000000"/>
                </a:solidFill>
                <a:latin typeface="Times New Roman"/>
                <a:ea typeface="Times New Roman"/>
                <a:cs typeface="Times New Roman"/>
                <a:sym typeface="Times New Roman"/>
              </a:rPr>
              <a:t> </a:t>
            </a:r>
            <a:endParaRPr sz="1400" b="1">
              <a:solidFill>
                <a:srgbClr val="000000"/>
              </a:solidFill>
              <a:latin typeface="Times New Roman"/>
              <a:ea typeface="Times New Roman"/>
              <a:cs typeface="Times New Roman"/>
              <a:sym typeface="Times New Roman"/>
            </a:endParaRPr>
          </a:p>
          <a:p>
            <a:pPr marL="0" marR="0" lvl="0" indent="0" algn="l" rtl="0">
              <a:lnSpc>
                <a:spcPct val="115000"/>
              </a:lnSpc>
              <a:spcBef>
                <a:spcPts val="0"/>
              </a:spcBef>
              <a:spcAft>
                <a:spcPts val="1600"/>
              </a:spcAft>
              <a:buNone/>
            </a:pPr>
            <a:endParaRPr sz="1400">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 Brazil </a:t>
            </a:r>
            <a:endParaRPr dirty="0">
              <a:latin typeface="Times New Roman"/>
              <a:ea typeface="Times New Roman"/>
              <a:cs typeface="Times New Roman"/>
              <a:sym typeface="Times New Roman"/>
            </a:endParaRPr>
          </a:p>
        </p:txBody>
      </p:sp>
      <p:sp>
        <p:nvSpPr>
          <p:cNvPr id="523" name="Google Shape;523;p3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51</a:t>
            </a:fld>
            <a:endParaRPr/>
          </a:p>
        </p:txBody>
      </p:sp>
      <p:sp>
        <p:nvSpPr>
          <p:cNvPr id="524" name="Google Shape;524;p38"/>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25" name="Google Shape;525;p3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26" name="Google Shape;526;p38"/>
          <p:cNvPicPr preferRelativeResize="0"/>
          <p:nvPr/>
        </p:nvPicPr>
        <p:blipFill>
          <a:blip r:embed="rId3">
            <a:alphaModFix/>
          </a:blip>
          <a:stretch>
            <a:fillRect/>
          </a:stretch>
        </p:blipFill>
        <p:spPr>
          <a:xfrm>
            <a:off x="1056750" y="1701875"/>
            <a:ext cx="5005628" cy="1519826"/>
          </a:xfrm>
          <a:prstGeom prst="rect">
            <a:avLst/>
          </a:prstGeom>
          <a:noFill/>
          <a:ln w="9525" cap="flat" cmpd="sng">
            <a:solidFill>
              <a:schemeClr val="accent1"/>
            </a:solidFill>
            <a:prstDash val="solid"/>
            <a:round/>
            <a:headEnd type="none" w="sm" len="sm"/>
            <a:tailEnd type="none" w="sm" len="sm"/>
          </a:ln>
        </p:spPr>
      </p:pic>
      <p:pic>
        <p:nvPicPr>
          <p:cNvPr id="527" name="Google Shape;527;p38"/>
          <p:cNvPicPr preferRelativeResize="0"/>
          <p:nvPr/>
        </p:nvPicPr>
        <p:blipFill>
          <a:blip r:embed="rId4">
            <a:alphaModFix/>
          </a:blip>
          <a:stretch>
            <a:fillRect/>
          </a:stretch>
        </p:blipFill>
        <p:spPr>
          <a:xfrm>
            <a:off x="1056750" y="3221700"/>
            <a:ext cx="2394273" cy="1266899"/>
          </a:xfrm>
          <a:prstGeom prst="rect">
            <a:avLst/>
          </a:prstGeom>
          <a:noFill/>
          <a:ln w="9525" cap="flat" cmpd="sng">
            <a:solidFill>
              <a:schemeClr val="accent1"/>
            </a:solidFill>
            <a:prstDash val="solid"/>
            <a:round/>
            <a:headEnd type="none" w="sm" len="sm"/>
            <a:tailEnd type="none" w="sm" len="sm"/>
          </a:ln>
        </p:spPr>
      </p:pic>
      <p:pic>
        <p:nvPicPr>
          <p:cNvPr id="528" name="Google Shape;528;p38"/>
          <p:cNvPicPr preferRelativeResize="0"/>
          <p:nvPr/>
        </p:nvPicPr>
        <p:blipFill>
          <a:blip r:embed="rId5">
            <a:alphaModFix/>
          </a:blip>
          <a:stretch>
            <a:fillRect/>
          </a:stretch>
        </p:blipFill>
        <p:spPr>
          <a:xfrm>
            <a:off x="6197889" y="1632313"/>
            <a:ext cx="2305716" cy="3206387"/>
          </a:xfrm>
          <a:prstGeom prst="rect">
            <a:avLst/>
          </a:prstGeom>
          <a:noFill/>
          <a:ln w="9525" cap="flat" cmpd="sng">
            <a:solidFill>
              <a:schemeClr val="accent1"/>
            </a:solidFill>
            <a:prstDash val="solid"/>
            <a:round/>
            <a:headEnd type="none" w="sm" len="sm"/>
            <a:tailEnd type="none" w="sm" len="sm"/>
          </a:ln>
        </p:spPr>
      </p:pic>
      <p:pic>
        <p:nvPicPr>
          <p:cNvPr id="529" name="Google Shape;529;p38"/>
          <p:cNvPicPr preferRelativeResize="0"/>
          <p:nvPr/>
        </p:nvPicPr>
        <p:blipFill>
          <a:blip r:embed="rId6">
            <a:alphaModFix/>
          </a:blip>
          <a:stretch>
            <a:fillRect/>
          </a:stretch>
        </p:blipFill>
        <p:spPr>
          <a:xfrm>
            <a:off x="3451025" y="3221700"/>
            <a:ext cx="2611349" cy="1266901"/>
          </a:xfrm>
          <a:prstGeom prst="rect">
            <a:avLst/>
          </a:prstGeom>
          <a:noFill/>
          <a:ln w="9525" cap="flat" cmpd="sng">
            <a:solidFill>
              <a:schemeClr val="accent1"/>
            </a:solidFill>
            <a:prstDash val="solid"/>
            <a:round/>
            <a:headEnd type="none" w="sm" len="sm"/>
            <a:tailEnd type="none" w="sm" len="sm"/>
          </a:ln>
        </p:spPr>
      </p:pic>
      <p:sp>
        <p:nvSpPr>
          <p:cNvPr id="530" name="Google Shape;530;p38"/>
          <p:cNvSpPr txBox="1"/>
          <p:nvPr/>
        </p:nvSpPr>
        <p:spPr>
          <a:xfrm>
            <a:off x="5084675" y="32216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SOI=0.8%</a:t>
            </a:r>
            <a:endParaRPr sz="1000" b="1">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9"/>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6.2 China </a:t>
            </a:r>
            <a:endParaRPr dirty="0">
              <a:latin typeface="Times New Roman"/>
              <a:ea typeface="Times New Roman"/>
              <a:cs typeface="Times New Roman"/>
              <a:sym typeface="Times New Roman"/>
            </a:endParaRPr>
          </a:p>
        </p:txBody>
      </p:sp>
      <p:pic>
        <p:nvPicPr>
          <p:cNvPr id="536" name="Google Shape;536;p39"/>
          <p:cNvPicPr preferRelativeResize="0"/>
          <p:nvPr/>
        </p:nvPicPr>
        <p:blipFill>
          <a:blip r:embed="rId3">
            <a:alphaModFix/>
          </a:blip>
          <a:stretch>
            <a:fillRect/>
          </a:stretch>
        </p:blipFill>
        <p:spPr>
          <a:xfrm>
            <a:off x="1116188" y="3003475"/>
            <a:ext cx="4172612" cy="1995399"/>
          </a:xfrm>
          <a:prstGeom prst="rect">
            <a:avLst/>
          </a:prstGeom>
          <a:noFill/>
          <a:ln w="9525" cap="flat" cmpd="sng">
            <a:solidFill>
              <a:schemeClr val="accent1"/>
            </a:solidFill>
            <a:prstDash val="solid"/>
            <a:round/>
            <a:headEnd type="none" w="sm" len="sm"/>
            <a:tailEnd type="none" w="sm" len="sm"/>
          </a:ln>
        </p:spPr>
      </p:pic>
      <p:sp>
        <p:nvSpPr>
          <p:cNvPr id="537" name="Google Shape;537;p3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52</a:t>
            </a:fld>
            <a:endParaRPr/>
          </a:p>
        </p:txBody>
      </p:sp>
      <p:pic>
        <p:nvPicPr>
          <p:cNvPr id="538" name="Google Shape;538;p39"/>
          <p:cNvPicPr preferRelativeResize="0"/>
          <p:nvPr/>
        </p:nvPicPr>
        <p:blipFill>
          <a:blip r:embed="rId4">
            <a:alphaModFix/>
          </a:blip>
          <a:stretch>
            <a:fillRect/>
          </a:stretch>
        </p:blipFill>
        <p:spPr>
          <a:xfrm>
            <a:off x="1116200" y="1632321"/>
            <a:ext cx="4172601" cy="1351828"/>
          </a:xfrm>
          <a:prstGeom prst="rect">
            <a:avLst/>
          </a:prstGeom>
          <a:noFill/>
          <a:ln w="9525" cap="flat" cmpd="sng">
            <a:solidFill>
              <a:schemeClr val="accent1"/>
            </a:solidFill>
            <a:prstDash val="solid"/>
            <a:round/>
            <a:headEnd type="none" w="sm" len="sm"/>
            <a:tailEnd type="none" w="sm" len="sm"/>
          </a:ln>
        </p:spPr>
      </p:pic>
      <p:sp>
        <p:nvSpPr>
          <p:cNvPr id="539" name="Google Shape;539;p39"/>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40" name="Google Shape;540;p39"/>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41" name="Google Shape;541;p39"/>
          <p:cNvPicPr preferRelativeResize="0"/>
          <p:nvPr/>
        </p:nvPicPr>
        <p:blipFill>
          <a:blip r:embed="rId5">
            <a:alphaModFix/>
          </a:blip>
          <a:stretch>
            <a:fillRect/>
          </a:stretch>
        </p:blipFill>
        <p:spPr>
          <a:xfrm>
            <a:off x="5717076" y="1632326"/>
            <a:ext cx="2370175" cy="3296036"/>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0"/>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6.2 China</a:t>
            </a:r>
            <a:endParaRPr dirty="0">
              <a:latin typeface="Times New Roman"/>
              <a:ea typeface="Times New Roman"/>
              <a:cs typeface="Times New Roman"/>
              <a:sym typeface="Times New Roman"/>
            </a:endParaRPr>
          </a:p>
        </p:txBody>
      </p:sp>
      <p:sp>
        <p:nvSpPr>
          <p:cNvPr id="547" name="Google Shape;547;p4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53</a:t>
            </a:fld>
            <a:endParaRPr/>
          </a:p>
        </p:txBody>
      </p:sp>
      <p:pic>
        <p:nvPicPr>
          <p:cNvPr id="548" name="Google Shape;548;p40"/>
          <p:cNvPicPr preferRelativeResize="0"/>
          <p:nvPr/>
        </p:nvPicPr>
        <p:blipFill>
          <a:blip r:embed="rId3">
            <a:alphaModFix/>
          </a:blip>
          <a:stretch>
            <a:fillRect/>
          </a:stretch>
        </p:blipFill>
        <p:spPr>
          <a:xfrm>
            <a:off x="1162375" y="1680375"/>
            <a:ext cx="4481749" cy="1785931"/>
          </a:xfrm>
          <a:prstGeom prst="rect">
            <a:avLst/>
          </a:prstGeom>
          <a:noFill/>
          <a:ln w="9525" cap="flat" cmpd="sng">
            <a:solidFill>
              <a:schemeClr val="accent1"/>
            </a:solidFill>
            <a:prstDash val="solid"/>
            <a:round/>
            <a:headEnd type="none" w="sm" len="sm"/>
            <a:tailEnd type="none" w="sm" len="sm"/>
          </a:ln>
        </p:spPr>
      </p:pic>
      <p:sp>
        <p:nvSpPr>
          <p:cNvPr id="549" name="Google Shape;549;p40"/>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50" name="Google Shape;550;p40"/>
          <p:cNvPicPr preferRelativeResize="0"/>
          <p:nvPr/>
        </p:nvPicPr>
        <p:blipFill rotWithShape="1">
          <a:blip r:embed="rId4">
            <a:alphaModFix/>
          </a:blip>
          <a:srcRect l="3180" r="-3180"/>
          <a:stretch/>
        </p:blipFill>
        <p:spPr>
          <a:xfrm>
            <a:off x="1162375" y="3466300"/>
            <a:ext cx="4481750" cy="1553675"/>
          </a:xfrm>
          <a:prstGeom prst="rect">
            <a:avLst/>
          </a:prstGeom>
          <a:noFill/>
          <a:ln w="9525" cap="flat" cmpd="sng">
            <a:solidFill>
              <a:schemeClr val="accent1"/>
            </a:solidFill>
            <a:prstDash val="solid"/>
            <a:round/>
            <a:headEnd type="none" w="sm" len="sm"/>
            <a:tailEnd type="none" w="sm" len="sm"/>
          </a:ln>
        </p:spPr>
      </p:pic>
      <p:sp>
        <p:nvSpPr>
          <p:cNvPr id="551" name="Google Shape;551;p40"/>
          <p:cNvSpPr txBox="1"/>
          <p:nvPr/>
        </p:nvSpPr>
        <p:spPr>
          <a:xfrm>
            <a:off x="4572000" y="34982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SOI=82.8%</a:t>
            </a:r>
            <a:endParaRPr sz="1000" b="1">
              <a:latin typeface="Times New Roman"/>
              <a:ea typeface="Times New Roman"/>
              <a:cs typeface="Times New Roman"/>
              <a:sym typeface="Times New Roman"/>
            </a:endParaRPr>
          </a:p>
        </p:txBody>
      </p:sp>
      <p:pic>
        <p:nvPicPr>
          <p:cNvPr id="552" name="Google Shape;552;p40"/>
          <p:cNvPicPr preferRelativeResize="0"/>
          <p:nvPr/>
        </p:nvPicPr>
        <p:blipFill>
          <a:blip r:embed="rId5">
            <a:alphaModFix/>
          </a:blip>
          <a:stretch>
            <a:fillRect/>
          </a:stretch>
        </p:blipFill>
        <p:spPr>
          <a:xfrm>
            <a:off x="5987424" y="1660846"/>
            <a:ext cx="2860378" cy="656100"/>
          </a:xfrm>
          <a:prstGeom prst="rect">
            <a:avLst/>
          </a:prstGeom>
          <a:noFill/>
          <a:ln w="9525" cap="flat" cmpd="sng">
            <a:solidFill>
              <a:schemeClr val="accent1"/>
            </a:solidFill>
            <a:prstDash val="solid"/>
            <a:round/>
            <a:headEnd type="none" w="sm" len="sm"/>
            <a:tailEnd type="none" w="sm" len="sm"/>
          </a:ln>
        </p:spPr>
      </p:pic>
      <p:pic>
        <p:nvPicPr>
          <p:cNvPr id="553" name="Google Shape;553;p40"/>
          <p:cNvPicPr preferRelativeResize="0"/>
          <p:nvPr/>
        </p:nvPicPr>
        <p:blipFill>
          <a:blip r:embed="rId6">
            <a:alphaModFix/>
          </a:blip>
          <a:stretch>
            <a:fillRect/>
          </a:stretch>
        </p:blipFill>
        <p:spPr>
          <a:xfrm>
            <a:off x="5987425" y="2372011"/>
            <a:ext cx="2860375" cy="679114"/>
          </a:xfrm>
          <a:prstGeom prst="rect">
            <a:avLst/>
          </a:prstGeom>
          <a:noFill/>
          <a:ln w="9525" cap="flat" cmpd="sng">
            <a:solidFill>
              <a:schemeClr val="accent1"/>
            </a:solidFill>
            <a:prstDash val="solid"/>
            <a:round/>
            <a:headEnd type="none" w="sm" len="sm"/>
            <a:tailEnd type="none" w="sm" len="sm"/>
          </a:ln>
        </p:spPr>
      </p:pic>
      <p:pic>
        <p:nvPicPr>
          <p:cNvPr id="554" name="Google Shape;554;p40"/>
          <p:cNvPicPr preferRelativeResize="0"/>
          <p:nvPr/>
        </p:nvPicPr>
        <p:blipFill>
          <a:blip r:embed="rId7">
            <a:alphaModFix/>
          </a:blip>
          <a:stretch>
            <a:fillRect/>
          </a:stretch>
        </p:blipFill>
        <p:spPr>
          <a:xfrm>
            <a:off x="5987425" y="3182375"/>
            <a:ext cx="2860375" cy="765380"/>
          </a:xfrm>
          <a:prstGeom prst="rect">
            <a:avLst/>
          </a:prstGeom>
          <a:noFill/>
          <a:ln w="9525" cap="flat" cmpd="sng">
            <a:solidFill>
              <a:schemeClr val="accent1"/>
            </a:solidFill>
            <a:prstDash val="solid"/>
            <a:round/>
            <a:headEnd type="none" w="sm" len="sm"/>
            <a:tailEnd type="none" w="sm" len="sm"/>
          </a:ln>
        </p:spPr>
      </p:pic>
      <p:pic>
        <p:nvPicPr>
          <p:cNvPr id="555" name="Google Shape;555;p40"/>
          <p:cNvPicPr preferRelativeResize="0"/>
          <p:nvPr/>
        </p:nvPicPr>
        <p:blipFill>
          <a:blip r:embed="rId8">
            <a:alphaModFix/>
          </a:blip>
          <a:stretch>
            <a:fillRect/>
          </a:stretch>
        </p:blipFill>
        <p:spPr>
          <a:xfrm>
            <a:off x="5987425" y="3995550"/>
            <a:ext cx="2860375" cy="846034"/>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1"/>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6.3 Egypt </a:t>
            </a:r>
            <a:endParaRPr dirty="0">
              <a:latin typeface="Times New Roman"/>
              <a:ea typeface="Times New Roman"/>
              <a:cs typeface="Times New Roman"/>
              <a:sym typeface="Times New Roman"/>
            </a:endParaRPr>
          </a:p>
        </p:txBody>
      </p:sp>
      <p:sp>
        <p:nvSpPr>
          <p:cNvPr id="561" name="Google Shape;561;p4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54</a:t>
            </a:fld>
            <a:endParaRPr/>
          </a:p>
        </p:txBody>
      </p:sp>
      <p:sp>
        <p:nvSpPr>
          <p:cNvPr id="562" name="Google Shape;562;p41"/>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63" name="Google Shape;563;p41"/>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64" name="Google Shape;564;p41"/>
          <p:cNvPicPr preferRelativeResize="0"/>
          <p:nvPr/>
        </p:nvPicPr>
        <p:blipFill>
          <a:blip r:embed="rId3">
            <a:alphaModFix/>
          </a:blip>
          <a:stretch>
            <a:fillRect/>
          </a:stretch>
        </p:blipFill>
        <p:spPr>
          <a:xfrm>
            <a:off x="1056750" y="1632317"/>
            <a:ext cx="5005628" cy="1519806"/>
          </a:xfrm>
          <a:prstGeom prst="rect">
            <a:avLst/>
          </a:prstGeom>
          <a:noFill/>
          <a:ln w="9525" cap="flat" cmpd="sng">
            <a:solidFill>
              <a:schemeClr val="accent1"/>
            </a:solidFill>
            <a:prstDash val="solid"/>
            <a:round/>
            <a:headEnd type="none" w="sm" len="sm"/>
            <a:tailEnd type="none" w="sm" len="sm"/>
          </a:ln>
        </p:spPr>
      </p:pic>
      <p:pic>
        <p:nvPicPr>
          <p:cNvPr id="565" name="Google Shape;565;p41"/>
          <p:cNvPicPr preferRelativeResize="0"/>
          <p:nvPr/>
        </p:nvPicPr>
        <p:blipFill>
          <a:blip r:embed="rId4">
            <a:alphaModFix/>
          </a:blip>
          <a:stretch>
            <a:fillRect/>
          </a:stretch>
        </p:blipFill>
        <p:spPr>
          <a:xfrm>
            <a:off x="1056750" y="3053776"/>
            <a:ext cx="2305701" cy="1206224"/>
          </a:xfrm>
          <a:prstGeom prst="rect">
            <a:avLst/>
          </a:prstGeom>
          <a:noFill/>
          <a:ln w="9525" cap="flat" cmpd="sng">
            <a:solidFill>
              <a:schemeClr val="accent1"/>
            </a:solidFill>
            <a:prstDash val="solid"/>
            <a:round/>
            <a:headEnd type="none" w="sm" len="sm"/>
            <a:tailEnd type="none" w="sm" len="sm"/>
          </a:ln>
        </p:spPr>
      </p:pic>
      <p:pic>
        <p:nvPicPr>
          <p:cNvPr id="566" name="Google Shape;566;p41"/>
          <p:cNvPicPr preferRelativeResize="0"/>
          <p:nvPr/>
        </p:nvPicPr>
        <p:blipFill>
          <a:blip r:embed="rId5">
            <a:alphaModFix/>
          </a:blip>
          <a:stretch>
            <a:fillRect/>
          </a:stretch>
        </p:blipFill>
        <p:spPr>
          <a:xfrm>
            <a:off x="3362450" y="3053775"/>
            <a:ext cx="2699923" cy="1206225"/>
          </a:xfrm>
          <a:prstGeom prst="rect">
            <a:avLst/>
          </a:prstGeom>
          <a:noFill/>
          <a:ln w="9525" cap="flat" cmpd="sng">
            <a:solidFill>
              <a:schemeClr val="accent3"/>
            </a:solidFill>
            <a:prstDash val="solid"/>
            <a:round/>
            <a:headEnd type="none" w="sm" len="sm"/>
            <a:tailEnd type="none" w="sm" len="sm"/>
          </a:ln>
        </p:spPr>
      </p:pic>
      <p:pic>
        <p:nvPicPr>
          <p:cNvPr id="567" name="Google Shape;567;p41"/>
          <p:cNvPicPr preferRelativeResize="0"/>
          <p:nvPr/>
        </p:nvPicPr>
        <p:blipFill>
          <a:blip r:embed="rId6">
            <a:alphaModFix/>
          </a:blip>
          <a:stretch>
            <a:fillRect/>
          </a:stretch>
        </p:blipFill>
        <p:spPr>
          <a:xfrm>
            <a:off x="6367178" y="1632325"/>
            <a:ext cx="2083868" cy="2983339"/>
          </a:xfrm>
          <a:prstGeom prst="rect">
            <a:avLst/>
          </a:prstGeom>
          <a:noFill/>
          <a:ln w="9525" cap="flat" cmpd="sng">
            <a:solidFill>
              <a:schemeClr val="accent1"/>
            </a:solidFill>
            <a:prstDash val="solid"/>
            <a:round/>
            <a:headEnd type="none" w="sm" len="sm"/>
            <a:tailEnd type="none" w="sm" len="sm"/>
          </a:ln>
        </p:spPr>
      </p:pic>
      <p:sp>
        <p:nvSpPr>
          <p:cNvPr id="568" name="Google Shape;568;p41"/>
          <p:cNvSpPr txBox="1"/>
          <p:nvPr/>
        </p:nvSpPr>
        <p:spPr>
          <a:xfrm>
            <a:off x="4997475" y="30033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SOI=19.2%</a:t>
            </a:r>
            <a:endParaRPr sz="1000" b="1">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42"/>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6.4 France </a:t>
            </a:r>
            <a:endParaRPr dirty="0">
              <a:latin typeface="Times New Roman"/>
              <a:ea typeface="Times New Roman"/>
              <a:cs typeface="Times New Roman"/>
              <a:sym typeface="Times New Roman"/>
            </a:endParaRPr>
          </a:p>
        </p:txBody>
      </p:sp>
      <p:sp>
        <p:nvSpPr>
          <p:cNvPr id="574" name="Google Shape;574;p4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55</a:t>
            </a:fld>
            <a:endParaRPr/>
          </a:p>
        </p:txBody>
      </p:sp>
      <p:sp>
        <p:nvSpPr>
          <p:cNvPr id="575" name="Google Shape;575;p42"/>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76" name="Google Shape;576;p42"/>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77" name="Google Shape;577;p42"/>
          <p:cNvPicPr preferRelativeResize="0"/>
          <p:nvPr/>
        </p:nvPicPr>
        <p:blipFill>
          <a:blip r:embed="rId3">
            <a:alphaModFix/>
          </a:blip>
          <a:stretch>
            <a:fillRect/>
          </a:stretch>
        </p:blipFill>
        <p:spPr>
          <a:xfrm>
            <a:off x="5732077" y="1632313"/>
            <a:ext cx="2275694" cy="3206387"/>
          </a:xfrm>
          <a:prstGeom prst="rect">
            <a:avLst/>
          </a:prstGeom>
          <a:noFill/>
          <a:ln w="9525" cap="flat" cmpd="sng">
            <a:solidFill>
              <a:schemeClr val="accent1"/>
            </a:solidFill>
            <a:prstDash val="solid"/>
            <a:round/>
            <a:headEnd type="none" w="sm" len="sm"/>
            <a:tailEnd type="none" w="sm" len="sm"/>
          </a:ln>
        </p:spPr>
      </p:pic>
      <p:pic>
        <p:nvPicPr>
          <p:cNvPr id="578" name="Google Shape;578;p42"/>
          <p:cNvPicPr preferRelativeResize="0"/>
          <p:nvPr/>
        </p:nvPicPr>
        <p:blipFill>
          <a:blip r:embed="rId4">
            <a:alphaModFix/>
          </a:blip>
          <a:stretch>
            <a:fillRect/>
          </a:stretch>
        </p:blipFill>
        <p:spPr>
          <a:xfrm>
            <a:off x="1116201" y="1632323"/>
            <a:ext cx="4172601" cy="1266878"/>
          </a:xfrm>
          <a:prstGeom prst="rect">
            <a:avLst/>
          </a:prstGeom>
          <a:noFill/>
          <a:ln w="9525" cap="flat" cmpd="sng">
            <a:solidFill>
              <a:schemeClr val="accent1"/>
            </a:solidFill>
            <a:prstDash val="solid"/>
            <a:round/>
            <a:headEnd type="none" w="sm" len="sm"/>
            <a:tailEnd type="none" w="sm" len="sm"/>
          </a:ln>
        </p:spPr>
      </p:pic>
      <p:pic>
        <p:nvPicPr>
          <p:cNvPr id="579" name="Google Shape;579;p42"/>
          <p:cNvPicPr preferRelativeResize="0"/>
          <p:nvPr/>
        </p:nvPicPr>
        <p:blipFill>
          <a:blip r:embed="rId5">
            <a:alphaModFix/>
          </a:blip>
          <a:stretch>
            <a:fillRect/>
          </a:stretch>
        </p:blipFill>
        <p:spPr>
          <a:xfrm>
            <a:off x="1116200" y="2899200"/>
            <a:ext cx="4172600" cy="193950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43"/>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6.4 France</a:t>
            </a:r>
            <a:endParaRPr dirty="0">
              <a:latin typeface="Times New Roman"/>
              <a:ea typeface="Times New Roman"/>
              <a:cs typeface="Times New Roman"/>
              <a:sym typeface="Times New Roman"/>
            </a:endParaRPr>
          </a:p>
        </p:txBody>
      </p:sp>
      <p:sp>
        <p:nvSpPr>
          <p:cNvPr id="585" name="Google Shape;585;p4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56</a:t>
            </a:fld>
            <a:endParaRPr/>
          </a:p>
        </p:txBody>
      </p:sp>
      <p:sp>
        <p:nvSpPr>
          <p:cNvPr id="586" name="Google Shape;586;p43"/>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87" name="Google Shape;587;p43"/>
          <p:cNvPicPr preferRelativeResize="0"/>
          <p:nvPr/>
        </p:nvPicPr>
        <p:blipFill>
          <a:blip r:embed="rId3">
            <a:alphaModFix/>
          </a:blip>
          <a:stretch>
            <a:fillRect/>
          </a:stretch>
        </p:blipFill>
        <p:spPr>
          <a:xfrm>
            <a:off x="5975451" y="2371289"/>
            <a:ext cx="2860374" cy="685048"/>
          </a:xfrm>
          <a:prstGeom prst="rect">
            <a:avLst/>
          </a:prstGeom>
          <a:noFill/>
          <a:ln w="9525" cap="flat" cmpd="sng">
            <a:solidFill>
              <a:schemeClr val="accent1"/>
            </a:solidFill>
            <a:prstDash val="solid"/>
            <a:round/>
            <a:headEnd type="none" w="sm" len="sm"/>
            <a:tailEnd type="none" w="sm" len="sm"/>
          </a:ln>
        </p:spPr>
      </p:pic>
      <p:pic>
        <p:nvPicPr>
          <p:cNvPr id="588" name="Google Shape;588;p43"/>
          <p:cNvPicPr preferRelativeResize="0"/>
          <p:nvPr/>
        </p:nvPicPr>
        <p:blipFill>
          <a:blip r:embed="rId4">
            <a:alphaModFix/>
          </a:blip>
          <a:stretch>
            <a:fillRect/>
          </a:stretch>
        </p:blipFill>
        <p:spPr>
          <a:xfrm>
            <a:off x="5987420" y="3366250"/>
            <a:ext cx="2860375" cy="756375"/>
          </a:xfrm>
          <a:prstGeom prst="rect">
            <a:avLst/>
          </a:prstGeom>
          <a:noFill/>
          <a:ln w="9525" cap="flat" cmpd="sng">
            <a:solidFill>
              <a:schemeClr val="accent1"/>
            </a:solidFill>
            <a:prstDash val="solid"/>
            <a:round/>
            <a:headEnd type="none" w="sm" len="sm"/>
            <a:tailEnd type="none" w="sm" len="sm"/>
          </a:ln>
        </p:spPr>
      </p:pic>
      <p:pic>
        <p:nvPicPr>
          <p:cNvPr id="589" name="Google Shape;589;p43"/>
          <p:cNvPicPr preferRelativeResize="0"/>
          <p:nvPr/>
        </p:nvPicPr>
        <p:blipFill>
          <a:blip r:embed="rId5">
            <a:alphaModFix/>
          </a:blip>
          <a:stretch>
            <a:fillRect/>
          </a:stretch>
        </p:blipFill>
        <p:spPr>
          <a:xfrm>
            <a:off x="5987425" y="4226177"/>
            <a:ext cx="2860375" cy="586998"/>
          </a:xfrm>
          <a:prstGeom prst="rect">
            <a:avLst/>
          </a:prstGeom>
          <a:noFill/>
          <a:ln w="9525" cap="flat" cmpd="sng">
            <a:solidFill>
              <a:schemeClr val="accent1"/>
            </a:solidFill>
            <a:prstDash val="solid"/>
            <a:round/>
            <a:headEnd type="none" w="sm" len="sm"/>
            <a:tailEnd type="none" w="sm" len="sm"/>
          </a:ln>
        </p:spPr>
      </p:pic>
      <p:pic>
        <p:nvPicPr>
          <p:cNvPr id="590" name="Google Shape;590;p43"/>
          <p:cNvPicPr preferRelativeResize="0"/>
          <p:nvPr/>
        </p:nvPicPr>
        <p:blipFill>
          <a:blip r:embed="rId6">
            <a:alphaModFix/>
          </a:blip>
          <a:stretch>
            <a:fillRect/>
          </a:stretch>
        </p:blipFill>
        <p:spPr>
          <a:xfrm>
            <a:off x="5963484" y="1624175"/>
            <a:ext cx="2884315" cy="685025"/>
          </a:xfrm>
          <a:prstGeom prst="rect">
            <a:avLst/>
          </a:prstGeom>
          <a:noFill/>
          <a:ln w="9525" cap="flat" cmpd="sng">
            <a:solidFill>
              <a:schemeClr val="accent1"/>
            </a:solidFill>
            <a:prstDash val="solid"/>
            <a:round/>
            <a:headEnd type="none" w="sm" len="sm"/>
            <a:tailEnd type="none" w="sm" len="sm"/>
          </a:ln>
        </p:spPr>
      </p:pic>
      <p:pic>
        <p:nvPicPr>
          <p:cNvPr id="591" name="Google Shape;591;p43"/>
          <p:cNvPicPr preferRelativeResize="0"/>
          <p:nvPr/>
        </p:nvPicPr>
        <p:blipFill>
          <a:blip r:embed="rId7">
            <a:alphaModFix/>
          </a:blip>
          <a:stretch>
            <a:fillRect/>
          </a:stretch>
        </p:blipFill>
        <p:spPr>
          <a:xfrm>
            <a:off x="1162375" y="1575425"/>
            <a:ext cx="4405599" cy="1757276"/>
          </a:xfrm>
          <a:prstGeom prst="rect">
            <a:avLst/>
          </a:prstGeom>
          <a:noFill/>
          <a:ln w="9525" cap="flat" cmpd="sng">
            <a:solidFill>
              <a:schemeClr val="accent1"/>
            </a:solidFill>
            <a:prstDash val="solid"/>
            <a:round/>
            <a:headEnd type="none" w="sm" len="sm"/>
            <a:tailEnd type="none" w="sm" len="sm"/>
          </a:ln>
        </p:spPr>
      </p:pic>
      <p:pic>
        <p:nvPicPr>
          <p:cNvPr id="592" name="Google Shape;592;p43"/>
          <p:cNvPicPr preferRelativeResize="0"/>
          <p:nvPr/>
        </p:nvPicPr>
        <p:blipFill>
          <a:blip r:embed="rId8">
            <a:alphaModFix/>
          </a:blip>
          <a:stretch>
            <a:fillRect/>
          </a:stretch>
        </p:blipFill>
        <p:spPr>
          <a:xfrm>
            <a:off x="1162375" y="3332690"/>
            <a:ext cx="4405601" cy="1522986"/>
          </a:xfrm>
          <a:prstGeom prst="rect">
            <a:avLst/>
          </a:prstGeom>
          <a:noFill/>
          <a:ln w="9525" cap="flat" cmpd="sng">
            <a:solidFill>
              <a:schemeClr val="accent1"/>
            </a:solidFill>
            <a:prstDash val="solid"/>
            <a:round/>
            <a:headEnd type="none" w="sm" len="sm"/>
            <a:tailEnd type="none" w="sm" len="sm"/>
          </a:ln>
        </p:spPr>
      </p:pic>
      <p:sp>
        <p:nvSpPr>
          <p:cNvPr id="593" name="Google Shape;593;p43"/>
          <p:cNvSpPr txBox="1"/>
          <p:nvPr/>
        </p:nvSpPr>
        <p:spPr>
          <a:xfrm>
            <a:off x="4436050" y="331683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SOI=14.2%</a:t>
            </a:r>
            <a:endParaRPr sz="1000" b="1">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4"/>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6.5 Germany </a:t>
            </a:r>
            <a:endParaRPr dirty="0">
              <a:latin typeface="Times New Roman"/>
              <a:ea typeface="Times New Roman"/>
              <a:cs typeface="Times New Roman"/>
              <a:sym typeface="Times New Roman"/>
            </a:endParaRPr>
          </a:p>
        </p:txBody>
      </p:sp>
      <p:sp>
        <p:nvSpPr>
          <p:cNvPr id="599" name="Google Shape;599;p4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57</a:t>
            </a:fld>
            <a:endParaRPr/>
          </a:p>
        </p:txBody>
      </p:sp>
      <p:sp>
        <p:nvSpPr>
          <p:cNvPr id="600" name="Google Shape;600;p44"/>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01" name="Google Shape;601;p44"/>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02" name="Google Shape;602;p44"/>
          <p:cNvPicPr preferRelativeResize="0"/>
          <p:nvPr/>
        </p:nvPicPr>
        <p:blipFill>
          <a:blip r:embed="rId3">
            <a:alphaModFix/>
          </a:blip>
          <a:stretch>
            <a:fillRect/>
          </a:stretch>
        </p:blipFill>
        <p:spPr>
          <a:xfrm>
            <a:off x="1080500" y="1614275"/>
            <a:ext cx="4208302" cy="1284926"/>
          </a:xfrm>
          <a:prstGeom prst="rect">
            <a:avLst/>
          </a:prstGeom>
          <a:noFill/>
          <a:ln w="9525" cap="flat" cmpd="sng">
            <a:solidFill>
              <a:schemeClr val="accent1"/>
            </a:solidFill>
            <a:prstDash val="solid"/>
            <a:round/>
            <a:headEnd type="none" w="sm" len="sm"/>
            <a:tailEnd type="none" w="sm" len="sm"/>
          </a:ln>
        </p:spPr>
      </p:pic>
      <p:pic>
        <p:nvPicPr>
          <p:cNvPr id="603" name="Google Shape;603;p44"/>
          <p:cNvPicPr preferRelativeResize="0"/>
          <p:nvPr/>
        </p:nvPicPr>
        <p:blipFill>
          <a:blip r:embed="rId4">
            <a:alphaModFix/>
          </a:blip>
          <a:stretch>
            <a:fillRect/>
          </a:stretch>
        </p:blipFill>
        <p:spPr>
          <a:xfrm>
            <a:off x="1080500" y="2899200"/>
            <a:ext cx="4208300" cy="2108350"/>
          </a:xfrm>
          <a:prstGeom prst="rect">
            <a:avLst/>
          </a:prstGeom>
          <a:noFill/>
          <a:ln w="9525" cap="flat" cmpd="sng">
            <a:solidFill>
              <a:schemeClr val="accent1"/>
            </a:solidFill>
            <a:prstDash val="solid"/>
            <a:round/>
            <a:headEnd type="none" w="sm" len="sm"/>
            <a:tailEnd type="none" w="sm" len="sm"/>
          </a:ln>
        </p:spPr>
      </p:pic>
      <p:pic>
        <p:nvPicPr>
          <p:cNvPr id="604" name="Google Shape;604;p44"/>
          <p:cNvPicPr preferRelativeResize="0"/>
          <p:nvPr/>
        </p:nvPicPr>
        <p:blipFill>
          <a:blip r:embed="rId5">
            <a:alphaModFix/>
          </a:blip>
          <a:stretch>
            <a:fillRect/>
          </a:stretch>
        </p:blipFill>
        <p:spPr>
          <a:xfrm>
            <a:off x="5723925" y="1632326"/>
            <a:ext cx="2631462" cy="329086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5"/>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6.5 Germany</a:t>
            </a:r>
            <a:endParaRPr dirty="0">
              <a:latin typeface="Times New Roman"/>
              <a:ea typeface="Times New Roman"/>
              <a:cs typeface="Times New Roman"/>
              <a:sym typeface="Times New Roman"/>
            </a:endParaRPr>
          </a:p>
        </p:txBody>
      </p:sp>
      <p:sp>
        <p:nvSpPr>
          <p:cNvPr id="610" name="Google Shape;610;p4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58</a:t>
            </a:fld>
            <a:endParaRPr/>
          </a:p>
        </p:txBody>
      </p:sp>
      <p:sp>
        <p:nvSpPr>
          <p:cNvPr id="611" name="Google Shape;611;p45"/>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12" name="Google Shape;612;p45"/>
          <p:cNvPicPr preferRelativeResize="0"/>
          <p:nvPr/>
        </p:nvPicPr>
        <p:blipFill>
          <a:blip r:embed="rId3">
            <a:alphaModFix/>
          </a:blip>
          <a:stretch>
            <a:fillRect/>
          </a:stretch>
        </p:blipFill>
        <p:spPr>
          <a:xfrm>
            <a:off x="1162375" y="3263974"/>
            <a:ext cx="4405601" cy="1529527"/>
          </a:xfrm>
          <a:prstGeom prst="rect">
            <a:avLst/>
          </a:prstGeom>
          <a:noFill/>
          <a:ln w="9525" cap="flat" cmpd="sng">
            <a:solidFill>
              <a:schemeClr val="accent1"/>
            </a:solidFill>
            <a:prstDash val="solid"/>
            <a:round/>
            <a:headEnd type="none" w="sm" len="sm"/>
            <a:tailEnd type="none" w="sm" len="sm"/>
          </a:ln>
        </p:spPr>
      </p:pic>
      <p:sp>
        <p:nvSpPr>
          <p:cNvPr id="613" name="Google Shape;613;p45"/>
          <p:cNvSpPr txBox="1"/>
          <p:nvPr/>
        </p:nvSpPr>
        <p:spPr>
          <a:xfrm>
            <a:off x="4083150" y="33168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SOI=19.4%</a:t>
            </a:r>
            <a:endParaRPr sz="1000" b="1">
              <a:latin typeface="Times New Roman"/>
              <a:ea typeface="Times New Roman"/>
              <a:cs typeface="Times New Roman"/>
              <a:sym typeface="Times New Roman"/>
            </a:endParaRPr>
          </a:p>
        </p:txBody>
      </p:sp>
      <p:pic>
        <p:nvPicPr>
          <p:cNvPr id="614" name="Google Shape;614;p45"/>
          <p:cNvPicPr preferRelativeResize="0"/>
          <p:nvPr/>
        </p:nvPicPr>
        <p:blipFill>
          <a:blip r:embed="rId4">
            <a:alphaModFix/>
          </a:blip>
          <a:stretch>
            <a:fillRect/>
          </a:stretch>
        </p:blipFill>
        <p:spPr>
          <a:xfrm>
            <a:off x="5987425" y="1500190"/>
            <a:ext cx="2860375" cy="713585"/>
          </a:xfrm>
          <a:prstGeom prst="rect">
            <a:avLst/>
          </a:prstGeom>
          <a:noFill/>
          <a:ln w="9525" cap="flat" cmpd="sng">
            <a:solidFill>
              <a:schemeClr val="accent1"/>
            </a:solidFill>
            <a:prstDash val="solid"/>
            <a:round/>
            <a:headEnd type="none" w="sm" len="sm"/>
            <a:tailEnd type="none" w="sm" len="sm"/>
          </a:ln>
        </p:spPr>
      </p:pic>
      <p:pic>
        <p:nvPicPr>
          <p:cNvPr id="615" name="Google Shape;615;p45"/>
          <p:cNvPicPr preferRelativeResize="0"/>
          <p:nvPr/>
        </p:nvPicPr>
        <p:blipFill>
          <a:blip r:embed="rId5">
            <a:alphaModFix/>
          </a:blip>
          <a:stretch>
            <a:fillRect/>
          </a:stretch>
        </p:blipFill>
        <p:spPr>
          <a:xfrm>
            <a:off x="5987425" y="2294333"/>
            <a:ext cx="2860375" cy="689392"/>
          </a:xfrm>
          <a:prstGeom prst="rect">
            <a:avLst/>
          </a:prstGeom>
          <a:noFill/>
          <a:ln w="9525" cap="flat" cmpd="sng">
            <a:solidFill>
              <a:schemeClr val="accent1"/>
            </a:solidFill>
            <a:prstDash val="solid"/>
            <a:round/>
            <a:headEnd type="none" w="sm" len="sm"/>
            <a:tailEnd type="none" w="sm" len="sm"/>
          </a:ln>
        </p:spPr>
      </p:pic>
      <p:pic>
        <p:nvPicPr>
          <p:cNvPr id="616" name="Google Shape;616;p45"/>
          <p:cNvPicPr preferRelativeResize="0"/>
          <p:nvPr/>
        </p:nvPicPr>
        <p:blipFill>
          <a:blip r:embed="rId6">
            <a:alphaModFix/>
          </a:blip>
          <a:stretch>
            <a:fillRect/>
          </a:stretch>
        </p:blipFill>
        <p:spPr>
          <a:xfrm>
            <a:off x="5969125" y="3332712"/>
            <a:ext cx="2896987" cy="713575"/>
          </a:xfrm>
          <a:prstGeom prst="rect">
            <a:avLst/>
          </a:prstGeom>
          <a:noFill/>
          <a:ln w="9525" cap="flat" cmpd="sng">
            <a:solidFill>
              <a:schemeClr val="accent1"/>
            </a:solidFill>
            <a:prstDash val="solid"/>
            <a:round/>
            <a:headEnd type="none" w="sm" len="sm"/>
            <a:tailEnd type="none" w="sm" len="sm"/>
          </a:ln>
        </p:spPr>
      </p:pic>
      <p:pic>
        <p:nvPicPr>
          <p:cNvPr id="617" name="Google Shape;617;p45"/>
          <p:cNvPicPr preferRelativeResize="0"/>
          <p:nvPr/>
        </p:nvPicPr>
        <p:blipFill>
          <a:blip r:embed="rId7">
            <a:alphaModFix/>
          </a:blip>
          <a:stretch>
            <a:fillRect/>
          </a:stretch>
        </p:blipFill>
        <p:spPr>
          <a:xfrm>
            <a:off x="1162375" y="1512566"/>
            <a:ext cx="4405599" cy="1751411"/>
          </a:xfrm>
          <a:prstGeom prst="rect">
            <a:avLst/>
          </a:prstGeom>
          <a:noFill/>
          <a:ln w="9525" cap="flat" cmpd="sng">
            <a:solidFill>
              <a:schemeClr val="accent1"/>
            </a:solidFill>
            <a:prstDash val="solid"/>
            <a:round/>
            <a:headEnd type="none" w="sm" len="sm"/>
            <a:tailEnd type="none" w="sm" len="sm"/>
          </a:ln>
        </p:spPr>
      </p:pic>
      <p:pic>
        <p:nvPicPr>
          <p:cNvPr id="618" name="Google Shape;618;p45"/>
          <p:cNvPicPr preferRelativeResize="0"/>
          <p:nvPr/>
        </p:nvPicPr>
        <p:blipFill>
          <a:blip r:embed="rId8">
            <a:alphaModFix/>
          </a:blip>
          <a:stretch>
            <a:fillRect/>
          </a:stretch>
        </p:blipFill>
        <p:spPr>
          <a:xfrm>
            <a:off x="5950825" y="4100002"/>
            <a:ext cx="2896975" cy="560498"/>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46"/>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6.6 Japan </a:t>
            </a:r>
            <a:endParaRPr dirty="0">
              <a:latin typeface="Times New Roman"/>
              <a:ea typeface="Times New Roman"/>
              <a:cs typeface="Times New Roman"/>
              <a:sym typeface="Times New Roman"/>
            </a:endParaRPr>
          </a:p>
        </p:txBody>
      </p:sp>
      <p:sp>
        <p:nvSpPr>
          <p:cNvPr id="624" name="Google Shape;624;p4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59</a:t>
            </a:fld>
            <a:endParaRPr/>
          </a:p>
        </p:txBody>
      </p:sp>
      <p:sp>
        <p:nvSpPr>
          <p:cNvPr id="625" name="Google Shape;625;p46"/>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26" name="Google Shape;626;p46"/>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27" name="Google Shape;627;p46"/>
          <p:cNvPicPr preferRelativeResize="0"/>
          <p:nvPr/>
        </p:nvPicPr>
        <p:blipFill>
          <a:blip r:embed="rId3">
            <a:alphaModFix/>
          </a:blip>
          <a:stretch>
            <a:fillRect/>
          </a:stretch>
        </p:blipFill>
        <p:spPr>
          <a:xfrm>
            <a:off x="1080497" y="1632328"/>
            <a:ext cx="4208302" cy="1277723"/>
          </a:xfrm>
          <a:prstGeom prst="rect">
            <a:avLst/>
          </a:prstGeom>
          <a:noFill/>
          <a:ln w="9525" cap="flat" cmpd="sng">
            <a:solidFill>
              <a:schemeClr val="accent1"/>
            </a:solidFill>
            <a:prstDash val="solid"/>
            <a:round/>
            <a:headEnd type="none" w="sm" len="sm"/>
            <a:tailEnd type="none" w="sm" len="sm"/>
          </a:ln>
        </p:spPr>
      </p:pic>
      <p:pic>
        <p:nvPicPr>
          <p:cNvPr id="628" name="Google Shape;628;p46"/>
          <p:cNvPicPr preferRelativeResize="0"/>
          <p:nvPr/>
        </p:nvPicPr>
        <p:blipFill>
          <a:blip r:embed="rId4">
            <a:alphaModFix/>
          </a:blip>
          <a:stretch>
            <a:fillRect/>
          </a:stretch>
        </p:blipFill>
        <p:spPr>
          <a:xfrm>
            <a:off x="1080500" y="2864772"/>
            <a:ext cx="4208301" cy="2157352"/>
          </a:xfrm>
          <a:prstGeom prst="rect">
            <a:avLst/>
          </a:prstGeom>
          <a:noFill/>
          <a:ln w="9525" cap="flat" cmpd="sng">
            <a:solidFill>
              <a:schemeClr val="accent1"/>
            </a:solidFill>
            <a:prstDash val="solid"/>
            <a:round/>
            <a:headEnd type="none" w="sm" len="sm"/>
            <a:tailEnd type="none" w="sm" len="sm"/>
          </a:ln>
        </p:spPr>
      </p:pic>
      <p:pic>
        <p:nvPicPr>
          <p:cNvPr id="629" name="Google Shape;629;p46"/>
          <p:cNvPicPr preferRelativeResize="0"/>
          <p:nvPr/>
        </p:nvPicPr>
        <p:blipFill>
          <a:blip r:embed="rId5">
            <a:alphaModFix/>
          </a:blip>
          <a:stretch>
            <a:fillRect/>
          </a:stretch>
        </p:blipFill>
        <p:spPr>
          <a:xfrm>
            <a:off x="5821100" y="1632325"/>
            <a:ext cx="2383450" cy="331445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47"/>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6.6 Japan</a:t>
            </a:r>
            <a:endParaRPr dirty="0">
              <a:latin typeface="Times New Roman"/>
              <a:ea typeface="Times New Roman"/>
              <a:cs typeface="Times New Roman"/>
              <a:sym typeface="Times New Roman"/>
            </a:endParaRPr>
          </a:p>
        </p:txBody>
      </p:sp>
      <p:sp>
        <p:nvSpPr>
          <p:cNvPr id="635" name="Google Shape;635;p4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60</a:t>
            </a:fld>
            <a:endParaRPr/>
          </a:p>
        </p:txBody>
      </p:sp>
      <p:sp>
        <p:nvSpPr>
          <p:cNvPr id="636" name="Google Shape;636;p47"/>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37" name="Google Shape;637;p47"/>
          <p:cNvPicPr preferRelativeResize="0"/>
          <p:nvPr/>
        </p:nvPicPr>
        <p:blipFill>
          <a:blip r:embed="rId3">
            <a:alphaModFix/>
          </a:blip>
          <a:stretch>
            <a:fillRect/>
          </a:stretch>
        </p:blipFill>
        <p:spPr>
          <a:xfrm>
            <a:off x="1162375" y="3263972"/>
            <a:ext cx="4405601" cy="1549129"/>
          </a:xfrm>
          <a:prstGeom prst="rect">
            <a:avLst/>
          </a:prstGeom>
          <a:noFill/>
          <a:ln w="9525" cap="flat" cmpd="sng">
            <a:solidFill>
              <a:schemeClr val="accent1"/>
            </a:solidFill>
            <a:prstDash val="solid"/>
            <a:round/>
            <a:headEnd type="none" w="sm" len="sm"/>
            <a:tailEnd type="none" w="sm" len="sm"/>
          </a:ln>
        </p:spPr>
      </p:pic>
      <p:sp>
        <p:nvSpPr>
          <p:cNvPr id="638" name="Google Shape;638;p47"/>
          <p:cNvSpPr txBox="1"/>
          <p:nvPr/>
        </p:nvSpPr>
        <p:spPr>
          <a:xfrm>
            <a:off x="4326375" y="326397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SOI=58.3%</a:t>
            </a:r>
            <a:endParaRPr sz="1000" b="1">
              <a:latin typeface="Times New Roman"/>
              <a:ea typeface="Times New Roman"/>
              <a:cs typeface="Times New Roman"/>
              <a:sym typeface="Times New Roman"/>
            </a:endParaRPr>
          </a:p>
        </p:txBody>
      </p:sp>
      <p:pic>
        <p:nvPicPr>
          <p:cNvPr id="639" name="Google Shape;639;p47"/>
          <p:cNvPicPr preferRelativeResize="0"/>
          <p:nvPr/>
        </p:nvPicPr>
        <p:blipFill>
          <a:blip r:embed="rId4">
            <a:alphaModFix/>
          </a:blip>
          <a:stretch>
            <a:fillRect/>
          </a:stretch>
        </p:blipFill>
        <p:spPr>
          <a:xfrm>
            <a:off x="5751500" y="2089692"/>
            <a:ext cx="3173725" cy="764958"/>
          </a:xfrm>
          <a:prstGeom prst="rect">
            <a:avLst/>
          </a:prstGeom>
          <a:noFill/>
          <a:ln w="9525" cap="flat" cmpd="sng">
            <a:solidFill>
              <a:schemeClr val="accent1"/>
            </a:solidFill>
            <a:prstDash val="solid"/>
            <a:round/>
            <a:headEnd type="none" w="sm" len="sm"/>
            <a:tailEnd type="none" w="sm" len="sm"/>
          </a:ln>
        </p:spPr>
      </p:pic>
      <p:pic>
        <p:nvPicPr>
          <p:cNvPr id="640" name="Google Shape;640;p47"/>
          <p:cNvPicPr preferRelativeResize="0"/>
          <p:nvPr/>
        </p:nvPicPr>
        <p:blipFill>
          <a:blip r:embed="rId5">
            <a:alphaModFix/>
          </a:blip>
          <a:stretch>
            <a:fillRect/>
          </a:stretch>
        </p:blipFill>
        <p:spPr>
          <a:xfrm>
            <a:off x="5751499" y="3263975"/>
            <a:ext cx="3173725" cy="791750"/>
          </a:xfrm>
          <a:prstGeom prst="rect">
            <a:avLst/>
          </a:prstGeom>
          <a:noFill/>
          <a:ln w="9525" cap="flat" cmpd="sng">
            <a:solidFill>
              <a:schemeClr val="accent1"/>
            </a:solidFill>
            <a:prstDash val="solid"/>
            <a:round/>
            <a:headEnd type="none" w="sm" len="sm"/>
            <a:tailEnd type="none" w="sm" len="sm"/>
          </a:ln>
        </p:spPr>
      </p:pic>
      <p:pic>
        <p:nvPicPr>
          <p:cNvPr id="641" name="Google Shape;641;p47"/>
          <p:cNvPicPr preferRelativeResize="0"/>
          <p:nvPr/>
        </p:nvPicPr>
        <p:blipFill>
          <a:blip r:embed="rId6">
            <a:alphaModFix/>
          </a:blip>
          <a:stretch>
            <a:fillRect/>
          </a:stretch>
        </p:blipFill>
        <p:spPr>
          <a:xfrm>
            <a:off x="1162375" y="1507541"/>
            <a:ext cx="4405601" cy="1756422"/>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6.7 Malaysia </a:t>
            </a:r>
            <a:endParaRPr dirty="0">
              <a:latin typeface="Times New Roman"/>
              <a:ea typeface="Times New Roman"/>
              <a:cs typeface="Times New Roman"/>
              <a:sym typeface="Times New Roman"/>
            </a:endParaRPr>
          </a:p>
        </p:txBody>
      </p:sp>
      <p:sp>
        <p:nvSpPr>
          <p:cNvPr id="647" name="Google Shape;647;p4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61</a:t>
            </a:fld>
            <a:endParaRPr/>
          </a:p>
        </p:txBody>
      </p:sp>
      <p:sp>
        <p:nvSpPr>
          <p:cNvPr id="648" name="Google Shape;648;p48"/>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49" name="Google Shape;649;p4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50" name="Google Shape;650;p48"/>
          <p:cNvPicPr preferRelativeResize="0"/>
          <p:nvPr/>
        </p:nvPicPr>
        <p:blipFill>
          <a:blip r:embed="rId3">
            <a:alphaModFix/>
          </a:blip>
          <a:stretch>
            <a:fillRect/>
          </a:stretch>
        </p:blipFill>
        <p:spPr>
          <a:xfrm>
            <a:off x="1080500" y="1632333"/>
            <a:ext cx="4208303" cy="1229216"/>
          </a:xfrm>
          <a:prstGeom prst="rect">
            <a:avLst/>
          </a:prstGeom>
          <a:noFill/>
          <a:ln w="9525" cap="flat" cmpd="sng">
            <a:solidFill>
              <a:schemeClr val="accent1"/>
            </a:solidFill>
            <a:prstDash val="solid"/>
            <a:round/>
            <a:headEnd type="none" w="sm" len="sm"/>
            <a:tailEnd type="none" w="sm" len="sm"/>
          </a:ln>
        </p:spPr>
      </p:pic>
      <p:pic>
        <p:nvPicPr>
          <p:cNvPr id="651" name="Google Shape;651;p48"/>
          <p:cNvPicPr preferRelativeResize="0"/>
          <p:nvPr/>
        </p:nvPicPr>
        <p:blipFill>
          <a:blip r:embed="rId4">
            <a:alphaModFix/>
          </a:blip>
          <a:stretch>
            <a:fillRect/>
          </a:stretch>
        </p:blipFill>
        <p:spPr>
          <a:xfrm>
            <a:off x="1080500" y="2861550"/>
            <a:ext cx="4208300" cy="2260744"/>
          </a:xfrm>
          <a:prstGeom prst="rect">
            <a:avLst/>
          </a:prstGeom>
          <a:noFill/>
          <a:ln w="9525" cap="flat" cmpd="sng">
            <a:solidFill>
              <a:schemeClr val="accent1"/>
            </a:solidFill>
            <a:prstDash val="solid"/>
            <a:round/>
            <a:headEnd type="none" w="sm" len="sm"/>
            <a:tailEnd type="none" w="sm" len="sm"/>
          </a:ln>
        </p:spPr>
      </p:pic>
      <p:pic>
        <p:nvPicPr>
          <p:cNvPr id="652" name="Google Shape;652;p48"/>
          <p:cNvPicPr preferRelativeResize="0"/>
          <p:nvPr/>
        </p:nvPicPr>
        <p:blipFill>
          <a:blip r:embed="rId5">
            <a:alphaModFix/>
          </a:blip>
          <a:stretch>
            <a:fillRect/>
          </a:stretch>
        </p:blipFill>
        <p:spPr>
          <a:xfrm>
            <a:off x="5876403" y="1632313"/>
            <a:ext cx="2305716" cy="32063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49"/>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6.7 Malaysia</a:t>
            </a:r>
            <a:endParaRPr dirty="0">
              <a:latin typeface="Times New Roman"/>
              <a:ea typeface="Times New Roman"/>
              <a:cs typeface="Times New Roman"/>
              <a:sym typeface="Times New Roman"/>
            </a:endParaRPr>
          </a:p>
        </p:txBody>
      </p:sp>
      <p:sp>
        <p:nvSpPr>
          <p:cNvPr id="658" name="Google Shape;658;p4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62</a:t>
            </a:fld>
            <a:endParaRPr/>
          </a:p>
        </p:txBody>
      </p:sp>
      <p:sp>
        <p:nvSpPr>
          <p:cNvPr id="659" name="Google Shape;659;p49"/>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60" name="Google Shape;660;p49"/>
          <p:cNvPicPr preferRelativeResize="0"/>
          <p:nvPr/>
        </p:nvPicPr>
        <p:blipFill>
          <a:blip r:embed="rId3">
            <a:alphaModFix/>
          </a:blip>
          <a:stretch>
            <a:fillRect/>
          </a:stretch>
        </p:blipFill>
        <p:spPr>
          <a:xfrm>
            <a:off x="1157950" y="3215059"/>
            <a:ext cx="4251376" cy="1461242"/>
          </a:xfrm>
          <a:prstGeom prst="rect">
            <a:avLst/>
          </a:prstGeom>
          <a:noFill/>
          <a:ln w="9525" cap="flat" cmpd="sng">
            <a:solidFill>
              <a:schemeClr val="accent1"/>
            </a:solidFill>
            <a:prstDash val="solid"/>
            <a:round/>
            <a:headEnd type="none" w="sm" len="sm"/>
            <a:tailEnd type="none" w="sm" len="sm"/>
          </a:ln>
        </p:spPr>
      </p:pic>
      <p:sp>
        <p:nvSpPr>
          <p:cNvPr id="661" name="Google Shape;661;p49"/>
          <p:cNvSpPr txBox="1"/>
          <p:nvPr/>
        </p:nvSpPr>
        <p:spPr>
          <a:xfrm>
            <a:off x="4431625" y="323057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SOI=10.2%</a:t>
            </a:r>
            <a:endParaRPr sz="1000" b="1">
              <a:latin typeface="Times New Roman"/>
              <a:ea typeface="Times New Roman"/>
              <a:cs typeface="Times New Roman"/>
              <a:sym typeface="Times New Roman"/>
            </a:endParaRPr>
          </a:p>
        </p:txBody>
      </p:sp>
      <p:pic>
        <p:nvPicPr>
          <p:cNvPr id="662" name="Google Shape;662;p49"/>
          <p:cNvPicPr preferRelativeResize="0"/>
          <p:nvPr/>
        </p:nvPicPr>
        <p:blipFill>
          <a:blip r:embed="rId4">
            <a:alphaModFix/>
          </a:blip>
          <a:stretch>
            <a:fillRect/>
          </a:stretch>
        </p:blipFill>
        <p:spPr>
          <a:xfrm>
            <a:off x="5969125" y="1558450"/>
            <a:ext cx="3030624" cy="479175"/>
          </a:xfrm>
          <a:prstGeom prst="rect">
            <a:avLst/>
          </a:prstGeom>
          <a:noFill/>
          <a:ln w="9525" cap="flat" cmpd="sng">
            <a:solidFill>
              <a:schemeClr val="accent1"/>
            </a:solidFill>
            <a:prstDash val="solid"/>
            <a:round/>
            <a:headEnd type="none" w="sm" len="sm"/>
            <a:tailEnd type="none" w="sm" len="sm"/>
          </a:ln>
        </p:spPr>
      </p:pic>
      <p:pic>
        <p:nvPicPr>
          <p:cNvPr id="663" name="Google Shape;663;p49"/>
          <p:cNvPicPr preferRelativeResize="0"/>
          <p:nvPr/>
        </p:nvPicPr>
        <p:blipFill>
          <a:blip r:embed="rId5">
            <a:alphaModFix/>
          </a:blip>
          <a:stretch>
            <a:fillRect/>
          </a:stretch>
        </p:blipFill>
        <p:spPr>
          <a:xfrm>
            <a:off x="5969125" y="2321593"/>
            <a:ext cx="3030624" cy="479182"/>
          </a:xfrm>
          <a:prstGeom prst="rect">
            <a:avLst/>
          </a:prstGeom>
          <a:noFill/>
          <a:ln w="9525" cap="flat" cmpd="sng">
            <a:solidFill>
              <a:schemeClr val="accent1"/>
            </a:solidFill>
            <a:prstDash val="solid"/>
            <a:round/>
            <a:headEnd type="none" w="sm" len="sm"/>
            <a:tailEnd type="none" w="sm" len="sm"/>
          </a:ln>
        </p:spPr>
      </p:pic>
      <p:pic>
        <p:nvPicPr>
          <p:cNvPr id="664" name="Google Shape;664;p49"/>
          <p:cNvPicPr preferRelativeResize="0"/>
          <p:nvPr/>
        </p:nvPicPr>
        <p:blipFill>
          <a:blip r:embed="rId6">
            <a:alphaModFix/>
          </a:blip>
          <a:stretch>
            <a:fillRect/>
          </a:stretch>
        </p:blipFill>
        <p:spPr>
          <a:xfrm>
            <a:off x="5969125" y="3147712"/>
            <a:ext cx="3030626" cy="479175"/>
          </a:xfrm>
          <a:prstGeom prst="rect">
            <a:avLst/>
          </a:prstGeom>
          <a:noFill/>
          <a:ln w="9525" cap="flat" cmpd="sng">
            <a:solidFill>
              <a:schemeClr val="accent1"/>
            </a:solidFill>
            <a:prstDash val="solid"/>
            <a:round/>
            <a:headEnd type="none" w="sm" len="sm"/>
            <a:tailEnd type="none" w="sm" len="sm"/>
          </a:ln>
        </p:spPr>
      </p:pic>
      <p:pic>
        <p:nvPicPr>
          <p:cNvPr id="665" name="Google Shape;665;p49"/>
          <p:cNvPicPr preferRelativeResize="0"/>
          <p:nvPr/>
        </p:nvPicPr>
        <p:blipFill>
          <a:blip r:embed="rId7">
            <a:alphaModFix/>
          </a:blip>
          <a:stretch>
            <a:fillRect/>
          </a:stretch>
        </p:blipFill>
        <p:spPr>
          <a:xfrm>
            <a:off x="1157950" y="1558457"/>
            <a:ext cx="4251376" cy="1656593"/>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0"/>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6.8 Mexico </a:t>
            </a:r>
            <a:endParaRPr dirty="0">
              <a:latin typeface="Times New Roman"/>
              <a:ea typeface="Times New Roman"/>
              <a:cs typeface="Times New Roman"/>
              <a:sym typeface="Times New Roman"/>
            </a:endParaRPr>
          </a:p>
        </p:txBody>
      </p:sp>
      <p:sp>
        <p:nvSpPr>
          <p:cNvPr id="671" name="Google Shape;671;p5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63</a:t>
            </a:fld>
            <a:endParaRPr/>
          </a:p>
        </p:txBody>
      </p:sp>
      <p:sp>
        <p:nvSpPr>
          <p:cNvPr id="672" name="Google Shape;672;p50"/>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73" name="Google Shape;673;p50"/>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74" name="Google Shape;674;p50"/>
          <p:cNvPicPr preferRelativeResize="0"/>
          <p:nvPr/>
        </p:nvPicPr>
        <p:blipFill>
          <a:blip r:embed="rId3">
            <a:alphaModFix/>
          </a:blip>
          <a:stretch>
            <a:fillRect/>
          </a:stretch>
        </p:blipFill>
        <p:spPr>
          <a:xfrm>
            <a:off x="1080503" y="1549866"/>
            <a:ext cx="4208300" cy="1275721"/>
          </a:xfrm>
          <a:prstGeom prst="rect">
            <a:avLst/>
          </a:prstGeom>
          <a:noFill/>
          <a:ln w="9525" cap="flat" cmpd="sng">
            <a:solidFill>
              <a:schemeClr val="accent1"/>
            </a:solidFill>
            <a:prstDash val="solid"/>
            <a:round/>
            <a:headEnd type="none" w="sm" len="sm"/>
            <a:tailEnd type="none" w="sm" len="sm"/>
          </a:ln>
        </p:spPr>
      </p:pic>
      <p:sp>
        <p:nvSpPr>
          <p:cNvPr id="675" name="Google Shape;675;p50"/>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676" name="Google Shape;676;p50"/>
          <p:cNvPicPr preferRelativeResize="0"/>
          <p:nvPr/>
        </p:nvPicPr>
        <p:blipFill>
          <a:blip r:embed="rId4">
            <a:alphaModFix/>
          </a:blip>
          <a:stretch>
            <a:fillRect/>
          </a:stretch>
        </p:blipFill>
        <p:spPr>
          <a:xfrm>
            <a:off x="1080500" y="2835407"/>
            <a:ext cx="4208299" cy="2177742"/>
          </a:xfrm>
          <a:prstGeom prst="rect">
            <a:avLst/>
          </a:prstGeom>
          <a:noFill/>
          <a:ln w="9525" cap="flat" cmpd="sng">
            <a:solidFill>
              <a:schemeClr val="accent1"/>
            </a:solidFill>
            <a:prstDash val="solid"/>
            <a:round/>
            <a:headEnd type="none" w="sm" len="sm"/>
            <a:tailEnd type="none" w="sm" len="sm"/>
          </a:ln>
        </p:spPr>
      </p:pic>
      <p:pic>
        <p:nvPicPr>
          <p:cNvPr id="677" name="Google Shape;677;p50"/>
          <p:cNvPicPr preferRelativeResize="0"/>
          <p:nvPr/>
        </p:nvPicPr>
        <p:blipFill>
          <a:blip r:embed="rId5">
            <a:alphaModFix/>
          </a:blip>
          <a:stretch>
            <a:fillRect/>
          </a:stretch>
        </p:blipFill>
        <p:spPr>
          <a:xfrm>
            <a:off x="5817553" y="1632313"/>
            <a:ext cx="2269690" cy="32063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51"/>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6.8 Mexico</a:t>
            </a:r>
            <a:endParaRPr dirty="0">
              <a:latin typeface="Times New Roman"/>
              <a:ea typeface="Times New Roman"/>
              <a:cs typeface="Times New Roman"/>
              <a:sym typeface="Times New Roman"/>
            </a:endParaRPr>
          </a:p>
        </p:txBody>
      </p:sp>
      <p:sp>
        <p:nvSpPr>
          <p:cNvPr id="683" name="Google Shape;683;p5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64</a:t>
            </a:fld>
            <a:endParaRPr/>
          </a:p>
        </p:txBody>
      </p:sp>
      <p:sp>
        <p:nvSpPr>
          <p:cNvPr id="684" name="Google Shape;684;p51"/>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85" name="Google Shape;685;p51"/>
          <p:cNvPicPr preferRelativeResize="0"/>
          <p:nvPr/>
        </p:nvPicPr>
        <p:blipFill>
          <a:blip r:embed="rId3">
            <a:alphaModFix/>
          </a:blip>
          <a:stretch>
            <a:fillRect/>
          </a:stretch>
        </p:blipFill>
        <p:spPr>
          <a:xfrm>
            <a:off x="1149119" y="3220850"/>
            <a:ext cx="4393307" cy="1514250"/>
          </a:xfrm>
          <a:prstGeom prst="rect">
            <a:avLst/>
          </a:prstGeom>
          <a:noFill/>
          <a:ln w="9525" cap="flat" cmpd="sng">
            <a:solidFill>
              <a:schemeClr val="accent1"/>
            </a:solidFill>
            <a:prstDash val="solid"/>
            <a:round/>
            <a:headEnd type="none" w="sm" len="sm"/>
            <a:tailEnd type="none" w="sm" len="sm"/>
          </a:ln>
        </p:spPr>
      </p:pic>
      <p:sp>
        <p:nvSpPr>
          <p:cNvPr id="686" name="Google Shape;686;p51"/>
          <p:cNvSpPr txBox="1"/>
          <p:nvPr/>
        </p:nvSpPr>
        <p:spPr>
          <a:xfrm>
            <a:off x="4405150" y="31808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SOI=68.3%</a:t>
            </a:r>
            <a:endParaRPr sz="1000" b="1">
              <a:latin typeface="Times New Roman"/>
              <a:ea typeface="Times New Roman"/>
              <a:cs typeface="Times New Roman"/>
              <a:sym typeface="Times New Roman"/>
            </a:endParaRPr>
          </a:p>
        </p:txBody>
      </p:sp>
      <p:pic>
        <p:nvPicPr>
          <p:cNvPr id="687" name="Google Shape;687;p51"/>
          <p:cNvPicPr preferRelativeResize="0"/>
          <p:nvPr/>
        </p:nvPicPr>
        <p:blipFill>
          <a:blip r:embed="rId4">
            <a:alphaModFix/>
          </a:blip>
          <a:stretch>
            <a:fillRect/>
          </a:stretch>
        </p:blipFill>
        <p:spPr>
          <a:xfrm>
            <a:off x="1149125" y="1572199"/>
            <a:ext cx="4393299" cy="1684814"/>
          </a:xfrm>
          <a:prstGeom prst="rect">
            <a:avLst/>
          </a:prstGeom>
          <a:noFill/>
          <a:ln w="9525" cap="flat" cmpd="sng">
            <a:solidFill>
              <a:schemeClr val="accent1"/>
            </a:solidFill>
            <a:prstDash val="solid"/>
            <a:round/>
            <a:headEnd type="none" w="sm" len="sm"/>
            <a:tailEnd type="none" w="sm" len="sm"/>
          </a:ln>
        </p:spPr>
      </p:pic>
      <p:pic>
        <p:nvPicPr>
          <p:cNvPr id="688" name="Google Shape;688;p51"/>
          <p:cNvPicPr preferRelativeResize="0"/>
          <p:nvPr/>
        </p:nvPicPr>
        <p:blipFill>
          <a:blip r:embed="rId5">
            <a:alphaModFix/>
          </a:blip>
          <a:stretch>
            <a:fillRect/>
          </a:stretch>
        </p:blipFill>
        <p:spPr>
          <a:xfrm>
            <a:off x="5969112" y="1572206"/>
            <a:ext cx="2896975" cy="485669"/>
          </a:xfrm>
          <a:prstGeom prst="rect">
            <a:avLst/>
          </a:prstGeom>
          <a:noFill/>
          <a:ln w="9525" cap="flat" cmpd="sng">
            <a:solidFill>
              <a:schemeClr val="accent1"/>
            </a:solidFill>
            <a:prstDash val="solid"/>
            <a:round/>
            <a:headEnd type="none" w="sm" len="sm"/>
            <a:tailEnd type="none" w="sm" len="sm"/>
          </a:ln>
        </p:spPr>
      </p:pic>
      <p:pic>
        <p:nvPicPr>
          <p:cNvPr id="689" name="Google Shape;689;p51"/>
          <p:cNvPicPr preferRelativeResize="0"/>
          <p:nvPr/>
        </p:nvPicPr>
        <p:blipFill>
          <a:blip r:embed="rId6">
            <a:alphaModFix/>
          </a:blip>
          <a:stretch>
            <a:fillRect/>
          </a:stretch>
        </p:blipFill>
        <p:spPr>
          <a:xfrm>
            <a:off x="5969104" y="2319825"/>
            <a:ext cx="2897009" cy="485675"/>
          </a:xfrm>
          <a:prstGeom prst="rect">
            <a:avLst/>
          </a:prstGeom>
          <a:noFill/>
          <a:ln w="9525" cap="flat" cmpd="sng">
            <a:solidFill>
              <a:schemeClr val="accent1"/>
            </a:solidFill>
            <a:prstDash val="solid"/>
            <a:round/>
            <a:headEnd type="none" w="sm" len="sm"/>
            <a:tailEnd type="none" w="sm" len="sm"/>
          </a:ln>
        </p:spPr>
      </p:pic>
      <p:pic>
        <p:nvPicPr>
          <p:cNvPr id="690" name="Google Shape;690;p51"/>
          <p:cNvPicPr preferRelativeResize="0"/>
          <p:nvPr/>
        </p:nvPicPr>
        <p:blipFill>
          <a:blip r:embed="rId7">
            <a:alphaModFix/>
          </a:blip>
          <a:stretch>
            <a:fillRect/>
          </a:stretch>
        </p:blipFill>
        <p:spPr>
          <a:xfrm>
            <a:off x="5969113" y="3588050"/>
            <a:ext cx="2897001" cy="366387"/>
          </a:xfrm>
          <a:prstGeom prst="rect">
            <a:avLst/>
          </a:prstGeom>
          <a:noFill/>
          <a:ln w="9525" cap="flat" cmpd="sng">
            <a:solidFill>
              <a:schemeClr val="accent1"/>
            </a:solidFill>
            <a:prstDash val="solid"/>
            <a:round/>
            <a:headEnd type="none" w="sm" len="sm"/>
            <a:tailEnd type="none" w="sm" len="sm"/>
          </a:ln>
        </p:spPr>
      </p:pic>
      <p:pic>
        <p:nvPicPr>
          <p:cNvPr id="691" name="Google Shape;691;p51"/>
          <p:cNvPicPr preferRelativeResize="0"/>
          <p:nvPr/>
        </p:nvPicPr>
        <p:blipFill>
          <a:blip r:embed="rId8">
            <a:alphaModFix/>
          </a:blip>
          <a:stretch>
            <a:fillRect/>
          </a:stretch>
        </p:blipFill>
        <p:spPr>
          <a:xfrm>
            <a:off x="5969113" y="4238100"/>
            <a:ext cx="2897001" cy="36638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52"/>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6.9 Morocco </a:t>
            </a:r>
            <a:endParaRPr dirty="0">
              <a:latin typeface="Times New Roman"/>
              <a:ea typeface="Times New Roman"/>
              <a:cs typeface="Times New Roman"/>
              <a:sym typeface="Times New Roman"/>
            </a:endParaRPr>
          </a:p>
        </p:txBody>
      </p:sp>
      <p:sp>
        <p:nvSpPr>
          <p:cNvPr id="697" name="Google Shape;697;p5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65</a:t>
            </a:fld>
            <a:endParaRPr/>
          </a:p>
        </p:txBody>
      </p:sp>
      <p:sp>
        <p:nvSpPr>
          <p:cNvPr id="698" name="Google Shape;698;p52"/>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99" name="Google Shape;699;p52"/>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00" name="Google Shape;700;p52"/>
          <p:cNvPicPr preferRelativeResize="0"/>
          <p:nvPr/>
        </p:nvPicPr>
        <p:blipFill>
          <a:blip r:embed="rId3">
            <a:alphaModFix/>
          </a:blip>
          <a:stretch>
            <a:fillRect/>
          </a:stretch>
        </p:blipFill>
        <p:spPr>
          <a:xfrm>
            <a:off x="1056750" y="1708525"/>
            <a:ext cx="5005628" cy="1519801"/>
          </a:xfrm>
          <a:prstGeom prst="rect">
            <a:avLst/>
          </a:prstGeom>
          <a:noFill/>
          <a:ln w="9525" cap="flat" cmpd="sng">
            <a:solidFill>
              <a:schemeClr val="accent1"/>
            </a:solidFill>
            <a:prstDash val="solid"/>
            <a:round/>
            <a:headEnd type="none" w="sm" len="sm"/>
            <a:tailEnd type="none" w="sm" len="sm"/>
          </a:ln>
        </p:spPr>
      </p:pic>
      <p:pic>
        <p:nvPicPr>
          <p:cNvPr id="701" name="Google Shape;701;p52"/>
          <p:cNvPicPr preferRelativeResize="0"/>
          <p:nvPr/>
        </p:nvPicPr>
        <p:blipFill>
          <a:blip r:embed="rId4">
            <a:alphaModFix/>
          </a:blip>
          <a:stretch>
            <a:fillRect/>
          </a:stretch>
        </p:blipFill>
        <p:spPr>
          <a:xfrm>
            <a:off x="1056750" y="3152125"/>
            <a:ext cx="2394276" cy="1372175"/>
          </a:xfrm>
          <a:prstGeom prst="rect">
            <a:avLst/>
          </a:prstGeom>
          <a:noFill/>
          <a:ln w="9525" cap="flat" cmpd="sng">
            <a:solidFill>
              <a:schemeClr val="accent1"/>
            </a:solidFill>
            <a:prstDash val="solid"/>
            <a:round/>
            <a:headEnd type="none" w="sm" len="sm"/>
            <a:tailEnd type="none" w="sm" len="sm"/>
          </a:ln>
        </p:spPr>
      </p:pic>
      <p:pic>
        <p:nvPicPr>
          <p:cNvPr id="702" name="Google Shape;702;p52"/>
          <p:cNvPicPr preferRelativeResize="0"/>
          <p:nvPr/>
        </p:nvPicPr>
        <p:blipFill>
          <a:blip r:embed="rId5">
            <a:alphaModFix/>
          </a:blip>
          <a:stretch>
            <a:fillRect/>
          </a:stretch>
        </p:blipFill>
        <p:spPr>
          <a:xfrm>
            <a:off x="3451025" y="3152125"/>
            <a:ext cx="2611351" cy="1372175"/>
          </a:xfrm>
          <a:prstGeom prst="rect">
            <a:avLst/>
          </a:prstGeom>
          <a:noFill/>
          <a:ln w="9525" cap="flat" cmpd="sng">
            <a:solidFill>
              <a:schemeClr val="accent1"/>
            </a:solidFill>
            <a:prstDash val="solid"/>
            <a:round/>
            <a:headEnd type="none" w="sm" len="sm"/>
            <a:tailEnd type="none" w="sm" len="sm"/>
          </a:ln>
        </p:spPr>
      </p:pic>
      <p:pic>
        <p:nvPicPr>
          <p:cNvPr id="703" name="Google Shape;703;p52"/>
          <p:cNvPicPr preferRelativeResize="0"/>
          <p:nvPr/>
        </p:nvPicPr>
        <p:blipFill>
          <a:blip r:embed="rId6">
            <a:alphaModFix/>
          </a:blip>
          <a:stretch>
            <a:fillRect/>
          </a:stretch>
        </p:blipFill>
        <p:spPr>
          <a:xfrm>
            <a:off x="6367178" y="1692975"/>
            <a:ext cx="2083868" cy="2983339"/>
          </a:xfrm>
          <a:prstGeom prst="rect">
            <a:avLst/>
          </a:prstGeom>
          <a:noFill/>
          <a:ln w="9525" cap="flat" cmpd="sng">
            <a:solidFill>
              <a:schemeClr val="accent1"/>
            </a:solidFill>
            <a:prstDash val="solid"/>
            <a:round/>
            <a:headEnd type="none" w="sm" len="sm"/>
            <a:tailEnd type="none" w="sm" len="sm"/>
          </a:ln>
        </p:spPr>
      </p:pic>
      <p:sp>
        <p:nvSpPr>
          <p:cNvPr id="704" name="Google Shape;704;p52"/>
          <p:cNvSpPr txBox="1"/>
          <p:nvPr/>
        </p:nvSpPr>
        <p:spPr>
          <a:xfrm>
            <a:off x="5030100" y="3075913"/>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SOI=29.7%</a:t>
            </a:r>
            <a:endParaRPr sz="1000" b="1">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53"/>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6.10 South Africa </a:t>
            </a:r>
            <a:endParaRPr dirty="0">
              <a:latin typeface="Times New Roman"/>
              <a:ea typeface="Times New Roman"/>
              <a:cs typeface="Times New Roman"/>
              <a:sym typeface="Times New Roman"/>
            </a:endParaRPr>
          </a:p>
        </p:txBody>
      </p:sp>
      <p:sp>
        <p:nvSpPr>
          <p:cNvPr id="710" name="Google Shape;710;p5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66</a:t>
            </a:fld>
            <a:endParaRPr/>
          </a:p>
        </p:txBody>
      </p:sp>
      <p:sp>
        <p:nvSpPr>
          <p:cNvPr id="711" name="Google Shape;711;p53"/>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12" name="Google Shape;712;p53"/>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13" name="Google Shape;713;p53"/>
          <p:cNvPicPr preferRelativeResize="0"/>
          <p:nvPr/>
        </p:nvPicPr>
        <p:blipFill>
          <a:blip r:embed="rId3">
            <a:alphaModFix/>
          </a:blip>
          <a:stretch>
            <a:fillRect/>
          </a:stretch>
        </p:blipFill>
        <p:spPr>
          <a:xfrm>
            <a:off x="1056750" y="1677399"/>
            <a:ext cx="5005628" cy="1519801"/>
          </a:xfrm>
          <a:prstGeom prst="rect">
            <a:avLst/>
          </a:prstGeom>
          <a:noFill/>
          <a:ln w="9525" cap="flat" cmpd="sng">
            <a:solidFill>
              <a:schemeClr val="accent1"/>
            </a:solidFill>
            <a:prstDash val="solid"/>
            <a:round/>
            <a:headEnd type="none" w="sm" len="sm"/>
            <a:tailEnd type="none" w="sm" len="sm"/>
          </a:ln>
        </p:spPr>
      </p:pic>
      <p:pic>
        <p:nvPicPr>
          <p:cNvPr id="714" name="Google Shape;714;p53"/>
          <p:cNvPicPr preferRelativeResize="0"/>
          <p:nvPr/>
        </p:nvPicPr>
        <p:blipFill>
          <a:blip r:embed="rId4">
            <a:alphaModFix/>
          </a:blip>
          <a:stretch>
            <a:fillRect/>
          </a:stretch>
        </p:blipFill>
        <p:spPr>
          <a:xfrm>
            <a:off x="1056750" y="3061396"/>
            <a:ext cx="2305700" cy="1171404"/>
          </a:xfrm>
          <a:prstGeom prst="rect">
            <a:avLst/>
          </a:prstGeom>
          <a:noFill/>
          <a:ln w="9525" cap="flat" cmpd="sng">
            <a:solidFill>
              <a:schemeClr val="accent1"/>
            </a:solidFill>
            <a:prstDash val="solid"/>
            <a:round/>
            <a:headEnd type="none" w="sm" len="sm"/>
            <a:tailEnd type="none" w="sm" len="sm"/>
          </a:ln>
        </p:spPr>
      </p:pic>
      <p:pic>
        <p:nvPicPr>
          <p:cNvPr id="715" name="Google Shape;715;p53"/>
          <p:cNvPicPr preferRelativeResize="0"/>
          <p:nvPr/>
        </p:nvPicPr>
        <p:blipFill>
          <a:blip r:embed="rId5">
            <a:alphaModFix/>
          </a:blip>
          <a:stretch>
            <a:fillRect/>
          </a:stretch>
        </p:blipFill>
        <p:spPr>
          <a:xfrm>
            <a:off x="3362450" y="3061400"/>
            <a:ext cx="2699926" cy="1171400"/>
          </a:xfrm>
          <a:prstGeom prst="rect">
            <a:avLst/>
          </a:prstGeom>
          <a:noFill/>
          <a:ln w="9525" cap="flat" cmpd="sng">
            <a:solidFill>
              <a:schemeClr val="accent1"/>
            </a:solidFill>
            <a:prstDash val="solid"/>
            <a:round/>
            <a:headEnd type="none" w="sm" len="sm"/>
            <a:tailEnd type="none" w="sm" len="sm"/>
          </a:ln>
        </p:spPr>
      </p:pic>
      <p:pic>
        <p:nvPicPr>
          <p:cNvPr id="716" name="Google Shape;716;p53"/>
          <p:cNvPicPr preferRelativeResize="0"/>
          <p:nvPr/>
        </p:nvPicPr>
        <p:blipFill>
          <a:blip r:embed="rId6">
            <a:alphaModFix/>
          </a:blip>
          <a:stretch>
            <a:fillRect/>
          </a:stretch>
        </p:blipFill>
        <p:spPr>
          <a:xfrm>
            <a:off x="6342928" y="1601188"/>
            <a:ext cx="2083868" cy="2928383"/>
          </a:xfrm>
          <a:prstGeom prst="rect">
            <a:avLst/>
          </a:prstGeom>
          <a:noFill/>
          <a:ln w="9525" cap="flat" cmpd="sng">
            <a:solidFill>
              <a:schemeClr val="accent1"/>
            </a:solidFill>
            <a:prstDash val="solid"/>
            <a:round/>
            <a:headEnd type="none" w="sm" len="sm"/>
            <a:tailEnd type="none" w="sm" len="sm"/>
          </a:ln>
        </p:spPr>
      </p:pic>
      <p:sp>
        <p:nvSpPr>
          <p:cNvPr id="717" name="Google Shape;717;p53"/>
          <p:cNvSpPr txBox="1"/>
          <p:nvPr/>
        </p:nvSpPr>
        <p:spPr>
          <a:xfrm>
            <a:off x="4953750" y="2944788"/>
            <a:ext cx="848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SOI=1.3%</a:t>
            </a:r>
            <a:endParaRPr sz="1000" b="1">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54"/>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6.11 South Korea </a:t>
            </a:r>
            <a:endParaRPr dirty="0">
              <a:latin typeface="Times New Roman"/>
              <a:ea typeface="Times New Roman"/>
              <a:cs typeface="Times New Roman"/>
              <a:sym typeface="Times New Roman"/>
            </a:endParaRPr>
          </a:p>
          <a:p>
            <a:pPr marL="0" lvl="0" indent="0" algn="l" rtl="0">
              <a:spcBef>
                <a:spcPts val="0"/>
              </a:spcBef>
              <a:spcAft>
                <a:spcPts val="0"/>
              </a:spcAft>
              <a:buNone/>
            </a:pPr>
            <a:r>
              <a:rPr lang="en"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sp>
        <p:nvSpPr>
          <p:cNvPr id="723" name="Google Shape;723;p5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67</a:t>
            </a:fld>
            <a:endParaRPr/>
          </a:p>
        </p:txBody>
      </p:sp>
      <p:sp>
        <p:nvSpPr>
          <p:cNvPr id="724" name="Google Shape;724;p54"/>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25" name="Google Shape;725;p54"/>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sp>
        <p:nvSpPr>
          <p:cNvPr id="726" name="Google Shape;726;p54"/>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727" name="Google Shape;727;p54"/>
          <p:cNvPicPr preferRelativeResize="0"/>
          <p:nvPr/>
        </p:nvPicPr>
        <p:blipFill>
          <a:blip r:embed="rId3">
            <a:alphaModFix/>
          </a:blip>
          <a:stretch>
            <a:fillRect/>
          </a:stretch>
        </p:blipFill>
        <p:spPr>
          <a:xfrm>
            <a:off x="846449" y="1513900"/>
            <a:ext cx="4106325" cy="1113138"/>
          </a:xfrm>
          <a:prstGeom prst="rect">
            <a:avLst/>
          </a:prstGeom>
          <a:noFill/>
          <a:ln w="9525" cap="flat" cmpd="sng">
            <a:solidFill>
              <a:schemeClr val="accent1"/>
            </a:solidFill>
            <a:prstDash val="solid"/>
            <a:round/>
            <a:headEnd type="none" w="sm" len="sm"/>
            <a:tailEnd type="none" w="sm" len="sm"/>
          </a:ln>
        </p:spPr>
      </p:pic>
      <p:pic>
        <p:nvPicPr>
          <p:cNvPr id="728" name="Google Shape;728;p54"/>
          <p:cNvPicPr preferRelativeResize="0"/>
          <p:nvPr/>
        </p:nvPicPr>
        <p:blipFill>
          <a:blip r:embed="rId4">
            <a:alphaModFix/>
          </a:blip>
          <a:stretch>
            <a:fillRect/>
          </a:stretch>
        </p:blipFill>
        <p:spPr>
          <a:xfrm>
            <a:off x="846450" y="2651875"/>
            <a:ext cx="4106324" cy="2162721"/>
          </a:xfrm>
          <a:prstGeom prst="rect">
            <a:avLst/>
          </a:prstGeom>
          <a:noFill/>
          <a:ln w="9525" cap="flat" cmpd="sng">
            <a:solidFill>
              <a:schemeClr val="accent1"/>
            </a:solidFill>
            <a:prstDash val="solid"/>
            <a:round/>
            <a:headEnd type="none" w="sm" len="sm"/>
            <a:tailEnd type="none" w="sm" len="sm"/>
          </a:ln>
        </p:spPr>
      </p:pic>
      <p:pic>
        <p:nvPicPr>
          <p:cNvPr id="729" name="Google Shape;729;p54"/>
          <p:cNvPicPr preferRelativeResize="0"/>
          <p:nvPr/>
        </p:nvPicPr>
        <p:blipFill>
          <a:blip r:embed="rId5">
            <a:alphaModFix/>
          </a:blip>
          <a:stretch>
            <a:fillRect/>
          </a:stretch>
        </p:blipFill>
        <p:spPr>
          <a:xfrm>
            <a:off x="5730350" y="1513901"/>
            <a:ext cx="2356900" cy="3429902"/>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55"/>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6.11 South Korea</a:t>
            </a:r>
            <a:endParaRPr dirty="0">
              <a:latin typeface="Times New Roman"/>
              <a:ea typeface="Times New Roman"/>
              <a:cs typeface="Times New Roman"/>
              <a:sym typeface="Times New Roman"/>
            </a:endParaRPr>
          </a:p>
        </p:txBody>
      </p:sp>
      <p:sp>
        <p:nvSpPr>
          <p:cNvPr id="735" name="Google Shape;735;p5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68</a:t>
            </a:fld>
            <a:endParaRPr/>
          </a:p>
        </p:txBody>
      </p:sp>
      <p:sp>
        <p:nvSpPr>
          <p:cNvPr id="736" name="Google Shape;736;p55"/>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737" name="Google Shape;737;p55"/>
          <p:cNvPicPr preferRelativeResize="0"/>
          <p:nvPr/>
        </p:nvPicPr>
        <p:blipFill>
          <a:blip r:embed="rId3">
            <a:alphaModFix/>
          </a:blip>
          <a:stretch>
            <a:fillRect/>
          </a:stretch>
        </p:blipFill>
        <p:spPr>
          <a:xfrm>
            <a:off x="1149125" y="1698062"/>
            <a:ext cx="4393301" cy="1747376"/>
          </a:xfrm>
          <a:prstGeom prst="rect">
            <a:avLst/>
          </a:prstGeom>
          <a:noFill/>
          <a:ln w="9525" cap="flat" cmpd="sng">
            <a:solidFill>
              <a:schemeClr val="accent1"/>
            </a:solidFill>
            <a:prstDash val="solid"/>
            <a:round/>
            <a:headEnd type="none" w="sm" len="sm"/>
            <a:tailEnd type="none" w="sm" len="sm"/>
          </a:ln>
        </p:spPr>
      </p:pic>
      <p:pic>
        <p:nvPicPr>
          <p:cNvPr id="738" name="Google Shape;738;p55"/>
          <p:cNvPicPr preferRelativeResize="0"/>
          <p:nvPr/>
        </p:nvPicPr>
        <p:blipFill>
          <a:blip r:embed="rId4">
            <a:alphaModFix/>
          </a:blip>
          <a:stretch>
            <a:fillRect/>
          </a:stretch>
        </p:blipFill>
        <p:spPr>
          <a:xfrm>
            <a:off x="1149125" y="3463133"/>
            <a:ext cx="4393300" cy="1527541"/>
          </a:xfrm>
          <a:prstGeom prst="rect">
            <a:avLst/>
          </a:prstGeom>
          <a:noFill/>
          <a:ln w="9525" cap="flat" cmpd="sng">
            <a:solidFill>
              <a:schemeClr val="accent1"/>
            </a:solidFill>
            <a:prstDash val="solid"/>
            <a:round/>
            <a:headEnd type="none" w="sm" len="sm"/>
            <a:tailEnd type="none" w="sm" len="sm"/>
          </a:ln>
        </p:spPr>
      </p:pic>
      <p:pic>
        <p:nvPicPr>
          <p:cNvPr id="739" name="Google Shape;739;p55"/>
          <p:cNvPicPr preferRelativeResize="0"/>
          <p:nvPr/>
        </p:nvPicPr>
        <p:blipFill>
          <a:blip r:embed="rId5">
            <a:alphaModFix/>
          </a:blip>
          <a:stretch>
            <a:fillRect/>
          </a:stretch>
        </p:blipFill>
        <p:spPr>
          <a:xfrm>
            <a:off x="5809014" y="1915650"/>
            <a:ext cx="3073310" cy="656100"/>
          </a:xfrm>
          <a:prstGeom prst="rect">
            <a:avLst/>
          </a:prstGeom>
          <a:noFill/>
          <a:ln w="9525" cap="flat" cmpd="sng">
            <a:solidFill>
              <a:schemeClr val="accent1"/>
            </a:solidFill>
            <a:prstDash val="solid"/>
            <a:round/>
            <a:headEnd type="none" w="sm" len="sm"/>
            <a:tailEnd type="none" w="sm" len="sm"/>
          </a:ln>
        </p:spPr>
      </p:pic>
      <p:pic>
        <p:nvPicPr>
          <p:cNvPr id="740" name="Google Shape;740;p55"/>
          <p:cNvPicPr preferRelativeResize="0"/>
          <p:nvPr/>
        </p:nvPicPr>
        <p:blipFill>
          <a:blip r:embed="rId6">
            <a:alphaModFix/>
          </a:blip>
          <a:stretch>
            <a:fillRect/>
          </a:stretch>
        </p:blipFill>
        <p:spPr>
          <a:xfrm>
            <a:off x="5809014" y="3097121"/>
            <a:ext cx="3073310" cy="656100"/>
          </a:xfrm>
          <a:prstGeom prst="rect">
            <a:avLst/>
          </a:prstGeom>
          <a:noFill/>
          <a:ln w="9525" cap="flat" cmpd="sng">
            <a:solidFill>
              <a:schemeClr val="accent1"/>
            </a:solidFill>
            <a:prstDash val="solid"/>
            <a:round/>
            <a:headEnd type="none" w="sm" len="sm"/>
            <a:tailEnd type="none" w="sm" len="sm"/>
          </a:ln>
        </p:spPr>
      </p:pic>
      <p:sp>
        <p:nvSpPr>
          <p:cNvPr id="741" name="Google Shape;741;p55"/>
          <p:cNvSpPr txBox="1"/>
          <p:nvPr/>
        </p:nvSpPr>
        <p:spPr>
          <a:xfrm>
            <a:off x="4572000" y="3463125"/>
            <a:ext cx="8724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SOI=48.3%</a:t>
            </a:r>
            <a:endParaRPr sz="1000" b="1">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56"/>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6.12 Spain </a:t>
            </a:r>
            <a:endParaRPr dirty="0">
              <a:latin typeface="Times New Roman"/>
              <a:ea typeface="Times New Roman"/>
              <a:cs typeface="Times New Roman"/>
              <a:sym typeface="Times New Roman"/>
            </a:endParaRPr>
          </a:p>
        </p:txBody>
      </p:sp>
      <p:sp>
        <p:nvSpPr>
          <p:cNvPr id="747" name="Google Shape;747;p5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69</a:t>
            </a:fld>
            <a:endParaRPr/>
          </a:p>
        </p:txBody>
      </p:sp>
      <p:sp>
        <p:nvSpPr>
          <p:cNvPr id="748" name="Google Shape;748;p56"/>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49" name="Google Shape;749;p56"/>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50" name="Google Shape;750;p56"/>
          <p:cNvPicPr preferRelativeResize="0"/>
          <p:nvPr/>
        </p:nvPicPr>
        <p:blipFill>
          <a:blip r:embed="rId3">
            <a:alphaModFix/>
          </a:blip>
          <a:stretch>
            <a:fillRect/>
          </a:stretch>
        </p:blipFill>
        <p:spPr>
          <a:xfrm>
            <a:off x="1056750" y="1673251"/>
            <a:ext cx="5005628" cy="1519798"/>
          </a:xfrm>
          <a:prstGeom prst="rect">
            <a:avLst/>
          </a:prstGeom>
          <a:noFill/>
          <a:ln w="9525" cap="flat" cmpd="sng">
            <a:solidFill>
              <a:schemeClr val="accent1"/>
            </a:solidFill>
            <a:prstDash val="solid"/>
            <a:round/>
            <a:headEnd type="none" w="sm" len="sm"/>
            <a:tailEnd type="none" w="sm" len="sm"/>
          </a:ln>
        </p:spPr>
      </p:pic>
      <p:pic>
        <p:nvPicPr>
          <p:cNvPr id="751" name="Google Shape;751;p56"/>
          <p:cNvPicPr preferRelativeResize="0"/>
          <p:nvPr/>
        </p:nvPicPr>
        <p:blipFill>
          <a:blip r:embed="rId4">
            <a:alphaModFix/>
          </a:blip>
          <a:stretch>
            <a:fillRect/>
          </a:stretch>
        </p:blipFill>
        <p:spPr>
          <a:xfrm>
            <a:off x="1056750" y="3193051"/>
            <a:ext cx="2412783" cy="1293975"/>
          </a:xfrm>
          <a:prstGeom prst="rect">
            <a:avLst/>
          </a:prstGeom>
          <a:noFill/>
          <a:ln w="9525" cap="flat" cmpd="sng">
            <a:solidFill>
              <a:schemeClr val="accent1"/>
            </a:solidFill>
            <a:prstDash val="solid"/>
            <a:round/>
            <a:headEnd type="none" w="sm" len="sm"/>
            <a:tailEnd type="none" w="sm" len="sm"/>
          </a:ln>
        </p:spPr>
      </p:pic>
      <p:pic>
        <p:nvPicPr>
          <p:cNvPr id="752" name="Google Shape;752;p56"/>
          <p:cNvPicPr preferRelativeResize="0"/>
          <p:nvPr/>
        </p:nvPicPr>
        <p:blipFill>
          <a:blip r:embed="rId5">
            <a:alphaModFix/>
          </a:blip>
          <a:stretch>
            <a:fillRect/>
          </a:stretch>
        </p:blipFill>
        <p:spPr>
          <a:xfrm>
            <a:off x="3472250" y="3193050"/>
            <a:ext cx="2590126" cy="1293975"/>
          </a:xfrm>
          <a:prstGeom prst="rect">
            <a:avLst/>
          </a:prstGeom>
          <a:noFill/>
          <a:ln w="9525" cap="flat" cmpd="sng">
            <a:solidFill>
              <a:schemeClr val="accent1"/>
            </a:solidFill>
            <a:prstDash val="solid"/>
            <a:round/>
            <a:headEnd type="none" w="sm" len="sm"/>
            <a:tailEnd type="none" w="sm" len="sm"/>
          </a:ln>
        </p:spPr>
      </p:pic>
      <p:pic>
        <p:nvPicPr>
          <p:cNvPr id="753" name="Google Shape;753;p56"/>
          <p:cNvPicPr preferRelativeResize="0"/>
          <p:nvPr/>
        </p:nvPicPr>
        <p:blipFill>
          <a:blip r:embed="rId6">
            <a:alphaModFix/>
          </a:blip>
          <a:stretch>
            <a:fillRect/>
          </a:stretch>
        </p:blipFill>
        <p:spPr>
          <a:xfrm>
            <a:off x="6519903" y="1632313"/>
            <a:ext cx="2083868" cy="2959536"/>
          </a:xfrm>
          <a:prstGeom prst="rect">
            <a:avLst/>
          </a:prstGeom>
          <a:noFill/>
          <a:ln w="9525" cap="flat" cmpd="sng">
            <a:solidFill>
              <a:schemeClr val="accent1"/>
            </a:solidFill>
            <a:prstDash val="solid"/>
            <a:round/>
            <a:headEnd type="none" w="sm" len="sm"/>
            <a:tailEnd type="none" w="sm" len="sm"/>
          </a:ln>
        </p:spPr>
      </p:pic>
      <p:sp>
        <p:nvSpPr>
          <p:cNvPr id="754" name="Google Shape;754;p56"/>
          <p:cNvSpPr txBox="1"/>
          <p:nvPr/>
        </p:nvSpPr>
        <p:spPr>
          <a:xfrm>
            <a:off x="4969500" y="311683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SOI=14.3%</a:t>
            </a:r>
            <a:endParaRPr sz="1000" b="1">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57"/>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6.13 Turkey </a:t>
            </a:r>
            <a:endParaRPr dirty="0">
              <a:latin typeface="Times New Roman"/>
              <a:ea typeface="Times New Roman"/>
              <a:cs typeface="Times New Roman"/>
              <a:sym typeface="Times New Roman"/>
            </a:endParaRPr>
          </a:p>
        </p:txBody>
      </p:sp>
      <p:sp>
        <p:nvSpPr>
          <p:cNvPr id="760" name="Google Shape;760;p5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70</a:t>
            </a:fld>
            <a:endParaRPr/>
          </a:p>
        </p:txBody>
      </p:sp>
      <p:sp>
        <p:nvSpPr>
          <p:cNvPr id="761" name="Google Shape;761;p57"/>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62" name="Google Shape;762;p57"/>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63" name="Google Shape;763;p57"/>
          <p:cNvPicPr preferRelativeResize="0"/>
          <p:nvPr/>
        </p:nvPicPr>
        <p:blipFill>
          <a:blip r:embed="rId3">
            <a:alphaModFix/>
          </a:blip>
          <a:stretch>
            <a:fillRect/>
          </a:stretch>
        </p:blipFill>
        <p:spPr>
          <a:xfrm>
            <a:off x="1056750" y="1632316"/>
            <a:ext cx="5005628" cy="1519806"/>
          </a:xfrm>
          <a:prstGeom prst="rect">
            <a:avLst/>
          </a:prstGeom>
          <a:noFill/>
          <a:ln w="9525" cap="flat" cmpd="sng">
            <a:solidFill>
              <a:schemeClr val="accent1"/>
            </a:solidFill>
            <a:prstDash val="solid"/>
            <a:round/>
            <a:headEnd type="none" w="sm" len="sm"/>
            <a:tailEnd type="none" w="sm" len="sm"/>
          </a:ln>
        </p:spPr>
      </p:pic>
      <p:pic>
        <p:nvPicPr>
          <p:cNvPr id="764" name="Google Shape;764;p57"/>
          <p:cNvPicPr preferRelativeResize="0"/>
          <p:nvPr/>
        </p:nvPicPr>
        <p:blipFill>
          <a:blip r:embed="rId4">
            <a:alphaModFix/>
          </a:blip>
          <a:stretch>
            <a:fillRect/>
          </a:stretch>
        </p:blipFill>
        <p:spPr>
          <a:xfrm>
            <a:off x="1056749" y="3152129"/>
            <a:ext cx="2305699" cy="1192971"/>
          </a:xfrm>
          <a:prstGeom prst="rect">
            <a:avLst/>
          </a:prstGeom>
          <a:noFill/>
          <a:ln w="9525" cap="flat" cmpd="sng">
            <a:solidFill>
              <a:schemeClr val="accent1"/>
            </a:solidFill>
            <a:prstDash val="solid"/>
            <a:round/>
            <a:headEnd type="none" w="sm" len="sm"/>
            <a:tailEnd type="none" w="sm" len="sm"/>
          </a:ln>
        </p:spPr>
      </p:pic>
      <p:pic>
        <p:nvPicPr>
          <p:cNvPr id="765" name="Google Shape;765;p57"/>
          <p:cNvPicPr preferRelativeResize="0"/>
          <p:nvPr/>
        </p:nvPicPr>
        <p:blipFill>
          <a:blip r:embed="rId5">
            <a:alphaModFix/>
          </a:blip>
          <a:stretch>
            <a:fillRect/>
          </a:stretch>
        </p:blipFill>
        <p:spPr>
          <a:xfrm>
            <a:off x="3362438" y="3152125"/>
            <a:ext cx="2699925" cy="1192975"/>
          </a:xfrm>
          <a:prstGeom prst="rect">
            <a:avLst/>
          </a:prstGeom>
          <a:noFill/>
          <a:ln w="9525" cap="flat" cmpd="sng">
            <a:solidFill>
              <a:schemeClr val="accent1"/>
            </a:solidFill>
            <a:prstDash val="solid"/>
            <a:round/>
            <a:headEnd type="none" w="sm" len="sm"/>
            <a:tailEnd type="none" w="sm" len="sm"/>
          </a:ln>
        </p:spPr>
      </p:pic>
      <p:pic>
        <p:nvPicPr>
          <p:cNvPr id="766" name="Google Shape;766;p57"/>
          <p:cNvPicPr preferRelativeResize="0"/>
          <p:nvPr/>
        </p:nvPicPr>
        <p:blipFill>
          <a:blip r:embed="rId6">
            <a:alphaModFix/>
          </a:blip>
          <a:stretch>
            <a:fillRect/>
          </a:stretch>
        </p:blipFill>
        <p:spPr>
          <a:xfrm>
            <a:off x="6498103" y="1632313"/>
            <a:ext cx="2083869" cy="2928384"/>
          </a:xfrm>
          <a:prstGeom prst="rect">
            <a:avLst/>
          </a:prstGeom>
          <a:noFill/>
          <a:ln w="9525" cap="flat" cmpd="sng">
            <a:solidFill>
              <a:schemeClr val="accent1"/>
            </a:solidFill>
            <a:prstDash val="solid"/>
            <a:round/>
            <a:headEnd type="none" w="sm" len="sm"/>
            <a:tailEnd type="none" w="sm" len="sm"/>
          </a:ln>
        </p:spPr>
      </p:pic>
      <p:sp>
        <p:nvSpPr>
          <p:cNvPr id="767" name="Google Shape;767;p57"/>
          <p:cNvSpPr txBox="1"/>
          <p:nvPr/>
        </p:nvSpPr>
        <p:spPr>
          <a:xfrm>
            <a:off x="5084675" y="3075913"/>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SOI=13.8%</a:t>
            </a:r>
            <a:endParaRPr sz="1000" b="1">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5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6.14 United Arab Emirates </a:t>
            </a:r>
            <a:endParaRPr dirty="0">
              <a:latin typeface="Times New Roman"/>
              <a:ea typeface="Times New Roman"/>
              <a:cs typeface="Times New Roman"/>
              <a:sym typeface="Times New Roman"/>
            </a:endParaRPr>
          </a:p>
        </p:txBody>
      </p:sp>
      <p:sp>
        <p:nvSpPr>
          <p:cNvPr id="773" name="Google Shape;773;p5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71</a:t>
            </a:fld>
            <a:endParaRPr/>
          </a:p>
        </p:txBody>
      </p:sp>
      <p:sp>
        <p:nvSpPr>
          <p:cNvPr id="774" name="Google Shape;774;p58"/>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75" name="Google Shape;775;p5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76" name="Google Shape;776;p58"/>
          <p:cNvPicPr preferRelativeResize="0"/>
          <p:nvPr/>
        </p:nvPicPr>
        <p:blipFill>
          <a:blip r:embed="rId3">
            <a:alphaModFix/>
          </a:blip>
          <a:stretch>
            <a:fillRect/>
          </a:stretch>
        </p:blipFill>
        <p:spPr>
          <a:xfrm>
            <a:off x="1056750" y="1590912"/>
            <a:ext cx="5005628" cy="1519801"/>
          </a:xfrm>
          <a:prstGeom prst="rect">
            <a:avLst/>
          </a:prstGeom>
          <a:noFill/>
          <a:ln w="9525" cap="flat" cmpd="sng">
            <a:solidFill>
              <a:schemeClr val="accent1"/>
            </a:solidFill>
            <a:prstDash val="solid"/>
            <a:round/>
            <a:headEnd type="none" w="sm" len="sm"/>
            <a:tailEnd type="none" w="sm" len="sm"/>
          </a:ln>
        </p:spPr>
      </p:pic>
      <p:pic>
        <p:nvPicPr>
          <p:cNvPr id="777" name="Google Shape;777;p58"/>
          <p:cNvPicPr preferRelativeResize="0"/>
          <p:nvPr/>
        </p:nvPicPr>
        <p:blipFill>
          <a:blip r:embed="rId4">
            <a:alphaModFix/>
          </a:blip>
          <a:stretch>
            <a:fillRect/>
          </a:stretch>
        </p:blipFill>
        <p:spPr>
          <a:xfrm>
            <a:off x="1056750" y="3110700"/>
            <a:ext cx="2448951" cy="1266900"/>
          </a:xfrm>
          <a:prstGeom prst="rect">
            <a:avLst/>
          </a:prstGeom>
          <a:noFill/>
          <a:ln w="9525" cap="flat" cmpd="sng">
            <a:solidFill>
              <a:schemeClr val="accent1"/>
            </a:solidFill>
            <a:prstDash val="solid"/>
            <a:round/>
            <a:headEnd type="none" w="sm" len="sm"/>
            <a:tailEnd type="none" w="sm" len="sm"/>
          </a:ln>
        </p:spPr>
      </p:pic>
      <p:pic>
        <p:nvPicPr>
          <p:cNvPr id="778" name="Google Shape;778;p58"/>
          <p:cNvPicPr preferRelativeResize="0"/>
          <p:nvPr/>
        </p:nvPicPr>
        <p:blipFill>
          <a:blip r:embed="rId5">
            <a:alphaModFix/>
          </a:blip>
          <a:stretch>
            <a:fillRect/>
          </a:stretch>
        </p:blipFill>
        <p:spPr>
          <a:xfrm>
            <a:off x="3505700" y="3110700"/>
            <a:ext cx="2556676" cy="1266900"/>
          </a:xfrm>
          <a:prstGeom prst="rect">
            <a:avLst/>
          </a:prstGeom>
          <a:noFill/>
          <a:ln w="9525" cap="flat" cmpd="sng">
            <a:solidFill>
              <a:schemeClr val="accent1"/>
            </a:solidFill>
            <a:prstDash val="solid"/>
            <a:round/>
            <a:headEnd type="none" w="sm" len="sm"/>
            <a:tailEnd type="none" w="sm" len="sm"/>
          </a:ln>
        </p:spPr>
      </p:pic>
      <p:pic>
        <p:nvPicPr>
          <p:cNvPr id="779" name="Google Shape;779;p58"/>
          <p:cNvPicPr preferRelativeResize="0"/>
          <p:nvPr/>
        </p:nvPicPr>
        <p:blipFill>
          <a:blip r:embed="rId6">
            <a:alphaModFix/>
          </a:blip>
          <a:stretch>
            <a:fillRect/>
          </a:stretch>
        </p:blipFill>
        <p:spPr>
          <a:xfrm>
            <a:off x="6541703" y="1556113"/>
            <a:ext cx="2083868" cy="2983339"/>
          </a:xfrm>
          <a:prstGeom prst="rect">
            <a:avLst/>
          </a:prstGeom>
          <a:noFill/>
          <a:ln w="9525" cap="flat" cmpd="sng">
            <a:solidFill>
              <a:schemeClr val="accent1"/>
            </a:solidFill>
            <a:prstDash val="solid"/>
            <a:round/>
            <a:headEnd type="none" w="sm" len="sm"/>
            <a:tailEnd type="none" w="sm" len="sm"/>
          </a:ln>
        </p:spPr>
      </p:pic>
      <p:sp>
        <p:nvSpPr>
          <p:cNvPr id="780" name="Google Shape;780;p58"/>
          <p:cNvSpPr txBox="1"/>
          <p:nvPr/>
        </p:nvSpPr>
        <p:spPr>
          <a:xfrm>
            <a:off x="5084675" y="30344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SOI=1.0%</a:t>
            </a:r>
            <a:endParaRPr sz="1000" b="1">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59"/>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6.15 USA </a:t>
            </a:r>
            <a:endParaRPr dirty="0">
              <a:latin typeface="Times New Roman"/>
              <a:ea typeface="Times New Roman"/>
              <a:cs typeface="Times New Roman"/>
              <a:sym typeface="Times New Roman"/>
            </a:endParaRPr>
          </a:p>
        </p:txBody>
      </p:sp>
      <p:sp>
        <p:nvSpPr>
          <p:cNvPr id="786" name="Google Shape;786;p5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72</a:t>
            </a:fld>
            <a:endParaRPr/>
          </a:p>
        </p:txBody>
      </p:sp>
      <p:sp>
        <p:nvSpPr>
          <p:cNvPr id="787" name="Google Shape;787;p59"/>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88" name="Google Shape;788;p59"/>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sp>
        <p:nvSpPr>
          <p:cNvPr id="789" name="Google Shape;789;p59"/>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790" name="Google Shape;790;p59"/>
          <p:cNvPicPr preferRelativeResize="0"/>
          <p:nvPr/>
        </p:nvPicPr>
        <p:blipFill>
          <a:blip r:embed="rId3">
            <a:alphaModFix/>
          </a:blip>
          <a:stretch>
            <a:fillRect/>
          </a:stretch>
        </p:blipFill>
        <p:spPr>
          <a:xfrm>
            <a:off x="1080500" y="1590095"/>
            <a:ext cx="4208302" cy="1277729"/>
          </a:xfrm>
          <a:prstGeom prst="rect">
            <a:avLst/>
          </a:prstGeom>
          <a:noFill/>
          <a:ln w="9525" cap="flat" cmpd="sng">
            <a:solidFill>
              <a:schemeClr val="accent1"/>
            </a:solidFill>
            <a:prstDash val="solid"/>
            <a:round/>
            <a:headEnd type="none" w="sm" len="sm"/>
            <a:tailEnd type="none" w="sm" len="sm"/>
          </a:ln>
        </p:spPr>
      </p:pic>
      <p:pic>
        <p:nvPicPr>
          <p:cNvPr id="791" name="Google Shape;791;p59"/>
          <p:cNvPicPr preferRelativeResize="0"/>
          <p:nvPr/>
        </p:nvPicPr>
        <p:blipFill>
          <a:blip r:embed="rId4">
            <a:alphaModFix/>
          </a:blip>
          <a:stretch>
            <a:fillRect/>
          </a:stretch>
        </p:blipFill>
        <p:spPr>
          <a:xfrm>
            <a:off x="1080500" y="2867825"/>
            <a:ext cx="4208301" cy="2177039"/>
          </a:xfrm>
          <a:prstGeom prst="rect">
            <a:avLst/>
          </a:prstGeom>
          <a:noFill/>
          <a:ln w="9525" cap="flat" cmpd="sng">
            <a:solidFill>
              <a:schemeClr val="accent1"/>
            </a:solidFill>
            <a:prstDash val="solid"/>
            <a:round/>
            <a:headEnd type="none" w="sm" len="sm"/>
            <a:tailEnd type="none" w="sm" len="sm"/>
          </a:ln>
        </p:spPr>
      </p:pic>
      <p:pic>
        <p:nvPicPr>
          <p:cNvPr id="792" name="Google Shape;792;p59"/>
          <p:cNvPicPr preferRelativeResize="0"/>
          <p:nvPr/>
        </p:nvPicPr>
        <p:blipFill>
          <a:blip r:embed="rId5">
            <a:alphaModFix/>
          </a:blip>
          <a:stretch>
            <a:fillRect/>
          </a:stretch>
        </p:blipFill>
        <p:spPr>
          <a:xfrm>
            <a:off x="5771175" y="1632326"/>
            <a:ext cx="2316075" cy="337938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60"/>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6.15 USA</a:t>
            </a:r>
            <a:endParaRPr dirty="0">
              <a:latin typeface="Times New Roman"/>
              <a:ea typeface="Times New Roman"/>
              <a:cs typeface="Times New Roman"/>
              <a:sym typeface="Times New Roman"/>
            </a:endParaRPr>
          </a:p>
        </p:txBody>
      </p:sp>
      <p:sp>
        <p:nvSpPr>
          <p:cNvPr id="798" name="Google Shape;798;p6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73</a:t>
            </a:fld>
            <a:endParaRPr/>
          </a:p>
        </p:txBody>
      </p:sp>
      <p:sp>
        <p:nvSpPr>
          <p:cNvPr id="799" name="Google Shape;799;p60"/>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800" name="Google Shape;800;p60"/>
          <p:cNvPicPr preferRelativeResize="0"/>
          <p:nvPr/>
        </p:nvPicPr>
        <p:blipFill>
          <a:blip r:embed="rId3">
            <a:alphaModFix/>
          </a:blip>
          <a:stretch>
            <a:fillRect/>
          </a:stretch>
        </p:blipFill>
        <p:spPr>
          <a:xfrm>
            <a:off x="1149125" y="1572189"/>
            <a:ext cx="4393300" cy="1753163"/>
          </a:xfrm>
          <a:prstGeom prst="rect">
            <a:avLst/>
          </a:prstGeom>
          <a:noFill/>
          <a:ln w="9525" cap="flat" cmpd="sng">
            <a:solidFill>
              <a:schemeClr val="accent1"/>
            </a:solidFill>
            <a:prstDash val="solid"/>
            <a:round/>
            <a:headEnd type="none" w="sm" len="sm"/>
            <a:tailEnd type="none" w="sm" len="sm"/>
          </a:ln>
        </p:spPr>
      </p:pic>
      <p:pic>
        <p:nvPicPr>
          <p:cNvPr id="801" name="Google Shape;801;p60"/>
          <p:cNvPicPr preferRelativeResize="0"/>
          <p:nvPr/>
        </p:nvPicPr>
        <p:blipFill>
          <a:blip r:embed="rId4">
            <a:alphaModFix/>
          </a:blip>
          <a:stretch>
            <a:fillRect/>
          </a:stretch>
        </p:blipFill>
        <p:spPr>
          <a:xfrm>
            <a:off x="1149125" y="3325344"/>
            <a:ext cx="4393300" cy="1521008"/>
          </a:xfrm>
          <a:prstGeom prst="rect">
            <a:avLst/>
          </a:prstGeom>
          <a:noFill/>
          <a:ln w="9525" cap="flat" cmpd="sng">
            <a:solidFill>
              <a:schemeClr val="accent1"/>
            </a:solidFill>
            <a:prstDash val="solid"/>
            <a:round/>
            <a:headEnd type="none" w="sm" len="sm"/>
            <a:tailEnd type="none" w="sm" len="sm"/>
          </a:ln>
        </p:spPr>
      </p:pic>
      <p:sp>
        <p:nvSpPr>
          <p:cNvPr id="802" name="Google Shape;802;p60"/>
          <p:cNvSpPr txBox="1"/>
          <p:nvPr/>
        </p:nvSpPr>
        <p:spPr>
          <a:xfrm>
            <a:off x="4338900" y="3325350"/>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SOI=28.7%</a:t>
            </a:r>
            <a:endParaRPr sz="1000" b="1">
              <a:latin typeface="Times New Roman"/>
              <a:ea typeface="Times New Roman"/>
              <a:cs typeface="Times New Roman"/>
              <a:sym typeface="Times New Roman"/>
            </a:endParaRPr>
          </a:p>
        </p:txBody>
      </p:sp>
      <p:pic>
        <p:nvPicPr>
          <p:cNvPr id="803" name="Google Shape;803;p60"/>
          <p:cNvPicPr preferRelativeResize="0"/>
          <p:nvPr/>
        </p:nvPicPr>
        <p:blipFill>
          <a:blip r:embed="rId5">
            <a:alphaModFix/>
          </a:blip>
          <a:stretch>
            <a:fillRect/>
          </a:stretch>
        </p:blipFill>
        <p:spPr>
          <a:xfrm>
            <a:off x="5969125" y="2267869"/>
            <a:ext cx="2897000" cy="798707"/>
          </a:xfrm>
          <a:prstGeom prst="rect">
            <a:avLst/>
          </a:prstGeom>
          <a:noFill/>
          <a:ln w="9525" cap="flat" cmpd="sng">
            <a:solidFill>
              <a:schemeClr val="accent1"/>
            </a:solidFill>
            <a:prstDash val="solid"/>
            <a:round/>
            <a:headEnd type="none" w="sm" len="sm"/>
            <a:tailEnd type="none" w="sm" len="sm"/>
          </a:ln>
        </p:spPr>
      </p:pic>
      <p:pic>
        <p:nvPicPr>
          <p:cNvPr id="804" name="Google Shape;804;p60"/>
          <p:cNvPicPr preferRelativeResize="0"/>
          <p:nvPr/>
        </p:nvPicPr>
        <p:blipFill>
          <a:blip r:embed="rId6">
            <a:alphaModFix/>
          </a:blip>
          <a:stretch>
            <a:fillRect/>
          </a:stretch>
        </p:blipFill>
        <p:spPr>
          <a:xfrm>
            <a:off x="5969121" y="1421843"/>
            <a:ext cx="2897001" cy="769832"/>
          </a:xfrm>
          <a:prstGeom prst="rect">
            <a:avLst/>
          </a:prstGeom>
          <a:noFill/>
          <a:ln w="9525" cap="flat" cmpd="sng">
            <a:solidFill>
              <a:schemeClr val="accent1"/>
            </a:solidFill>
            <a:prstDash val="solid"/>
            <a:round/>
            <a:headEnd type="none" w="sm" len="sm"/>
            <a:tailEnd type="none" w="sm" len="sm"/>
          </a:ln>
        </p:spPr>
      </p:pic>
      <p:pic>
        <p:nvPicPr>
          <p:cNvPr id="805" name="Google Shape;805;p60"/>
          <p:cNvPicPr preferRelativeResize="0"/>
          <p:nvPr/>
        </p:nvPicPr>
        <p:blipFill>
          <a:blip r:embed="rId7">
            <a:alphaModFix/>
          </a:blip>
          <a:stretch>
            <a:fillRect/>
          </a:stretch>
        </p:blipFill>
        <p:spPr>
          <a:xfrm>
            <a:off x="5985325" y="3130389"/>
            <a:ext cx="2897001" cy="729211"/>
          </a:xfrm>
          <a:prstGeom prst="rect">
            <a:avLst/>
          </a:prstGeom>
          <a:noFill/>
          <a:ln w="9525" cap="flat" cmpd="sng">
            <a:solidFill>
              <a:schemeClr val="accent1"/>
            </a:solidFill>
            <a:prstDash val="solid"/>
            <a:round/>
            <a:headEnd type="none" w="sm" len="sm"/>
            <a:tailEnd type="none" w="sm" len="sm"/>
          </a:ln>
        </p:spPr>
      </p:pic>
      <p:pic>
        <p:nvPicPr>
          <p:cNvPr id="806" name="Google Shape;806;p60"/>
          <p:cNvPicPr preferRelativeResize="0"/>
          <p:nvPr/>
        </p:nvPicPr>
        <p:blipFill>
          <a:blip r:embed="rId8">
            <a:alphaModFix/>
          </a:blip>
          <a:stretch>
            <a:fillRect/>
          </a:stretch>
        </p:blipFill>
        <p:spPr>
          <a:xfrm>
            <a:off x="5985320" y="3897409"/>
            <a:ext cx="2897000" cy="892786"/>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36"/>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6"/>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7</a:t>
            </a:r>
            <a:r>
              <a:rPr lang="en" dirty="0">
                <a:latin typeface="Times New Roman"/>
                <a:ea typeface="Times New Roman"/>
                <a:cs typeface="Times New Roman"/>
                <a:sym typeface="Times New Roman"/>
              </a:rPr>
              <a:t>. Reference</a:t>
            </a:r>
            <a:endParaRPr dirty="0">
              <a:latin typeface="Times New Roman"/>
              <a:ea typeface="Times New Roman"/>
              <a:cs typeface="Times New Roman"/>
              <a:sym typeface="Times New Roman"/>
            </a:endParaRPr>
          </a:p>
        </p:txBody>
      </p:sp>
      <p:sp>
        <p:nvSpPr>
          <p:cNvPr id="507" name="Google Shape;507;p36"/>
          <p:cNvSpPr txBox="1">
            <a:spLocks noGrp="1"/>
          </p:cNvSpPr>
          <p:nvPr>
            <p:ph type="body" idx="1"/>
          </p:nvPr>
        </p:nvSpPr>
        <p:spPr>
          <a:xfrm>
            <a:off x="1220673" y="1236378"/>
            <a:ext cx="7412688" cy="3110934"/>
          </a:xfrm>
          <a:prstGeom prst="rect">
            <a:avLst/>
          </a:prstGeom>
        </p:spPr>
        <p:txBody>
          <a:bodyPr spcFirstLastPara="1" wrap="square" lIns="91425" tIns="91425" rIns="91425" bIns="91425" anchor="t" anchorCtr="0">
            <a:noAutofit/>
          </a:bodyPr>
          <a:lstStyle/>
          <a:p>
            <a:pPr lvl="0"/>
            <a:r>
              <a:rPr lang="en-US" sz="1200" dirty="0"/>
              <a:t>Hausmann, R., Hidalgo, C., Bustos, S., </a:t>
            </a:r>
            <a:r>
              <a:rPr lang="en-US" sz="1200" dirty="0" err="1"/>
              <a:t>Coscia</a:t>
            </a:r>
            <a:r>
              <a:rPr lang="en-US" sz="1200" dirty="0"/>
              <a:t>, M., Chung, S., Jimenez, J., </a:t>
            </a:r>
            <a:r>
              <a:rPr lang="en-US" sz="1200" dirty="0" err="1"/>
              <a:t>Simoes</a:t>
            </a:r>
            <a:r>
              <a:rPr lang="en-US" sz="1200" dirty="0"/>
              <a:t>, A. and </a:t>
            </a:r>
            <a:r>
              <a:rPr lang="en-US" sz="1200" dirty="0" err="1"/>
              <a:t>Yıldırım</a:t>
            </a:r>
            <a:r>
              <a:rPr lang="en-US" sz="1200" dirty="0"/>
              <a:t>, M. (2007). </a:t>
            </a:r>
            <a:r>
              <a:rPr lang="en-US" sz="1200" i="1" dirty="0"/>
              <a:t>The Atlas of Economic Complexity</a:t>
            </a:r>
            <a:r>
              <a:rPr lang="en-US" sz="1200" dirty="0"/>
              <a:t>. [online] </a:t>
            </a:r>
            <a:r>
              <a:rPr lang="en-US" sz="1200" dirty="0" err="1"/>
              <a:t>Atlas.cid.harvard.edu</a:t>
            </a:r>
            <a:r>
              <a:rPr lang="en-US" sz="1200" dirty="0"/>
              <a:t>. Available at: http://</a:t>
            </a:r>
            <a:r>
              <a:rPr lang="en-US" sz="1200" dirty="0" err="1"/>
              <a:t>atlas.cid.harvard.edu</a:t>
            </a:r>
            <a:r>
              <a:rPr lang="en-US" sz="1200" dirty="0"/>
              <a:t>/.</a:t>
            </a:r>
          </a:p>
          <a:p>
            <a:pPr lvl="0"/>
            <a:r>
              <a:rPr lang="en-US" sz="1200" dirty="0"/>
              <a:t>Balassa, B., “The Purchasing Power Parity Doctrine - A </a:t>
            </a:r>
            <a:r>
              <a:rPr lang="en-US" sz="1200" dirty="0" err="1"/>
              <a:t>Reapprais</a:t>
            </a:r>
            <a:r>
              <a:rPr lang="en-US" sz="1200" dirty="0"/>
              <a:t>- al,” </a:t>
            </a:r>
            <a:r>
              <a:rPr lang="en-US" sz="1200" i="1" dirty="0"/>
              <a:t>Journal of Political Economy </a:t>
            </a:r>
            <a:r>
              <a:rPr lang="en-US" sz="1200" b="1" dirty="0"/>
              <a:t>72</a:t>
            </a:r>
            <a:r>
              <a:rPr lang="en-US" sz="1200" dirty="0"/>
              <a:t>, 584-596 (1964). </a:t>
            </a:r>
          </a:p>
          <a:p>
            <a:pPr lvl="0"/>
            <a:r>
              <a:rPr lang="en-US" sz="1200" dirty="0" err="1"/>
              <a:t>Feenstra</a:t>
            </a:r>
            <a:r>
              <a:rPr lang="en-US" sz="1200" dirty="0"/>
              <a:t>, R.; Lipsey, R.; Deng, H.; Ma, A. &amp; Mo, H. “World Trade Flows: 1962-2000” NBER working paper 11040. National Bureau of Economic Research, Cambridge MA (2005). </a:t>
            </a:r>
          </a:p>
          <a:p>
            <a:pPr lvl="0"/>
            <a:r>
              <a:rPr lang="en-US" sz="1200" dirty="0"/>
              <a:t>United Nations Commodity Trade Statistics Database (http://</a:t>
            </a:r>
            <a:r>
              <a:rPr lang="en-US" sz="1200" dirty="0" err="1"/>
              <a:t>comtrade.un.org</a:t>
            </a:r>
            <a:r>
              <a:rPr lang="en-US" sz="1200" dirty="0"/>
              <a:t>/</a:t>
            </a:r>
            <a:r>
              <a:rPr lang="en-US" sz="1200" dirty="0" err="1"/>
              <a:t>db</a:t>
            </a:r>
            <a:r>
              <a:rPr lang="en-US" sz="1200" dirty="0"/>
              <a:t>/), accessed in August 2011. </a:t>
            </a:r>
          </a:p>
          <a:p>
            <a:pPr lvl="0"/>
            <a:r>
              <a:rPr lang="en-US" sz="1200" dirty="0"/>
              <a:t>The World Economic Forum, “The global competitiveness re- port,” (various years). </a:t>
            </a:r>
          </a:p>
          <a:p>
            <a:pPr lvl="0"/>
            <a:r>
              <a:rPr lang="en-US" sz="1200" dirty="0"/>
              <a:t>Barro, R. &amp; Lee, J-W. “A New Data Set of Educational Attainment in the World, 1950-2010,” NBER Working Paper No. 1590 (2010). </a:t>
            </a:r>
          </a:p>
          <a:p>
            <a:pPr lvl="0"/>
            <a:r>
              <a:rPr lang="en-US" sz="1200" dirty="0"/>
              <a:t>Kaufmann, D. &amp; </a:t>
            </a:r>
            <a:r>
              <a:rPr lang="en-US" sz="1200" dirty="0" err="1"/>
              <a:t>Kraay</a:t>
            </a:r>
            <a:r>
              <a:rPr lang="en-US" sz="1200" dirty="0"/>
              <a:t>, A. “Governance Indicators: Where Are We, Where Should We Be Going?” Policy Research Working Paper 4370. Washington, DC: World Bank (2008). </a:t>
            </a:r>
          </a:p>
          <a:p>
            <a:pPr lvl="0"/>
            <a:r>
              <a:rPr lang="en-US" sz="1200" dirty="0"/>
              <a:t>Hanushek, E.A. &amp; </a:t>
            </a:r>
            <a:r>
              <a:rPr lang="en-US" sz="1200" dirty="0" err="1"/>
              <a:t>Woessmann</a:t>
            </a:r>
            <a:r>
              <a:rPr lang="en-US" sz="1200" dirty="0"/>
              <a:t>, L. “The Role of Cognitive Skills in Economic Development,” Journal of Economic Literature 46(3), 607- 668 (2008). </a:t>
            </a:r>
          </a:p>
        </p:txBody>
      </p:sp>
      <p:sp>
        <p:nvSpPr>
          <p:cNvPr id="508" name="Google Shape;508;p3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74</a:t>
            </a:fld>
            <a:endParaRPr/>
          </a:p>
        </p:txBody>
      </p:sp>
    </p:spTree>
    <p:extLst>
      <p:ext uri="{BB962C8B-B14F-4D97-AF65-F5344CB8AC3E}">
        <p14:creationId xmlns:p14="http://schemas.microsoft.com/office/powerpoint/2010/main" val="1686412028"/>
      </p:ext>
    </p:extLst>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730</TotalTime>
  <Words>10265</Words>
  <Application>Microsoft Office PowerPoint</Application>
  <PresentationFormat>On-screen Show (16:9)</PresentationFormat>
  <Paragraphs>669</Paragraphs>
  <Slides>74</Slides>
  <Notes>74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74</vt:i4>
      </vt:variant>
    </vt:vector>
  </HeadingPairs>
  <TitlesOfParts>
    <vt:vector size="82" baseType="lpstr">
      <vt:lpstr>DengXian</vt:lpstr>
      <vt:lpstr>Arial</vt:lpstr>
      <vt:lpstr>Cambria Math</vt:lpstr>
      <vt:lpstr>Maven Pro</vt:lpstr>
      <vt:lpstr>Nunito</vt:lpstr>
      <vt:lpstr>Times New Roman</vt:lpstr>
      <vt:lpstr>Momentum</vt:lpstr>
      <vt:lpstr>文档</vt:lpstr>
      <vt:lpstr>Complexity-based Economic and Production Analysis: Overview and Country Report</vt:lpstr>
      <vt:lpstr>Contents</vt:lpstr>
      <vt:lpstr>1. Overview</vt:lpstr>
      <vt:lpstr>2. Economic Complexity Framework</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2.1 Economic Complexity</vt:lpstr>
      <vt:lpstr>2.2 Production Matrix</vt:lpstr>
      <vt:lpstr>2.2 Production Matrix</vt:lpstr>
      <vt:lpstr>2.3 Diversity and Ubiquity</vt:lpstr>
      <vt:lpstr>2.3 Diversity and Ubiquity</vt:lpstr>
      <vt:lpstr>2.4 Economic &amp; Production Complexity Index</vt:lpstr>
      <vt:lpstr>2.4 Economic &amp; Production Complexity Index</vt:lpstr>
      <vt:lpstr>2.4 Economic &amp; Production Complexity Index</vt:lpstr>
      <vt:lpstr>2.4 Economic &amp; Production Complexity Index</vt:lpstr>
      <vt:lpstr>2.5 Proximity&amp;Distance</vt:lpstr>
      <vt:lpstr>2.5 Proximity&amp;Distance</vt:lpstr>
      <vt:lpstr>2.6 Opportunity Gain</vt:lpstr>
      <vt:lpstr>2.6 Opportunity Gain</vt:lpstr>
      <vt:lpstr>3. Production Analysis</vt:lpstr>
      <vt:lpstr>3.1 Product Categorization</vt:lpstr>
      <vt:lpstr>3.2 Actual Development Index</vt:lpstr>
      <vt:lpstr>3.3 Regional and Global Comparison</vt:lpstr>
      <vt:lpstr>4. Production Space Design</vt:lpstr>
      <vt:lpstr>4.1 Suggested Development Vector</vt:lpstr>
      <vt:lpstr>4.2 Sequential Development Strategy</vt:lpstr>
      <vt:lpstr>4.2 Sequential Development Strategy</vt:lpstr>
      <vt:lpstr>4.3 Sensitivity Analysis</vt:lpstr>
      <vt:lpstr>4.4 Contingency Plan</vt:lpstr>
      <vt:lpstr>5. Macro-level Predictions</vt:lpstr>
      <vt:lpstr>5.1 Structural Optimality Index (SOI)</vt:lpstr>
      <vt:lpstr>5.2 SOI Examples and Implications</vt:lpstr>
      <vt:lpstr>6. Appendix</vt:lpstr>
      <vt:lpstr>6.1 Brazil </vt:lpstr>
      <vt:lpstr>6.2 China </vt:lpstr>
      <vt:lpstr>6.2 China</vt:lpstr>
      <vt:lpstr>6.3 Egypt </vt:lpstr>
      <vt:lpstr>6.4 France </vt:lpstr>
      <vt:lpstr>6.4 France</vt:lpstr>
      <vt:lpstr>6.5 Germany </vt:lpstr>
      <vt:lpstr>6.5 Germany</vt:lpstr>
      <vt:lpstr>6.6 Japan </vt:lpstr>
      <vt:lpstr>6.6 Japan</vt:lpstr>
      <vt:lpstr>6.7 Malaysia </vt:lpstr>
      <vt:lpstr>6.7 Malaysia</vt:lpstr>
      <vt:lpstr>6.8 Mexico </vt:lpstr>
      <vt:lpstr>6.8 Mexico</vt:lpstr>
      <vt:lpstr>6.9 Morocco </vt:lpstr>
      <vt:lpstr>6.10 South Africa </vt:lpstr>
      <vt:lpstr>6.11 South Korea   </vt:lpstr>
      <vt:lpstr>6.11 South Korea</vt:lpstr>
      <vt:lpstr>6.12 Spain </vt:lpstr>
      <vt:lpstr>6.13 Turkey </vt:lpstr>
      <vt:lpstr>6.14 United Arab Emirates </vt:lpstr>
      <vt:lpstr>6.15 USA </vt:lpstr>
      <vt:lpstr>6.15 USA</vt:lpstr>
      <vt:lpstr>7. 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Complexity-based Economic and Production Analysis: Overview and Country Report</dc:title>
  <dc:creator>Administrator</dc:creator>
  <cp:lastModifiedBy>Heyang Huang</cp:lastModifiedBy>
  <cp:revision>42</cp:revision>
  <dcterms:modified xsi:type="dcterms:W3CDTF">2019-10-19T07:20:41Z</dcterms:modified>
</cp:coreProperties>
</file>