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Default Extension="docx" ContentType="application/vnd.openxmlformats-officedocument.wordprocessingml.document"/>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diagrams/layout1.xml" ContentType="application/vnd.openxmlformats-officedocument.drawingml.diagramLayout+xml"/>
  <Override PartName="/ppt/notesSlides/notesSlide7.xml" ContentType="application/vnd.openxmlformats-officedocument.presentationml.notesSlide+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diagrams/layout4.xml" ContentType="application/vnd.openxmlformats-officedocument.drawingml.diagram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diagrams/layout3.xml" ContentType="application/vnd.openxmlformats-officedocument.drawingml.diagramLayout+xml"/>
  <Override PartName="/ppt/notesSlides/notesSlide9.xml" ContentType="application/vnd.openxmlformats-officedocument.presentationml.notesSlide+xml"/>
  <Override PartName="/ppt/diagrams/data4.xml" ContentType="application/vnd.openxmlformats-officedocument.drawingml.diagramData+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diagrams/quickStyle1.xml" ContentType="application/vnd.openxmlformats-officedocument.drawingml.diagramStyl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62"/>
  </p:notesMasterIdLst>
  <p:sldIdLst>
    <p:sldId id="256" r:id="rId2"/>
    <p:sldId id="257" r:id="rId3"/>
    <p:sldId id="258" r:id="rId4"/>
    <p:sldId id="259" r:id="rId5"/>
    <p:sldId id="306" r:id="rId6"/>
    <p:sldId id="316" r:id="rId7"/>
    <p:sldId id="318" r:id="rId8"/>
    <p:sldId id="323" r:id="rId9"/>
    <p:sldId id="319" r:id="rId10"/>
    <p:sldId id="320" r:id="rId11"/>
    <p:sldId id="321" r:id="rId12"/>
    <p:sldId id="307" r:id="rId13"/>
    <p:sldId id="308" r:id="rId14"/>
    <p:sldId id="322" r:id="rId15"/>
    <p:sldId id="324" r:id="rId16"/>
    <p:sldId id="325" r:id="rId17"/>
    <p:sldId id="327" r:id="rId18"/>
    <p:sldId id="309" r:id="rId19"/>
    <p:sldId id="310" r:id="rId20"/>
    <p:sldId id="328" r:id="rId21"/>
    <p:sldId id="329" r:id="rId22"/>
    <p:sldId id="311" r:id="rId23"/>
    <p:sldId id="266" r:id="rId24"/>
    <p:sldId id="267" r:id="rId25"/>
    <p:sldId id="304" r:id="rId26"/>
    <p:sldId id="269" r:id="rId27"/>
    <p:sldId id="270" r:id="rId28"/>
    <p:sldId id="271" r:id="rId29"/>
    <p:sldId id="272" r:id="rId30"/>
    <p:sldId id="273" r:id="rId31"/>
    <p:sldId id="314" r:id="rId32"/>
    <p:sldId id="315" r:id="rId33"/>
    <p:sldId id="276" r:id="rId34"/>
    <p:sldId id="277" r:id="rId35"/>
    <p:sldId id="278" r:id="rId36"/>
    <p:sldId id="279" r:id="rId37"/>
    <p:sldId id="330" r:id="rId38"/>
    <p:sldId id="331" r:id="rId39"/>
    <p:sldId id="332" r:id="rId40"/>
    <p:sldId id="333" r:id="rId41"/>
    <p:sldId id="334" r:id="rId42"/>
    <p:sldId id="335" r:id="rId43"/>
    <p:sldId id="336" r:id="rId44"/>
    <p:sldId id="337" r:id="rId45"/>
    <p:sldId id="338" r:id="rId46"/>
    <p:sldId id="339" r:id="rId47"/>
    <p:sldId id="340" r:id="rId48"/>
    <p:sldId id="341" r:id="rId49"/>
    <p:sldId id="342" r:id="rId50"/>
    <p:sldId id="343" r:id="rId51"/>
    <p:sldId id="344" r:id="rId52"/>
    <p:sldId id="345" r:id="rId53"/>
    <p:sldId id="346" r:id="rId54"/>
    <p:sldId id="347" r:id="rId55"/>
    <p:sldId id="348" r:id="rId56"/>
    <p:sldId id="349" r:id="rId57"/>
    <p:sldId id="350" r:id="rId58"/>
    <p:sldId id="351" r:id="rId59"/>
    <p:sldId id="352" r:id="rId60"/>
    <p:sldId id="353" r:id="rId61"/>
  </p:sldIdLst>
  <p:sldSz cx="9144000" cy="5143500" type="screen16x9"/>
  <p:notesSz cx="6858000" cy="9144000"/>
  <p:embeddedFontLst>
    <p:embeddedFont>
      <p:font typeface="Maven Pro" charset="0"/>
      <p:regular r:id="rId63"/>
      <p:bold r:id="rId64"/>
    </p:embeddedFont>
    <p:embeddedFont>
      <p:font typeface="Nunito"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A6C34FC9-E7BD-4A09-B0FE-A30243956E46}">
  <a:tblStyle styleId="{A6C34FC9-E7BD-4A09-B0FE-A30243956E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85" d="100"/>
          <a:sy n="85" d="100"/>
        </p:scale>
        <p:origin x="-936" y="-9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viewProps" Target="viewProps.xml"/></Relationships>
</file>

<file path=ppt/diagrams/_rels/data3.xml.rels><?xml version="1.0" encoding="UTF-8" standalone="yes"?>
<Relationships xmlns="http://schemas.openxmlformats.org/package/2006/relationships"><Relationship Id="rId1" Type="http://schemas.openxmlformats.org/officeDocument/2006/relationships/image" Target="../media/image3.pn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 Id="rId4" Type="http://schemas.openxmlformats.org/officeDocument/2006/relationships/image" Target="../media/image2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82C8B9-2825-4BE0-9CCB-E8B821A66547}"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63EEA898-3391-41A1-BAA1-B3A4BE35A7CF}">
      <dgm:prSet phldrT="[文本]"/>
      <dgm:spPr/>
      <dgm:t>
        <a:bodyPr/>
        <a:lstStyle/>
        <a:p>
          <a:r>
            <a:rPr lang="en-US" dirty="0" smtClean="0"/>
            <a:t>Global Market</a:t>
          </a:r>
          <a:endParaRPr lang="en-US" dirty="0"/>
        </a:p>
      </dgm:t>
    </dgm:pt>
    <dgm:pt modelId="{D9E312BC-C883-4248-AD27-FE6756D6C9F9}" type="parTrans" cxnId="{C41542B9-6E32-430C-8854-C13013FA5191}">
      <dgm:prSet/>
      <dgm:spPr/>
      <dgm:t>
        <a:bodyPr/>
        <a:lstStyle/>
        <a:p>
          <a:endParaRPr lang="en-US"/>
        </a:p>
      </dgm:t>
    </dgm:pt>
    <dgm:pt modelId="{526CC412-4CFF-4D75-BC6A-C8BF0E25F38D}" type="sibTrans" cxnId="{C41542B9-6E32-430C-8854-C13013FA5191}">
      <dgm:prSet/>
      <dgm:spPr/>
      <dgm:t>
        <a:bodyPr/>
        <a:lstStyle/>
        <a:p>
          <a:endParaRPr lang="en-US"/>
        </a:p>
      </dgm:t>
    </dgm:pt>
    <dgm:pt modelId="{4C71CD87-0DCE-44B4-9317-367C8D8E6E97}">
      <dgm:prSet phldrT="[文本]"/>
      <dgm:spPr/>
      <dgm:t>
        <a:bodyPr/>
        <a:lstStyle/>
        <a:p>
          <a:r>
            <a:rPr lang="en-US" dirty="0" smtClean="0"/>
            <a:t>Productive Knowledge</a:t>
          </a:r>
          <a:endParaRPr lang="en-US" dirty="0"/>
        </a:p>
      </dgm:t>
    </dgm:pt>
    <dgm:pt modelId="{1F7045C4-3176-4CBC-957F-5DAC373E3DE2}" type="parTrans" cxnId="{ED365759-B3FE-4C9C-B381-FD36E4085B73}">
      <dgm:prSet/>
      <dgm:spPr/>
      <dgm:t>
        <a:bodyPr/>
        <a:lstStyle/>
        <a:p>
          <a:endParaRPr lang="en-US"/>
        </a:p>
      </dgm:t>
    </dgm:pt>
    <dgm:pt modelId="{32EFBB8C-7C97-4665-83F7-00D3DEE3E8A4}" type="sibTrans" cxnId="{ED365759-B3FE-4C9C-B381-FD36E4085B73}">
      <dgm:prSet/>
      <dgm:spPr/>
      <dgm:t>
        <a:bodyPr/>
        <a:lstStyle/>
        <a:p>
          <a:endParaRPr lang="en-US"/>
        </a:p>
      </dgm:t>
    </dgm:pt>
    <dgm:pt modelId="{904A4ED5-68B0-4E14-AE56-D82853CC8AD1}">
      <dgm:prSet phldrT="[文本]"/>
      <dgm:spPr/>
      <dgm:t>
        <a:bodyPr/>
        <a:lstStyle/>
        <a:p>
          <a:r>
            <a:rPr lang="en-US" dirty="0" smtClean="0"/>
            <a:t>Productive Knowledge</a:t>
          </a:r>
          <a:endParaRPr lang="en-US" dirty="0"/>
        </a:p>
      </dgm:t>
    </dgm:pt>
    <dgm:pt modelId="{A760213C-CC64-408E-8187-05947D8587BD}" type="parTrans" cxnId="{8178BFCE-9777-4D45-8BC8-0520BE51443D}">
      <dgm:prSet/>
      <dgm:spPr/>
      <dgm:t>
        <a:bodyPr/>
        <a:lstStyle/>
        <a:p>
          <a:endParaRPr lang="en-US"/>
        </a:p>
      </dgm:t>
    </dgm:pt>
    <dgm:pt modelId="{F9CCABF6-D064-45D6-B19C-9B88F6DF3365}" type="sibTrans" cxnId="{8178BFCE-9777-4D45-8BC8-0520BE51443D}">
      <dgm:prSet/>
      <dgm:spPr/>
      <dgm:t>
        <a:bodyPr/>
        <a:lstStyle/>
        <a:p>
          <a:endParaRPr lang="en-US"/>
        </a:p>
      </dgm:t>
    </dgm:pt>
    <dgm:pt modelId="{C0198539-7F0F-47C8-AAFB-27D6B2A46400}">
      <dgm:prSet phldrT="[文本]"/>
      <dgm:spPr/>
      <dgm:t>
        <a:bodyPr/>
        <a:lstStyle/>
        <a:p>
          <a:r>
            <a:rPr lang="en-US" dirty="0" smtClean="0"/>
            <a:t>Productive Knowledge</a:t>
          </a:r>
          <a:endParaRPr lang="en-US" dirty="0"/>
        </a:p>
      </dgm:t>
    </dgm:pt>
    <dgm:pt modelId="{CDC9E112-93B6-42C5-9C06-8DE51856744E}" type="parTrans" cxnId="{36B21F06-FBBD-4332-8CB2-92F7E72BD1E3}">
      <dgm:prSet/>
      <dgm:spPr/>
      <dgm:t>
        <a:bodyPr/>
        <a:lstStyle/>
        <a:p>
          <a:endParaRPr lang="en-US"/>
        </a:p>
      </dgm:t>
    </dgm:pt>
    <dgm:pt modelId="{7D169380-F28A-46C9-9A7B-195B2A71681C}" type="sibTrans" cxnId="{36B21F06-FBBD-4332-8CB2-92F7E72BD1E3}">
      <dgm:prSet/>
      <dgm:spPr/>
      <dgm:t>
        <a:bodyPr/>
        <a:lstStyle/>
        <a:p>
          <a:endParaRPr lang="en-US"/>
        </a:p>
      </dgm:t>
    </dgm:pt>
    <dgm:pt modelId="{8056C76B-B324-4C42-A215-7C7D83D3BCFE}" type="pres">
      <dgm:prSet presAssocID="{0082C8B9-2825-4BE0-9CCB-E8B821A66547}" presName="Name0" presStyleCnt="0">
        <dgm:presLayoutVars>
          <dgm:chMax val="1"/>
          <dgm:dir/>
          <dgm:animLvl val="ctr"/>
          <dgm:resizeHandles val="exact"/>
        </dgm:presLayoutVars>
      </dgm:prSet>
      <dgm:spPr/>
    </dgm:pt>
    <dgm:pt modelId="{8DBE8EEF-A7D1-4E22-9829-7290C5F3E5F2}" type="pres">
      <dgm:prSet presAssocID="{63EEA898-3391-41A1-BAA1-B3A4BE35A7CF}" presName="centerShape" presStyleLbl="node0" presStyleIdx="0" presStyleCnt="1"/>
      <dgm:spPr/>
    </dgm:pt>
    <dgm:pt modelId="{574C4CD3-0CF4-4DE4-8886-A8646360B222}" type="pres">
      <dgm:prSet presAssocID="{4C71CD87-0DCE-44B4-9317-367C8D8E6E97}" presName="node" presStyleLbl="node1" presStyleIdx="0" presStyleCnt="3">
        <dgm:presLayoutVars>
          <dgm:bulletEnabled val="1"/>
        </dgm:presLayoutVars>
      </dgm:prSet>
      <dgm:spPr/>
      <dgm:t>
        <a:bodyPr/>
        <a:lstStyle/>
        <a:p>
          <a:endParaRPr lang="en-US"/>
        </a:p>
      </dgm:t>
    </dgm:pt>
    <dgm:pt modelId="{9D744724-6E30-47E2-A200-5F3D373D912F}" type="pres">
      <dgm:prSet presAssocID="{4C71CD87-0DCE-44B4-9317-367C8D8E6E97}" presName="dummy" presStyleCnt="0"/>
      <dgm:spPr/>
    </dgm:pt>
    <dgm:pt modelId="{AC7D7C24-558A-474F-A7BE-EB29ED81367E}" type="pres">
      <dgm:prSet presAssocID="{32EFBB8C-7C97-4665-83F7-00D3DEE3E8A4}" presName="sibTrans" presStyleLbl="sibTrans2D1" presStyleIdx="0" presStyleCnt="3"/>
      <dgm:spPr/>
    </dgm:pt>
    <dgm:pt modelId="{29E208B9-80DE-4D15-A71F-77D2694D4FF6}" type="pres">
      <dgm:prSet presAssocID="{904A4ED5-68B0-4E14-AE56-D82853CC8AD1}" presName="node" presStyleLbl="node1" presStyleIdx="1" presStyleCnt="3">
        <dgm:presLayoutVars>
          <dgm:bulletEnabled val="1"/>
        </dgm:presLayoutVars>
      </dgm:prSet>
      <dgm:spPr/>
    </dgm:pt>
    <dgm:pt modelId="{A902DB86-394E-4B6D-850D-4FAC48D9649D}" type="pres">
      <dgm:prSet presAssocID="{904A4ED5-68B0-4E14-AE56-D82853CC8AD1}" presName="dummy" presStyleCnt="0"/>
      <dgm:spPr/>
    </dgm:pt>
    <dgm:pt modelId="{272583DB-2020-4E7C-A0A9-E2C5169691F2}" type="pres">
      <dgm:prSet presAssocID="{F9CCABF6-D064-45D6-B19C-9B88F6DF3365}" presName="sibTrans" presStyleLbl="sibTrans2D1" presStyleIdx="1" presStyleCnt="3"/>
      <dgm:spPr/>
    </dgm:pt>
    <dgm:pt modelId="{9ADA9254-0284-4578-92B1-D34B714BB44E}" type="pres">
      <dgm:prSet presAssocID="{C0198539-7F0F-47C8-AAFB-27D6B2A46400}" presName="node" presStyleLbl="node1" presStyleIdx="2" presStyleCnt="3">
        <dgm:presLayoutVars>
          <dgm:bulletEnabled val="1"/>
        </dgm:presLayoutVars>
      </dgm:prSet>
      <dgm:spPr/>
      <dgm:t>
        <a:bodyPr/>
        <a:lstStyle/>
        <a:p>
          <a:endParaRPr lang="en-US"/>
        </a:p>
      </dgm:t>
    </dgm:pt>
    <dgm:pt modelId="{E5E08376-28AB-41D3-B5A5-7BE83A35CE91}" type="pres">
      <dgm:prSet presAssocID="{C0198539-7F0F-47C8-AAFB-27D6B2A46400}" presName="dummy" presStyleCnt="0"/>
      <dgm:spPr/>
    </dgm:pt>
    <dgm:pt modelId="{F4E641C5-9E38-43FA-9F04-D629BB9CD19C}" type="pres">
      <dgm:prSet presAssocID="{7D169380-F28A-46C9-9A7B-195B2A71681C}" presName="sibTrans" presStyleLbl="sibTrans2D1" presStyleIdx="2" presStyleCnt="3"/>
      <dgm:spPr/>
    </dgm:pt>
  </dgm:ptLst>
  <dgm:cxnLst>
    <dgm:cxn modelId="{D3D9C2BA-197F-438E-A273-95B91B0B5C05}" type="presOf" srcId="{0082C8B9-2825-4BE0-9CCB-E8B821A66547}" destId="{8056C76B-B324-4C42-A215-7C7D83D3BCFE}" srcOrd="0" destOrd="0" presId="urn:microsoft.com/office/officeart/2005/8/layout/radial6"/>
    <dgm:cxn modelId="{77599A39-6AF6-466C-9197-27E0549543A8}" type="presOf" srcId="{63EEA898-3391-41A1-BAA1-B3A4BE35A7CF}" destId="{8DBE8EEF-A7D1-4E22-9829-7290C5F3E5F2}" srcOrd="0" destOrd="0" presId="urn:microsoft.com/office/officeart/2005/8/layout/radial6"/>
    <dgm:cxn modelId="{F048D662-7CD2-458C-A8E5-77A494873C92}" type="presOf" srcId="{C0198539-7F0F-47C8-AAFB-27D6B2A46400}" destId="{9ADA9254-0284-4578-92B1-D34B714BB44E}" srcOrd="0" destOrd="0" presId="urn:microsoft.com/office/officeart/2005/8/layout/radial6"/>
    <dgm:cxn modelId="{E225C554-10A5-4F63-9E94-430E3E97F79E}" type="presOf" srcId="{F9CCABF6-D064-45D6-B19C-9B88F6DF3365}" destId="{272583DB-2020-4E7C-A0A9-E2C5169691F2}" srcOrd="0" destOrd="0" presId="urn:microsoft.com/office/officeart/2005/8/layout/radial6"/>
    <dgm:cxn modelId="{8178BFCE-9777-4D45-8BC8-0520BE51443D}" srcId="{63EEA898-3391-41A1-BAA1-B3A4BE35A7CF}" destId="{904A4ED5-68B0-4E14-AE56-D82853CC8AD1}" srcOrd="1" destOrd="0" parTransId="{A760213C-CC64-408E-8187-05947D8587BD}" sibTransId="{F9CCABF6-D064-45D6-B19C-9B88F6DF3365}"/>
    <dgm:cxn modelId="{36B21F06-FBBD-4332-8CB2-92F7E72BD1E3}" srcId="{63EEA898-3391-41A1-BAA1-B3A4BE35A7CF}" destId="{C0198539-7F0F-47C8-AAFB-27D6B2A46400}" srcOrd="2" destOrd="0" parTransId="{CDC9E112-93B6-42C5-9C06-8DE51856744E}" sibTransId="{7D169380-F28A-46C9-9A7B-195B2A71681C}"/>
    <dgm:cxn modelId="{5B8D9C2F-7A1D-4E32-A2D3-08E485A2EEB3}" type="presOf" srcId="{4C71CD87-0DCE-44B4-9317-367C8D8E6E97}" destId="{574C4CD3-0CF4-4DE4-8886-A8646360B222}" srcOrd="0" destOrd="0" presId="urn:microsoft.com/office/officeart/2005/8/layout/radial6"/>
    <dgm:cxn modelId="{45069009-FE60-467C-878A-570911117769}" type="presOf" srcId="{32EFBB8C-7C97-4665-83F7-00D3DEE3E8A4}" destId="{AC7D7C24-558A-474F-A7BE-EB29ED81367E}" srcOrd="0" destOrd="0" presId="urn:microsoft.com/office/officeart/2005/8/layout/radial6"/>
    <dgm:cxn modelId="{ED365759-B3FE-4C9C-B381-FD36E4085B73}" srcId="{63EEA898-3391-41A1-BAA1-B3A4BE35A7CF}" destId="{4C71CD87-0DCE-44B4-9317-367C8D8E6E97}" srcOrd="0" destOrd="0" parTransId="{1F7045C4-3176-4CBC-957F-5DAC373E3DE2}" sibTransId="{32EFBB8C-7C97-4665-83F7-00D3DEE3E8A4}"/>
    <dgm:cxn modelId="{6984EB02-F743-4C1E-ABDE-50F41C24F3BC}" type="presOf" srcId="{904A4ED5-68B0-4E14-AE56-D82853CC8AD1}" destId="{29E208B9-80DE-4D15-A71F-77D2694D4FF6}" srcOrd="0" destOrd="0" presId="urn:microsoft.com/office/officeart/2005/8/layout/radial6"/>
    <dgm:cxn modelId="{C44FBEE3-899F-4A43-A021-C742C39E1D20}" type="presOf" srcId="{7D169380-F28A-46C9-9A7B-195B2A71681C}" destId="{F4E641C5-9E38-43FA-9F04-D629BB9CD19C}" srcOrd="0" destOrd="0" presId="urn:microsoft.com/office/officeart/2005/8/layout/radial6"/>
    <dgm:cxn modelId="{C41542B9-6E32-430C-8854-C13013FA5191}" srcId="{0082C8B9-2825-4BE0-9CCB-E8B821A66547}" destId="{63EEA898-3391-41A1-BAA1-B3A4BE35A7CF}" srcOrd="0" destOrd="0" parTransId="{D9E312BC-C883-4248-AD27-FE6756D6C9F9}" sibTransId="{526CC412-4CFF-4D75-BC6A-C8BF0E25F38D}"/>
    <dgm:cxn modelId="{36095366-8BA4-4FD2-82C5-11769C64F5F6}" type="presParOf" srcId="{8056C76B-B324-4C42-A215-7C7D83D3BCFE}" destId="{8DBE8EEF-A7D1-4E22-9829-7290C5F3E5F2}" srcOrd="0" destOrd="0" presId="urn:microsoft.com/office/officeart/2005/8/layout/radial6"/>
    <dgm:cxn modelId="{1364FE7F-61EB-4DDD-AB44-73884669F352}" type="presParOf" srcId="{8056C76B-B324-4C42-A215-7C7D83D3BCFE}" destId="{574C4CD3-0CF4-4DE4-8886-A8646360B222}" srcOrd="1" destOrd="0" presId="urn:microsoft.com/office/officeart/2005/8/layout/radial6"/>
    <dgm:cxn modelId="{E58934FC-4D2B-4D47-A208-3F5E2C7A3842}" type="presParOf" srcId="{8056C76B-B324-4C42-A215-7C7D83D3BCFE}" destId="{9D744724-6E30-47E2-A200-5F3D373D912F}" srcOrd="2" destOrd="0" presId="urn:microsoft.com/office/officeart/2005/8/layout/radial6"/>
    <dgm:cxn modelId="{D25042F6-1741-4CB5-A3AD-661E500F16FC}" type="presParOf" srcId="{8056C76B-B324-4C42-A215-7C7D83D3BCFE}" destId="{AC7D7C24-558A-474F-A7BE-EB29ED81367E}" srcOrd="3" destOrd="0" presId="urn:microsoft.com/office/officeart/2005/8/layout/radial6"/>
    <dgm:cxn modelId="{5EC6A8FC-10B8-4021-99B7-983A283F470B}" type="presParOf" srcId="{8056C76B-B324-4C42-A215-7C7D83D3BCFE}" destId="{29E208B9-80DE-4D15-A71F-77D2694D4FF6}" srcOrd="4" destOrd="0" presId="urn:microsoft.com/office/officeart/2005/8/layout/radial6"/>
    <dgm:cxn modelId="{3340F613-93AC-4930-B47E-3AABD212A295}" type="presParOf" srcId="{8056C76B-B324-4C42-A215-7C7D83D3BCFE}" destId="{A902DB86-394E-4B6D-850D-4FAC48D9649D}" srcOrd="5" destOrd="0" presId="urn:microsoft.com/office/officeart/2005/8/layout/radial6"/>
    <dgm:cxn modelId="{6CFDC459-0992-40A2-B617-B1C4A5675F4C}" type="presParOf" srcId="{8056C76B-B324-4C42-A215-7C7D83D3BCFE}" destId="{272583DB-2020-4E7C-A0A9-E2C5169691F2}" srcOrd="6" destOrd="0" presId="urn:microsoft.com/office/officeart/2005/8/layout/radial6"/>
    <dgm:cxn modelId="{D223AA93-0CFA-4AF3-83AD-80C2B0B63A84}" type="presParOf" srcId="{8056C76B-B324-4C42-A215-7C7D83D3BCFE}" destId="{9ADA9254-0284-4578-92B1-D34B714BB44E}" srcOrd="7" destOrd="0" presId="urn:microsoft.com/office/officeart/2005/8/layout/radial6"/>
    <dgm:cxn modelId="{FB29CBAB-8260-4DC7-A8F5-EFEFC6486286}" type="presParOf" srcId="{8056C76B-B324-4C42-A215-7C7D83D3BCFE}" destId="{E5E08376-28AB-41D3-B5A5-7BE83A35CE91}" srcOrd="8" destOrd="0" presId="urn:microsoft.com/office/officeart/2005/8/layout/radial6"/>
    <dgm:cxn modelId="{8D911C6C-07E1-4F6E-8E9E-7686B31EAF5D}" type="presParOf" srcId="{8056C76B-B324-4C42-A215-7C7D83D3BCFE}" destId="{F4E641C5-9E38-43FA-9F04-D629BB9CD19C}" srcOrd="9" destOrd="0" presId="urn:microsoft.com/office/officeart/2005/8/layout/radial6"/>
  </dgm:cxnLst>
  <dgm:bg/>
  <dgm:whole/>
</dgm:dataModel>
</file>

<file path=ppt/diagrams/data2.xml><?xml version="1.0" encoding="utf-8"?>
<dgm:dataModel xmlns:dgm="http://schemas.openxmlformats.org/drawingml/2006/diagram" xmlns:a="http://schemas.openxmlformats.org/drawingml/2006/main">
  <dgm:ptLst>
    <dgm:pt modelId="{BEEFE4BC-9AC6-4A00-9EA2-F9BEB957529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940FDEC-0139-4E38-BFAD-D6D83B29A3FE}">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smtClean="0">
              <a:latin typeface="Times New Roman" pitchFamily="18" charset="0"/>
              <a:cs typeface="Times New Roman" pitchFamily="18" charset="0"/>
            </a:rPr>
            <a:t>Explicit Knowledge </a:t>
          </a:r>
        </a:p>
        <a:p>
          <a:r>
            <a:rPr lang="en-US" sz="1400" dirty="0" smtClean="0"/>
            <a:t>that can be transferred easily by reading and listening </a:t>
          </a:r>
          <a:endParaRPr lang="en-US" sz="1400" dirty="0"/>
        </a:p>
      </dgm:t>
    </dgm:pt>
    <dgm:pt modelId="{169F7DBB-3212-4F63-8172-764E0BC9881D}" type="parTrans" cxnId="{0AAFCD12-AB41-49C2-9767-E53E6FBCD2D0}">
      <dgm:prSet/>
      <dgm:spPr/>
      <dgm:t>
        <a:bodyPr/>
        <a:lstStyle/>
        <a:p>
          <a:endParaRPr lang="en-US"/>
        </a:p>
      </dgm:t>
    </dgm:pt>
    <dgm:pt modelId="{92941C4D-A869-441D-BBEA-42A4403D14FA}" type="sibTrans" cxnId="{0AAFCD12-AB41-49C2-9767-E53E6FBCD2D0}">
      <dgm:prSet/>
      <dgm:spPr/>
      <dgm:t>
        <a:bodyPr/>
        <a:lstStyle/>
        <a:p>
          <a:endParaRPr lang="en-US"/>
        </a:p>
      </dgm:t>
    </dgm:pt>
    <dgm:pt modelId="{DD5A7799-9724-4C06-B3BA-7AFC6D28E9EC}">
      <dgm:prSet phldrT="[文本]" custT="1"/>
      <dgm:spPr/>
      <dgm:t>
        <a:bodyPr/>
        <a:lstStyle/>
        <a:p>
          <a:r>
            <a:rPr lang="en-US" sz="1500" b="0" dirty="0" smtClean="0">
              <a:latin typeface="Times New Roman" pitchFamily="18" charset="0"/>
              <a:cs typeface="Times New Roman" pitchFamily="18" charset="0"/>
            </a:rPr>
            <a:t>Weather forecast</a:t>
          </a:r>
          <a:endParaRPr lang="en-US" sz="1500" b="0" dirty="0"/>
        </a:p>
      </dgm:t>
    </dgm:pt>
    <dgm:pt modelId="{B9FBBF5A-85C5-4120-9770-CFB0368B83E3}" type="parTrans" cxnId="{4C610D39-FB86-4C8A-B338-93906458DFC8}">
      <dgm:prSet/>
      <dgm:spPr/>
      <dgm:t>
        <a:bodyPr/>
        <a:lstStyle/>
        <a:p>
          <a:endParaRPr lang="en-US"/>
        </a:p>
      </dgm:t>
    </dgm:pt>
    <dgm:pt modelId="{3FB916CA-ED4B-42DC-ADAB-0037EB18C160}" type="sibTrans" cxnId="{4C610D39-FB86-4C8A-B338-93906458DFC8}">
      <dgm:prSet/>
      <dgm:spPr/>
      <dgm:t>
        <a:bodyPr/>
        <a:lstStyle/>
        <a:p>
          <a:endParaRPr lang="en-US"/>
        </a:p>
      </dgm:t>
    </dgm:pt>
    <dgm:pt modelId="{6E340110-F949-43FD-9638-730AAA1E98E1}">
      <dgm:prSet phldrT="[文本]" custT="1"/>
      <dgm:spPr/>
      <dgm:t>
        <a:bodyPr/>
        <a:lstStyle/>
        <a:p>
          <a:r>
            <a:rPr lang="en-US" sz="1500" b="0" dirty="0" smtClean="0">
              <a:latin typeface="Times New Roman" pitchFamily="18" charset="0"/>
              <a:cs typeface="Times New Roman" pitchFamily="18" charset="0"/>
            </a:rPr>
            <a:t>Bus schedule</a:t>
          </a:r>
          <a:endParaRPr lang="en-US" sz="1500" b="0" dirty="0"/>
        </a:p>
      </dgm:t>
    </dgm:pt>
    <dgm:pt modelId="{0F799EF7-F9E0-432B-A76C-54740CD52A39}" type="parTrans" cxnId="{59622FAC-1DAE-4D35-91F8-4F5C9489A486}">
      <dgm:prSet/>
      <dgm:spPr/>
      <dgm:t>
        <a:bodyPr/>
        <a:lstStyle/>
        <a:p>
          <a:endParaRPr lang="en-US"/>
        </a:p>
      </dgm:t>
    </dgm:pt>
    <dgm:pt modelId="{01D86F74-AFE2-4265-8E0B-59EEA6C9B433}" type="sibTrans" cxnId="{59622FAC-1DAE-4D35-91F8-4F5C9489A486}">
      <dgm:prSet/>
      <dgm:spPr/>
      <dgm:t>
        <a:bodyPr/>
        <a:lstStyle/>
        <a:p>
          <a:endParaRPr lang="en-US"/>
        </a:p>
      </dgm:t>
    </dgm:pt>
    <dgm:pt modelId="{7A4897DD-A1A3-42BD-B9F6-D9177EC2C7BA}">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smtClean="0">
              <a:solidFill>
                <a:schemeClr val="tx2">
                  <a:lumMod val="75000"/>
                </a:schemeClr>
              </a:solidFill>
              <a:latin typeface="Times New Roman" pitchFamily="18" charset="0"/>
              <a:cs typeface="Times New Roman" pitchFamily="18" charset="0"/>
            </a:rPr>
            <a:t>Tacit Knowledge</a:t>
          </a:r>
        </a:p>
        <a:p>
          <a:r>
            <a:rPr lang="en-US" sz="1400" dirty="0" smtClean="0">
              <a:solidFill>
                <a:schemeClr val="tx2">
                  <a:lumMod val="75000"/>
                </a:schemeClr>
              </a:solidFill>
            </a:rPr>
            <a:t>that requires a systematic and time-consuming learning process to transfer</a:t>
          </a:r>
          <a:endParaRPr lang="en-US" sz="1400" dirty="0"/>
        </a:p>
      </dgm:t>
    </dgm:pt>
    <dgm:pt modelId="{98E697CE-B8A8-4ED3-A275-6EE1F70B1423}" type="parTrans" cxnId="{115F90A0-10CD-4EFB-9522-F7C0BCAEFEFD}">
      <dgm:prSet/>
      <dgm:spPr/>
      <dgm:t>
        <a:bodyPr/>
        <a:lstStyle/>
        <a:p>
          <a:endParaRPr lang="en-US"/>
        </a:p>
      </dgm:t>
    </dgm:pt>
    <dgm:pt modelId="{AA8FA16A-F906-4C17-A743-F863EF6FE4F5}" type="sibTrans" cxnId="{115F90A0-10CD-4EFB-9522-F7C0BCAEFEFD}">
      <dgm:prSet/>
      <dgm:spPr/>
      <dgm:t>
        <a:bodyPr/>
        <a:lstStyle/>
        <a:p>
          <a:endParaRPr lang="en-US"/>
        </a:p>
      </dgm:t>
    </dgm:pt>
    <dgm:pt modelId="{749591BD-C6CB-45EA-9E28-EABF8B5D0AB1}">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Semiconductor Manufacturing</a:t>
          </a:r>
          <a:endParaRPr lang="en-US" sz="1500" b="0" dirty="0"/>
        </a:p>
      </dgm:t>
    </dgm:pt>
    <dgm:pt modelId="{FF20FA23-4B15-4150-97D9-DBBEA1FDF210}" type="parTrans" cxnId="{464AC756-1258-40BA-AA9F-8CB11269C380}">
      <dgm:prSet/>
      <dgm:spPr/>
      <dgm:t>
        <a:bodyPr/>
        <a:lstStyle/>
        <a:p>
          <a:endParaRPr lang="en-US"/>
        </a:p>
      </dgm:t>
    </dgm:pt>
    <dgm:pt modelId="{D97AB591-C6BA-4CDF-A350-7645153E136D}" type="sibTrans" cxnId="{464AC756-1258-40BA-AA9F-8CB11269C380}">
      <dgm:prSet/>
      <dgm:spPr/>
      <dgm:t>
        <a:bodyPr/>
        <a:lstStyle/>
        <a:p>
          <a:endParaRPr lang="en-US"/>
        </a:p>
      </dgm:t>
    </dgm:pt>
    <dgm:pt modelId="{890FD861-D011-4575-A639-9EEC7258B85F}">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Shell oil drilling</a:t>
          </a:r>
          <a:endParaRPr lang="en-US" sz="1500" b="0" dirty="0"/>
        </a:p>
      </dgm:t>
    </dgm:pt>
    <dgm:pt modelId="{B104B590-7ADB-4EAD-80BC-FA766D811515}" type="parTrans" cxnId="{6CEF945C-DCD6-417E-9D67-45A1F82D2413}">
      <dgm:prSet/>
      <dgm:spPr/>
      <dgm:t>
        <a:bodyPr/>
        <a:lstStyle/>
        <a:p>
          <a:endParaRPr lang="en-US"/>
        </a:p>
      </dgm:t>
    </dgm:pt>
    <dgm:pt modelId="{14038BEE-4000-4350-AD62-29A3A277AA10}" type="sibTrans" cxnId="{6CEF945C-DCD6-417E-9D67-45A1F82D2413}">
      <dgm:prSet/>
      <dgm:spPr/>
      <dgm:t>
        <a:bodyPr/>
        <a:lstStyle/>
        <a:p>
          <a:endParaRPr lang="en-US"/>
        </a:p>
      </dgm:t>
    </dgm:pt>
    <dgm:pt modelId="{FD598696-E7A3-401D-9C51-B6AE5CB4929A}">
      <dgm:prSet phldrT="[文本]" custT="1"/>
      <dgm:spPr/>
      <dgm:t>
        <a:bodyPr/>
        <a:lstStyle/>
        <a:p>
          <a:r>
            <a:rPr lang="en-US" sz="1500" b="0" dirty="0" smtClean="0">
              <a:latin typeface="Times New Roman" pitchFamily="18" charset="0"/>
              <a:cs typeface="Times New Roman" pitchFamily="18" charset="0"/>
            </a:rPr>
            <a:t>History of a building</a:t>
          </a:r>
        </a:p>
        <a:p>
          <a:endParaRPr lang="en-US" sz="1700" dirty="0"/>
        </a:p>
      </dgm:t>
    </dgm:pt>
    <dgm:pt modelId="{B4DA268A-348E-4B97-A002-E6943BD8921D}" type="parTrans" cxnId="{C67125FC-E7DE-4F95-A3E5-E21EB76E2AC5}">
      <dgm:prSet/>
      <dgm:spPr/>
      <dgm:t>
        <a:bodyPr/>
        <a:lstStyle/>
        <a:p>
          <a:endParaRPr lang="en-US"/>
        </a:p>
      </dgm:t>
    </dgm:pt>
    <dgm:pt modelId="{337B92FF-5A36-4E30-AC4C-9B0A268247D6}" type="sibTrans" cxnId="{C67125FC-E7DE-4F95-A3E5-E21EB76E2AC5}">
      <dgm:prSet/>
      <dgm:spPr/>
      <dgm:t>
        <a:bodyPr/>
        <a:lstStyle/>
        <a:p>
          <a:endParaRPr lang="en-US"/>
        </a:p>
      </dgm:t>
    </dgm:pt>
    <dgm:pt modelId="{FDA20682-50AD-4A0C-A676-64E17C03D272}">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Foreign Language</a:t>
          </a:r>
          <a:endParaRPr lang="en-US" sz="1500" b="0" dirty="0"/>
        </a:p>
      </dgm:t>
    </dgm:pt>
    <dgm:pt modelId="{D30DE4D3-08AE-48EF-B605-2AFF3FC599D8}" type="parTrans" cxnId="{E88E8161-3B50-46AE-8507-1B88C8886085}">
      <dgm:prSet/>
      <dgm:spPr/>
      <dgm:t>
        <a:bodyPr/>
        <a:lstStyle/>
        <a:p>
          <a:endParaRPr lang="en-US"/>
        </a:p>
      </dgm:t>
    </dgm:pt>
    <dgm:pt modelId="{8ACE71F8-FE88-4ADE-A59B-CD68B0FAC6E5}" type="sibTrans" cxnId="{E88E8161-3B50-46AE-8507-1B88C8886085}">
      <dgm:prSet/>
      <dgm:spPr/>
      <dgm:t>
        <a:bodyPr/>
        <a:lstStyle/>
        <a:p>
          <a:endParaRPr lang="en-US"/>
        </a:p>
      </dgm:t>
    </dgm:pt>
    <dgm:pt modelId="{850A2368-1E44-4198-B6C4-F63BDCD06CFC}" type="pres">
      <dgm:prSet presAssocID="{BEEFE4BC-9AC6-4A00-9EA2-F9BEB9575291}" presName="Name0" presStyleCnt="0">
        <dgm:presLayoutVars>
          <dgm:dir/>
          <dgm:animLvl val="lvl"/>
          <dgm:resizeHandles/>
        </dgm:presLayoutVars>
      </dgm:prSet>
      <dgm:spPr/>
      <dgm:t>
        <a:bodyPr/>
        <a:lstStyle/>
        <a:p>
          <a:endParaRPr lang="en-US"/>
        </a:p>
      </dgm:t>
    </dgm:pt>
    <dgm:pt modelId="{79E3B880-F3A0-402B-8DEF-99BF3CFB1D32}" type="pres">
      <dgm:prSet presAssocID="{E940FDEC-0139-4E38-BFAD-D6D83B29A3FE}" presName="linNode" presStyleCnt="0"/>
      <dgm:spPr/>
    </dgm:pt>
    <dgm:pt modelId="{B149B8D9-A763-438C-81C6-A386D4F4AEBE}" type="pres">
      <dgm:prSet presAssocID="{E940FDEC-0139-4E38-BFAD-D6D83B29A3FE}" presName="parentShp" presStyleLbl="node1" presStyleIdx="0" presStyleCnt="2">
        <dgm:presLayoutVars>
          <dgm:bulletEnabled val="1"/>
        </dgm:presLayoutVars>
      </dgm:prSet>
      <dgm:spPr/>
      <dgm:t>
        <a:bodyPr/>
        <a:lstStyle/>
        <a:p>
          <a:endParaRPr lang="en-US"/>
        </a:p>
      </dgm:t>
    </dgm:pt>
    <dgm:pt modelId="{712B1E9D-CF8B-4111-A7CD-A72110DC7CB1}" type="pres">
      <dgm:prSet presAssocID="{E940FDEC-0139-4E38-BFAD-D6D83B29A3FE}" presName="childShp" presStyleLbl="bgAccFollowNode1" presStyleIdx="0" presStyleCnt="2">
        <dgm:presLayoutVars>
          <dgm:bulletEnabled val="1"/>
        </dgm:presLayoutVars>
      </dgm:prSet>
      <dgm:spPr/>
      <dgm:t>
        <a:bodyPr/>
        <a:lstStyle/>
        <a:p>
          <a:endParaRPr lang="en-US"/>
        </a:p>
      </dgm:t>
    </dgm:pt>
    <dgm:pt modelId="{435E6E54-57B6-482C-887E-BC852175CCB3}" type="pres">
      <dgm:prSet presAssocID="{92941C4D-A869-441D-BBEA-42A4403D14FA}" presName="spacing" presStyleCnt="0"/>
      <dgm:spPr/>
    </dgm:pt>
    <dgm:pt modelId="{761C6225-6544-4376-8433-5F26351E355D}" type="pres">
      <dgm:prSet presAssocID="{7A4897DD-A1A3-42BD-B9F6-D9177EC2C7BA}" presName="linNode" presStyleCnt="0"/>
      <dgm:spPr/>
    </dgm:pt>
    <dgm:pt modelId="{C03136D6-45A6-4866-95A7-4560965D0A89}" type="pres">
      <dgm:prSet presAssocID="{7A4897DD-A1A3-42BD-B9F6-D9177EC2C7BA}" presName="parentShp" presStyleLbl="node1" presStyleIdx="1" presStyleCnt="2">
        <dgm:presLayoutVars>
          <dgm:bulletEnabled val="1"/>
        </dgm:presLayoutVars>
      </dgm:prSet>
      <dgm:spPr/>
      <dgm:t>
        <a:bodyPr/>
        <a:lstStyle/>
        <a:p>
          <a:endParaRPr lang="en-US"/>
        </a:p>
      </dgm:t>
    </dgm:pt>
    <dgm:pt modelId="{2BFEFF0C-7376-414E-9680-9E855C24B267}" type="pres">
      <dgm:prSet presAssocID="{7A4897DD-A1A3-42BD-B9F6-D9177EC2C7BA}" presName="childShp" presStyleLbl="bgAccFollowNode1" presStyleIdx="1" presStyleCnt="2">
        <dgm:presLayoutVars>
          <dgm:bulletEnabled val="1"/>
        </dgm:presLayoutVars>
      </dgm:prSet>
      <dgm:spPr/>
      <dgm:t>
        <a:bodyPr/>
        <a:lstStyle/>
        <a:p>
          <a:endParaRPr lang="en-US"/>
        </a:p>
      </dgm:t>
    </dgm:pt>
  </dgm:ptLst>
  <dgm:cxnLst>
    <dgm:cxn modelId="{3E8AC848-D25A-4782-93E8-C32E2304B378}" type="presOf" srcId="{6E340110-F949-43FD-9638-730AAA1E98E1}" destId="{712B1E9D-CF8B-4111-A7CD-A72110DC7CB1}" srcOrd="0" destOrd="1" presId="urn:microsoft.com/office/officeart/2005/8/layout/vList6"/>
    <dgm:cxn modelId="{9C2DA73B-B780-4A97-AB55-3BFE776B1562}" type="presOf" srcId="{FD598696-E7A3-401D-9C51-B6AE5CB4929A}" destId="{712B1E9D-CF8B-4111-A7CD-A72110DC7CB1}" srcOrd="0" destOrd="2" presId="urn:microsoft.com/office/officeart/2005/8/layout/vList6"/>
    <dgm:cxn modelId="{F862C10E-274C-4B4F-AA42-2672FC0E6E1C}" type="presOf" srcId="{FDA20682-50AD-4A0C-A676-64E17C03D272}" destId="{2BFEFF0C-7376-414E-9680-9E855C24B267}" srcOrd="0" destOrd="2" presId="urn:microsoft.com/office/officeart/2005/8/layout/vList6"/>
    <dgm:cxn modelId="{4C610D39-FB86-4C8A-B338-93906458DFC8}" srcId="{E940FDEC-0139-4E38-BFAD-D6D83B29A3FE}" destId="{DD5A7799-9724-4C06-B3BA-7AFC6D28E9EC}" srcOrd="0" destOrd="0" parTransId="{B9FBBF5A-85C5-4120-9770-CFB0368B83E3}" sibTransId="{3FB916CA-ED4B-42DC-ADAB-0037EB18C160}"/>
    <dgm:cxn modelId="{FE83BF5D-9601-4BBE-B76E-2C4B67C4DEF6}" type="presOf" srcId="{890FD861-D011-4575-A639-9EEC7258B85F}" destId="{2BFEFF0C-7376-414E-9680-9E855C24B267}" srcOrd="0" destOrd="1" presId="urn:microsoft.com/office/officeart/2005/8/layout/vList6"/>
    <dgm:cxn modelId="{59622FAC-1DAE-4D35-91F8-4F5C9489A486}" srcId="{E940FDEC-0139-4E38-BFAD-D6D83B29A3FE}" destId="{6E340110-F949-43FD-9638-730AAA1E98E1}" srcOrd="1" destOrd="0" parTransId="{0F799EF7-F9E0-432B-A76C-54740CD52A39}" sibTransId="{01D86F74-AFE2-4265-8E0B-59EEA6C9B433}"/>
    <dgm:cxn modelId="{C67125FC-E7DE-4F95-A3E5-E21EB76E2AC5}" srcId="{E940FDEC-0139-4E38-BFAD-D6D83B29A3FE}" destId="{FD598696-E7A3-401D-9C51-B6AE5CB4929A}" srcOrd="2" destOrd="0" parTransId="{B4DA268A-348E-4B97-A002-E6943BD8921D}" sibTransId="{337B92FF-5A36-4E30-AC4C-9B0A268247D6}"/>
    <dgm:cxn modelId="{FF5049D8-11DB-4DE9-B0B9-1EE59A5F4BAA}" type="presOf" srcId="{BEEFE4BC-9AC6-4A00-9EA2-F9BEB9575291}" destId="{850A2368-1E44-4198-B6C4-F63BDCD06CFC}" srcOrd="0" destOrd="0" presId="urn:microsoft.com/office/officeart/2005/8/layout/vList6"/>
    <dgm:cxn modelId="{6CEF945C-DCD6-417E-9D67-45A1F82D2413}" srcId="{7A4897DD-A1A3-42BD-B9F6-D9177EC2C7BA}" destId="{890FD861-D011-4575-A639-9EEC7258B85F}" srcOrd="1" destOrd="0" parTransId="{B104B590-7ADB-4EAD-80BC-FA766D811515}" sibTransId="{14038BEE-4000-4350-AD62-29A3A277AA10}"/>
    <dgm:cxn modelId="{D176C4C4-D105-4407-BBD1-53C8DC34F73F}" type="presOf" srcId="{7A4897DD-A1A3-42BD-B9F6-D9177EC2C7BA}" destId="{C03136D6-45A6-4866-95A7-4560965D0A89}" srcOrd="0" destOrd="0" presId="urn:microsoft.com/office/officeart/2005/8/layout/vList6"/>
    <dgm:cxn modelId="{F7D87097-0801-4838-A525-0779B876B912}" type="presOf" srcId="{749591BD-C6CB-45EA-9E28-EABF8B5D0AB1}" destId="{2BFEFF0C-7376-414E-9680-9E855C24B267}" srcOrd="0" destOrd="0" presId="urn:microsoft.com/office/officeart/2005/8/layout/vList6"/>
    <dgm:cxn modelId="{67F52AAB-B695-480B-BEDA-B3D47D895C54}" type="presOf" srcId="{E940FDEC-0139-4E38-BFAD-D6D83B29A3FE}" destId="{B149B8D9-A763-438C-81C6-A386D4F4AEBE}" srcOrd="0" destOrd="0" presId="urn:microsoft.com/office/officeart/2005/8/layout/vList6"/>
    <dgm:cxn modelId="{0AAFCD12-AB41-49C2-9767-E53E6FBCD2D0}" srcId="{BEEFE4BC-9AC6-4A00-9EA2-F9BEB9575291}" destId="{E940FDEC-0139-4E38-BFAD-D6D83B29A3FE}" srcOrd="0" destOrd="0" parTransId="{169F7DBB-3212-4F63-8172-764E0BC9881D}" sibTransId="{92941C4D-A869-441D-BBEA-42A4403D14FA}"/>
    <dgm:cxn modelId="{464AC756-1258-40BA-AA9F-8CB11269C380}" srcId="{7A4897DD-A1A3-42BD-B9F6-D9177EC2C7BA}" destId="{749591BD-C6CB-45EA-9E28-EABF8B5D0AB1}" srcOrd="0" destOrd="0" parTransId="{FF20FA23-4B15-4150-97D9-DBBEA1FDF210}" sibTransId="{D97AB591-C6BA-4CDF-A350-7645153E136D}"/>
    <dgm:cxn modelId="{115F90A0-10CD-4EFB-9522-F7C0BCAEFEFD}" srcId="{BEEFE4BC-9AC6-4A00-9EA2-F9BEB9575291}" destId="{7A4897DD-A1A3-42BD-B9F6-D9177EC2C7BA}" srcOrd="1" destOrd="0" parTransId="{98E697CE-B8A8-4ED3-A275-6EE1F70B1423}" sibTransId="{AA8FA16A-F906-4C17-A743-F863EF6FE4F5}"/>
    <dgm:cxn modelId="{03BD5D4C-9FD3-4497-9FDD-AB9051868C5B}" type="presOf" srcId="{DD5A7799-9724-4C06-B3BA-7AFC6D28E9EC}" destId="{712B1E9D-CF8B-4111-A7CD-A72110DC7CB1}" srcOrd="0" destOrd="0" presId="urn:microsoft.com/office/officeart/2005/8/layout/vList6"/>
    <dgm:cxn modelId="{E88E8161-3B50-46AE-8507-1B88C8886085}" srcId="{7A4897DD-A1A3-42BD-B9F6-D9177EC2C7BA}" destId="{FDA20682-50AD-4A0C-A676-64E17C03D272}" srcOrd="2" destOrd="0" parTransId="{D30DE4D3-08AE-48EF-B605-2AFF3FC599D8}" sibTransId="{8ACE71F8-FE88-4ADE-A59B-CD68B0FAC6E5}"/>
    <dgm:cxn modelId="{7586EA5D-7AF4-4F23-8A88-5D3836801038}" type="presParOf" srcId="{850A2368-1E44-4198-B6C4-F63BDCD06CFC}" destId="{79E3B880-F3A0-402B-8DEF-99BF3CFB1D32}" srcOrd="0" destOrd="0" presId="urn:microsoft.com/office/officeart/2005/8/layout/vList6"/>
    <dgm:cxn modelId="{0EBAFA6B-882B-4211-A88F-14F7BB617834}" type="presParOf" srcId="{79E3B880-F3A0-402B-8DEF-99BF3CFB1D32}" destId="{B149B8D9-A763-438C-81C6-A386D4F4AEBE}" srcOrd="0" destOrd="0" presId="urn:microsoft.com/office/officeart/2005/8/layout/vList6"/>
    <dgm:cxn modelId="{1AE0842A-84C7-4926-97F5-3823FCB6A3DE}" type="presParOf" srcId="{79E3B880-F3A0-402B-8DEF-99BF3CFB1D32}" destId="{712B1E9D-CF8B-4111-A7CD-A72110DC7CB1}" srcOrd="1" destOrd="0" presId="urn:microsoft.com/office/officeart/2005/8/layout/vList6"/>
    <dgm:cxn modelId="{003B016F-F4D5-412B-A209-3A4544832B21}" type="presParOf" srcId="{850A2368-1E44-4198-B6C4-F63BDCD06CFC}" destId="{435E6E54-57B6-482C-887E-BC852175CCB3}" srcOrd="1" destOrd="0" presId="urn:microsoft.com/office/officeart/2005/8/layout/vList6"/>
    <dgm:cxn modelId="{EA4C58FD-500C-449D-AF60-2B0D0B39A047}" type="presParOf" srcId="{850A2368-1E44-4198-B6C4-F63BDCD06CFC}" destId="{761C6225-6544-4376-8433-5F26351E355D}" srcOrd="2" destOrd="0" presId="urn:microsoft.com/office/officeart/2005/8/layout/vList6"/>
    <dgm:cxn modelId="{949AA5AE-B5C4-4F95-83EE-57FA9B01E8FA}" type="presParOf" srcId="{761C6225-6544-4376-8433-5F26351E355D}" destId="{C03136D6-45A6-4866-95A7-4560965D0A89}" srcOrd="0" destOrd="0" presId="urn:microsoft.com/office/officeart/2005/8/layout/vList6"/>
    <dgm:cxn modelId="{E16F2AC4-4D08-46BB-A1CD-AFD7B36657A3}" type="presParOf" srcId="{761C6225-6544-4376-8433-5F26351E355D}" destId="{2BFEFF0C-7376-414E-9680-9E855C24B267}" srcOrd="1" destOrd="0" presId="urn:microsoft.com/office/officeart/2005/8/layout/vList6"/>
  </dgm:cxnLst>
  <dgm:bg/>
  <dgm:whole/>
</dgm:dataModel>
</file>

<file path=ppt/diagrams/data3.xml><?xml version="1.0" encoding="utf-8"?>
<dgm:dataModel xmlns:dgm="http://schemas.openxmlformats.org/drawingml/2006/diagram" xmlns:a="http://schemas.openxmlformats.org/drawingml/2006/main">
  <dgm:ptLst>
    <dgm:pt modelId="{A97AFC1A-0B21-4F74-8D75-18D9BFF73960}"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3B3D8B2-1212-4899-A920-93FFB302BDC5}">
      <dgm:prSet phldrT="[文本]"/>
      <dgm:spPr/>
      <dgm:t>
        <a:bodyPr/>
        <a:lstStyle/>
        <a:p>
          <a:r>
            <a:rPr lang="en-US" dirty="0" smtClean="0">
              <a:latin typeface="Times New Roman" pitchFamily="18" charset="0"/>
              <a:cs typeface="Times New Roman" pitchFamily="18" charset="0"/>
            </a:rPr>
            <a:t>Water, pigment substance, and glass</a:t>
          </a:r>
          <a:endParaRPr lang="en-US" dirty="0"/>
        </a:p>
      </dgm:t>
    </dgm:pt>
    <dgm:pt modelId="{25F1980C-E44A-40CC-8497-876B2379FB61}" type="parTrans" cxnId="{8A1C924D-B4DD-432B-BAF9-FA7111BE6A47}">
      <dgm:prSet/>
      <dgm:spPr/>
      <dgm:t>
        <a:bodyPr/>
        <a:lstStyle/>
        <a:p>
          <a:endParaRPr lang="en-US"/>
        </a:p>
      </dgm:t>
    </dgm:pt>
    <dgm:pt modelId="{601A599A-3B88-4842-8F3E-7DA3CAE493A4}" type="sibTrans" cxnId="{8A1C924D-B4DD-432B-BAF9-FA7111BE6A47}">
      <dgm:prSet/>
      <dgm:spPr/>
      <dgm:t>
        <a:bodyPr/>
        <a:lstStyle/>
        <a:p>
          <a:endParaRPr lang="en-US"/>
        </a:p>
      </dgm:t>
    </dgm:pt>
    <dgm:pt modelId="{E7450199-3E11-4ACA-93FB-B7B280CED652}">
      <dgm:prSet phldrT="[文本]"/>
      <dgm:spPr/>
      <dgm:t>
        <a:bodyPr/>
        <a:lstStyle/>
        <a:p>
          <a:r>
            <a:rPr lang="en-US" dirty="0" smtClean="0"/>
            <a:t>Manufacturing Machinery</a:t>
          </a:r>
          <a:endParaRPr lang="en-US" dirty="0"/>
        </a:p>
      </dgm:t>
    </dgm:pt>
    <dgm:pt modelId="{104BE494-7BE1-42DA-8C2E-AA6A9F7BE5D0}" type="parTrans" cxnId="{385C9DFA-F6DD-4600-BA8F-DAA346324D31}">
      <dgm:prSet/>
      <dgm:spPr/>
      <dgm:t>
        <a:bodyPr/>
        <a:lstStyle/>
        <a:p>
          <a:endParaRPr lang="en-US"/>
        </a:p>
      </dgm:t>
    </dgm:pt>
    <dgm:pt modelId="{D28EC6BD-263B-4B92-9F05-A684C127714C}" type="sibTrans" cxnId="{385C9DFA-F6DD-4600-BA8F-DAA346324D31}">
      <dgm:prSet/>
      <dgm:spPr/>
      <dgm:t>
        <a:bodyPr/>
        <a:lstStyle/>
        <a:p>
          <a:endParaRPr lang="en-US"/>
        </a:p>
      </dgm:t>
    </dgm:pt>
    <dgm:pt modelId="{630341C2-889E-405C-8181-D26717BCE694}">
      <dgm:prSet phldrT="[文本]" phldr="1"/>
      <dgm:spPr>
        <a:blipFill rotWithShape="0">
          <a:blip xmlns:r="http://schemas.openxmlformats.org/officeDocument/2006/relationships" r:embed="rId1"/>
          <a:stretch>
            <a:fillRect/>
          </a:stretch>
        </a:blipFill>
      </dgm:spPr>
      <dgm:t>
        <a:bodyPr/>
        <a:lstStyle/>
        <a:p>
          <a:endParaRPr lang="en-US" dirty="0"/>
        </a:p>
      </dgm:t>
    </dgm:pt>
    <dgm:pt modelId="{BED68D24-1160-4FDE-AC99-8EB0E0CE9B9C}" type="parTrans" cxnId="{F7510630-802D-4B81-A983-B4A2EDA8C156}">
      <dgm:prSet/>
      <dgm:spPr/>
      <dgm:t>
        <a:bodyPr/>
        <a:lstStyle/>
        <a:p>
          <a:endParaRPr lang="en-US"/>
        </a:p>
      </dgm:t>
    </dgm:pt>
    <dgm:pt modelId="{117E55C4-4285-440C-8875-7BDF3363F4FE}" type="sibTrans" cxnId="{F7510630-802D-4B81-A983-B4A2EDA8C156}">
      <dgm:prSet/>
      <dgm:spPr/>
      <dgm:t>
        <a:bodyPr/>
        <a:lstStyle/>
        <a:p>
          <a:endParaRPr lang="en-US"/>
        </a:p>
      </dgm:t>
    </dgm:pt>
    <dgm:pt modelId="{A258EF02-2912-48B2-A5E3-B4BFBF76F0E8}">
      <dgm:prSet phldrT="[文本]"/>
      <dgm:spPr/>
      <dgm:t>
        <a:bodyPr/>
        <a:lstStyle/>
        <a:p>
          <a:r>
            <a:rPr lang="en-US" dirty="0" smtClean="0">
              <a:solidFill>
                <a:schemeClr val="accent1">
                  <a:lumMod val="60000"/>
                  <a:lumOff val="40000"/>
                </a:schemeClr>
              </a:solidFill>
              <a:latin typeface="Times New Roman" pitchFamily="18" charset="0"/>
              <a:cs typeface="Times New Roman" pitchFamily="18" charset="0"/>
            </a:rPr>
            <a:t>How to control the tinting strength of pigments</a:t>
          </a:r>
          <a:endParaRPr lang="en-US" dirty="0">
            <a:solidFill>
              <a:schemeClr val="accent1">
                <a:lumMod val="60000"/>
                <a:lumOff val="40000"/>
              </a:schemeClr>
            </a:solidFill>
          </a:endParaRPr>
        </a:p>
      </dgm:t>
    </dgm:pt>
    <dgm:pt modelId="{2F65C682-F0FF-4A9D-93CD-E5E5B7466264}" type="parTrans" cxnId="{C55ADDCA-5C32-48FF-A366-28803074BF9C}">
      <dgm:prSet/>
      <dgm:spPr/>
      <dgm:t>
        <a:bodyPr/>
        <a:lstStyle/>
        <a:p>
          <a:endParaRPr lang="en-US"/>
        </a:p>
      </dgm:t>
    </dgm:pt>
    <dgm:pt modelId="{3DF1A7D4-D2E3-493E-B477-6B903BB9C2FA}" type="sibTrans" cxnId="{C55ADDCA-5C32-48FF-A366-28803074BF9C}">
      <dgm:prSet/>
      <dgm:spPr/>
      <dgm:t>
        <a:bodyPr/>
        <a:lstStyle/>
        <a:p>
          <a:endParaRPr lang="en-US"/>
        </a:p>
      </dgm:t>
    </dgm:pt>
    <dgm:pt modelId="{A3051580-D272-4915-A4AD-FD381915A9CE}">
      <dgm:prSet phldrT="[文本]"/>
      <dgm:spPr/>
      <dgm:t>
        <a:bodyPr/>
        <a:lstStyle/>
        <a:p>
          <a:r>
            <a:rPr lang="en-US" dirty="0" smtClean="0">
              <a:solidFill>
                <a:schemeClr val="accent1">
                  <a:lumMod val="60000"/>
                  <a:lumOff val="40000"/>
                </a:schemeClr>
              </a:solidFill>
              <a:latin typeface="Times New Roman" pitchFamily="18" charset="0"/>
              <a:cs typeface="Times New Roman" pitchFamily="18" charset="0"/>
            </a:rPr>
            <a:t>How to mass produce glass bottles</a:t>
          </a:r>
          <a:endParaRPr lang="en-US" dirty="0">
            <a:solidFill>
              <a:schemeClr val="accent1">
                <a:lumMod val="60000"/>
                <a:lumOff val="40000"/>
              </a:schemeClr>
            </a:solidFill>
          </a:endParaRPr>
        </a:p>
      </dgm:t>
    </dgm:pt>
    <dgm:pt modelId="{5CACA9CE-7D6E-458F-B5CD-E06D970A523E}" type="parTrans" cxnId="{60F6008F-2A8F-401B-94D6-F944D778928D}">
      <dgm:prSet/>
      <dgm:spPr/>
      <dgm:t>
        <a:bodyPr/>
        <a:lstStyle/>
        <a:p>
          <a:endParaRPr lang="en-US"/>
        </a:p>
      </dgm:t>
    </dgm:pt>
    <dgm:pt modelId="{AFEA8361-CA52-470E-9B86-6F6FC2364C9C}" type="sibTrans" cxnId="{60F6008F-2A8F-401B-94D6-F944D778928D}">
      <dgm:prSet/>
      <dgm:spPr/>
      <dgm:t>
        <a:bodyPr/>
        <a:lstStyle/>
        <a:p>
          <a:endParaRPr lang="en-US"/>
        </a:p>
      </dgm:t>
    </dgm:pt>
    <dgm:pt modelId="{1F2B3E79-0540-4A32-95A6-8252E0A8E10C}">
      <dgm:prSet phldrT="[文本]" phldr="1"/>
      <dgm:spPr>
        <a:blipFill rotWithShape="0">
          <a:blip xmlns:r="http://schemas.openxmlformats.org/officeDocument/2006/relationships" r:embed="rId1"/>
          <a:stretch>
            <a:fillRect/>
          </a:stretch>
        </a:blipFill>
      </dgm:spPr>
      <dgm:t>
        <a:bodyPr/>
        <a:lstStyle/>
        <a:p>
          <a:endParaRPr lang="en-US" dirty="0"/>
        </a:p>
      </dgm:t>
    </dgm:pt>
    <dgm:pt modelId="{EBD0AFFD-9927-496D-8EDE-86112AD3A03F}" type="sibTrans" cxnId="{9AD57061-3E4E-46A9-8CC5-6CFFD83A6387}">
      <dgm:prSet/>
      <dgm:spPr/>
      <dgm:t>
        <a:bodyPr/>
        <a:lstStyle/>
        <a:p>
          <a:endParaRPr lang="en-US"/>
        </a:p>
      </dgm:t>
    </dgm:pt>
    <dgm:pt modelId="{03936E94-5576-4E68-BC27-AE84467F18BC}" type="parTrans" cxnId="{9AD57061-3E4E-46A9-8CC5-6CFFD83A6387}">
      <dgm:prSet/>
      <dgm:spPr/>
      <dgm:t>
        <a:bodyPr/>
        <a:lstStyle/>
        <a:p>
          <a:endParaRPr lang="en-US"/>
        </a:p>
      </dgm:t>
    </dgm:pt>
    <dgm:pt modelId="{B9221733-6751-49E3-BB49-439BDF83704A}" type="pres">
      <dgm:prSet presAssocID="{A97AFC1A-0B21-4F74-8D75-18D9BFF73960}" presName="diagram" presStyleCnt="0">
        <dgm:presLayoutVars>
          <dgm:chPref val="1"/>
          <dgm:dir/>
          <dgm:animOne val="branch"/>
          <dgm:animLvl val="lvl"/>
          <dgm:resizeHandles/>
        </dgm:presLayoutVars>
      </dgm:prSet>
      <dgm:spPr/>
      <dgm:t>
        <a:bodyPr/>
        <a:lstStyle/>
        <a:p>
          <a:endParaRPr lang="en-US"/>
        </a:p>
      </dgm:t>
    </dgm:pt>
    <dgm:pt modelId="{8FC2F7BC-1DB9-4626-8FE6-F3CF066129B7}" type="pres">
      <dgm:prSet presAssocID="{1F2B3E79-0540-4A32-95A6-8252E0A8E10C}" presName="root" presStyleCnt="0"/>
      <dgm:spPr/>
    </dgm:pt>
    <dgm:pt modelId="{2FDEBEAD-09E5-4B08-8EC6-9477CBAE8645}" type="pres">
      <dgm:prSet presAssocID="{1F2B3E79-0540-4A32-95A6-8252E0A8E10C}" presName="rootComposite" presStyleCnt="0"/>
      <dgm:spPr/>
    </dgm:pt>
    <dgm:pt modelId="{229E156B-30F9-406A-A943-F8297D89BF34}" type="pres">
      <dgm:prSet presAssocID="{1F2B3E79-0540-4A32-95A6-8252E0A8E10C}" presName="rootText" presStyleLbl="node1" presStyleIdx="0" presStyleCnt="2" custLinFactNeighborX="-726"/>
      <dgm:spPr/>
      <dgm:t>
        <a:bodyPr/>
        <a:lstStyle/>
        <a:p>
          <a:endParaRPr lang="en-US"/>
        </a:p>
      </dgm:t>
    </dgm:pt>
    <dgm:pt modelId="{63CE5330-991B-4FA9-9484-A9289C53FB70}" type="pres">
      <dgm:prSet presAssocID="{1F2B3E79-0540-4A32-95A6-8252E0A8E10C}" presName="rootConnector" presStyleLbl="node1" presStyleIdx="0" presStyleCnt="2"/>
      <dgm:spPr/>
      <dgm:t>
        <a:bodyPr/>
        <a:lstStyle/>
        <a:p>
          <a:endParaRPr lang="en-US"/>
        </a:p>
      </dgm:t>
    </dgm:pt>
    <dgm:pt modelId="{DD9DC22D-F7E1-44E0-A94F-843A5EAFB4EC}" type="pres">
      <dgm:prSet presAssocID="{1F2B3E79-0540-4A32-95A6-8252E0A8E10C}" presName="childShape" presStyleCnt="0"/>
      <dgm:spPr/>
    </dgm:pt>
    <dgm:pt modelId="{188C3954-7D5E-4922-9745-DF6A3B8DE1D8}" type="pres">
      <dgm:prSet presAssocID="{25F1980C-E44A-40CC-8497-876B2379FB61}" presName="Name13" presStyleLbl="parChTrans1D2" presStyleIdx="0" presStyleCnt="4"/>
      <dgm:spPr/>
      <dgm:t>
        <a:bodyPr/>
        <a:lstStyle/>
        <a:p>
          <a:endParaRPr lang="en-US"/>
        </a:p>
      </dgm:t>
    </dgm:pt>
    <dgm:pt modelId="{ADEDCD45-E917-40B8-890F-57CB0A87E69C}" type="pres">
      <dgm:prSet presAssocID="{93B3D8B2-1212-4899-A920-93FFB302BDC5}" presName="childText" presStyleLbl="bgAcc1" presStyleIdx="0" presStyleCnt="4">
        <dgm:presLayoutVars>
          <dgm:bulletEnabled val="1"/>
        </dgm:presLayoutVars>
      </dgm:prSet>
      <dgm:spPr/>
      <dgm:t>
        <a:bodyPr/>
        <a:lstStyle/>
        <a:p>
          <a:endParaRPr lang="en-US"/>
        </a:p>
      </dgm:t>
    </dgm:pt>
    <dgm:pt modelId="{E60607A1-BA18-42B0-AB4E-3AA038F62959}" type="pres">
      <dgm:prSet presAssocID="{104BE494-7BE1-42DA-8C2E-AA6A9F7BE5D0}" presName="Name13" presStyleLbl="parChTrans1D2" presStyleIdx="1" presStyleCnt="4"/>
      <dgm:spPr/>
      <dgm:t>
        <a:bodyPr/>
        <a:lstStyle/>
        <a:p>
          <a:endParaRPr lang="en-US"/>
        </a:p>
      </dgm:t>
    </dgm:pt>
    <dgm:pt modelId="{94037D7E-347F-4A7D-A50C-F26D2676E971}" type="pres">
      <dgm:prSet presAssocID="{E7450199-3E11-4ACA-93FB-B7B280CED652}" presName="childText" presStyleLbl="bgAcc1" presStyleIdx="1" presStyleCnt="4">
        <dgm:presLayoutVars>
          <dgm:bulletEnabled val="1"/>
        </dgm:presLayoutVars>
      </dgm:prSet>
      <dgm:spPr/>
      <dgm:t>
        <a:bodyPr/>
        <a:lstStyle/>
        <a:p>
          <a:endParaRPr lang="en-US"/>
        </a:p>
      </dgm:t>
    </dgm:pt>
    <dgm:pt modelId="{1A75AC57-BDDB-48DB-8010-E447EBC44F98}" type="pres">
      <dgm:prSet presAssocID="{630341C2-889E-405C-8181-D26717BCE694}" presName="root" presStyleCnt="0"/>
      <dgm:spPr/>
    </dgm:pt>
    <dgm:pt modelId="{E6E660E0-6E35-4E57-B959-675040BD4089}" type="pres">
      <dgm:prSet presAssocID="{630341C2-889E-405C-8181-D26717BCE694}" presName="rootComposite" presStyleCnt="0"/>
      <dgm:spPr/>
    </dgm:pt>
    <dgm:pt modelId="{477A8EC0-1CD5-4F10-A428-61467335CBCE}" type="pres">
      <dgm:prSet presAssocID="{630341C2-889E-405C-8181-D26717BCE694}" presName="rootText" presStyleLbl="node1" presStyleIdx="1" presStyleCnt="2"/>
      <dgm:spPr/>
      <dgm:t>
        <a:bodyPr/>
        <a:lstStyle/>
        <a:p>
          <a:endParaRPr lang="en-US"/>
        </a:p>
      </dgm:t>
    </dgm:pt>
    <dgm:pt modelId="{CC78490B-9588-4969-AC71-F3809274D781}" type="pres">
      <dgm:prSet presAssocID="{630341C2-889E-405C-8181-D26717BCE694}" presName="rootConnector" presStyleLbl="node1" presStyleIdx="1" presStyleCnt="2"/>
      <dgm:spPr/>
      <dgm:t>
        <a:bodyPr/>
        <a:lstStyle/>
        <a:p>
          <a:endParaRPr lang="en-US"/>
        </a:p>
      </dgm:t>
    </dgm:pt>
    <dgm:pt modelId="{AB54EC75-E239-4C8F-927F-C9C3BB453FCC}" type="pres">
      <dgm:prSet presAssocID="{630341C2-889E-405C-8181-D26717BCE694}" presName="childShape" presStyleCnt="0"/>
      <dgm:spPr/>
    </dgm:pt>
    <dgm:pt modelId="{F28FF842-D1C0-4475-A9FC-283D804A7658}" type="pres">
      <dgm:prSet presAssocID="{2F65C682-F0FF-4A9D-93CD-E5E5B7466264}" presName="Name13" presStyleLbl="parChTrans1D2" presStyleIdx="2" presStyleCnt="4"/>
      <dgm:spPr/>
      <dgm:t>
        <a:bodyPr/>
        <a:lstStyle/>
        <a:p>
          <a:endParaRPr lang="en-US"/>
        </a:p>
      </dgm:t>
    </dgm:pt>
    <dgm:pt modelId="{B6C11081-933C-49FA-889C-4E7A666E128E}" type="pres">
      <dgm:prSet presAssocID="{A258EF02-2912-48B2-A5E3-B4BFBF76F0E8}" presName="childText" presStyleLbl="bgAcc1" presStyleIdx="2" presStyleCnt="4">
        <dgm:presLayoutVars>
          <dgm:bulletEnabled val="1"/>
        </dgm:presLayoutVars>
      </dgm:prSet>
      <dgm:spPr/>
      <dgm:t>
        <a:bodyPr/>
        <a:lstStyle/>
        <a:p>
          <a:endParaRPr lang="en-US"/>
        </a:p>
      </dgm:t>
    </dgm:pt>
    <dgm:pt modelId="{D3A42195-FDA3-4D74-BC4F-D8203456873A}" type="pres">
      <dgm:prSet presAssocID="{5CACA9CE-7D6E-458F-B5CD-E06D970A523E}" presName="Name13" presStyleLbl="parChTrans1D2" presStyleIdx="3" presStyleCnt="4"/>
      <dgm:spPr/>
      <dgm:t>
        <a:bodyPr/>
        <a:lstStyle/>
        <a:p>
          <a:endParaRPr lang="en-US"/>
        </a:p>
      </dgm:t>
    </dgm:pt>
    <dgm:pt modelId="{20719DA1-956D-49FA-9F29-D1146BDB3CBE}" type="pres">
      <dgm:prSet presAssocID="{A3051580-D272-4915-A4AD-FD381915A9CE}" presName="childText" presStyleLbl="bgAcc1" presStyleIdx="3" presStyleCnt="4">
        <dgm:presLayoutVars>
          <dgm:bulletEnabled val="1"/>
        </dgm:presLayoutVars>
      </dgm:prSet>
      <dgm:spPr/>
      <dgm:t>
        <a:bodyPr/>
        <a:lstStyle/>
        <a:p>
          <a:endParaRPr lang="en-US"/>
        </a:p>
      </dgm:t>
    </dgm:pt>
  </dgm:ptLst>
  <dgm:cxnLst>
    <dgm:cxn modelId="{C9D04A32-5F20-4F94-B7A0-791072974CDC}" type="presOf" srcId="{5CACA9CE-7D6E-458F-B5CD-E06D970A523E}" destId="{D3A42195-FDA3-4D74-BC4F-D8203456873A}" srcOrd="0" destOrd="0" presId="urn:microsoft.com/office/officeart/2005/8/layout/hierarchy3"/>
    <dgm:cxn modelId="{D5E11A4F-19BB-4907-BF5A-C5EE5993F75B}" type="presOf" srcId="{630341C2-889E-405C-8181-D26717BCE694}" destId="{CC78490B-9588-4969-AC71-F3809274D781}" srcOrd="1" destOrd="0" presId="urn:microsoft.com/office/officeart/2005/8/layout/hierarchy3"/>
    <dgm:cxn modelId="{DA749857-AF80-460F-8F1E-162F285153A9}" type="presOf" srcId="{93B3D8B2-1212-4899-A920-93FFB302BDC5}" destId="{ADEDCD45-E917-40B8-890F-57CB0A87E69C}" srcOrd="0" destOrd="0" presId="urn:microsoft.com/office/officeart/2005/8/layout/hierarchy3"/>
    <dgm:cxn modelId="{C55ADDCA-5C32-48FF-A366-28803074BF9C}" srcId="{630341C2-889E-405C-8181-D26717BCE694}" destId="{A258EF02-2912-48B2-A5E3-B4BFBF76F0E8}" srcOrd="0" destOrd="0" parTransId="{2F65C682-F0FF-4A9D-93CD-E5E5B7466264}" sibTransId="{3DF1A7D4-D2E3-493E-B477-6B903BB9C2FA}"/>
    <dgm:cxn modelId="{9AD57061-3E4E-46A9-8CC5-6CFFD83A6387}" srcId="{A97AFC1A-0B21-4F74-8D75-18D9BFF73960}" destId="{1F2B3E79-0540-4A32-95A6-8252E0A8E10C}" srcOrd="0" destOrd="0" parTransId="{03936E94-5576-4E68-BC27-AE84467F18BC}" sibTransId="{EBD0AFFD-9927-496D-8EDE-86112AD3A03F}"/>
    <dgm:cxn modelId="{25AC03E7-34B3-40D2-B723-19BBAB124CDF}" type="presOf" srcId="{104BE494-7BE1-42DA-8C2E-AA6A9F7BE5D0}" destId="{E60607A1-BA18-42B0-AB4E-3AA038F62959}" srcOrd="0" destOrd="0" presId="urn:microsoft.com/office/officeart/2005/8/layout/hierarchy3"/>
    <dgm:cxn modelId="{62405D0E-7A1C-4638-9982-AF255D526651}" type="presOf" srcId="{1F2B3E79-0540-4A32-95A6-8252E0A8E10C}" destId="{63CE5330-991B-4FA9-9484-A9289C53FB70}" srcOrd="1" destOrd="0" presId="urn:microsoft.com/office/officeart/2005/8/layout/hierarchy3"/>
    <dgm:cxn modelId="{629739A3-23B7-4A84-8B49-4AA1A9BB424D}" type="presOf" srcId="{A258EF02-2912-48B2-A5E3-B4BFBF76F0E8}" destId="{B6C11081-933C-49FA-889C-4E7A666E128E}" srcOrd="0" destOrd="0" presId="urn:microsoft.com/office/officeart/2005/8/layout/hierarchy3"/>
    <dgm:cxn modelId="{2D39690D-2D66-475B-9F73-825EBC9B14E1}" type="presOf" srcId="{A3051580-D272-4915-A4AD-FD381915A9CE}" destId="{20719DA1-956D-49FA-9F29-D1146BDB3CBE}" srcOrd="0" destOrd="0" presId="urn:microsoft.com/office/officeart/2005/8/layout/hierarchy3"/>
    <dgm:cxn modelId="{F7510630-802D-4B81-A983-B4A2EDA8C156}" srcId="{A97AFC1A-0B21-4F74-8D75-18D9BFF73960}" destId="{630341C2-889E-405C-8181-D26717BCE694}" srcOrd="1" destOrd="0" parTransId="{BED68D24-1160-4FDE-AC99-8EB0E0CE9B9C}" sibTransId="{117E55C4-4285-440C-8875-7BDF3363F4FE}"/>
    <dgm:cxn modelId="{1E68406D-BBC1-4B71-8678-932C92AE9A8E}" type="presOf" srcId="{2F65C682-F0FF-4A9D-93CD-E5E5B7466264}" destId="{F28FF842-D1C0-4475-A9FC-283D804A7658}" srcOrd="0" destOrd="0" presId="urn:microsoft.com/office/officeart/2005/8/layout/hierarchy3"/>
    <dgm:cxn modelId="{8A1C924D-B4DD-432B-BAF9-FA7111BE6A47}" srcId="{1F2B3E79-0540-4A32-95A6-8252E0A8E10C}" destId="{93B3D8B2-1212-4899-A920-93FFB302BDC5}" srcOrd="0" destOrd="0" parTransId="{25F1980C-E44A-40CC-8497-876B2379FB61}" sibTransId="{601A599A-3B88-4842-8F3E-7DA3CAE493A4}"/>
    <dgm:cxn modelId="{385C9DFA-F6DD-4600-BA8F-DAA346324D31}" srcId="{1F2B3E79-0540-4A32-95A6-8252E0A8E10C}" destId="{E7450199-3E11-4ACA-93FB-B7B280CED652}" srcOrd="1" destOrd="0" parTransId="{104BE494-7BE1-42DA-8C2E-AA6A9F7BE5D0}" sibTransId="{D28EC6BD-263B-4B92-9F05-A684C127714C}"/>
    <dgm:cxn modelId="{E1AA560C-F967-458B-B150-161F7A7BE910}" type="presOf" srcId="{630341C2-889E-405C-8181-D26717BCE694}" destId="{477A8EC0-1CD5-4F10-A428-61467335CBCE}" srcOrd="0" destOrd="0" presId="urn:microsoft.com/office/officeart/2005/8/layout/hierarchy3"/>
    <dgm:cxn modelId="{53C0DFE8-2D34-4000-8F34-488C19851FE3}" type="presOf" srcId="{A97AFC1A-0B21-4F74-8D75-18D9BFF73960}" destId="{B9221733-6751-49E3-BB49-439BDF83704A}" srcOrd="0" destOrd="0" presId="urn:microsoft.com/office/officeart/2005/8/layout/hierarchy3"/>
    <dgm:cxn modelId="{E38A7DD6-3085-4DA1-8CA1-8C86A40508C3}" type="presOf" srcId="{E7450199-3E11-4ACA-93FB-B7B280CED652}" destId="{94037D7E-347F-4A7D-A50C-F26D2676E971}" srcOrd="0" destOrd="0" presId="urn:microsoft.com/office/officeart/2005/8/layout/hierarchy3"/>
    <dgm:cxn modelId="{B4256FDC-D6CC-4789-91D6-788C6C6DBAB6}" type="presOf" srcId="{25F1980C-E44A-40CC-8497-876B2379FB61}" destId="{188C3954-7D5E-4922-9745-DF6A3B8DE1D8}" srcOrd="0" destOrd="0" presId="urn:microsoft.com/office/officeart/2005/8/layout/hierarchy3"/>
    <dgm:cxn modelId="{60F6008F-2A8F-401B-94D6-F944D778928D}" srcId="{630341C2-889E-405C-8181-D26717BCE694}" destId="{A3051580-D272-4915-A4AD-FD381915A9CE}" srcOrd="1" destOrd="0" parTransId="{5CACA9CE-7D6E-458F-B5CD-E06D970A523E}" sibTransId="{AFEA8361-CA52-470E-9B86-6F6FC2364C9C}"/>
    <dgm:cxn modelId="{6E4CA18B-48BC-40E4-89BB-ACF4E6BAE488}" type="presOf" srcId="{1F2B3E79-0540-4A32-95A6-8252E0A8E10C}" destId="{229E156B-30F9-406A-A943-F8297D89BF34}" srcOrd="0" destOrd="0" presId="urn:microsoft.com/office/officeart/2005/8/layout/hierarchy3"/>
    <dgm:cxn modelId="{4608D2BE-B61B-46EC-B83D-BF28372BBA7B}" type="presParOf" srcId="{B9221733-6751-49E3-BB49-439BDF83704A}" destId="{8FC2F7BC-1DB9-4626-8FE6-F3CF066129B7}" srcOrd="0" destOrd="0" presId="urn:microsoft.com/office/officeart/2005/8/layout/hierarchy3"/>
    <dgm:cxn modelId="{59A91C81-1F72-4BF5-BD36-10C0916626E4}" type="presParOf" srcId="{8FC2F7BC-1DB9-4626-8FE6-F3CF066129B7}" destId="{2FDEBEAD-09E5-4B08-8EC6-9477CBAE8645}" srcOrd="0" destOrd="0" presId="urn:microsoft.com/office/officeart/2005/8/layout/hierarchy3"/>
    <dgm:cxn modelId="{CB5F982F-87E6-4706-B58F-92759E8B0B57}" type="presParOf" srcId="{2FDEBEAD-09E5-4B08-8EC6-9477CBAE8645}" destId="{229E156B-30F9-406A-A943-F8297D89BF34}" srcOrd="0" destOrd="0" presId="urn:microsoft.com/office/officeart/2005/8/layout/hierarchy3"/>
    <dgm:cxn modelId="{CD945118-6C2B-4EBF-B455-A054469C2533}" type="presParOf" srcId="{2FDEBEAD-09E5-4B08-8EC6-9477CBAE8645}" destId="{63CE5330-991B-4FA9-9484-A9289C53FB70}" srcOrd="1" destOrd="0" presId="urn:microsoft.com/office/officeart/2005/8/layout/hierarchy3"/>
    <dgm:cxn modelId="{7C0F38BB-E801-460D-9A16-26C5270AE7B2}" type="presParOf" srcId="{8FC2F7BC-1DB9-4626-8FE6-F3CF066129B7}" destId="{DD9DC22D-F7E1-44E0-A94F-843A5EAFB4EC}" srcOrd="1" destOrd="0" presId="urn:microsoft.com/office/officeart/2005/8/layout/hierarchy3"/>
    <dgm:cxn modelId="{354C2C9D-51C6-4BCE-ABF0-FDBBA6F760BE}" type="presParOf" srcId="{DD9DC22D-F7E1-44E0-A94F-843A5EAFB4EC}" destId="{188C3954-7D5E-4922-9745-DF6A3B8DE1D8}" srcOrd="0" destOrd="0" presId="urn:microsoft.com/office/officeart/2005/8/layout/hierarchy3"/>
    <dgm:cxn modelId="{98725614-AAD8-4E3C-A005-78A45615317C}" type="presParOf" srcId="{DD9DC22D-F7E1-44E0-A94F-843A5EAFB4EC}" destId="{ADEDCD45-E917-40B8-890F-57CB0A87E69C}" srcOrd="1" destOrd="0" presId="urn:microsoft.com/office/officeart/2005/8/layout/hierarchy3"/>
    <dgm:cxn modelId="{DEEE6390-3817-461C-8A03-8EAEC9BBA0BD}" type="presParOf" srcId="{DD9DC22D-F7E1-44E0-A94F-843A5EAFB4EC}" destId="{E60607A1-BA18-42B0-AB4E-3AA038F62959}" srcOrd="2" destOrd="0" presId="urn:microsoft.com/office/officeart/2005/8/layout/hierarchy3"/>
    <dgm:cxn modelId="{DB2B66D2-A51B-4A51-94F1-C739D979202A}" type="presParOf" srcId="{DD9DC22D-F7E1-44E0-A94F-843A5EAFB4EC}" destId="{94037D7E-347F-4A7D-A50C-F26D2676E971}" srcOrd="3" destOrd="0" presId="urn:microsoft.com/office/officeart/2005/8/layout/hierarchy3"/>
    <dgm:cxn modelId="{1547F5CE-FD3A-4074-A990-3B0091046461}" type="presParOf" srcId="{B9221733-6751-49E3-BB49-439BDF83704A}" destId="{1A75AC57-BDDB-48DB-8010-E447EBC44F98}" srcOrd="1" destOrd="0" presId="urn:microsoft.com/office/officeart/2005/8/layout/hierarchy3"/>
    <dgm:cxn modelId="{B033CD23-6B77-4AF7-BB6E-89E6B2DFB6FA}" type="presParOf" srcId="{1A75AC57-BDDB-48DB-8010-E447EBC44F98}" destId="{E6E660E0-6E35-4E57-B959-675040BD4089}" srcOrd="0" destOrd="0" presId="urn:microsoft.com/office/officeart/2005/8/layout/hierarchy3"/>
    <dgm:cxn modelId="{EA5AD58B-46FF-48AB-A4FD-CC110B69AEF0}" type="presParOf" srcId="{E6E660E0-6E35-4E57-B959-675040BD4089}" destId="{477A8EC0-1CD5-4F10-A428-61467335CBCE}" srcOrd="0" destOrd="0" presId="urn:microsoft.com/office/officeart/2005/8/layout/hierarchy3"/>
    <dgm:cxn modelId="{E57729FA-5547-4466-BBD4-3971FC25B496}" type="presParOf" srcId="{E6E660E0-6E35-4E57-B959-675040BD4089}" destId="{CC78490B-9588-4969-AC71-F3809274D781}" srcOrd="1" destOrd="0" presId="urn:microsoft.com/office/officeart/2005/8/layout/hierarchy3"/>
    <dgm:cxn modelId="{5226827E-4E28-4DAF-B329-6A5ABA978748}" type="presParOf" srcId="{1A75AC57-BDDB-48DB-8010-E447EBC44F98}" destId="{AB54EC75-E239-4C8F-927F-C9C3BB453FCC}" srcOrd="1" destOrd="0" presId="urn:microsoft.com/office/officeart/2005/8/layout/hierarchy3"/>
    <dgm:cxn modelId="{CCA8D6CC-A3E6-465E-B234-B3D84199BA34}" type="presParOf" srcId="{AB54EC75-E239-4C8F-927F-C9C3BB453FCC}" destId="{F28FF842-D1C0-4475-A9FC-283D804A7658}" srcOrd="0" destOrd="0" presId="urn:microsoft.com/office/officeart/2005/8/layout/hierarchy3"/>
    <dgm:cxn modelId="{2270467A-C6C7-441C-A078-72F79FBA1582}" type="presParOf" srcId="{AB54EC75-E239-4C8F-927F-C9C3BB453FCC}" destId="{B6C11081-933C-49FA-889C-4E7A666E128E}" srcOrd="1" destOrd="0" presId="urn:microsoft.com/office/officeart/2005/8/layout/hierarchy3"/>
    <dgm:cxn modelId="{CC20C8FC-3AF1-419A-8CD7-A37D53732A14}" type="presParOf" srcId="{AB54EC75-E239-4C8F-927F-C9C3BB453FCC}" destId="{D3A42195-FDA3-4D74-BC4F-D8203456873A}" srcOrd="2" destOrd="0" presId="urn:microsoft.com/office/officeart/2005/8/layout/hierarchy3"/>
    <dgm:cxn modelId="{1999F24B-4366-4BE3-B2DF-6D8B0CA9E949}" type="presParOf" srcId="{AB54EC75-E239-4C8F-927F-C9C3BB453FCC}" destId="{20719DA1-956D-49FA-9F29-D1146BDB3CBE}" srcOrd="3" destOrd="0" presId="urn:microsoft.com/office/officeart/2005/8/layout/hierarchy3"/>
  </dgm:cxnLst>
  <dgm:bg/>
  <dgm:whole/>
</dgm:dataModel>
</file>

<file path=ppt/diagrams/data4.xml><?xml version="1.0" encoding="utf-8"?>
<dgm:dataModel xmlns:dgm="http://schemas.openxmlformats.org/drawingml/2006/diagram" xmlns:a="http://schemas.openxmlformats.org/drawingml/2006/main">
  <dgm:ptLst>
    <dgm:pt modelId="{B1AA1E86-B715-4875-8F04-6227248F7DD9}" type="doc">
      <dgm:prSet loTypeId="urn:microsoft.com/office/officeart/2005/8/layout/matrix1" loCatId="matrix" qsTypeId="urn:microsoft.com/office/officeart/2005/8/quickstyle/3d8" qsCatId="3D" csTypeId="urn:microsoft.com/office/officeart/2005/8/colors/accent1_2" csCatId="accent1" phldr="1"/>
      <dgm:spPr/>
      <dgm:t>
        <a:bodyPr/>
        <a:lstStyle/>
        <a:p>
          <a:endParaRPr lang="en-US"/>
        </a:p>
      </dgm:t>
    </dgm:pt>
    <dgm:pt modelId="{13210358-92AE-4239-BB12-D51ECC45A7B7}">
      <dgm:prSet phldrT="[文本]" custT="1"/>
      <dgm:spPr/>
      <dgm:t>
        <a:bodyPr/>
        <a:lstStyle/>
        <a:p>
          <a:pPr algn="ctr"/>
          <a:r>
            <a:rPr lang="en-US" sz="1300" b="1" dirty="0" smtClean="0"/>
            <a:t>Products</a:t>
          </a:r>
        </a:p>
        <a:p>
          <a:pPr algn="ctr"/>
          <a:r>
            <a:rPr lang="en-US" sz="1300" b="1" dirty="0" smtClean="0"/>
            <a:t>Connectedness</a:t>
          </a:r>
        </a:p>
      </dgm:t>
    </dgm:pt>
    <dgm:pt modelId="{E1DB428E-73C3-4E9E-B4A9-4C50B30D0ABF}" type="parTrans" cxnId="{35D9A528-926B-4949-93BD-8CE72A9534F1}">
      <dgm:prSet/>
      <dgm:spPr/>
      <dgm:t>
        <a:bodyPr/>
        <a:lstStyle/>
        <a:p>
          <a:pPr algn="ctr"/>
          <a:endParaRPr lang="en-US"/>
        </a:p>
      </dgm:t>
    </dgm:pt>
    <dgm:pt modelId="{F1305B59-C34A-4D93-B08E-D87A0701D492}" type="sibTrans" cxnId="{35D9A528-926B-4949-93BD-8CE72A9534F1}">
      <dgm:prSet/>
      <dgm:spPr/>
      <dgm:t>
        <a:bodyPr/>
        <a:lstStyle/>
        <a:p>
          <a:pPr algn="ctr"/>
          <a:endParaRPr lang="en-US"/>
        </a:p>
      </dgm:t>
    </dgm:pt>
    <dgm:pt modelId="{4C5B98C4-A68A-409B-8A96-148EF57C7E47}">
      <dgm:prSet phldrT="[文本]" custT="1"/>
      <dgm:spPr>
        <a:blipFill rotWithShape="0">
          <a:blip xmlns:r="http://schemas.openxmlformats.org/officeDocument/2006/relationships" r:embed="rId1"/>
          <a:stretch>
            <a:fillRect/>
          </a:stretch>
        </a:blipFill>
      </dgm:spPr>
      <dgm:t>
        <a:bodyPr/>
        <a:lstStyle/>
        <a:p>
          <a:pPr algn="ctr"/>
          <a:r>
            <a:rPr lang="en-US" sz="1800" b="1" dirty="0" smtClean="0"/>
            <a:t>Integrated Circuit</a:t>
          </a:r>
          <a:endParaRPr lang="en-US" sz="1800" b="1" dirty="0"/>
        </a:p>
      </dgm:t>
    </dgm:pt>
    <dgm:pt modelId="{75D16AD1-375D-4225-9F9F-7C68ECA291C2}" type="parTrans" cxnId="{2E792FBB-3630-419C-9460-A4FB72AB83F0}">
      <dgm:prSet/>
      <dgm:spPr/>
      <dgm:t>
        <a:bodyPr/>
        <a:lstStyle/>
        <a:p>
          <a:pPr algn="ctr"/>
          <a:endParaRPr lang="en-US"/>
        </a:p>
      </dgm:t>
    </dgm:pt>
    <dgm:pt modelId="{893B6735-01FC-4F03-801C-7D852032FA5A}" type="sibTrans" cxnId="{2E792FBB-3630-419C-9460-A4FB72AB83F0}">
      <dgm:prSet/>
      <dgm:spPr/>
      <dgm:t>
        <a:bodyPr/>
        <a:lstStyle/>
        <a:p>
          <a:pPr algn="ctr"/>
          <a:endParaRPr lang="en-US"/>
        </a:p>
      </dgm:t>
    </dgm:pt>
    <dgm:pt modelId="{A7388860-77FF-4A1E-BA96-EFF41FC98365}">
      <dgm:prSet phldrT="[文本]" custT="1"/>
      <dgm:spPr>
        <a:blipFill rotWithShape="0">
          <a:blip xmlns:r="http://schemas.openxmlformats.org/officeDocument/2006/relationships" r:embed="rId2"/>
          <a:stretch>
            <a:fillRect/>
          </a:stretch>
        </a:blipFill>
      </dgm:spPr>
      <dgm:t>
        <a:bodyPr/>
        <a:lstStyle/>
        <a:p>
          <a:pPr algn="ctr"/>
          <a:r>
            <a:rPr lang="en-US" sz="1800" b="1" dirty="0" smtClean="0"/>
            <a:t>Weapon Parts</a:t>
          </a:r>
          <a:endParaRPr lang="en-US" sz="1800" b="1" dirty="0"/>
        </a:p>
      </dgm:t>
    </dgm:pt>
    <dgm:pt modelId="{17EB94E7-1A23-4DE3-BD4F-6C30CC1765E0}" type="parTrans" cxnId="{AAEBECD5-083A-4080-BE07-86BD15A64054}">
      <dgm:prSet/>
      <dgm:spPr/>
      <dgm:t>
        <a:bodyPr/>
        <a:lstStyle/>
        <a:p>
          <a:pPr algn="ctr"/>
          <a:endParaRPr lang="en-US"/>
        </a:p>
      </dgm:t>
    </dgm:pt>
    <dgm:pt modelId="{12CB7FE9-6399-41A4-A7F0-13201B60F71A}" type="sibTrans" cxnId="{AAEBECD5-083A-4080-BE07-86BD15A64054}">
      <dgm:prSet/>
      <dgm:spPr/>
      <dgm:t>
        <a:bodyPr/>
        <a:lstStyle/>
        <a:p>
          <a:pPr algn="ctr"/>
          <a:endParaRPr lang="en-US"/>
        </a:p>
      </dgm:t>
    </dgm:pt>
    <dgm:pt modelId="{0BD45AB1-F915-4BEF-9E85-6F83C7023D21}">
      <dgm:prSet phldrT="[文本]" custT="1"/>
      <dgm:spPr>
        <a:blipFill rotWithShape="0">
          <a:blip xmlns:r="http://schemas.openxmlformats.org/officeDocument/2006/relationships" r:embed="rId3"/>
          <a:stretch>
            <a:fillRect/>
          </a:stretch>
        </a:blipFill>
      </dgm:spPr>
      <dgm:t>
        <a:bodyPr/>
        <a:lstStyle/>
        <a:p>
          <a:pPr algn="ctr"/>
          <a:r>
            <a:rPr lang="en-US" sz="1800" b="1" dirty="0" smtClean="0"/>
            <a:t>Computers</a:t>
          </a:r>
          <a:endParaRPr lang="en-US" sz="1800" b="1" dirty="0"/>
        </a:p>
      </dgm:t>
    </dgm:pt>
    <dgm:pt modelId="{65DCC372-89CA-4FC1-B845-03E8EE89733A}" type="parTrans" cxnId="{DCB37140-63AA-47CA-9C7B-32F7731F0CB2}">
      <dgm:prSet/>
      <dgm:spPr/>
      <dgm:t>
        <a:bodyPr/>
        <a:lstStyle/>
        <a:p>
          <a:pPr algn="ctr"/>
          <a:endParaRPr lang="en-US"/>
        </a:p>
      </dgm:t>
    </dgm:pt>
    <dgm:pt modelId="{B533EB90-A8B4-49D3-BB6F-C272344F34C5}" type="sibTrans" cxnId="{DCB37140-63AA-47CA-9C7B-32F7731F0CB2}">
      <dgm:prSet/>
      <dgm:spPr/>
      <dgm:t>
        <a:bodyPr/>
        <a:lstStyle/>
        <a:p>
          <a:pPr algn="ctr"/>
          <a:endParaRPr lang="en-US"/>
        </a:p>
      </dgm:t>
    </dgm:pt>
    <dgm:pt modelId="{E1386A03-015D-4E8A-BE44-0CEC307D499F}">
      <dgm:prSet phldrT="[文本]" custT="1"/>
      <dgm:spPr>
        <a:blipFill rotWithShape="0">
          <a:blip xmlns:r="http://schemas.openxmlformats.org/officeDocument/2006/relationships" r:embed="rId4"/>
          <a:stretch>
            <a:fillRect/>
          </a:stretch>
        </a:blipFill>
      </dgm:spPr>
      <dgm:t>
        <a:bodyPr/>
        <a:lstStyle/>
        <a:p>
          <a:pPr algn="ctr"/>
          <a:r>
            <a:rPr lang="en-US" sz="1800" b="1" dirty="0" smtClean="0"/>
            <a:t>Bovine Meat</a:t>
          </a:r>
          <a:endParaRPr lang="en-US" sz="1800" b="1" dirty="0"/>
        </a:p>
      </dgm:t>
    </dgm:pt>
    <dgm:pt modelId="{DC7C7C7B-49A0-4F17-B73B-DE45194985B7}" type="parTrans" cxnId="{E7EAFE21-3B0D-4F4E-9479-B85953A3FC91}">
      <dgm:prSet/>
      <dgm:spPr/>
      <dgm:t>
        <a:bodyPr/>
        <a:lstStyle/>
        <a:p>
          <a:pPr algn="ctr"/>
          <a:endParaRPr lang="en-US"/>
        </a:p>
      </dgm:t>
    </dgm:pt>
    <dgm:pt modelId="{4CB464EA-268E-4E41-80DD-D0207AAFC352}" type="sibTrans" cxnId="{E7EAFE21-3B0D-4F4E-9479-B85953A3FC91}">
      <dgm:prSet/>
      <dgm:spPr/>
      <dgm:t>
        <a:bodyPr/>
        <a:lstStyle/>
        <a:p>
          <a:pPr algn="ctr"/>
          <a:endParaRPr lang="en-US"/>
        </a:p>
      </dgm:t>
    </dgm:pt>
    <dgm:pt modelId="{90BFD14E-2047-481A-B5FB-0314D285E92E}" type="pres">
      <dgm:prSet presAssocID="{B1AA1E86-B715-4875-8F04-6227248F7DD9}" presName="diagram" presStyleCnt="0">
        <dgm:presLayoutVars>
          <dgm:chMax val="1"/>
          <dgm:dir/>
          <dgm:animLvl val="ctr"/>
          <dgm:resizeHandles val="exact"/>
        </dgm:presLayoutVars>
      </dgm:prSet>
      <dgm:spPr/>
      <dgm:t>
        <a:bodyPr/>
        <a:lstStyle/>
        <a:p>
          <a:endParaRPr lang="en-US"/>
        </a:p>
      </dgm:t>
    </dgm:pt>
    <dgm:pt modelId="{5A98ADD9-3870-4392-A690-D9814020B64B}" type="pres">
      <dgm:prSet presAssocID="{B1AA1E86-B715-4875-8F04-6227248F7DD9}" presName="matrix" presStyleCnt="0"/>
      <dgm:spPr/>
      <dgm:t>
        <a:bodyPr/>
        <a:lstStyle/>
        <a:p>
          <a:endParaRPr lang="en-US"/>
        </a:p>
      </dgm:t>
    </dgm:pt>
    <dgm:pt modelId="{015363E7-370E-491F-983D-D85606909675}" type="pres">
      <dgm:prSet presAssocID="{B1AA1E86-B715-4875-8F04-6227248F7DD9}" presName="tile1" presStyleLbl="node1" presStyleIdx="0" presStyleCnt="4"/>
      <dgm:spPr/>
      <dgm:t>
        <a:bodyPr/>
        <a:lstStyle/>
        <a:p>
          <a:endParaRPr lang="en-US"/>
        </a:p>
      </dgm:t>
    </dgm:pt>
    <dgm:pt modelId="{ECD10E75-D9DB-44CD-994D-96D4E90859B8}" type="pres">
      <dgm:prSet presAssocID="{B1AA1E86-B715-4875-8F04-6227248F7DD9}" presName="tile1text" presStyleLbl="node1" presStyleIdx="0" presStyleCnt="4">
        <dgm:presLayoutVars>
          <dgm:chMax val="0"/>
          <dgm:chPref val="0"/>
          <dgm:bulletEnabled val="1"/>
        </dgm:presLayoutVars>
      </dgm:prSet>
      <dgm:spPr/>
      <dgm:t>
        <a:bodyPr/>
        <a:lstStyle/>
        <a:p>
          <a:endParaRPr lang="en-US"/>
        </a:p>
      </dgm:t>
    </dgm:pt>
    <dgm:pt modelId="{1F308693-84CC-4EA4-A6D0-183A6A3412B5}" type="pres">
      <dgm:prSet presAssocID="{B1AA1E86-B715-4875-8F04-6227248F7DD9}" presName="tile2" presStyleLbl="node1" presStyleIdx="1" presStyleCnt="4"/>
      <dgm:spPr/>
      <dgm:t>
        <a:bodyPr/>
        <a:lstStyle/>
        <a:p>
          <a:endParaRPr lang="en-US"/>
        </a:p>
      </dgm:t>
    </dgm:pt>
    <dgm:pt modelId="{0B3DE086-975D-4A33-A31A-2124BEE6D356}" type="pres">
      <dgm:prSet presAssocID="{B1AA1E86-B715-4875-8F04-6227248F7DD9}" presName="tile2text" presStyleLbl="node1" presStyleIdx="1" presStyleCnt="4">
        <dgm:presLayoutVars>
          <dgm:chMax val="0"/>
          <dgm:chPref val="0"/>
          <dgm:bulletEnabled val="1"/>
        </dgm:presLayoutVars>
      </dgm:prSet>
      <dgm:spPr/>
      <dgm:t>
        <a:bodyPr/>
        <a:lstStyle/>
        <a:p>
          <a:endParaRPr lang="en-US"/>
        </a:p>
      </dgm:t>
    </dgm:pt>
    <dgm:pt modelId="{D8AAF0A8-5779-4655-877F-302D895D75FC}" type="pres">
      <dgm:prSet presAssocID="{B1AA1E86-B715-4875-8F04-6227248F7DD9}" presName="tile3" presStyleLbl="node1" presStyleIdx="2" presStyleCnt="4"/>
      <dgm:spPr/>
      <dgm:t>
        <a:bodyPr/>
        <a:lstStyle/>
        <a:p>
          <a:endParaRPr lang="en-US"/>
        </a:p>
      </dgm:t>
    </dgm:pt>
    <dgm:pt modelId="{21FB7614-3766-48BC-8DA5-F658CA4B3062}" type="pres">
      <dgm:prSet presAssocID="{B1AA1E86-B715-4875-8F04-6227248F7DD9}" presName="tile3text" presStyleLbl="node1" presStyleIdx="2" presStyleCnt="4">
        <dgm:presLayoutVars>
          <dgm:chMax val="0"/>
          <dgm:chPref val="0"/>
          <dgm:bulletEnabled val="1"/>
        </dgm:presLayoutVars>
      </dgm:prSet>
      <dgm:spPr/>
      <dgm:t>
        <a:bodyPr/>
        <a:lstStyle/>
        <a:p>
          <a:endParaRPr lang="en-US"/>
        </a:p>
      </dgm:t>
    </dgm:pt>
    <dgm:pt modelId="{8E239CF8-83AC-42E7-8272-7384F6E83D32}" type="pres">
      <dgm:prSet presAssocID="{B1AA1E86-B715-4875-8F04-6227248F7DD9}" presName="tile4" presStyleLbl="node1" presStyleIdx="3" presStyleCnt="4" custLinFactNeighborY="-1130"/>
      <dgm:spPr/>
      <dgm:t>
        <a:bodyPr/>
        <a:lstStyle/>
        <a:p>
          <a:endParaRPr lang="en-US"/>
        </a:p>
      </dgm:t>
    </dgm:pt>
    <dgm:pt modelId="{B04B0622-DCDE-4C9F-AAB5-EF35FDF0E535}" type="pres">
      <dgm:prSet presAssocID="{B1AA1E86-B715-4875-8F04-6227248F7DD9}" presName="tile4text" presStyleLbl="node1" presStyleIdx="3" presStyleCnt="4">
        <dgm:presLayoutVars>
          <dgm:chMax val="0"/>
          <dgm:chPref val="0"/>
          <dgm:bulletEnabled val="1"/>
        </dgm:presLayoutVars>
      </dgm:prSet>
      <dgm:spPr/>
      <dgm:t>
        <a:bodyPr/>
        <a:lstStyle/>
        <a:p>
          <a:endParaRPr lang="en-US"/>
        </a:p>
      </dgm:t>
    </dgm:pt>
    <dgm:pt modelId="{BA83025A-647A-4A28-85D9-CD6A787517EE}" type="pres">
      <dgm:prSet presAssocID="{B1AA1E86-B715-4875-8F04-6227248F7DD9}" presName="centerTile" presStyleLbl="fgShp" presStyleIdx="0" presStyleCnt="1">
        <dgm:presLayoutVars>
          <dgm:chMax val="0"/>
          <dgm:chPref val="0"/>
        </dgm:presLayoutVars>
      </dgm:prSet>
      <dgm:spPr/>
      <dgm:t>
        <a:bodyPr/>
        <a:lstStyle/>
        <a:p>
          <a:endParaRPr lang="en-US"/>
        </a:p>
      </dgm:t>
    </dgm:pt>
  </dgm:ptLst>
  <dgm:cxnLst>
    <dgm:cxn modelId="{1A8B0B14-1B38-4ECA-9E1E-A6A503B5EFB9}" type="presOf" srcId="{A7388860-77FF-4A1E-BA96-EFF41FC98365}" destId="{0B3DE086-975D-4A33-A31A-2124BEE6D356}" srcOrd="1" destOrd="0" presId="urn:microsoft.com/office/officeart/2005/8/layout/matrix1"/>
    <dgm:cxn modelId="{468E6326-B28B-4D5B-9DF2-68A3FAD41C71}" type="presOf" srcId="{13210358-92AE-4239-BB12-D51ECC45A7B7}" destId="{BA83025A-647A-4A28-85D9-CD6A787517EE}" srcOrd="0" destOrd="0" presId="urn:microsoft.com/office/officeart/2005/8/layout/matrix1"/>
    <dgm:cxn modelId="{E7EAFE21-3B0D-4F4E-9479-B85953A3FC91}" srcId="{13210358-92AE-4239-BB12-D51ECC45A7B7}" destId="{E1386A03-015D-4E8A-BE44-0CEC307D499F}" srcOrd="3" destOrd="0" parTransId="{DC7C7C7B-49A0-4F17-B73B-DE45194985B7}" sibTransId="{4CB464EA-268E-4E41-80DD-D0207AAFC352}"/>
    <dgm:cxn modelId="{35D9A528-926B-4949-93BD-8CE72A9534F1}" srcId="{B1AA1E86-B715-4875-8F04-6227248F7DD9}" destId="{13210358-92AE-4239-BB12-D51ECC45A7B7}" srcOrd="0" destOrd="0" parTransId="{E1DB428E-73C3-4E9E-B4A9-4C50B30D0ABF}" sibTransId="{F1305B59-C34A-4D93-B08E-D87A0701D492}"/>
    <dgm:cxn modelId="{FE261AD0-175A-4E99-86D4-A610AAC47CAA}" type="presOf" srcId="{0BD45AB1-F915-4BEF-9E85-6F83C7023D21}" destId="{D8AAF0A8-5779-4655-877F-302D895D75FC}" srcOrd="0" destOrd="0" presId="urn:microsoft.com/office/officeart/2005/8/layout/matrix1"/>
    <dgm:cxn modelId="{EA424C30-2CD0-4B17-8DA0-C673C8356952}" type="presOf" srcId="{B1AA1E86-B715-4875-8F04-6227248F7DD9}" destId="{90BFD14E-2047-481A-B5FB-0314D285E92E}" srcOrd="0" destOrd="0" presId="urn:microsoft.com/office/officeart/2005/8/layout/matrix1"/>
    <dgm:cxn modelId="{A5F783BA-17C4-4F81-927A-96BF6ED11D08}" type="presOf" srcId="{E1386A03-015D-4E8A-BE44-0CEC307D499F}" destId="{B04B0622-DCDE-4C9F-AAB5-EF35FDF0E535}" srcOrd="1" destOrd="0" presId="urn:microsoft.com/office/officeart/2005/8/layout/matrix1"/>
    <dgm:cxn modelId="{AAEBECD5-083A-4080-BE07-86BD15A64054}" srcId="{13210358-92AE-4239-BB12-D51ECC45A7B7}" destId="{A7388860-77FF-4A1E-BA96-EFF41FC98365}" srcOrd="1" destOrd="0" parTransId="{17EB94E7-1A23-4DE3-BD4F-6C30CC1765E0}" sibTransId="{12CB7FE9-6399-41A4-A7F0-13201B60F71A}"/>
    <dgm:cxn modelId="{AD8945B5-6607-4EF2-845E-D39A0C00CFBD}" type="presOf" srcId="{0BD45AB1-F915-4BEF-9E85-6F83C7023D21}" destId="{21FB7614-3766-48BC-8DA5-F658CA4B3062}" srcOrd="1" destOrd="0" presId="urn:microsoft.com/office/officeart/2005/8/layout/matrix1"/>
    <dgm:cxn modelId="{2E792FBB-3630-419C-9460-A4FB72AB83F0}" srcId="{13210358-92AE-4239-BB12-D51ECC45A7B7}" destId="{4C5B98C4-A68A-409B-8A96-148EF57C7E47}" srcOrd="0" destOrd="0" parTransId="{75D16AD1-375D-4225-9F9F-7C68ECA291C2}" sibTransId="{893B6735-01FC-4F03-801C-7D852032FA5A}"/>
    <dgm:cxn modelId="{159913B1-C0E1-4485-A4C2-8C63069CB798}" type="presOf" srcId="{E1386A03-015D-4E8A-BE44-0CEC307D499F}" destId="{8E239CF8-83AC-42E7-8272-7384F6E83D32}" srcOrd="0" destOrd="0" presId="urn:microsoft.com/office/officeart/2005/8/layout/matrix1"/>
    <dgm:cxn modelId="{3F26A6D5-88FC-4C7B-A026-91D0FE15EB6C}" type="presOf" srcId="{4C5B98C4-A68A-409B-8A96-148EF57C7E47}" destId="{015363E7-370E-491F-983D-D85606909675}" srcOrd="0" destOrd="0" presId="urn:microsoft.com/office/officeart/2005/8/layout/matrix1"/>
    <dgm:cxn modelId="{DCB37140-63AA-47CA-9C7B-32F7731F0CB2}" srcId="{13210358-92AE-4239-BB12-D51ECC45A7B7}" destId="{0BD45AB1-F915-4BEF-9E85-6F83C7023D21}" srcOrd="2" destOrd="0" parTransId="{65DCC372-89CA-4FC1-B845-03E8EE89733A}" sibTransId="{B533EB90-A8B4-49D3-BB6F-C272344F34C5}"/>
    <dgm:cxn modelId="{24F3C163-CF39-4939-858B-05D4F6F78D79}" type="presOf" srcId="{A7388860-77FF-4A1E-BA96-EFF41FC98365}" destId="{1F308693-84CC-4EA4-A6D0-183A6A3412B5}" srcOrd="0" destOrd="0" presId="urn:microsoft.com/office/officeart/2005/8/layout/matrix1"/>
    <dgm:cxn modelId="{85B3F91D-181F-4447-9FA1-B92D78BDBACC}" type="presOf" srcId="{4C5B98C4-A68A-409B-8A96-148EF57C7E47}" destId="{ECD10E75-D9DB-44CD-994D-96D4E90859B8}" srcOrd="1" destOrd="0" presId="urn:microsoft.com/office/officeart/2005/8/layout/matrix1"/>
    <dgm:cxn modelId="{843581A9-92D2-447D-B72E-DE48C1EE63B5}" type="presParOf" srcId="{90BFD14E-2047-481A-B5FB-0314D285E92E}" destId="{5A98ADD9-3870-4392-A690-D9814020B64B}" srcOrd="0" destOrd="0" presId="urn:microsoft.com/office/officeart/2005/8/layout/matrix1"/>
    <dgm:cxn modelId="{4692A1D4-38F5-4030-8C2B-47635D0F7CA5}" type="presParOf" srcId="{5A98ADD9-3870-4392-A690-D9814020B64B}" destId="{015363E7-370E-491F-983D-D85606909675}" srcOrd="0" destOrd="0" presId="urn:microsoft.com/office/officeart/2005/8/layout/matrix1"/>
    <dgm:cxn modelId="{4D878F41-00A2-4526-ACD3-11E565709DD8}" type="presParOf" srcId="{5A98ADD9-3870-4392-A690-D9814020B64B}" destId="{ECD10E75-D9DB-44CD-994D-96D4E90859B8}" srcOrd="1" destOrd="0" presId="urn:microsoft.com/office/officeart/2005/8/layout/matrix1"/>
    <dgm:cxn modelId="{9F372D77-12EA-496E-85FC-675B36FCD987}" type="presParOf" srcId="{5A98ADD9-3870-4392-A690-D9814020B64B}" destId="{1F308693-84CC-4EA4-A6D0-183A6A3412B5}" srcOrd="2" destOrd="0" presId="urn:microsoft.com/office/officeart/2005/8/layout/matrix1"/>
    <dgm:cxn modelId="{FED94C72-0F4E-477C-8813-1CCF561100AC}" type="presParOf" srcId="{5A98ADD9-3870-4392-A690-D9814020B64B}" destId="{0B3DE086-975D-4A33-A31A-2124BEE6D356}" srcOrd="3" destOrd="0" presId="urn:microsoft.com/office/officeart/2005/8/layout/matrix1"/>
    <dgm:cxn modelId="{36C932D9-12A8-4EC7-9B4C-0BF91651DBCF}" type="presParOf" srcId="{5A98ADD9-3870-4392-A690-D9814020B64B}" destId="{D8AAF0A8-5779-4655-877F-302D895D75FC}" srcOrd="4" destOrd="0" presId="urn:microsoft.com/office/officeart/2005/8/layout/matrix1"/>
    <dgm:cxn modelId="{DB1D070E-4D25-4D62-9207-A17AECCE942A}" type="presParOf" srcId="{5A98ADD9-3870-4392-A690-D9814020B64B}" destId="{21FB7614-3766-48BC-8DA5-F658CA4B3062}" srcOrd="5" destOrd="0" presId="urn:microsoft.com/office/officeart/2005/8/layout/matrix1"/>
    <dgm:cxn modelId="{4EECBFF7-369A-4B55-BD7A-1D490BAE93ED}" type="presParOf" srcId="{5A98ADD9-3870-4392-A690-D9814020B64B}" destId="{8E239CF8-83AC-42E7-8272-7384F6E83D32}" srcOrd="6" destOrd="0" presId="urn:microsoft.com/office/officeart/2005/8/layout/matrix1"/>
    <dgm:cxn modelId="{84C5ADB2-6512-495A-B41C-7DEAC7D3FFC1}" type="presParOf" srcId="{5A98ADD9-3870-4392-A690-D9814020B64B}" destId="{B04B0622-DCDE-4C9F-AAB5-EF35FDF0E535}" srcOrd="7" destOrd="0" presId="urn:microsoft.com/office/officeart/2005/8/layout/matrix1"/>
    <dgm:cxn modelId="{3F5ED025-4F27-4B3A-A3B4-79D9F9338EBC}" type="presParOf" srcId="{90BFD14E-2047-481A-B5FB-0314D285E92E}" destId="{BA83025A-647A-4A28-85D9-CD6A787517EE}" srcOrd="1" destOrd="0" presId="urn:microsoft.com/office/officeart/2005/8/layout/matrix1"/>
  </dgm:cxnLst>
  <dgm:bg/>
  <dgm:whole/>
</dgm:dataModel>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16.emf"/><Relationship Id="rId7" Type="http://schemas.openxmlformats.org/officeDocument/2006/relationships/image" Target="../media/image20.emf"/><Relationship Id="rId2" Type="http://schemas.openxmlformats.org/officeDocument/2006/relationships/image" Target="../media/image15.emf"/><Relationship Id="rId1" Type="http://schemas.openxmlformats.org/officeDocument/2006/relationships/image" Target="../media/image14.emf"/><Relationship Id="rId6" Type="http://schemas.openxmlformats.org/officeDocument/2006/relationships/image" Target="../media/image19.emf"/><Relationship Id="rId5" Type="http://schemas.openxmlformats.org/officeDocument/2006/relationships/image" Target="../media/image18.emf"/><Relationship Id="rId4"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image" Target="../media/image32.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75de84d53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75de84d5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75de84d53_0_9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75de84d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475de84d53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475de84d53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475de84d53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475de84d53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475de84d53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475de84d53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475de84d53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475de84d53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75de84d53_0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75de84d53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475de84d53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475de84d53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475de84d53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475de84d53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475de84d53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475de84d53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475de84d53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475de84d53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75de84d53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475de84d53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475de84d53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475de84d53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475de84d53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475de84d53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475de84d5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475de84d53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475de84d53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475de84d53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75de84d53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75de84d53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Nunito"/>
                <a:ea typeface="Nunito"/>
                <a:cs typeface="Nunito"/>
                <a:sym typeface="Nunito"/>
              </a:rPr>
              <a:t>Each country has several pages: GDP and ECI trend graph, ADI chart, SDV, sensitivity score, sensitivity plan, contingency table, SOI</a:t>
            </a:r>
            <a:endParaRPr/>
          </a:p>
          <a:p>
            <a:pPr marL="0" lvl="0" indent="0" algn="l" rtl="0">
              <a:spcBef>
                <a:spcPts val="1600"/>
              </a:spcBef>
              <a:spcAft>
                <a:spcPts val="0"/>
              </a:spcAft>
              <a:buNone/>
            </a:pPr>
            <a:r>
              <a:rPr lang="en"/>
              <a:t>GDP/ECI trend graph: 2.2, figure 3</a:t>
            </a:r>
            <a:endParaRPr/>
          </a:p>
          <a:p>
            <a:pPr marL="0" lvl="0" indent="0" algn="l" rtl="0">
              <a:spcBef>
                <a:spcPts val="0"/>
              </a:spcBef>
              <a:spcAft>
                <a:spcPts val="0"/>
              </a:spcAft>
              <a:buNone/>
            </a:pPr>
            <a:r>
              <a:rPr lang="en"/>
              <a:t>ADI Chart: 3.2, table 2</a:t>
            </a:r>
            <a:endParaRPr/>
          </a:p>
          <a:p>
            <a:pPr marL="0" lvl="0" indent="0" algn="l" rtl="0">
              <a:spcBef>
                <a:spcPts val="0"/>
              </a:spcBef>
              <a:spcAft>
                <a:spcPts val="0"/>
              </a:spcAft>
              <a:buNone/>
            </a:pPr>
            <a:r>
              <a:rPr lang="en"/>
              <a:t>SDV: 4.1, table 5 (opportunity gain csv file in “resource”) (all nation within one table)</a:t>
            </a:r>
            <a:endParaRPr/>
          </a:p>
          <a:p>
            <a:pPr marL="0" lvl="0" indent="0" algn="l" rtl="0">
              <a:spcBef>
                <a:spcPts val="0"/>
              </a:spcBef>
              <a:spcAft>
                <a:spcPts val="0"/>
              </a:spcAft>
              <a:buNone/>
            </a:pPr>
            <a:r>
              <a:rPr lang="en"/>
              <a:t>Sensitivity Score: 4.3, table 17,18</a:t>
            </a:r>
            <a:endParaRPr/>
          </a:p>
          <a:p>
            <a:pPr marL="0" lvl="0" indent="0" algn="l" rtl="0">
              <a:spcBef>
                <a:spcPts val="0"/>
              </a:spcBef>
              <a:spcAft>
                <a:spcPts val="0"/>
              </a:spcAft>
              <a:buNone/>
            </a:pPr>
            <a:r>
              <a:rPr lang="en"/>
              <a:t>Sensitivity Plan: 4.3, table 19 (need excel file from Heyang)</a:t>
            </a:r>
            <a:endParaRPr/>
          </a:p>
          <a:p>
            <a:pPr marL="0" lvl="0" indent="0" algn="l" rtl="0">
              <a:spcBef>
                <a:spcPts val="0"/>
              </a:spcBef>
              <a:spcAft>
                <a:spcPts val="0"/>
              </a:spcAft>
              <a:buNone/>
            </a:pPr>
            <a:r>
              <a:rPr lang="en"/>
              <a:t>Contingency Table: 4.3, table 23, 24</a:t>
            </a:r>
            <a:endParaRPr/>
          </a:p>
          <a:p>
            <a:pPr marL="0" lvl="0" indent="0" algn="l" rtl="0">
              <a:spcBef>
                <a:spcPts val="0"/>
              </a:spcBef>
              <a:spcAft>
                <a:spcPts val="0"/>
              </a:spcAft>
              <a:buNone/>
            </a:pPr>
            <a:r>
              <a:rPr lang="en"/>
              <a:t>SOI: 5.2, Figure 7 (R^2 required) (change the country name in the code, line 211)</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476aa4904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476aa4904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475fa313b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475fa313b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475fa313b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475fa313b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5ff6084c4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5ff6084c4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476aa49042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476aa49042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476aa49042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476aa49042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476aa49042_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476aa49042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476aa49042_3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476aa49042_3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4777ffeb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1" name="Google Shape;621;g4777ffeb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777ffeb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4777ffeb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477cb0a0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477cb0a0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477cb0a07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477cb0a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477cb0a07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477cb0a07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477cb0a07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477cb0a07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ff6084c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ff6084c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5ff6084c4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5ff6084c4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5ff6084c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5ff6084c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g5ff6084c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2" name="Google Shape;732;g5ff6084c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5ff6084c4b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5ff6084c4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5ff6084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5ff6084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5ff6084c4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5ff6084c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609f9883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609f9883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609f9883a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5" name="Google Shape;795;g609f9883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package" Target="../embeddings/Microsoft_Office_Word___2.docx"/><Relationship Id="rId4" Type="http://schemas.openxmlformats.org/officeDocument/2006/relationships/package" Target="../embeddings/Microsoft_Office_Word___1.docx"/></Relationships>
</file>

<file path=ppt/slides/_rels/slide1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package" Target="../embeddings/Microsoft_Office_Word___7.docx"/><Relationship Id="rId3" Type="http://schemas.openxmlformats.org/officeDocument/2006/relationships/notesSlide" Target="../notesSlides/notesSlide14.xml"/><Relationship Id="rId7" Type="http://schemas.openxmlformats.org/officeDocument/2006/relationships/package" Target="../embeddings/Microsoft_Office_Word___6.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package" Target="../embeddings/Microsoft_Office_Word___5.docx"/><Relationship Id="rId11" Type="http://schemas.openxmlformats.org/officeDocument/2006/relationships/package" Target="../embeddings/Microsoft_Office_Word___10.docx"/><Relationship Id="rId5" Type="http://schemas.openxmlformats.org/officeDocument/2006/relationships/package" Target="../embeddings/Microsoft_Office_Word___4.docx"/><Relationship Id="rId10" Type="http://schemas.openxmlformats.org/officeDocument/2006/relationships/package" Target="../embeddings/Microsoft_Office_Word___9.docx"/><Relationship Id="rId4" Type="http://schemas.openxmlformats.org/officeDocument/2006/relationships/package" Target="../embeddings/Microsoft_Office_Word___3.docx"/><Relationship Id="rId9" Type="http://schemas.openxmlformats.org/officeDocument/2006/relationships/package" Target="../embeddings/Microsoft_Office_Word___8.docx"/></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package" Target="../embeddings/Microsoft_Office_Word___12.docx"/><Relationship Id="rId4" Type="http://schemas.openxmlformats.org/officeDocument/2006/relationships/package" Target="../embeddings/Microsoft_Office_Word___11.docx"/></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package" Target="../embeddings/Microsoft_Office_Word___14.docx"/><Relationship Id="rId5" Type="http://schemas.openxmlformats.org/officeDocument/2006/relationships/package" Target="../embeddings/Microsoft_Office_Word___13.docx"/><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38.jpeg"/><Relationship Id="rId5" Type="http://schemas.openxmlformats.org/officeDocument/2006/relationships/package" Target="../embeddings/Microsoft_Office_Word___16.docx"/><Relationship Id="rId4" Type="http://schemas.openxmlformats.org/officeDocument/2006/relationships/package" Target="../embeddings/Microsoft_Office_Word___15.docx"/></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77.png"/><Relationship Id="rId4" Type="http://schemas.openxmlformats.org/officeDocument/2006/relationships/image" Target="../media/image76.png"/></Relationships>
</file>

<file path=ppt/slides/_rels/slide45.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86.png"/><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93.png"/><Relationship Id="rId4" Type="http://schemas.openxmlformats.org/officeDocument/2006/relationships/image" Target="../media/image92.png"/></Relationships>
</file>

<file path=ppt/slides/_rels/slide49.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5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101.png"/><Relationship Id="rId4" Type="http://schemas.openxmlformats.org/officeDocument/2006/relationships/image" Target="../media/image100.png"/></Relationships>
</file>

<file path=ppt/slides/_rels/slide51.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53.xml"/><Relationship Id="rId1" Type="http://schemas.openxmlformats.org/officeDocument/2006/relationships/slideLayout" Target="../slideLayouts/slideLayout3.xml"/><Relationship Id="rId5" Type="http://schemas.openxmlformats.org/officeDocument/2006/relationships/image" Target="../media/image118.png"/><Relationship Id="rId4" Type="http://schemas.openxmlformats.org/officeDocument/2006/relationships/image" Target="../media/image117.png"/></Relationships>
</file>

<file path=ppt/slides/_rels/slide5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56.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s>
</file>

<file path=ppt/slides/_rels/slide5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134.png"/><Relationship Id="rId5" Type="http://schemas.openxmlformats.org/officeDocument/2006/relationships/image" Target="../media/image133.png"/><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8.xml"/><Relationship Id="rId1" Type="http://schemas.openxmlformats.org/officeDocument/2006/relationships/slideLayout" Target="../slideLayouts/slideLayout3.xml"/><Relationship Id="rId5" Type="http://schemas.openxmlformats.org/officeDocument/2006/relationships/image" Target="../media/image137.png"/><Relationship Id="rId4" Type="http://schemas.openxmlformats.org/officeDocument/2006/relationships/image" Target="../media/image136.png"/></Relationships>
</file>

<file path=ppt/slides/_rels/slide60.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8.png"/><Relationship Id="rId7" Type="http://schemas.openxmlformats.org/officeDocument/2006/relationships/image" Target="../media/image142.png"/><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image" Target="../media/image141.png"/><Relationship Id="rId5" Type="http://schemas.openxmlformats.org/officeDocument/2006/relationships/image" Target="../media/image140.png"/><Relationship Id="rId4"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041600"/>
            <a:ext cx="701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latin typeface="Times New Roman"/>
                <a:ea typeface="Times New Roman"/>
                <a:cs typeface="Times New Roman"/>
                <a:sym typeface="Times New Roman"/>
              </a:rPr>
              <a:t>Complexity-based Economic and Production Analysis: Overview and Country Report</a:t>
            </a:r>
            <a:endParaRPr sz="2600">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824000" y="3367700"/>
            <a:ext cx="53871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Heyang Huang, Soulaymane Kachani, Lun Li, Jiayu Zhao</a:t>
            </a:r>
            <a:endParaRPr>
              <a:latin typeface="Times New Roman"/>
              <a:ea typeface="Times New Roman"/>
              <a:cs typeface="Times New Roman"/>
              <a:sym typeface="Times New Roman"/>
            </a:endParaRPr>
          </a:p>
          <a:p>
            <a:pPr marL="0" lvl="0" indent="0" algn="l" rtl="0">
              <a:spcBef>
                <a:spcPts val="0"/>
              </a:spcBef>
              <a:spcAft>
                <a:spcPts val="0"/>
              </a:spcAft>
              <a:buNone/>
            </a:pPr>
            <a:r>
              <a:rPr lang="en">
                <a:latin typeface="Times New Roman"/>
                <a:ea typeface="Times New Roman"/>
                <a:cs typeface="Times New Roman"/>
                <a:sym typeface="Times New Roman"/>
              </a:rPr>
              <a:t>Columbia University</a:t>
            </a:r>
            <a:endParaRPr>
              <a:latin typeface="Times New Roman"/>
              <a:ea typeface="Times New Roman"/>
              <a:cs typeface="Times New Roman"/>
              <a:sym typeface="Times New Roman"/>
            </a:endParaRPr>
          </a:p>
        </p:txBody>
      </p:sp>
      <p:sp>
        <p:nvSpPr>
          <p:cNvPr id="279" name="Google Shape;279;p13"/>
          <p:cNvSpPr txBox="1">
            <a:spLocks noGrp="1"/>
          </p:cNvSpPr>
          <p:nvPr>
            <p:ph type="ctrTitle"/>
          </p:nvPr>
        </p:nvSpPr>
        <p:spPr>
          <a:xfrm>
            <a:off x="824000" y="2647950"/>
            <a:ext cx="7012500" cy="53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With analysis for Brazil, China, Egypt, France, Germany, Japan, Malaysia, Mexico, Morocco, South Africa, South Korea, Spain, Turkey, UAE and USA</a:t>
            </a:r>
            <a:endParaRPr sz="1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285" name="Google Shape;285;p14"/>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Times New Roman"/>
                <a:ea typeface="Times New Roman"/>
                <a:cs typeface="Times New Roman"/>
                <a:sym typeface="Times New Roman"/>
              </a:rPr>
              <a:t>1. Overview</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2. Economic Complexity Framework</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3. Production Analysis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4. Product Space Design</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5. Macro-level Predictions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6. Reference</a:t>
            </a:r>
            <a:endParaRPr sz="1400" dirty="0">
              <a:latin typeface="Times New Roman"/>
              <a:ea typeface="Times New Roman"/>
              <a:cs typeface="Times New Roman"/>
              <a:sym typeface="Times New Roman"/>
            </a:endParaRPr>
          </a:p>
          <a:p>
            <a:pPr marL="0" lvl="0" indent="0" algn="l" rtl="0">
              <a:spcBef>
                <a:spcPts val="1600"/>
              </a:spcBef>
              <a:spcAft>
                <a:spcPts val="1600"/>
              </a:spcAft>
              <a:buNone/>
            </a:pPr>
            <a:r>
              <a:rPr lang="en" sz="1400" dirty="0">
                <a:latin typeface="Times New Roman"/>
                <a:ea typeface="Times New Roman"/>
                <a:cs typeface="Times New Roman"/>
                <a:sym typeface="Times New Roman"/>
              </a:rPr>
              <a:t>7. Appendix</a:t>
            </a:r>
            <a:endParaRPr sz="1400" dirty="0">
              <a:latin typeface="Times New Roman"/>
              <a:ea typeface="Times New Roman"/>
              <a:cs typeface="Times New Roman"/>
              <a:sym typeface="Times New Roman"/>
            </a:endParaRPr>
          </a:p>
        </p:txBody>
      </p:sp>
      <p:sp>
        <p:nvSpPr>
          <p:cNvPr id="286" name="Google Shape;286;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1. Overview</a:t>
            </a:r>
            <a:endParaRPr>
              <a:latin typeface="Times New Roman"/>
              <a:ea typeface="Times New Roman"/>
              <a:cs typeface="Times New Roman"/>
              <a:sym typeface="Times New Roman"/>
            </a:endParaRPr>
          </a:p>
        </p:txBody>
      </p:sp>
      <p:sp>
        <p:nvSpPr>
          <p:cNvPr id="292" name="Google Shape;29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93" name="Google Shape;293;p15"/>
          <p:cNvSpPr txBox="1">
            <a:spLocks noGrp="1"/>
          </p:cNvSpPr>
          <p:nvPr>
            <p:ph type="body" idx="1"/>
          </p:nvPr>
        </p:nvSpPr>
        <p:spPr>
          <a:xfrm>
            <a:off x="1303800" y="1224750"/>
            <a:ext cx="7030500" cy="3302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With an increasing volume of international trade, countries are more specialized than ever in production and have diversified into distinct production patterns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Based on global export data available to us, in this report we examine countries’ growth paths and product spaces on a complexity level, during the period from 2009 to 2014</a:t>
            </a:r>
            <a:endParaRPr sz="140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The rest of the report is organized as follows:</a:t>
            </a:r>
            <a:endParaRPr sz="1400" b="1">
              <a:solidFill>
                <a:srgbClr val="000000"/>
              </a:solidFill>
              <a:latin typeface="Times New Roman"/>
              <a:ea typeface="Times New Roman"/>
              <a:cs typeface="Times New Roman"/>
              <a:sym typeface="Times New Roman"/>
            </a:endParaRPr>
          </a:p>
          <a:p>
            <a:pPr marL="457200" lvl="0" indent="0" algn="l" rtl="0">
              <a:spcBef>
                <a:spcPts val="0"/>
              </a:spcBef>
              <a:spcAft>
                <a:spcPts val="1600"/>
              </a:spcAft>
              <a:buNone/>
            </a:pPr>
            <a:endParaRPr sz="1400">
              <a:solidFill>
                <a:srgbClr val="000000"/>
              </a:solidFill>
              <a:latin typeface="Times New Roman"/>
              <a:ea typeface="Times New Roman"/>
              <a:cs typeface="Times New Roman"/>
              <a:sym typeface="Times New Roman"/>
            </a:endParaRPr>
          </a:p>
        </p:txBody>
      </p:sp>
      <p:sp>
        <p:nvSpPr>
          <p:cNvPr id="294" name="Google Shape;294;p15"/>
          <p:cNvSpPr/>
          <p:nvPr/>
        </p:nvSpPr>
        <p:spPr>
          <a:xfrm>
            <a:off x="1455700" y="2583000"/>
            <a:ext cx="14799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2</a:t>
            </a:r>
            <a:endParaRPr>
              <a:latin typeface="Times New Roman"/>
              <a:ea typeface="Times New Roman"/>
              <a:cs typeface="Times New Roman"/>
              <a:sym typeface="Times New Roman"/>
            </a:endParaRPr>
          </a:p>
        </p:txBody>
      </p:sp>
      <p:sp>
        <p:nvSpPr>
          <p:cNvPr id="295" name="Google Shape;295;p15"/>
          <p:cNvSpPr/>
          <p:nvPr/>
        </p:nvSpPr>
        <p:spPr>
          <a:xfrm>
            <a:off x="3129775" y="2583000"/>
            <a:ext cx="52044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Countries’ economic complexity is quantified the same way as defined by Hausmann and Hidalgo (2009)</a:t>
            </a:r>
            <a:endParaRPr/>
          </a:p>
        </p:txBody>
      </p:sp>
      <p:sp>
        <p:nvSpPr>
          <p:cNvPr id="296" name="Google Shape;296;p15"/>
          <p:cNvSpPr/>
          <p:nvPr/>
        </p:nvSpPr>
        <p:spPr>
          <a:xfrm>
            <a:off x="1455675" y="3149100"/>
            <a:ext cx="14799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3</a:t>
            </a:r>
            <a:endParaRPr>
              <a:latin typeface="Times New Roman"/>
              <a:ea typeface="Times New Roman"/>
              <a:cs typeface="Times New Roman"/>
              <a:sym typeface="Times New Roman"/>
            </a:endParaRPr>
          </a:p>
        </p:txBody>
      </p:sp>
      <p:sp>
        <p:nvSpPr>
          <p:cNvPr id="297" name="Google Shape;297;p15"/>
          <p:cNvSpPr/>
          <p:nvPr/>
        </p:nvSpPr>
        <p:spPr>
          <a:xfrm>
            <a:off x="3129775" y="3149100"/>
            <a:ext cx="52044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Products are grouped into industry families and the growth paths adopted by countries during the period are closely examined</a:t>
            </a:r>
            <a:endParaRPr>
              <a:latin typeface="Times New Roman"/>
              <a:ea typeface="Times New Roman"/>
              <a:cs typeface="Times New Roman"/>
              <a:sym typeface="Times New Roman"/>
            </a:endParaRPr>
          </a:p>
        </p:txBody>
      </p:sp>
      <p:sp>
        <p:nvSpPr>
          <p:cNvPr id="298" name="Google Shape;298;p15"/>
          <p:cNvSpPr/>
          <p:nvPr/>
        </p:nvSpPr>
        <p:spPr>
          <a:xfrm>
            <a:off x="1455675" y="3715200"/>
            <a:ext cx="14799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4</a:t>
            </a:r>
            <a:endParaRPr>
              <a:latin typeface="Times New Roman"/>
              <a:ea typeface="Times New Roman"/>
              <a:cs typeface="Times New Roman"/>
              <a:sym typeface="Times New Roman"/>
            </a:endParaRPr>
          </a:p>
        </p:txBody>
      </p:sp>
      <p:sp>
        <p:nvSpPr>
          <p:cNvPr id="299" name="Google Shape;299;p15"/>
          <p:cNvSpPr/>
          <p:nvPr/>
        </p:nvSpPr>
        <p:spPr>
          <a:xfrm>
            <a:off x="1455675" y="42813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5</a:t>
            </a:r>
            <a:endParaRPr>
              <a:latin typeface="Times New Roman"/>
              <a:ea typeface="Times New Roman"/>
              <a:cs typeface="Times New Roman"/>
              <a:sym typeface="Times New Roman"/>
            </a:endParaRPr>
          </a:p>
        </p:txBody>
      </p:sp>
      <p:sp>
        <p:nvSpPr>
          <p:cNvPr id="300" name="Google Shape;300;p15"/>
          <p:cNvSpPr/>
          <p:nvPr/>
        </p:nvSpPr>
        <p:spPr>
          <a:xfrm>
            <a:off x="3129775" y="3715200"/>
            <a:ext cx="52044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Analyses are conducted on countries’ sequential development strategy, sensitivity to industry upheaval and the contingency plan</a:t>
            </a:r>
            <a:endParaRPr>
              <a:latin typeface="Times New Roman"/>
              <a:ea typeface="Times New Roman"/>
              <a:cs typeface="Times New Roman"/>
              <a:sym typeface="Times New Roman"/>
            </a:endParaRPr>
          </a:p>
        </p:txBody>
      </p:sp>
      <p:sp>
        <p:nvSpPr>
          <p:cNvPr id="301" name="Google Shape;301;p15"/>
          <p:cNvSpPr/>
          <p:nvPr/>
        </p:nvSpPr>
        <p:spPr>
          <a:xfrm>
            <a:off x="3129775" y="42813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Macro-level results are used to assess countries’ structural optimality</a:t>
            </a:r>
            <a:endParaRPr>
              <a:latin typeface="Times New Roman"/>
              <a:ea typeface="Times New Roman"/>
              <a:cs typeface="Times New Roman"/>
              <a:sym typeface="Times New Roman"/>
            </a:endParaRPr>
          </a:p>
        </p:txBody>
      </p:sp>
      <p:sp>
        <p:nvSpPr>
          <p:cNvPr id="302" name="Google Shape;302;p15"/>
          <p:cNvSpPr/>
          <p:nvPr/>
        </p:nvSpPr>
        <p:spPr>
          <a:xfrm>
            <a:off x="1455675" y="46686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7</a:t>
            </a:r>
            <a:endParaRPr>
              <a:latin typeface="Times New Roman"/>
              <a:ea typeface="Times New Roman"/>
              <a:cs typeface="Times New Roman"/>
              <a:sym typeface="Times New Roman"/>
            </a:endParaRPr>
          </a:p>
        </p:txBody>
      </p:sp>
      <p:sp>
        <p:nvSpPr>
          <p:cNvPr id="303" name="Google Shape;303;p15"/>
          <p:cNvSpPr/>
          <p:nvPr/>
        </p:nvSpPr>
        <p:spPr>
          <a:xfrm>
            <a:off x="3129775" y="46686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Country-specific results are available for further reviews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latin typeface="Times New Roman"/>
                <a:ea typeface="Times New Roman"/>
                <a:cs typeface="Times New Roman"/>
                <a:sym typeface="Times New Roman"/>
              </a:rPr>
              <a:t>2. Economic Complexity Framework</a:t>
            </a:r>
            <a:endParaRPr>
              <a:latin typeface="Times New Roman"/>
              <a:ea typeface="Times New Roman"/>
              <a:cs typeface="Times New Roman"/>
              <a:sym typeface="Times New Roman"/>
            </a:endParaRPr>
          </a:p>
        </p:txBody>
      </p:sp>
      <p:sp>
        <p:nvSpPr>
          <p:cNvPr id="311" name="Google Shape;311;p1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2.1 Economic Complexity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2.2 Production Matrix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2.3 Diversity and Ubiquity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2.4 Economic &amp; Product Complexity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2.5 Proximity and Distance</a:t>
            </a:r>
            <a:endParaRPr sz="1400">
              <a:latin typeface="Times New Roman"/>
              <a:ea typeface="Times New Roman"/>
              <a:cs typeface="Times New Roman"/>
              <a:sym typeface="Times New Roman"/>
            </a:endParaRPr>
          </a:p>
          <a:p>
            <a:pPr marL="0" lvl="0" indent="0" algn="l" rtl="0">
              <a:spcBef>
                <a:spcPts val="1600"/>
              </a:spcBef>
              <a:spcAft>
                <a:spcPts val="1600"/>
              </a:spcAft>
              <a:buNone/>
            </a:pPr>
            <a:r>
              <a:rPr lang="en" sz="1400">
                <a:latin typeface="Times New Roman"/>
                <a:ea typeface="Times New Roman"/>
                <a:cs typeface="Times New Roman"/>
                <a:sym typeface="Times New Roman"/>
              </a:rPr>
              <a:t>2.6 Opportunity Gain</a:t>
            </a:r>
            <a:endParaRPr sz="1400">
              <a:latin typeface="Times New Roman"/>
              <a:ea typeface="Times New Roman"/>
              <a:cs typeface="Times New Roman"/>
              <a:sym typeface="Times New Roman"/>
            </a:endParaRPr>
          </a:p>
        </p:txBody>
      </p:sp>
      <p:sp>
        <p:nvSpPr>
          <p:cNvPr id="312" name="Google Shape;312;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8" name="TextBox 7"/>
          <p:cNvSpPr txBox="1"/>
          <p:nvPr/>
        </p:nvSpPr>
        <p:spPr>
          <a:xfrm>
            <a:off x="591015" y="1237786"/>
            <a:ext cx="4605453" cy="1384995"/>
          </a:xfrm>
          <a:prstGeom prst="rect">
            <a:avLst/>
          </a:prstGeom>
          <a:noFill/>
        </p:spPr>
        <p:txBody>
          <a:bodyPr wrap="square" rtlCol="0">
            <a:spAutoFit/>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In the era of globalization, more and more economies decide to specialize in the production. The global market and international organizations allow the knowledge that is held by the few to reach many.</a:t>
            </a:r>
          </a:p>
          <a:p>
            <a:pPr>
              <a:buFont typeface="Arial" pitchFamily="34" charset="0"/>
              <a:buChar char="•"/>
            </a:pPr>
            <a:endParaRPr lang="en-US" dirty="0">
              <a:latin typeface="Times New Roman" pitchFamily="18" charset="0"/>
              <a:cs typeface="Times New Roman" pitchFamily="18" charset="0"/>
            </a:endParaRPr>
          </a:p>
        </p:txBody>
      </p:sp>
      <p:pic>
        <p:nvPicPr>
          <p:cNvPr id="11" name="图片 10" descr="world-map.png"/>
          <p:cNvPicPr>
            <a:picLocks noChangeAspect="1"/>
          </p:cNvPicPr>
          <p:nvPr/>
        </p:nvPicPr>
        <p:blipFill>
          <a:blip r:embed="rId3"/>
          <a:stretch>
            <a:fillRect/>
          </a:stretch>
        </p:blipFill>
        <p:spPr>
          <a:xfrm rot="5400000">
            <a:off x="4562646" y="979506"/>
            <a:ext cx="5143500" cy="3184488"/>
          </a:xfrm>
          <a:prstGeom prst="rect">
            <a:avLst/>
          </a:prstGeom>
        </p:spPr>
      </p:pic>
      <p:graphicFrame>
        <p:nvGraphicFramePr>
          <p:cNvPr id="14" name="图示 13"/>
          <p:cNvGraphicFramePr/>
          <p:nvPr/>
        </p:nvGraphicFramePr>
        <p:xfrm>
          <a:off x="524109" y="2319457"/>
          <a:ext cx="4638906" cy="2868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0" name="图片 9"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
        <p:nvSpPr>
          <p:cNvPr id="8" name="矩形 7"/>
          <p:cNvSpPr/>
          <p:nvPr/>
        </p:nvSpPr>
        <p:spPr>
          <a:xfrm>
            <a:off x="791737" y="1362507"/>
            <a:ext cx="4572000" cy="1169551"/>
          </a:xfrm>
          <a:prstGeom prst="rect">
            <a:avLst/>
          </a:prstGeom>
        </p:spPr>
        <p:txBody>
          <a:bodyPr>
            <a:spAutoFit/>
          </a:bodyPr>
          <a:lstStyle/>
          <a:p>
            <a:r>
              <a:rPr lang="en-US" dirty="0" smtClean="0">
                <a:latin typeface="Times New Roman" pitchFamily="18" charset="0"/>
                <a:cs typeface="Times New Roman" pitchFamily="18" charset="0"/>
              </a:rPr>
              <a:t>Meanwhile, the uneven distribution of  productive knowledge is widening gap between rich and poor economies. The uneven distribution is expressed in the diversity and sophistication of products the economies produce.</a:t>
            </a:r>
            <a:endParaRPr lang="en-US" dirty="0"/>
          </a:p>
        </p:txBody>
      </p:sp>
      <p:pic>
        <p:nvPicPr>
          <p:cNvPr id="9" name="图片 8" descr="crop-gdp.jpg"/>
          <p:cNvPicPr>
            <a:picLocks noChangeAspect="1"/>
          </p:cNvPicPr>
          <p:nvPr/>
        </p:nvPicPr>
        <p:blipFill>
          <a:blip r:embed="rId4"/>
          <a:stretch>
            <a:fillRect/>
          </a:stretch>
        </p:blipFill>
        <p:spPr>
          <a:xfrm>
            <a:off x="234174" y="2527564"/>
            <a:ext cx="5464097" cy="2615936"/>
          </a:xfrm>
          <a:prstGeom prst="rect">
            <a:avLst/>
          </a:prstGeom>
          <a:effectLst>
            <a:softEdge rad="63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13" name="图片 12"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8" name="矩形 7"/>
          <p:cNvSpPr/>
          <p:nvPr/>
        </p:nvSpPr>
        <p:spPr>
          <a:xfrm>
            <a:off x="182794" y="1335546"/>
            <a:ext cx="4572000" cy="307777"/>
          </a:xfrm>
          <a:prstGeom prst="rect">
            <a:avLst/>
          </a:prstGeom>
        </p:spPr>
        <p:txBody>
          <a:bodyPr>
            <a:spAutoFit/>
          </a:bodyPr>
          <a:lstStyle/>
          <a:p>
            <a:r>
              <a:rPr lang="en-US" dirty="0" smtClean="0">
                <a:latin typeface="Times New Roman" pitchFamily="18" charset="0"/>
                <a:cs typeface="Times New Roman" pitchFamily="18" charset="0"/>
              </a:rPr>
              <a:t> There are two types of productive knowledge: </a:t>
            </a:r>
            <a:endParaRPr lang="en-US" dirty="0"/>
          </a:p>
        </p:txBody>
      </p:sp>
      <p:grpSp>
        <p:nvGrpSpPr>
          <p:cNvPr id="19" name="组合 18"/>
          <p:cNvGrpSpPr/>
          <p:nvPr/>
        </p:nvGrpSpPr>
        <p:grpSpPr>
          <a:xfrm>
            <a:off x="4055770" y="2395557"/>
            <a:ext cx="1611195" cy="1509854"/>
            <a:chOff x="3766402" y="1816823"/>
            <a:chExt cx="1611195" cy="1509854"/>
          </a:xfrm>
        </p:grpSpPr>
        <p:grpSp>
          <p:nvGrpSpPr>
            <p:cNvPr id="16" name="组合 15"/>
            <p:cNvGrpSpPr/>
            <p:nvPr/>
          </p:nvGrpSpPr>
          <p:grpSpPr>
            <a:xfrm>
              <a:off x="3766402" y="1816823"/>
              <a:ext cx="1611195" cy="1509854"/>
              <a:chOff x="0" y="387"/>
              <a:chExt cx="1611195" cy="1509854"/>
            </a:xfrm>
          </p:grpSpPr>
          <p:sp>
            <p:nvSpPr>
              <p:cNvPr id="17" name="圆角矩形 16"/>
              <p:cNvSpPr/>
              <p:nvPr/>
            </p:nvSpPr>
            <p:spPr>
              <a:xfrm>
                <a:off x="0" y="387"/>
                <a:ext cx="1611195" cy="1509854"/>
              </a:xfrm>
              <a:prstGeom prst="roundRect">
                <a:avLst/>
              </a:prstGeom>
            </p:spPr>
            <p:style>
              <a:lnRef idx="1">
                <a:schemeClr val="accent3"/>
              </a:lnRef>
              <a:fillRef idx="2">
                <a:schemeClr val="accent3"/>
              </a:fillRef>
              <a:effectRef idx="1">
                <a:schemeClr val="accent3"/>
              </a:effectRef>
              <a:fontRef idx="minor">
                <a:schemeClr val="dk1"/>
              </a:fontRef>
            </p:style>
          </p:sp>
          <p:sp>
            <p:nvSpPr>
              <p:cNvPr id="18" name="圆角矩形 4"/>
              <p:cNvSpPr/>
              <p:nvPr/>
            </p:nvSpPr>
            <p:spPr>
              <a:xfrm>
                <a:off x="73705" y="74092"/>
                <a:ext cx="1463785" cy="136244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endParaRPr lang="en-US" sz="1400" kern="1200" dirty="0"/>
              </a:p>
            </p:txBody>
          </p:sp>
        </p:grpSp>
        <p:sp>
          <p:nvSpPr>
            <p:cNvPr id="15" name="矩形 14"/>
            <p:cNvSpPr/>
            <p:nvPr/>
          </p:nvSpPr>
          <p:spPr>
            <a:xfrm>
              <a:off x="3784922" y="1923377"/>
              <a:ext cx="1539432" cy="1384995"/>
            </a:xfrm>
            <a:prstGeom prst="rect">
              <a:avLst/>
            </a:prstGeom>
          </p:spPr>
          <p:txBody>
            <a:bodyPr wrap="square">
              <a:spAutoFit/>
            </a:bodyPr>
            <a:lstStyle/>
            <a:p>
              <a:r>
                <a:rPr lang="en-US" dirty="0" smtClean="0">
                  <a:latin typeface="Times New Roman" pitchFamily="18" charset="0"/>
                  <a:cs typeface="Times New Roman" pitchFamily="18" charset="0"/>
                </a:rPr>
                <a:t> A lack of crucial tacit knowledge is the hindrance that an economy faces in its development and growth</a:t>
              </a:r>
              <a:endParaRPr lang="en-US" dirty="0"/>
            </a:p>
          </p:txBody>
        </p:sp>
      </p:grpSp>
      <p:graphicFrame>
        <p:nvGraphicFramePr>
          <p:cNvPr id="12" name="图示 11"/>
          <p:cNvGraphicFramePr/>
          <p:nvPr/>
        </p:nvGraphicFramePr>
        <p:xfrm>
          <a:off x="0" y="1632031"/>
          <a:ext cx="4027988" cy="3171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22" name="TextBox 21"/>
          <p:cNvSpPr txBox="1"/>
          <p:nvPr/>
        </p:nvSpPr>
        <p:spPr>
          <a:xfrm>
            <a:off x="1092819" y="1360448"/>
            <a:ext cx="3869474" cy="738664"/>
          </a:xfrm>
          <a:prstGeom prst="rect">
            <a:avLst/>
          </a:prstGeom>
          <a:noFill/>
        </p:spPr>
        <p:txBody>
          <a:bodyPr wrap="square" rtlCol="0">
            <a:spAutoFit/>
          </a:bodyPr>
          <a:lstStyle/>
          <a:p>
            <a:r>
              <a:rPr lang="en-US" dirty="0" smtClean="0">
                <a:latin typeface="Times New Roman" pitchFamily="18" charset="0"/>
                <a:cs typeface="Times New Roman" pitchFamily="18" charset="0"/>
              </a:rPr>
              <a:t>Products are made of raw material with the support of capital and machinery. However, from the perspective of Economic Complexity:</a:t>
            </a:r>
            <a:endParaRPr lang="en-US" dirty="0">
              <a:latin typeface="Times New Roman" pitchFamily="18" charset="0"/>
              <a:cs typeface="Times New Roman" pitchFamily="18" charset="0"/>
            </a:endParaRPr>
          </a:p>
        </p:txBody>
      </p:sp>
      <p:sp>
        <p:nvSpPr>
          <p:cNvPr id="23" name="TextBox 22"/>
          <p:cNvSpPr txBox="1"/>
          <p:nvPr/>
        </p:nvSpPr>
        <p:spPr>
          <a:xfrm>
            <a:off x="1094089" y="2042506"/>
            <a:ext cx="4257897" cy="307777"/>
          </a:xfrm>
          <a:prstGeom prst="rect">
            <a:avLst/>
          </a:prstGeom>
          <a:noFill/>
        </p:spPr>
        <p:txBody>
          <a:bodyPr wrap="none" rtlCol="0">
            <a:spAutoFit/>
          </a:bodyPr>
          <a:lstStyle/>
          <a:p>
            <a:r>
              <a:rPr lang="en-US" b="1" dirty="0" smtClean="0">
                <a:latin typeface="Times New Roman" pitchFamily="18" charset="0"/>
                <a:cs typeface="Times New Roman" pitchFamily="18" charset="0"/>
              </a:rPr>
              <a:t>Products are made of pieces of productive knowledge</a:t>
            </a:r>
            <a:endParaRPr lang="en-US" b="1" dirty="0">
              <a:latin typeface="Times New Roman" pitchFamily="18" charset="0"/>
              <a:cs typeface="Times New Roman" pitchFamily="18" charset="0"/>
            </a:endParaRPr>
          </a:p>
        </p:txBody>
      </p:sp>
      <p:graphicFrame>
        <p:nvGraphicFramePr>
          <p:cNvPr id="13" name="图示 12"/>
          <p:cNvGraphicFramePr/>
          <p:nvPr/>
        </p:nvGraphicFramePr>
        <p:xfrm>
          <a:off x="347228" y="2348507"/>
          <a:ext cx="5111541" cy="27949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图片 7" descr="world-map.png"/>
          <p:cNvPicPr>
            <a:picLocks noChangeAspect="1"/>
          </p:cNvPicPr>
          <p:nvPr/>
        </p:nvPicPr>
        <p:blipFill>
          <a:blip r:embed="rId7"/>
          <a:stretch>
            <a:fillRect/>
          </a:stretch>
        </p:blipFill>
        <p:spPr>
          <a:xfrm rot="5400000">
            <a:off x="4562646" y="979506"/>
            <a:ext cx="5143500" cy="318448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grpSp>
        <p:nvGrpSpPr>
          <p:cNvPr id="12" name="组合 11"/>
          <p:cNvGrpSpPr/>
          <p:nvPr/>
        </p:nvGrpSpPr>
        <p:grpSpPr>
          <a:xfrm>
            <a:off x="1550007" y="1505415"/>
            <a:ext cx="3397406" cy="2821258"/>
            <a:chOff x="936702" y="1505415"/>
            <a:chExt cx="3397406" cy="2821258"/>
          </a:xfrm>
        </p:grpSpPr>
        <p:sp>
          <p:nvSpPr>
            <p:cNvPr id="9" name="圆角矩形 8"/>
            <p:cNvSpPr/>
            <p:nvPr/>
          </p:nvSpPr>
          <p:spPr>
            <a:xfrm>
              <a:off x="936702" y="1505415"/>
              <a:ext cx="3378820" cy="94785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矩形 7"/>
            <p:cNvSpPr/>
            <p:nvPr/>
          </p:nvSpPr>
          <p:spPr>
            <a:xfrm>
              <a:off x="1070516" y="1577950"/>
              <a:ext cx="3066585" cy="738664"/>
            </a:xfrm>
            <a:prstGeom prst="rect">
              <a:avLst/>
            </a:prstGeom>
          </p:spPr>
          <p:txBody>
            <a:bodyPr wrap="square">
              <a:spAutoFit/>
            </a:bodyPr>
            <a:lstStyle/>
            <a:p>
              <a:r>
                <a:rPr lang="en-US" dirty="0" smtClean="0">
                  <a:latin typeface="Times New Roman" pitchFamily="18" charset="0"/>
                  <a:cs typeface="Times New Roman" pitchFamily="18" charset="0"/>
                </a:rPr>
                <a:t>The complexity of an economy is related to the multiplicity of useful knowledge embedded in it.</a:t>
              </a:r>
              <a:endParaRPr lang="en-US" dirty="0">
                <a:latin typeface="Times New Roman" pitchFamily="18" charset="0"/>
                <a:cs typeface="Times New Roman" pitchFamily="18" charset="0"/>
              </a:endParaRPr>
            </a:p>
          </p:txBody>
        </p:sp>
        <p:sp>
          <p:nvSpPr>
            <p:cNvPr id="10" name="圆角矩形 9"/>
            <p:cNvSpPr/>
            <p:nvPr/>
          </p:nvSpPr>
          <p:spPr>
            <a:xfrm>
              <a:off x="955288" y="3029415"/>
              <a:ext cx="3378820" cy="129725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矩形 10"/>
            <p:cNvSpPr/>
            <p:nvPr/>
          </p:nvSpPr>
          <p:spPr>
            <a:xfrm>
              <a:off x="1089102" y="3101950"/>
              <a:ext cx="3066585" cy="1169551"/>
            </a:xfrm>
            <a:prstGeom prst="rect">
              <a:avLst/>
            </a:prstGeom>
          </p:spPr>
          <p:txBody>
            <a:bodyPr wrap="square">
              <a:spAutoFit/>
            </a:bodyPr>
            <a:lstStyle/>
            <a:p>
              <a:r>
                <a:rPr lang="en-US" dirty="0" smtClean="0">
                  <a:latin typeface="Times New Roman" pitchFamily="18" charset="0"/>
                  <a:cs typeface="Times New Roman" pitchFamily="18" charset="0"/>
                </a:rPr>
                <a:t>Economic complexity, therefore, is expressed in the composition of a country’s productive output and reflects the structure that emerges to hold and combine knowledge</a:t>
              </a:r>
              <a:endParaRPr lang="en-US" dirty="0">
                <a:latin typeface="Times New Roman" pitchFamily="18" charset="0"/>
                <a:cs typeface="Times New Roman" pitchFamily="18" charset="0"/>
              </a:endParaRPr>
            </a:p>
          </p:txBody>
        </p:sp>
      </p:grpSp>
      <p:pic>
        <p:nvPicPr>
          <p:cNvPr id="14" name="图片 13"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8" name="图片 7" descr="world-map.png"/>
          <p:cNvPicPr>
            <a:picLocks noChangeAspect="1"/>
          </p:cNvPicPr>
          <p:nvPr/>
        </p:nvPicPr>
        <p:blipFill>
          <a:blip r:embed="rId3"/>
          <a:stretch>
            <a:fillRect/>
          </a:stretch>
        </p:blipFill>
        <p:spPr>
          <a:xfrm rot="5400000">
            <a:off x="4562646" y="979506"/>
            <a:ext cx="5143500" cy="3184488"/>
          </a:xfrm>
          <a:prstGeom prst="rect">
            <a:avLst/>
          </a:prstGeom>
        </p:spPr>
      </p:pic>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6" name="TextBox 15"/>
          <p:cNvSpPr txBox="1"/>
          <p:nvPr/>
        </p:nvSpPr>
        <p:spPr>
          <a:xfrm>
            <a:off x="825190" y="1416205"/>
            <a:ext cx="4638907" cy="523220"/>
          </a:xfrm>
          <a:prstGeom prst="rect">
            <a:avLst/>
          </a:prstGeom>
          <a:noFill/>
        </p:spPr>
        <p:txBody>
          <a:bodyPr wrap="square" rtlCol="0">
            <a:spAutoFit/>
          </a:bodyPr>
          <a:lstStyle/>
          <a:p>
            <a:r>
              <a:rPr lang="en-US" dirty="0" smtClean="0">
                <a:latin typeface="Times New Roman" pitchFamily="18" charset="0"/>
                <a:cs typeface="Times New Roman" pitchFamily="18" charset="0"/>
              </a:rPr>
              <a:t>The economic complexity more effectively captures growth relevant information than the six world governance indicators.</a:t>
            </a:r>
            <a:endParaRPr lang="en-US" dirty="0">
              <a:latin typeface="Times New Roman" pitchFamily="18" charset="0"/>
              <a:cs typeface="Times New Roman" pitchFamily="18" charset="0"/>
            </a:endParaRPr>
          </a:p>
        </p:txBody>
      </p:sp>
      <p:pic>
        <p:nvPicPr>
          <p:cNvPr id="17" name="Picture 4"/>
          <p:cNvPicPr>
            <a:picLocks noChangeAspect="1" noChangeArrowheads="1"/>
          </p:cNvPicPr>
          <p:nvPr/>
        </p:nvPicPr>
        <p:blipFill>
          <a:blip r:embed="rId4"/>
          <a:srcRect l="7206" t="15407" r="7304" b="11175"/>
          <a:stretch>
            <a:fillRect/>
          </a:stretch>
        </p:blipFill>
        <p:spPr bwMode="auto">
          <a:xfrm>
            <a:off x="275819" y="1987910"/>
            <a:ext cx="5645476" cy="27258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文本占位符 9"/>
          <p:cNvSpPr>
            <a:spLocks noGrp="1"/>
          </p:cNvSpPr>
          <p:nvPr>
            <p:ph type="body" idx="1"/>
          </p:nvPr>
        </p:nvSpPr>
        <p:spPr>
          <a:xfrm>
            <a:off x="1303800" y="1465953"/>
            <a:ext cx="3781156" cy="2541600"/>
          </a:xfrm>
        </p:spPr>
        <p:txBody>
          <a:bodyPr/>
          <a:lstStyle/>
          <a:p>
            <a:r>
              <a:rPr lang="en-US" sz="1400" dirty="0" smtClean="0">
                <a:latin typeface="Times New Roman" pitchFamily="18" charset="0"/>
                <a:cs typeface="Times New Roman" pitchFamily="18" charset="0"/>
              </a:rPr>
              <a:t>When consider which products play important roles in a country’s production, we should take into account of the export volume of the country and that of the product in the world trade.</a:t>
            </a:r>
          </a:p>
          <a:p>
            <a:r>
              <a:rPr lang="en-US" sz="1400" dirty="0" smtClean="0">
                <a:latin typeface="Times New Roman" pitchFamily="18" charset="0"/>
                <a:cs typeface="Times New Roman" pitchFamily="18" charset="0"/>
              </a:rPr>
              <a:t>In other words, we should use comparative advantage instead of absolute advantage as our criterion.</a:t>
            </a:r>
            <a:endParaRPr lang="en-US" sz="1400" dirty="0">
              <a:latin typeface="Times New Roman" pitchFamily="18" charset="0"/>
              <a:cs typeface="Times New Roman" pitchFamily="18" charset="0"/>
            </a:endParaRPr>
          </a:p>
        </p:txBody>
      </p:sp>
      <p:pic>
        <p:nvPicPr>
          <p:cNvPr id="7" name="图片 6" descr="world-map.png"/>
          <p:cNvPicPr>
            <a:picLocks noChangeAspect="1"/>
          </p:cNvPicPr>
          <p:nvPr/>
        </p:nvPicPr>
        <p:blipFill>
          <a:blip r:embed="rId3"/>
          <a:stretch>
            <a:fillRect/>
          </a:stretch>
        </p:blipFill>
        <p:spPr>
          <a:xfrm rot="5400000">
            <a:off x="4562646" y="979506"/>
            <a:ext cx="5143500" cy="318448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14" name="圆角矩形 13"/>
          <p:cNvSpPr/>
          <p:nvPr/>
        </p:nvSpPr>
        <p:spPr>
          <a:xfrm>
            <a:off x="3425299" y="2364808"/>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圆角矩形 11"/>
          <p:cNvSpPr/>
          <p:nvPr/>
        </p:nvSpPr>
        <p:spPr>
          <a:xfrm>
            <a:off x="3446520" y="3879163"/>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5" name="Google Shape;315;p18"/>
          <p:cNvSpPr txBox="1">
            <a:spLocks noGrp="1"/>
          </p:cNvSpPr>
          <p:nvPr>
            <p:ph type="body" idx="1"/>
          </p:nvPr>
        </p:nvSpPr>
        <p:spPr>
          <a:xfrm>
            <a:off x="1077671" y="1450809"/>
            <a:ext cx="7030500" cy="3302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dirty="0" smtClean="0">
                <a:solidFill>
                  <a:srgbClr val="000000"/>
                </a:solidFill>
                <a:latin typeface="Times New Roman"/>
                <a:ea typeface="Times New Roman"/>
                <a:cs typeface="Times New Roman"/>
                <a:sym typeface="Times New Roman"/>
              </a:rPr>
              <a:t>Balassa </a:t>
            </a:r>
            <a:r>
              <a:rPr lang="en" sz="1400" dirty="0">
                <a:solidFill>
                  <a:srgbClr val="000000"/>
                </a:solidFill>
                <a:latin typeface="Times New Roman"/>
                <a:ea typeface="Times New Roman"/>
                <a:cs typeface="Times New Roman"/>
                <a:sym typeface="Times New Roman"/>
              </a:rPr>
              <a:t>defines Revealed Comparative Advantage (RCA) as</a:t>
            </a:r>
            <a:r>
              <a:rPr lang="en" sz="1400" i="1" dirty="0">
                <a:solidFill>
                  <a:srgbClr val="000000"/>
                </a:solidFill>
                <a:latin typeface="Times New Roman"/>
                <a:ea typeface="Times New Roman"/>
                <a:cs typeface="Times New Roman"/>
                <a:sym typeface="Times New Roman"/>
              </a:rPr>
              <a:t>“a country has Revealed Comparative Advantage in a product if it exports more than its “fair” share, that is, a share that is equal to the share of total world trade that the product represents</a:t>
            </a:r>
            <a:r>
              <a:rPr lang="en" sz="1400" i="1" dirty="0" smtClean="0">
                <a:solidFill>
                  <a:srgbClr val="000000"/>
                </a:solidFill>
                <a:latin typeface="Times New Roman"/>
                <a:ea typeface="Times New Roman"/>
                <a:cs typeface="Times New Roman"/>
                <a:sym typeface="Times New Roman"/>
              </a:rPr>
              <a:t>.”</a:t>
            </a:r>
          </a:p>
          <a:p>
            <a:pPr marL="457200" lvl="0" indent="-317500" algn="just"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ctr"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endParaRPr lang="en" sz="1400" i="1" dirty="0" smtClean="0">
              <a:solidFill>
                <a:srgbClr val="000000"/>
              </a:solidFill>
              <a:latin typeface="Times New Roman"/>
              <a:ea typeface="Times New Roman"/>
              <a:cs typeface="Times New Roman"/>
              <a:sym typeface="Times New Roman"/>
            </a:endParaRPr>
          </a:p>
          <a:p>
            <a:pPr lvl="0" indent="-317500" algn="just">
              <a:buClr>
                <a:srgbClr val="000000"/>
              </a:buClr>
              <a:buSzPts val="1400"/>
              <a:buFont typeface="Times New Roman"/>
              <a:buChar char="●"/>
            </a:pPr>
            <a:r>
              <a:rPr lang="en-US" sz="1400" dirty="0" smtClean="0">
                <a:latin typeface="Times New Roman" pitchFamily="18" charset="0"/>
                <a:cs typeface="Times New Roman" pitchFamily="18" charset="0"/>
              </a:rPr>
              <a:t>Accordingly, we define the matrix of comparative advantage in production for countries and products. “1” indicates the advantage, while “0” indicates the opposite</a:t>
            </a:r>
            <a:endParaRPr sz="1400" dirty="0">
              <a:solidFill>
                <a:srgbClr val="000000"/>
              </a:solidFill>
              <a:latin typeface="Times New Roman" pitchFamily="18" charset="0"/>
              <a:ea typeface="Times New Roman"/>
              <a:cs typeface="Times New Roman" pitchFamily="18" charset="0"/>
              <a:sym typeface="Times New Roman"/>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30" name="Object 6"/>
          <p:cNvGraphicFramePr>
            <a:graphicFrameLocks noChangeAspect="1"/>
          </p:cNvGraphicFramePr>
          <p:nvPr/>
        </p:nvGraphicFramePr>
        <p:xfrm>
          <a:off x="1873583" y="4027060"/>
          <a:ext cx="5727700" cy="333375"/>
        </p:xfrm>
        <a:graphic>
          <a:graphicData uri="http://schemas.openxmlformats.org/presentationml/2006/ole">
            <p:oleObj spid="_x0000_s112642" name="文档" r:id="rId4" imgW="5728027" imgH="333012" progId="Word.Document.12">
              <p:embed/>
            </p:oleObj>
          </a:graphicData>
        </a:graphic>
      </p:graphicFrame>
      <p:graphicFrame>
        <p:nvGraphicFramePr>
          <p:cNvPr id="1031" name="Object 7"/>
          <p:cNvGraphicFramePr>
            <a:graphicFrameLocks noChangeAspect="1"/>
          </p:cNvGraphicFramePr>
          <p:nvPr/>
        </p:nvGraphicFramePr>
        <p:xfrm>
          <a:off x="1875415" y="2467322"/>
          <a:ext cx="5727700" cy="407987"/>
        </p:xfrm>
        <a:graphic>
          <a:graphicData uri="http://schemas.openxmlformats.org/presentationml/2006/ole">
            <p:oleObj spid="_x0000_s112643" name="文档" r:id="rId5" imgW="5728027" imgH="407895" progId="Word.Document.12">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1303800" y="446040"/>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433260" y="474990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dirty="0"/>
          </a:p>
        </p:txBody>
      </p:sp>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cs typeface="Arial" pitchFamily="34" charset="0"/>
              </a:rPr>
              <a:t> </a:t>
            </a:r>
            <a:endParaRPr kumimoji="0" lang="en-US" altLang="zh-CN"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55" name="组合 54"/>
          <p:cNvGrpSpPr/>
          <p:nvPr/>
        </p:nvGrpSpPr>
        <p:grpSpPr>
          <a:xfrm>
            <a:off x="1291414" y="1081670"/>
            <a:ext cx="6447518" cy="3972622"/>
            <a:chOff x="544297" y="356838"/>
            <a:chExt cx="7125402" cy="4786662"/>
          </a:xfrm>
        </p:grpSpPr>
        <p:pic>
          <p:nvPicPr>
            <p:cNvPr id="38" name="图片 37" descr="X-ray.jpg"/>
            <p:cNvPicPr>
              <a:picLocks noChangeAspect="1"/>
            </p:cNvPicPr>
            <p:nvPr/>
          </p:nvPicPr>
          <p:blipFill>
            <a:blip r:embed="rId3"/>
            <a:stretch>
              <a:fillRect/>
            </a:stretch>
          </p:blipFill>
          <p:spPr>
            <a:xfrm>
              <a:off x="5928157" y="356838"/>
              <a:ext cx="1732731" cy="1207120"/>
            </a:xfrm>
            <a:prstGeom prst="rect">
              <a:avLst/>
            </a:prstGeom>
          </p:spPr>
        </p:pic>
        <p:grpSp>
          <p:nvGrpSpPr>
            <p:cNvPr id="54" name="组合 53"/>
            <p:cNvGrpSpPr/>
            <p:nvPr/>
          </p:nvGrpSpPr>
          <p:grpSpPr>
            <a:xfrm>
              <a:off x="544297" y="960398"/>
              <a:ext cx="7125402" cy="4183102"/>
              <a:chOff x="544297" y="960398"/>
              <a:chExt cx="7125402" cy="4183102"/>
            </a:xfrm>
          </p:grpSpPr>
          <p:pic>
            <p:nvPicPr>
              <p:cNvPr id="24" name="图片 23" descr="Agtn.png"/>
              <p:cNvPicPr>
                <a:picLocks noChangeAspect="1"/>
              </p:cNvPicPr>
              <p:nvPr/>
            </p:nvPicPr>
            <p:blipFill>
              <a:blip r:embed="rId4"/>
              <a:stretch>
                <a:fillRect/>
              </a:stretch>
            </p:blipFill>
            <p:spPr>
              <a:xfrm>
                <a:off x="546410" y="2613822"/>
                <a:ext cx="1728439" cy="1077232"/>
              </a:xfrm>
              <a:prstGeom prst="rect">
                <a:avLst/>
              </a:prstGeom>
            </p:spPr>
          </p:pic>
          <p:pic>
            <p:nvPicPr>
              <p:cNvPr id="25" name="图片 24" descr="cheese.jpg"/>
              <p:cNvPicPr>
                <a:picLocks noChangeAspect="1"/>
              </p:cNvPicPr>
              <p:nvPr/>
            </p:nvPicPr>
            <p:blipFill>
              <a:blip r:embed="rId5"/>
              <a:stretch>
                <a:fillRect/>
              </a:stretch>
            </p:blipFill>
            <p:spPr>
              <a:xfrm>
                <a:off x="5914715" y="2810107"/>
                <a:ext cx="1735021" cy="1151362"/>
              </a:xfrm>
              <a:prstGeom prst="rect">
                <a:avLst/>
              </a:prstGeom>
            </p:spPr>
          </p:pic>
          <p:pic>
            <p:nvPicPr>
              <p:cNvPr id="26" name="图片 25" descr="fish.jpg"/>
              <p:cNvPicPr>
                <a:picLocks noChangeAspect="1"/>
              </p:cNvPicPr>
              <p:nvPr/>
            </p:nvPicPr>
            <p:blipFill>
              <a:blip r:embed="rId6"/>
              <a:stretch>
                <a:fillRect/>
              </a:stretch>
            </p:blipFill>
            <p:spPr>
              <a:xfrm>
                <a:off x="5915201" y="3978932"/>
                <a:ext cx="1750034" cy="1164568"/>
              </a:xfrm>
              <a:prstGeom prst="rect">
                <a:avLst/>
              </a:prstGeom>
            </p:spPr>
          </p:pic>
          <p:pic>
            <p:nvPicPr>
              <p:cNvPr id="27" name="图片 26" descr="gahna.png"/>
              <p:cNvPicPr>
                <a:picLocks noChangeAspect="1"/>
              </p:cNvPicPr>
              <p:nvPr/>
            </p:nvPicPr>
            <p:blipFill>
              <a:blip r:embed="rId7"/>
              <a:stretch>
                <a:fillRect/>
              </a:stretch>
            </p:blipFill>
            <p:spPr>
              <a:xfrm>
                <a:off x="551406" y="3726909"/>
                <a:ext cx="1723443" cy="1148962"/>
              </a:xfrm>
              <a:prstGeom prst="rect">
                <a:avLst/>
              </a:prstGeom>
            </p:spPr>
          </p:pic>
          <p:pic>
            <p:nvPicPr>
              <p:cNvPr id="28" name="图片 27" descr="medicine.jpg"/>
              <p:cNvPicPr>
                <a:picLocks noChangeAspect="1"/>
              </p:cNvPicPr>
              <p:nvPr/>
            </p:nvPicPr>
            <p:blipFill>
              <a:blip r:embed="rId8"/>
              <a:stretch>
                <a:fillRect/>
              </a:stretch>
            </p:blipFill>
            <p:spPr>
              <a:xfrm>
                <a:off x="5921295" y="1605776"/>
                <a:ext cx="1748404" cy="1163483"/>
              </a:xfrm>
              <a:prstGeom prst="rect">
                <a:avLst/>
              </a:prstGeom>
            </p:spPr>
          </p:pic>
          <p:pic>
            <p:nvPicPr>
              <p:cNvPr id="29" name="图片 28" descr="Netherland.png"/>
              <p:cNvPicPr>
                <a:picLocks noChangeAspect="1"/>
              </p:cNvPicPr>
              <p:nvPr/>
            </p:nvPicPr>
            <p:blipFill>
              <a:blip r:embed="rId9"/>
              <a:stretch>
                <a:fillRect/>
              </a:stretch>
            </p:blipFill>
            <p:spPr>
              <a:xfrm>
                <a:off x="544297" y="1405054"/>
                <a:ext cx="1730564" cy="1151611"/>
              </a:xfrm>
              <a:prstGeom prst="rect">
                <a:avLst/>
              </a:prstGeom>
            </p:spPr>
          </p:pic>
          <p:cxnSp>
            <p:nvCxnSpPr>
              <p:cNvPr id="40" name="直接连接符 39"/>
              <p:cNvCxnSpPr>
                <a:stCxn id="29" idx="3"/>
                <a:endCxn id="38" idx="1"/>
              </p:cNvCxnSpPr>
              <p:nvPr/>
            </p:nvCxnSpPr>
            <p:spPr>
              <a:xfrm flipV="1">
                <a:off x="2274861" y="960398"/>
                <a:ext cx="3653296" cy="1020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3"/>
                <a:endCxn id="28" idx="1"/>
              </p:cNvCxnSpPr>
              <p:nvPr/>
            </p:nvCxnSpPr>
            <p:spPr>
              <a:xfrm>
                <a:off x="2274861" y="1980860"/>
                <a:ext cx="3646434" cy="20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9" idx="3"/>
                <a:endCxn id="25" idx="1"/>
              </p:cNvCxnSpPr>
              <p:nvPr/>
            </p:nvCxnSpPr>
            <p:spPr>
              <a:xfrm>
                <a:off x="2274861" y="1980860"/>
                <a:ext cx="3639854" cy="140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3"/>
                <a:endCxn id="26" idx="1"/>
              </p:cNvCxnSpPr>
              <p:nvPr/>
            </p:nvCxnSpPr>
            <p:spPr>
              <a:xfrm>
                <a:off x="2274861" y="1980860"/>
                <a:ext cx="3640340" cy="2580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3"/>
                <a:endCxn id="25" idx="1"/>
              </p:cNvCxnSpPr>
              <p:nvPr/>
            </p:nvCxnSpPr>
            <p:spPr>
              <a:xfrm>
                <a:off x="2274849" y="3152438"/>
                <a:ext cx="3639866" cy="233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7" idx="3"/>
                <a:endCxn id="26" idx="1"/>
              </p:cNvCxnSpPr>
              <p:nvPr/>
            </p:nvCxnSpPr>
            <p:spPr>
              <a:xfrm>
                <a:off x="2274849" y="4301390"/>
                <a:ext cx="3640352" cy="259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24" idx="3"/>
                <a:endCxn id="26" idx="1"/>
              </p:cNvCxnSpPr>
              <p:nvPr/>
            </p:nvCxnSpPr>
            <p:spPr>
              <a:xfrm>
                <a:off x="2274849" y="3152438"/>
                <a:ext cx="3640352" cy="1408778"/>
              </a:xfrm>
              <a:prstGeom prst="line">
                <a:avLst/>
              </a:prstGeom>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6" name="圆角矩形 35"/>
          <p:cNvSpPr/>
          <p:nvPr/>
        </p:nvSpPr>
        <p:spPr>
          <a:xfrm>
            <a:off x="1682142"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圆角矩形 34"/>
          <p:cNvSpPr/>
          <p:nvPr/>
        </p:nvSpPr>
        <p:spPr>
          <a:xfrm>
            <a:off x="3196537" y="3439611"/>
            <a:ext cx="2648675" cy="634679"/>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34" name="圆角矩形 33"/>
          <p:cNvSpPr/>
          <p:nvPr/>
        </p:nvSpPr>
        <p:spPr>
          <a:xfrm>
            <a:off x="5650373" y="2455763"/>
            <a:ext cx="1857596" cy="7157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3" name="圆角矩形 32"/>
          <p:cNvSpPr/>
          <p:nvPr/>
        </p:nvSpPr>
        <p:spPr>
          <a:xfrm>
            <a:off x="1435259" y="2465407"/>
            <a:ext cx="1857596" cy="706056"/>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3" name="Google Shape;32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4" name="Google Shape;324;p19"/>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Diversity measures how </a:t>
            </a:r>
            <a:r>
              <a:rPr lang="en" sz="1400" dirty="0" smtClean="0">
                <a:solidFill>
                  <a:srgbClr val="000000"/>
                </a:solidFill>
                <a:latin typeface="Times New Roman"/>
                <a:ea typeface="Times New Roman"/>
                <a:cs typeface="Times New Roman"/>
                <a:sym typeface="Times New Roman"/>
              </a:rPr>
              <a:t>many products a </a:t>
            </a:r>
            <a:r>
              <a:rPr lang="en" sz="1400" dirty="0">
                <a:solidFill>
                  <a:srgbClr val="000000"/>
                </a:solidFill>
                <a:latin typeface="Times New Roman"/>
                <a:ea typeface="Times New Roman"/>
                <a:cs typeface="Times New Roman"/>
                <a:sym typeface="Times New Roman"/>
              </a:rPr>
              <a:t>country </a:t>
            </a:r>
            <a:r>
              <a:rPr lang="en" sz="1400" dirty="0" smtClean="0">
                <a:solidFill>
                  <a:srgbClr val="000000"/>
                </a:solidFill>
                <a:latin typeface="Times New Roman"/>
                <a:ea typeface="Times New Roman"/>
                <a:cs typeface="Times New Roman"/>
                <a:sym typeface="Times New Roman"/>
              </a:rPr>
              <a:t>can produce</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Ubiquity measures how </a:t>
            </a:r>
            <a:r>
              <a:rPr lang="en" sz="1400" dirty="0" smtClean="0">
                <a:solidFill>
                  <a:srgbClr val="000000"/>
                </a:solidFill>
                <a:latin typeface="Times New Roman"/>
                <a:ea typeface="Times New Roman"/>
                <a:cs typeface="Times New Roman"/>
                <a:sym typeface="Times New Roman"/>
              </a:rPr>
              <a:t>many countries are capable to produce a product</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393173" y="460672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dirty="0"/>
          </a:p>
        </p:txBody>
      </p:sp>
      <p:graphicFrame>
        <p:nvGraphicFramePr>
          <p:cNvPr id="48132" name="Object 4"/>
          <p:cNvGraphicFramePr>
            <a:graphicFrameLocks noChangeAspect="1"/>
          </p:cNvGraphicFramePr>
          <p:nvPr/>
        </p:nvGraphicFramePr>
        <p:xfrm>
          <a:off x="1510570" y="2529080"/>
          <a:ext cx="5727700" cy="196850"/>
        </p:xfrm>
        <a:graphic>
          <a:graphicData uri="http://schemas.openxmlformats.org/presentationml/2006/ole">
            <p:oleObj spid="_x0000_s120834" name="文档" r:id="rId4" imgW="5728027" imgH="196207" progId="Word.Document.12">
              <p:embed/>
            </p:oleObj>
          </a:graphicData>
        </a:graphic>
      </p:graphicFrame>
      <p:graphicFrame>
        <p:nvGraphicFramePr>
          <p:cNvPr id="48137" name="Object 9"/>
          <p:cNvGraphicFramePr>
            <a:graphicFrameLocks noChangeAspect="1"/>
          </p:cNvGraphicFramePr>
          <p:nvPr/>
        </p:nvGraphicFramePr>
        <p:xfrm>
          <a:off x="5738434" y="2505932"/>
          <a:ext cx="5727700" cy="196850"/>
        </p:xfrm>
        <a:graphic>
          <a:graphicData uri="http://schemas.openxmlformats.org/presentationml/2006/ole">
            <p:oleObj spid="_x0000_s120835" name="文档" r:id="rId5" imgW="5728027" imgH="196207" progId="Word.Document.12">
              <p:embed/>
            </p:oleObj>
          </a:graphicData>
        </a:graphic>
      </p:graphicFrame>
      <p:graphicFrame>
        <p:nvGraphicFramePr>
          <p:cNvPr id="48141" name="Object 13"/>
          <p:cNvGraphicFramePr>
            <a:graphicFrameLocks noChangeAspect="1"/>
          </p:cNvGraphicFramePr>
          <p:nvPr/>
        </p:nvGraphicFramePr>
        <p:xfrm>
          <a:off x="1529627" y="2816558"/>
          <a:ext cx="5727700" cy="290513"/>
        </p:xfrm>
        <a:graphic>
          <a:graphicData uri="http://schemas.openxmlformats.org/presentationml/2006/ole">
            <p:oleObj spid="_x0000_s120836" name="文档" r:id="rId6" imgW="5728027" imgH="290170" progId="Word.Document.12">
              <p:embed/>
            </p:oleObj>
          </a:graphicData>
        </a:graphic>
      </p:graphicFrame>
      <p:graphicFrame>
        <p:nvGraphicFramePr>
          <p:cNvPr id="48142" name="Object 14"/>
          <p:cNvGraphicFramePr>
            <a:graphicFrameLocks noChangeAspect="1"/>
          </p:cNvGraphicFramePr>
          <p:nvPr/>
        </p:nvGraphicFramePr>
        <p:xfrm>
          <a:off x="3702558" y="2683153"/>
          <a:ext cx="5727700" cy="434975"/>
        </p:xfrm>
        <a:graphic>
          <a:graphicData uri="http://schemas.openxmlformats.org/presentationml/2006/ole">
            <p:oleObj spid="_x0000_s120837" name="文档" r:id="rId7" imgW="5728027" imgH="435616" progId="Word.Document.12">
              <p:embed/>
            </p:oleObj>
          </a:graphicData>
        </a:graphic>
      </p:graphicFrame>
      <p:graphicFrame>
        <p:nvGraphicFramePr>
          <p:cNvPr id="48143" name="Object 15"/>
          <p:cNvGraphicFramePr>
            <a:graphicFrameLocks noChangeAspect="1"/>
          </p:cNvGraphicFramePr>
          <p:nvPr/>
        </p:nvGraphicFramePr>
        <p:xfrm>
          <a:off x="1717183" y="3523632"/>
          <a:ext cx="5727700" cy="455613"/>
        </p:xfrm>
        <a:graphic>
          <a:graphicData uri="http://schemas.openxmlformats.org/presentationml/2006/ole">
            <p:oleObj spid="_x0000_s120838" name="文档" r:id="rId8" imgW="5728027" imgH="455056" progId="Word.Document.12">
              <p:embed/>
            </p:oleObj>
          </a:graphicData>
        </a:graphic>
      </p:graphicFrame>
      <p:graphicFrame>
        <p:nvGraphicFramePr>
          <p:cNvPr id="48145" name="Object 17"/>
          <p:cNvGraphicFramePr>
            <a:graphicFrameLocks noChangeAspect="1"/>
          </p:cNvGraphicFramePr>
          <p:nvPr/>
        </p:nvGraphicFramePr>
        <p:xfrm>
          <a:off x="1772650" y="4755854"/>
          <a:ext cx="5727700" cy="306387"/>
        </p:xfrm>
        <a:graphic>
          <a:graphicData uri="http://schemas.openxmlformats.org/presentationml/2006/ole">
            <p:oleObj spid="_x0000_s120839" name="文档" r:id="rId9" imgW="5728027" imgH="306731" progId="Word.Document.12">
              <p:embed/>
            </p:oleObj>
          </a:graphicData>
        </a:graphic>
      </p:graphicFrame>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cs typeface="Arial" pitchFamily="34" charset="0"/>
              </a:rPr>
              <a:t> </a:t>
            </a:r>
            <a:endParaRPr kumimoji="0" lang="en-US" altLang="zh-CN"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48152" name="Object 24"/>
          <p:cNvGraphicFramePr>
            <a:graphicFrameLocks noChangeAspect="1"/>
          </p:cNvGraphicFramePr>
          <p:nvPr/>
        </p:nvGraphicFramePr>
        <p:xfrm>
          <a:off x="1761075" y="4487325"/>
          <a:ext cx="5727700" cy="195263"/>
        </p:xfrm>
        <a:graphic>
          <a:graphicData uri="http://schemas.openxmlformats.org/presentationml/2006/ole">
            <p:oleObj spid="_x0000_s120840" name="文档" r:id="rId10" imgW="5728027" imgH="195847" progId="Word.Document.12">
              <p:embed/>
            </p:oleObj>
          </a:graphicData>
        </a:graphic>
      </p:graphicFrame>
      <p:sp>
        <p:nvSpPr>
          <p:cNvPr id="30" name="右箭头 29"/>
          <p:cNvSpPr/>
          <p:nvPr/>
        </p:nvSpPr>
        <p:spPr>
          <a:xfrm rot="2781642">
            <a:off x="3217760" y="314831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rot="8108223">
            <a:off x="5337859" y="315024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rot="5400000">
            <a:off x="4354013" y="4215127"/>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圆角矩形 36"/>
          <p:cNvSpPr/>
          <p:nvPr/>
        </p:nvSpPr>
        <p:spPr>
          <a:xfrm>
            <a:off x="4774517"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aphicFrame>
        <p:nvGraphicFramePr>
          <p:cNvPr id="48154" name="Object 26"/>
          <p:cNvGraphicFramePr>
            <a:graphicFrameLocks noChangeAspect="1"/>
          </p:cNvGraphicFramePr>
          <p:nvPr/>
        </p:nvGraphicFramePr>
        <p:xfrm>
          <a:off x="4919663" y="4521200"/>
          <a:ext cx="5564187" cy="360363"/>
        </p:xfrm>
        <a:graphic>
          <a:graphicData uri="http://schemas.openxmlformats.org/presentationml/2006/ole">
            <p:oleObj spid="_x0000_s120841" name="文档" r:id="rId11" imgW="5728027" imgH="306371" progId="Word.Document.12">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pic>
        <p:nvPicPr>
          <p:cNvPr id="18" name="图片 17" descr="US_export.png"/>
          <p:cNvPicPr>
            <a:picLocks noChangeAspect="1"/>
          </p:cNvPicPr>
          <p:nvPr/>
        </p:nvPicPr>
        <p:blipFill>
          <a:blip r:embed="rId3"/>
          <a:srcRect l="20982" t="15050" b="7979"/>
          <a:stretch>
            <a:fillRect/>
          </a:stretch>
        </p:blipFill>
        <p:spPr>
          <a:xfrm>
            <a:off x="-1" y="2018355"/>
            <a:ext cx="4538547" cy="2081175"/>
          </a:xfrm>
          <a:prstGeom prst="rect">
            <a:avLst/>
          </a:prstGeom>
        </p:spPr>
      </p:pic>
      <p:pic>
        <p:nvPicPr>
          <p:cNvPr id="159751" name="Picture 7"/>
          <p:cNvPicPr>
            <a:picLocks noChangeAspect="1" noChangeArrowheads="1"/>
          </p:cNvPicPr>
          <p:nvPr/>
        </p:nvPicPr>
        <p:blipFill>
          <a:blip r:embed="rId4"/>
          <a:srcRect l="20424" t="24217" r="1683" b="16648"/>
          <a:stretch>
            <a:fillRect/>
          </a:stretch>
        </p:blipFill>
        <p:spPr bwMode="auto">
          <a:xfrm>
            <a:off x="4650059" y="2018359"/>
            <a:ext cx="4494265" cy="2081064"/>
          </a:xfrm>
          <a:prstGeom prst="rect">
            <a:avLst/>
          </a:prstGeom>
          <a:noFill/>
          <a:ln w="9525">
            <a:noFill/>
            <a:miter lim="800000"/>
            <a:headEnd/>
            <a:tailEnd/>
          </a:ln>
          <a:effectLst/>
        </p:spPr>
      </p:pic>
      <p:sp>
        <p:nvSpPr>
          <p:cNvPr id="20" name="TextBox 19"/>
          <p:cNvSpPr txBox="1"/>
          <p:nvPr/>
        </p:nvSpPr>
        <p:spPr>
          <a:xfrm>
            <a:off x="1416209" y="1382800"/>
            <a:ext cx="6508651" cy="323165"/>
          </a:xfrm>
          <a:prstGeom prst="rect">
            <a:avLst/>
          </a:prstGeom>
          <a:noFill/>
        </p:spPr>
        <p:txBody>
          <a:bodyPr wrap="square" rtlCol="0">
            <a:spAutoFit/>
          </a:bodyPr>
          <a:lstStyle/>
          <a:p>
            <a:r>
              <a:rPr lang="en-US" sz="1500" b="1" dirty="0" smtClean="0">
                <a:latin typeface="Times New Roman" pitchFamily="18" charset="0"/>
                <a:cs typeface="Times New Roman" pitchFamily="18" charset="0"/>
              </a:rPr>
              <a:t>Countries specialize in different  industries with distinct  level of productivity </a:t>
            </a:r>
            <a:endParaRPr lang="en-US" sz="15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graphicFrame>
        <p:nvGraphicFramePr>
          <p:cNvPr id="19" name="图示 18"/>
          <p:cNvGraphicFramePr/>
          <p:nvPr/>
        </p:nvGraphicFramePr>
        <p:xfrm>
          <a:off x="1159726" y="1048217"/>
          <a:ext cx="4661210" cy="395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5820936" y="1795339"/>
            <a:ext cx="2921620" cy="2031325"/>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 High complexity products are connected with a large amount of products</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High complexity products are close to other products with high complexity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pic>
        <p:nvPicPr>
          <p:cNvPr id="161795" name="Picture 3"/>
          <p:cNvPicPr>
            <a:picLocks noChangeAspect="1" noChangeArrowheads="1"/>
          </p:cNvPicPr>
          <p:nvPr/>
        </p:nvPicPr>
        <p:blipFill>
          <a:blip r:embed="rId3"/>
          <a:srcRect l="4296" t="28910" r="8279" b="19464"/>
          <a:stretch>
            <a:fillRect/>
          </a:stretch>
        </p:blipFill>
        <p:spPr bwMode="auto">
          <a:xfrm>
            <a:off x="401457" y="1973767"/>
            <a:ext cx="8396868" cy="2787804"/>
          </a:xfrm>
          <a:prstGeom prst="rect">
            <a:avLst/>
          </a:prstGeom>
          <a:noFill/>
          <a:ln w="9525">
            <a:noFill/>
            <a:miter lim="800000"/>
            <a:headEnd/>
            <a:tailEnd/>
          </a:ln>
          <a:effectLst/>
        </p:spPr>
      </p:pic>
      <p:sp>
        <p:nvSpPr>
          <p:cNvPr id="6" name="TextBox 5"/>
          <p:cNvSpPr txBox="1"/>
          <p:nvPr/>
        </p:nvSpPr>
        <p:spPr>
          <a:xfrm>
            <a:off x="416689" y="1297917"/>
            <a:ext cx="8542116" cy="523220"/>
          </a:xfrm>
          <a:prstGeom prst="rect">
            <a:avLst/>
          </a:prstGeom>
          <a:noFill/>
        </p:spPr>
        <p:txBody>
          <a:bodyPr wrap="square" rtlCol="0">
            <a:spAutoFit/>
          </a:bodyPr>
          <a:lstStyle/>
          <a:p>
            <a:r>
              <a:rPr lang="en-US" dirty="0" smtClean="0">
                <a:latin typeface="Times New Roman" pitchFamily="18" charset="0"/>
                <a:cs typeface="Times New Roman" pitchFamily="18" charset="0"/>
              </a:rPr>
              <a:t>From the trend of Economic Complexity Index in nearby 5 years, we can have a rough picture of whether the countries are on the right track of economic development.</a:t>
            </a: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13" name="圆角矩形 12"/>
          <p:cNvSpPr/>
          <p:nvPr/>
        </p:nvSpPr>
        <p:spPr>
          <a:xfrm>
            <a:off x="1267521" y="3337004"/>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圆角矩形 11"/>
          <p:cNvSpPr/>
          <p:nvPr/>
        </p:nvSpPr>
        <p:spPr>
          <a:xfrm>
            <a:off x="1271239" y="1483115"/>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2" name="Google Shape;332;p20"/>
          <p:cNvSpPr txBox="1">
            <a:spLocks noGrp="1"/>
          </p:cNvSpPr>
          <p:nvPr>
            <p:ph type="body" idx="1"/>
          </p:nvPr>
        </p:nvSpPr>
        <p:spPr>
          <a:xfrm>
            <a:off x="1303800" y="1483113"/>
            <a:ext cx="7030500" cy="366038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The second </a:t>
            </a:r>
            <a:r>
              <a:rPr lang="en" sz="1400" dirty="0">
                <a:solidFill>
                  <a:srgbClr val="000000"/>
                </a:solidFill>
                <a:latin typeface="Times New Roman" pitchFamily="18" charset="0"/>
                <a:ea typeface="Arial"/>
                <a:cs typeface="Times New Roman" pitchFamily="18" charset="0"/>
                <a:sym typeface="Arial"/>
              </a:rPr>
              <a:t>largest eigenvector of M</a:t>
            </a:r>
            <a:r>
              <a:rPr lang="en" sz="1400" baseline="-25000" dirty="0">
                <a:solidFill>
                  <a:srgbClr val="000000"/>
                </a:solidFill>
                <a:latin typeface="Times New Roman" pitchFamily="18" charset="0"/>
                <a:ea typeface="Arial"/>
                <a:cs typeface="Times New Roman" pitchFamily="18" charset="0"/>
                <a:sym typeface="Arial"/>
              </a:rPr>
              <a:t>cc</a:t>
            </a:r>
            <a:r>
              <a:rPr lang="en" sz="14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 ( ECI)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	Where </a:t>
            </a:r>
            <a:r>
              <a:rPr lang="en" sz="1400" dirty="0">
                <a:solidFill>
                  <a:srgbClr val="000000"/>
                </a:solidFill>
                <a:latin typeface="Times New Roman" pitchFamily="18" charset="0"/>
                <a:ea typeface="Arial"/>
                <a:cs typeface="Times New Roman" pitchFamily="18" charset="0"/>
                <a:sym typeface="Arial"/>
              </a:rPr>
              <a:t>&lt;&gt; stands for numeric mean, and stdev stands for the standard deviation</a:t>
            </a:r>
            <a:r>
              <a:rPr lang="en" sz="1400" dirty="0" smtClean="0">
                <a:solidFill>
                  <a:srgbClr val="000000"/>
                </a:solidFill>
                <a:latin typeface="Times New Roman" pitchFamily="18" charset="0"/>
                <a:ea typeface="Arial"/>
                <a:cs typeface="Times New Roman" pitchFamily="18" charset="0"/>
                <a:sym typeface="Arial"/>
              </a:rPr>
              <a:t>.</a:t>
            </a: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Similarly, we can calculate </a:t>
            </a:r>
            <a:r>
              <a:rPr lang="en" sz="1400" dirty="0">
                <a:solidFill>
                  <a:srgbClr val="000000"/>
                </a:solidFill>
                <a:latin typeface="Times New Roman" pitchFamily="18" charset="0"/>
                <a:ea typeface="Arial"/>
                <a:cs typeface="Times New Roman" pitchFamily="18" charset="0"/>
                <a:sym typeface="Arial"/>
              </a:rPr>
              <a:t>the second largest eigenvector </a:t>
            </a:r>
            <a:r>
              <a:rPr lang="en" sz="1400" dirty="0" smtClean="0">
                <a:solidFill>
                  <a:srgbClr val="000000"/>
                </a:solidFill>
                <a:latin typeface="Times New Roman" pitchFamily="18" charset="0"/>
                <a:ea typeface="Arial"/>
                <a:cs typeface="Times New Roman" pitchFamily="18" charset="0"/>
                <a:sym typeface="Arial"/>
              </a:rPr>
              <a:t>of </a:t>
            </a:r>
            <a:r>
              <a:rPr lang="en" sz="1400" dirty="0">
                <a:solidFill>
                  <a:srgbClr val="000000"/>
                </a:solidFill>
                <a:latin typeface="Times New Roman" pitchFamily="18" charset="0"/>
                <a:ea typeface="Arial"/>
                <a:cs typeface="Times New Roman" pitchFamily="18" charset="0"/>
                <a:sym typeface="Arial"/>
              </a:rPr>
              <a:t>M</a:t>
            </a:r>
            <a:r>
              <a:rPr lang="en" sz="1400" baseline="-25000" dirty="0">
                <a:solidFill>
                  <a:srgbClr val="000000"/>
                </a:solidFill>
                <a:latin typeface="Times New Roman" pitchFamily="18" charset="0"/>
                <a:ea typeface="Arial"/>
                <a:cs typeface="Times New Roman" pitchFamily="18" charset="0"/>
                <a:sym typeface="Arial"/>
              </a:rPr>
              <a:t>pp’,</a:t>
            </a:r>
            <a:r>
              <a:rPr lang="en" sz="1400" dirty="0">
                <a:solidFill>
                  <a:srgbClr val="000000"/>
                </a:solidFill>
                <a:latin typeface="Times New Roman" pitchFamily="18" charset="0"/>
                <a:ea typeface="Arial"/>
                <a:cs typeface="Times New Roman" pitchFamily="18" charset="0"/>
                <a:sym typeface="Arial"/>
              </a:rPr>
              <a:t> and define Product Complexity Index ( PCI)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	Where&lt;&gt; stands for numeric </a:t>
            </a:r>
            <a:r>
              <a:rPr lang="en" sz="1400" dirty="0">
                <a:solidFill>
                  <a:srgbClr val="000000"/>
                </a:solidFill>
                <a:latin typeface="Times New Roman" pitchFamily="18" charset="0"/>
                <a:ea typeface="Arial"/>
                <a:cs typeface="Times New Roman" pitchFamily="18" charset="0"/>
                <a:sym typeface="Arial"/>
              </a:rPr>
              <a:t>mean, and stdev stands for the standard deviation.</a:t>
            </a:r>
            <a:endParaRPr sz="1400" dirty="0">
              <a:solidFill>
                <a:srgbClr val="000000"/>
              </a:solidFill>
              <a:latin typeface="Times New Roman" pitchFamily="18" charset="0"/>
              <a:ea typeface="Arial"/>
              <a:cs typeface="Times New Roman" pitchFamily="18" charset="0"/>
              <a:sym typeface="Arial"/>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graphicFrame>
        <p:nvGraphicFramePr>
          <p:cNvPr id="46083" name="Object 3"/>
          <p:cNvGraphicFramePr>
            <a:graphicFrameLocks noChangeAspect="1"/>
          </p:cNvGraphicFramePr>
          <p:nvPr/>
        </p:nvGraphicFramePr>
        <p:xfrm>
          <a:off x="1373614" y="2290571"/>
          <a:ext cx="5727700" cy="449263"/>
        </p:xfrm>
        <a:graphic>
          <a:graphicData uri="http://schemas.openxmlformats.org/presentationml/2006/ole">
            <p:oleObj spid="_x0000_s114690" name="文档" r:id="rId4" imgW="5728027" imgH="450016" progId="Word.Document.12">
              <p:embed/>
            </p:oleObj>
          </a:graphicData>
        </a:graphic>
      </p:graphicFrame>
      <p:graphicFrame>
        <p:nvGraphicFramePr>
          <p:cNvPr id="46084" name="Object 4"/>
          <p:cNvGraphicFramePr>
            <a:graphicFrameLocks noChangeAspect="1"/>
          </p:cNvGraphicFramePr>
          <p:nvPr/>
        </p:nvGraphicFramePr>
        <p:xfrm>
          <a:off x="3728528" y="4098420"/>
          <a:ext cx="5727700" cy="314325"/>
        </p:xfrm>
        <a:graphic>
          <a:graphicData uri="http://schemas.openxmlformats.org/presentationml/2006/ole">
            <p:oleObj spid="_x0000_s114691" name="文档" r:id="rId5" imgW="5728027" imgH="315011" progId="Word.Document.12">
              <p:embed/>
            </p:oleObj>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a:t>
            </a:r>
            <a:r>
              <a:rPr lang="en" dirty="0" smtClean="0">
                <a:latin typeface="Times New Roman"/>
                <a:ea typeface="Times New Roman"/>
                <a:cs typeface="Times New Roman"/>
                <a:sym typeface="Times New Roman"/>
              </a:rPr>
              <a:t>Proximity&amp;Distance</a:t>
            </a:r>
            <a:endParaRPr dirty="0">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15717" name="Picture 5"/>
          <p:cNvPicPr>
            <a:picLocks noChangeAspect="1" noChangeArrowheads="1"/>
          </p:cNvPicPr>
          <p:nvPr/>
        </p:nvPicPr>
        <p:blipFill>
          <a:blip r:embed="rId3"/>
          <a:srcRect l="9768" t="14750" r="12864" b="10713"/>
          <a:stretch>
            <a:fillRect/>
          </a:stretch>
        </p:blipFill>
        <p:spPr bwMode="auto">
          <a:xfrm>
            <a:off x="1179065" y="1215482"/>
            <a:ext cx="7251850" cy="3928017"/>
          </a:xfrm>
          <a:prstGeom prst="rect">
            <a:avLst/>
          </a:prstGeom>
          <a:noFill/>
          <a:ln w="9525">
            <a:noFill/>
            <a:miter lim="800000"/>
            <a:headEnd/>
            <a:tailEnd/>
          </a:ln>
          <a:effectLst/>
        </p:spPr>
      </p:pic>
      <p:sp>
        <p:nvSpPr>
          <p:cNvPr id="11" name="右箭头 10"/>
          <p:cNvSpPr/>
          <p:nvPr/>
        </p:nvSpPr>
        <p:spPr>
          <a:xfrm>
            <a:off x="3590692" y="2029520"/>
            <a:ext cx="1728439" cy="992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Derive Proximity</a:t>
            </a:r>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18" name="图片 17" descr="00000.png"/>
          <p:cNvPicPr>
            <a:picLocks noChangeAspect="1"/>
          </p:cNvPicPr>
          <p:nvPr/>
        </p:nvPicPr>
        <p:blipFill>
          <a:blip r:embed="rId4"/>
          <a:srcRect l="2683" t="4569" r="31219"/>
          <a:stretch>
            <a:fillRect/>
          </a:stretch>
        </p:blipFill>
        <p:spPr>
          <a:xfrm>
            <a:off x="5218770" y="323379"/>
            <a:ext cx="3925229" cy="4795024"/>
          </a:xfrm>
          <a:prstGeom prst="rect">
            <a:avLst/>
          </a:prstGeom>
          <a:effectLst>
            <a:softEdge rad="63500"/>
          </a:effectLst>
        </p:spPr>
      </p:pic>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a:t>
            </a:r>
            <a:r>
              <a:rPr lang="en" dirty="0" smtClean="0">
                <a:latin typeface="Times New Roman"/>
                <a:ea typeface="Times New Roman"/>
                <a:cs typeface="Times New Roman"/>
                <a:sym typeface="Times New Roman"/>
              </a:rPr>
              <a:t>Proximity&amp;Distance</a:t>
            </a:r>
            <a:endParaRPr dirty="0">
              <a:latin typeface="Times New Roman"/>
              <a:ea typeface="Times New Roman"/>
              <a:cs typeface="Times New Roman"/>
              <a:sym typeface="Times New Roman"/>
            </a:endParaRPr>
          </a:p>
        </p:txBody>
      </p:sp>
      <p:sp>
        <p:nvSpPr>
          <p:cNvPr id="339" name="Google Shape;339;p21"/>
          <p:cNvSpPr txBox="1">
            <a:spLocks noGrp="1"/>
          </p:cNvSpPr>
          <p:nvPr>
            <p:ph type="body" idx="1"/>
          </p:nvPr>
        </p:nvSpPr>
        <p:spPr>
          <a:xfrm>
            <a:off x="1303800" y="1300950"/>
            <a:ext cx="4078428" cy="108343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Certain products </a:t>
            </a:r>
            <a:r>
              <a:rPr lang="en" sz="1400" dirty="0" smtClean="0">
                <a:solidFill>
                  <a:srgbClr val="000000"/>
                </a:solidFill>
                <a:latin typeface="Times New Roman" pitchFamily="18" charset="0"/>
                <a:ea typeface="Times New Roman"/>
                <a:cs typeface="Times New Roman" pitchFamily="18" charset="0"/>
                <a:sym typeface="Times New Roman"/>
              </a:rPr>
              <a:t>are composed of similar productive knowledge. We </a:t>
            </a:r>
            <a:r>
              <a:rPr lang="en" sz="1400" dirty="0">
                <a:solidFill>
                  <a:srgbClr val="000000"/>
                </a:solidFill>
                <a:latin typeface="Times New Roman" pitchFamily="18" charset="0"/>
                <a:ea typeface="Times New Roman"/>
                <a:cs typeface="Times New Roman" pitchFamily="18" charset="0"/>
                <a:sym typeface="Times New Roman"/>
              </a:rPr>
              <a:t>define connectedness of z product as the numeric average of proximity of it to all other </a:t>
            </a:r>
            <a:r>
              <a:rPr lang="en" sz="1400" dirty="0" smtClean="0">
                <a:solidFill>
                  <a:srgbClr val="000000"/>
                </a:solidFill>
                <a:latin typeface="Times New Roman" pitchFamily="18" charset="0"/>
                <a:ea typeface="Times New Roman"/>
                <a:cs typeface="Times New Roman" pitchFamily="18" charset="0"/>
                <a:sym typeface="Times New Roman"/>
              </a:rPr>
              <a:t>products</a:t>
            </a:r>
          </a:p>
          <a:p>
            <a:pPr marL="457200" lvl="0" indent="-317500" algn="l" rtl="0">
              <a:spcBef>
                <a:spcPts val="0"/>
              </a:spcBef>
              <a:spcAft>
                <a:spcPts val="0"/>
              </a:spcAft>
              <a:buClr>
                <a:srgbClr val="000000"/>
              </a:buClr>
              <a:buSzPts val="1400"/>
              <a:buFont typeface="Times New Roman"/>
              <a:buChar char="●"/>
            </a:pPr>
            <a:endParaRPr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We </a:t>
            </a:r>
            <a:r>
              <a:rPr lang="en" sz="1400" dirty="0" smtClean="0">
                <a:solidFill>
                  <a:srgbClr val="000000"/>
                </a:solidFill>
                <a:latin typeface="Times New Roman" pitchFamily="18" charset="0"/>
                <a:ea typeface="Times New Roman"/>
                <a:cs typeface="Times New Roman" pitchFamily="18" charset="0"/>
                <a:sym typeface="Times New Roman"/>
              </a:rPr>
              <a:t>define </a:t>
            </a:r>
            <a:r>
              <a:rPr lang="en" sz="1400" dirty="0">
                <a:solidFill>
                  <a:srgbClr val="000000"/>
                </a:solidFill>
                <a:latin typeface="Times New Roman" pitchFamily="18" charset="0"/>
                <a:ea typeface="Times New Roman"/>
                <a:cs typeface="Times New Roman" pitchFamily="18" charset="0"/>
                <a:sym typeface="Times New Roman"/>
              </a:rPr>
              <a:t>the </a:t>
            </a:r>
            <a:r>
              <a:rPr lang="en" sz="1400" dirty="0" smtClean="0">
                <a:solidFill>
                  <a:srgbClr val="000000"/>
                </a:solidFill>
                <a:latin typeface="Times New Roman" pitchFamily="18" charset="0"/>
                <a:ea typeface="Times New Roman"/>
                <a:cs typeface="Times New Roman" pitchFamily="18" charset="0"/>
                <a:sym typeface="Times New Roman"/>
              </a:rPr>
              <a:t>smaller conditional </a:t>
            </a:r>
            <a:r>
              <a:rPr lang="en" sz="1400" dirty="0">
                <a:solidFill>
                  <a:srgbClr val="000000"/>
                </a:solidFill>
                <a:latin typeface="Times New Roman" pitchFamily="18" charset="0"/>
                <a:ea typeface="Times New Roman"/>
                <a:cs typeface="Times New Roman" pitchFamily="18" charset="0"/>
                <a:sym typeface="Times New Roman"/>
              </a:rPr>
              <a:t>probability of exporting product p given the country is currently exporting product p’ and that of exporting p’ given the country is exporting p, as </a:t>
            </a:r>
            <a:r>
              <a:rPr lang="en" sz="1400" dirty="0" smtClean="0">
                <a:solidFill>
                  <a:srgbClr val="000000"/>
                </a:solidFill>
                <a:latin typeface="Times New Roman" pitchFamily="18" charset="0"/>
                <a:ea typeface="Times New Roman"/>
                <a:cs typeface="Times New Roman" pitchFamily="18" charset="0"/>
                <a:sym typeface="Times New Roman"/>
              </a:rPr>
              <a:t>proximity. We then normalize Proximity as Distance</a:t>
            </a:r>
          </a:p>
          <a:p>
            <a:pPr marL="457200" lvl="0" indent="-304800" algn="l" rtl="0">
              <a:spcBef>
                <a:spcPts val="0"/>
              </a:spcBef>
              <a:spcAft>
                <a:spcPts val="0"/>
              </a:spcAft>
              <a:buClr>
                <a:srgbClr val="000000"/>
              </a:buClr>
              <a:buSzPts val="1200"/>
              <a:buFont typeface="Times New Roman"/>
              <a:buChar char="●"/>
            </a:pPr>
            <a:endParaRPr lang="en" sz="1400" dirty="0" smtClean="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graphicFrame>
        <p:nvGraphicFramePr>
          <p:cNvPr id="44033" name="Object 1"/>
          <p:cNvGraphicFramePr>
            <a:graphicFrameLocks noChangeAspect="1"/>
          </p:cNvGraphicFramePr>
          <p:nvPr/>
        </p:nvGraphicFramePr>
        <p:xfrm>
          <a:off x="2410830" y="4160029"/>
          <a:ext cx="5727700" cy="320675"/>
        </p:xfrm>
        <a:graphic>
          <a:graphicData uri="http://schemas.openxmlformats.org/presentationml/2006/ole">
            <p:oleObj spid="_x0000_s245762" name="文档" r:id="rId5" imgW="5728027" imgH="320051" progId="Word.Document.12">
              <p:embed/>
            </p:oleObj>
          </a:graphicData>
        </a:graphic>
      </p:graphicFrame>
      <p:graphicFrame>
        <p:nvGraphicFramePr>
          <p:cNvPr id="44037" name="Object 5"/>
          <p:cNvGraphicFramePr>
            <a:graphicFrameLocks noChangeAspect="1"/>
          </p:cNvGraphicFramePr>
          <p:nvPr/>
        </p:nvGraphicFramePr>
        <p:xfrm>
          <a:off x="2425774" y="4588624"/>
          <a:ext cx="5727700" cy="317500"/>
        </p:xfrm>
        <a:graphic>
          <a:graphicData uri="http://schemas.openxmlformats.org/presentationml/2006/ole">
            <p:oleObj spid="_x0000_s245763" name="文档" r:id="rId6" imgW="5728027" imgH="318251" progId="Word.Document.12">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sp>
        <p:nvSpPr>
          <p:cNvPr id="14" name="TextBox 13"/>
          <p:cNvSpPr txBox="1"/>
          <p:nvPr/>
        </p:nvSpPr>
        <p:spPr>
          <a:xfrm>
            <a:off x="825190" y="1349298"/>
            <a:ext cx="7428637" cy="738664"/>
          </a:xfrm>
          <a:prstGeom prst="rect">
            <a:avLst/>
          </a:prstGeom>
          <a:noFill/>
        </p:spPr>
        <p:txBody>
          <a:bodyPr wrap="none" rtlCol="0">
            <a:spAutoFit/>
          </a:bodyPr>
          <a:lstStyle/>
          <a:p>
            <a:r>
              <a:rPr lang="en-US" dirty="0" smtClean="0">
                <a:latin typeface="Times New Roman" pitchFamily="18" charset="0"/>
                <a:cs typeface="Times New Roman" pitchFamily="18" charset="0"/>
              </a:rPr>
              <a:t>While the product space gives us a glimpse of productive knowledge embedded in an economy,</a:t>
            </a:r>
          </a:p>
          <a:p>
            <a:r>
              <a:rPr lang="en-US" dirty="0" smtClean="0">
                <a:latin typeface="Times New Roman" pitchFamily="18" charset="0"/>
                <a:cs typeface="Times New Roman" pitchFamily="18" charset="0"/>
              </a:rPr>
              <a:t>we are still in need of a quantitative measure of the opportunity those productive knowledge implies.</a:t>
            </a:r>
          </a:p>
          <a:p>
            <a:r>
              <a:rPr lang="en-US" dirty="0" smtClean="0">
                <a:latin typeface="Times New Roman" pitchFamily="18" charset="0"/>
                <a:cs typeface="Times New Roman" pitchFamily="18" charset="0"/>
              </a:rPr>
              <a:t>We define this measure as opportunity value.</a:t>
            </a:r>
            <a:endParaRPr lang="en-US" dirty="0">
              <a:latin typeface="Times New Roman" pitchFamily="18" charset="0"/>
              <a:cs typeface="Times New Roman" pitchFamily="18" charset="0"/>
            </a:endParaRPr>
          </a:p>
        </p:txBody>
      </p:sp>
      <p:pic>
        <p:nvPicPr>
          <p:cNvPr id="246788" name="Picture 4"/>
          <p:cNvPicPr>
            <a:picLocks noChangeAspect="1" noChangeArrowheads="1"/>
          </p:cNvPicPr>
          <p:nvPr/>
        </p:nvPicPr>
        <p:blipFill>
          <a:blip r:embed="rId3"/>
          <a:srcRect l="3309" t="15178" r="23721" b="10171"/>
          <a:stretch>
            <a:fillRect/>
          </a:stretch>
        </p:blipFill>
        <p:spPr bwMode="auto">
          <a:xfrm>
            <a:off x="2018371" y="2174488"/>
            <a:ext cx="4672361" cy="2687444"/>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50" name="圆角矩形 49"/>
          <p:cNvSpPr/>
          <p:nvPr/>
        </p:nvSpPr>
        <p:spPr>
          <a:xfrm>
            <a:off x="542544" y="3428460"/>
            <a:ext cx="3081599" cy="89821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6" name="Google Shape;346;p22"/>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profit of exploring a new product is defined as the decrement of Distance to all other products far away from the product space.The Distances are weighted by the complexity of products respectively</a:t>
            </a:r>
            <a:endParaRPr sz="1400" dirty="0">
              <a:solidFill>
                <a:srgbClr val="000000"/>
              </a:solidFill>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grpSp>
        <p:nvGrpSpPr>
          <p:cNvPr id="2" name="组合 9"/>
          <p:cNvGrpSpPr/>
          <p:nvPr/>
        </p:nvGrpSpPr>
        <p:grpSpPr>
          <a:xfrm>
            <a:off x="1206328" y="2294909"/>
            <a:ext cx="6318715" cy="687039"/>
            <a:chOff x="1117135" y="2473325"/>
            <a:chExt cx="6318715" cy="687039"/>
          </a:xfrm>
        </p:grpSpPr>
        <p:graphicFrame>
          <p:nvGraphicFramePr>
            <p:cNvPr id="41988" name="Object 4"/>
            <p:cNvGraphicFramePr>
              <a:graphicFrameLocks noChangeAspect="1"/>
            </p:cNvGraphicFramePr>
            <p:nvPr/>
          </p:nvGraphicFramePr>
          <p:xfrm>
            <a:off x="1708150" y="2473325"/>
            <a:ext cx="5727700" cy="196850"/>
          </p:xfrm>
          <a:graphic>
            <a:graphicData uri="http://schemas.openxmlformats.org/presentationml/2006/ole">
              <p:oleObj spid="_x0000_s116738" name="文档" r:id="rId4" imgW="5728027" imgH="196207" progId="Word.Document.12">
                <p:embed/>
              </p:oleObj>
            </a:graphicData>
          </a:graphic>
        </p:graphicFrame>
        <p:graphicFrame>
          <p:nvGraphicFramePr>
            <p:cNvPr id="41989" name="Object 5"/>
            <p:cNvGraphicFramePr>
              <a:graphicFrameLocks noChangeAspect="1"/>
            </p:cNvGraphicFramePr>
            <p:nvPr/>
          </p:nvGraphicFramePr>
          <p:xfrm>
            <a:off x="1117135" y="2695227"/>
            <a:ext cx="5727700" cy="465137"/>
          </p:xfrm>
          <a:graphic>
            <a:graphicData uri="http://schemas.openxmlformats.org/presentationml/2006/ole">
              <p:oleObj spid="_x0000_s116739" name="文档" r:id="rId5" imgW="5728027" imgH="464417" progId="Word.Document.12">
                <p:embed/>
              </p:oleObj>
            </a:graphicData>
          </a:graphic>
        </p:graphicFrame>
      </p:grpSp>
      <p:pic>
        <p:nvPicPr>
          <p:cNvPr id="12" name="图片 11" descr="image (1).jpg"/>
          <p:cNvPicPr>
            <a:picLocks noChangeAspect="1"/>
          </p:cNvPicPr>
          <p:nvPr/>
        </p:nvPicPr>
        <p:blipFill>
          <a:blip r:embed="rId6"/>
          <a:stretch>
            <a:fillRect/>
          </a:stretch>
        </p:blipFill>
        <p:spPr>
          <a:xfrm>
            <a:off x="5229921" y="2479753"/>
            <a:ext cx="3551663" cy="2663747"/>
          </a:xfrm>
          <a:prstGeom prst="rect">
            <a:avLst/>
          </a:prstGeom>
        </p:spPr>
      </p:pic>
      <p:cxnSp>
        <p:nvCxnSpPr>
          <p:cNvPr id="30" name="肘形连接符 29"/>
          <p:cNvCxnSpPr>
            <a:stCxn id="45" idx="3"/>
          </p:cNvCxnSpPr>
          <p:nvPr/>
        </p:nvCxnSpPr>
        <p:spPr>
          <a:xfrm>
            <a:off x="3657599" y="3872653"/>
            <a:ext cx="2219093" cy="9558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91014" y="3395599"/>
            <a:ext cx="3066585" cy="954107"/>
          </a:xfrm>
          <a:prstGeom prst="rect">
            <a:avLst/>
          </a:prstGeom>
        </p:spPr>
        <p:txBody>
          <a:bodyPr wrap="square">
            <a:spAutoFit/>
          </a:bodyPr>
          <a:lstStyle/>
          <a:p>
            <a:r>
              <a:rPr lang="en-US" dirty="0" smtClean="0">
                <a:latin typeface="Times New Roman" pitchFamily="18" charset="0"/>
                <a:cs typeface="Times New Roman" pitchFamily="18" charset="0"/>
              </a:rPr>
              <a:t>However, the low complexity and connectedness of a product can also incur a cost that needs to be deducted from the opportunity gain</a:t>
            </a:r>
            <a:endParaRPr lang="en-US" dirty="0">
              <a:latin typeface="Times New Roman" pitchFamily="18" charset="0"/>
              <a:cs typeface="Times New Roman" pitchFamily="18" charset="0"/>
            </a:endParaRPr>
          </a:p>
        </p:txBody>
      </p:sp>
      <p:cxnSp>
        <p:nvCxnSpPr>
          <p:cNvPr id="48" name="肘形连接符 47"/>
          <p:cNvCxnSpPr>
            <a:stCxn id="45" idx="3"/>
          </p:cNvCxnSpPr>
          <p:nvPr/>
        </p:nvCxnSpPr>
        <p:spPr>
          <a:xfrm flipV="1">
            <a:off x="3657599" y="3066587"/>
            <a:ext cx="2207942" cy="8060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 Production Analysis</a:t>
            </a:r>
            <a:endParaRPr>
              <a:latin typeface="Times New Roman"/>
              <a:ea typeface="Times New Roman"/>
              <a:cs typeface="Times New Roman"/>
              <a:sym typeface="Times New Roman"/>
            </a:endParaRPr>
          </a:p>
        </p:txBody>
      </p:sp>
      <p:sp>
        <p:nvSpPr>
          <p:cNvPr id="368" name="Google Shape;368;p2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3.1 Product Categorization</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3.2 Actual Development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3.3 Regional and Global Comparison</a:t>
            </a:r>
            <a:endParaRPr sz="1400">
              <a:latin typeface="Times New Roman"/>
              <a:ea typeface="Times New Roman"/>
              <a:cs typeface="Times New Roman"/>
              <a:sym typeface="Times New Roman"/>
            </a:endParaRPr>
          </a:p>
        </p:txBody>
      </p:sp>
      <p:sp>
        <p:nvSpPr>
          <p:cNvPr id="369" name="Google Shape;369;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3.1 Product Categorization</a:t>
            </a:r>
            <a:endParaRPr dirty="0">
              <a:latin typeface="Times New Roman"/>
              <a:ea typeface="Times New Roman"/>
              <a:cs typeface="Times New Roman"/>
              <a:sym typeface="Times New Roman"/>
            </a:endParaRPr>
          </a:p>
        </p:txBody>
      </p:sp>
      <p:sp>
        <p:nvSpPr>
          <p:cNvPr id="375" name="Google Shape;375;p24"/>
          <p:cNvSpPr txBox="1">
            <a:spLocks noGrp="1"/>
          </p:cNvSpPr>
          <p:nvPr>
            <p:ph type="body" idx="1"/>
          </p:nvPr>
        </p:nvSpPr>
        <p:spPr>
          <a:xfrm>
            <a:off x="1056750" y="14533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Product groups in UN Comtrade are labelled from 010000-999999, with the first two-digits representing a category to which the product belongs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From the 99 categories as extracted from the label, we further group the products into 18 major and widely-accepted industry categories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High-tech is an aggregated industry that indicates the most complicated products from the most technologically-advanced industries, as measured by PCI, and in regression it explains over 67.6% of countries’ GDP</a:t>
            </a:r>
            <a:endParaRPr sz="1400" dirty="0">
              <a:solidFill>
                <a:srgbClr val="000000"/>
              </a:solidFill>
              <a:latin typeface="Times New Roman"/>
              <a:ea typeface="Times New Roman"/>
              <a:cs typeface="Times New Roman"/>
              <a:sym typeface="Times New Roman"/>
            </a:endParaRPr>
          </a:p>
        </p:txBody>
      </p:sp>
      <p:graphicFrame>
        <p:nvGraphicFramePr>
          <p:cNvPr id="376" name="Google Shape;376;p24"/>
          <p:cNvGraphicFramePr/>
          <p:nvPr/>
        </p:nvGraphicFramePr>
        <p:xfrm>
          <a:off x="1209150" y="3426300"/>
          <a:ext cx="7381800" cy="1206978"/>
        </p:xfrm>
        <a:graphic>
          <a:graphicData uri="http://schemas.openxmlformats.org/drawingml/2006/table">
            <a:tbl>
              <a:tblPr>
                <a:noFill/>
                <a:tableStyleId>{A6C34FC9-E7BD-4A09-B0FE-A30243956E46}</a:tableStyleId>
              </a:tblPr>
              <a:tblGrid>
                <a:gridCol w="7381800"/>
              </a:tblGrid>
              <a:tr h="1190225">
                <a:tc>
                  <a:txBody>
                    <a:bodyPr/>
                    <a:lstStyle/>
                    <a:p>
                      <a:pPr marL="0" lvl="0" indent="0" algn="just" rtl="0">
                        <a:spcBef>
                          <a:spcPts val="0"/>
                        </a:spcBef>
                        <a:spcAft>
                          <a:spcPts val="0"/>
                        </a:spcAft>
                        <a:buNone/>
                      </a:pPr>
                      <a:r>
                        <a:rPr lang="en" sz="1200">
                          <a:solidFill>
                            <a:srgbClr val="134F5C"/>
                          </a:solidFill>
                          <a:latin typeface="Times New Roman"/>
                          <a:ea typeface="Times New Roman"/>
                          <a:cs typeface="Times New Roman"/>
                          <a:sym typeface="Times New Roman"/>
                        </a:rPr>
                        <a:t>Animal and By-product         Raw Manufacturing            Transportation                      Vegetable, Fruit and Plant</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Wood Product                        Weapon                               Food and Preparation           Clothing and Accessory</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Daily Instrument                    Mineral and Stone              Textile                                   Precious Stone</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Chemical                                Metal                                  Service                                  Chemical Manufacturing</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Machinery                              High-tech</a:t>
                      </a:r>
                      <a:endParaRPr sz="1200">
                        <a:solidFill>
                          <a:srgbClr val="134F5C"/>
                        </a:solidFill>
                        <a:latin typeface="Times New Roman"/>
                        <a:ea typeface="Times New Roman"/>
                        <a:cs typeface="Times New Roman"/>
                        <a:sym typeface="Times New Roman"/>
                      </a:endParaRPr>
                    </a:p>
                  </a:txBody>
                  <a:tcPr marL="91425" marR="91425" marT="91425" marB="91425">
                    <a:lnL w="28575" cap="flat" cmpd="sng">
                      <a:solidFill>
                        <a:schemeClr val="accent3"/>
                      </a:solidFill>
                      <a:prstDash val="solid"/>
                      <a:round/>
                      <a:headEnd type="none" w="sm" len="sm"/>
                      <a:tailEnd type="none" w="sm" len="sm"/>
                    </a:lnL>
                    <a:lnR w="28575" cap="flat" cmpd="sng">
                      <a:solidFill>
                        <a:schemeClr val="accent3"/>
                      </a:solidFill>
                      <a:prstDash val="solid"/>
                      <a:round/>
                      <a:headEnd type="none" w="sm" len="sm"/>
                      <a:tailEnd type="none" w="sm" len="sm"/>
                    </a:lnR>
                    <a:lnT w="28575" cap="flat" cmpd="sng">
                      <a:solidFill>
                        <a:schemeClr val="accent3"/>
                      </a:solidFill>
                      <a:prstDash val="solid"/>
                      <a:round/>
                      <a:headEnd type="none" w="sm" len="sm"/>
                      <a:tailEnd type="none" w="sm" len="sm"/>
                    </a:lnT>
                    <a:lnB w="28575" cap="flat" cmpd="sng">
                      <a:solidFill>
                        <a:schemeClr val="accent3"/>
                      </a:solidFill>
                      <a:prstDash val="solid"/>
                      <a:round/>
                      <a:headEnd type="none" w="sm" len="sm"/>
                      <a:tailEnd type="none" w="sm" len="sm"/>
                    </a:lnB>
                  </a:tcPr>
                </a:tc>
              </a:tr>
            </a:tbl>
          </a:graphicData>
        </a:graphic>
      </p:graphicFrame>
      <p:sp>
        <p:nvSpPr>
          <p:cNvPr id="377" name="Google Shape;37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25</a:t>
            </a:fld>
            <a:endParaRPr lang="en"/>
          </a:p>
        </p:txBody>
      </p:sp>
      <p:sp>
        <p:nvSpPr>
          <p:cNvPr id="7"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Times New Roman"/>
                <a:ea typeface="Times New Roman"/>
                <a:cs typeface="Times New Roman"/>
                <a:sym typeface="Times New Roman"/>
              </a:rPr>
              <a:t>3.2 Actual Development Index</a:t>
            </a:r>
            <a:endParaRPr dirty="0">
              <a:latin typeface="Times New Roman"/>
              <a:ea typeface="Times New Roman"/>
              <a:cs typeface="Times New Roman"/>
              <a:sym typeface="Times New Roman"/>
            </a:endParaRPr>
          </a:p>
        </p:txBody>
      </p:sp>
      <p:sp>
        <p:nvSpPr>
          <p:cNvPr id="9" name="矩形 8"/>
          <p:cNvSpPr/>
          <p:nvPr/>
        </p:nvSpPr>
        <p:spPr>
          <a:xfrm>
            <a:off x="1349298" y="1318341"/>
            <a:ext cx="6456556" cy="1169551"/>
          </a:xfrm>
          <a:prstGeom prst="rect">
            <a:avLst/>
          </a:prstGeom>
        </p:spPr>
        <p:txBody>
          <a:bodyPr wrap="square">
            <a:spAutoFit/>
          </a:bodyPr>
          <a:lstStyle/>
          <a:p>
            <a:pPr marL="457200" lvl="0" indent="-317500">
              <a:buSzPts val="1400"/>
              <a:buFont typeface="Times New Roman"/>
              <a:buChar char="●"/>
            </a:pPr>
            <a:r>
              <a:rPr lang="en-US" dirty="0" smtClean="0">
                <a:latin typeface="Times New Roman" pitchFamily="18" charset="0"/>
                <a:cs typeface="Times New Roman" pitchFamily="18" charset="0"/>
              </a:rPr>
              <a:t>Based on this concept of distance between countries and product families, we defining the net distance change between two periods as the Actual Developmental Index (ADI)</a:t>
            </a:r>
          </a:p>
          <a:p>
            <a:pPr marL="457200" lvl="0" indent="-317500">
              <a:buSzPts val="1400"/>
              <a:buFont typeface="Times New Roman"/>
              <a:buChar char="●"/>
            </a:pPr>
            <a:r>
              <a:rPr lang="en-US" dirty="0" smtClean="0">
                <a:latin typeface="Times New Roman" pitchFamily="18" charset="0"/>
                <a:cs typeface="Times New Roman" pitchFamily="18" charset="0"/>
              </a:rPr>
              <a:t>ADI measures by how much a country has moved in the direction of a certain product family in its product space during the period, and is a relative concept</a:t>
            </a:r>
            <a:endParaRPr lang="en-US" dirty="0">
              <a:latin typeface="Times New Roman" pitchFamily="18" charset="0"/>
              <a:ea typeface="Times New Roman"/>
              <a:cs typeface="Times New Roman" pitchFamily="18" charset="0"/>
              <a:sym typeface="Times New Roman"/>
            </a:endParaRPr>
          </a:p>
        </p:txBody>
      </p:sp>
      <p:pic>
        <p:nvPicPr>
          <p:cNvPr id="1028" name="Picture 4" descr="https://lh5.googleusercontent.com/Bsomxp5vqPlCi2ufsBl0YkI_Hgq3edDqdX_TQEK3TDhZOI9-AN03iRIRYmr0fRZ5o56qFcjnEIWt_99jXvCJ2JnSxKLxI9qOmK0jmd0l6MQVDkO10aycXOfFgK70w2jvwmGIEE2QzsI"/>
          <p:cNvPicPr>
            <a:picLocks noChangeAspect="1" noChangeArrowheads="1"/>
          </p:cNvPicPr>
          <p:nvPr/>
        </p:nvPicPr>
        <p:blipFill>
          <a:blip r:embed="rId2"/>
          <a:srcRect/>
          <a:stretch>
            <a:fillRect/>
          </a:stretch>
        </p:blipFill>
        <p:spPr bwMode="auto">
          <a:xfrm>
            <a:off x="1494263" y="2443206"/>
            <a:ext cx="6228595" cy="243119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3.3 Regional and Global Comparison</a:t>
            </a:r>
            <a:endParaRPr>
              <a:latin typeface="Times New Roman"/>
              <a:ea typeface="Times New Roman"/>
              <a:cs typeface="Times New Roman"/>
              <a:sym typeface="Times New Roman"/>
            </a:endParaRPr>
          </a:p>
        </p:txBody>
      </p:sp>
      <p:sp>
        <p:nvSpPr>
          <p:cNvPr id="392" name="Google Shape;392;p26"/>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It can be observed that leading economies, such as U.S. and Germany, in general focus on products with higher level of complexity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Reasonably, emerging economies such as China, South Korea, Singapore and India have devoted the majority of their efforts into intermediate industry groups</a:t>
            </a:r>
            <a:endParaRPr sz="1400">
              <a:solidFill>
                <a:srgbClr val="000000"/>
              </a:solidFill>
              <a:latin typeface="Times New Roman"/>
              <a:ea typeface="Times New Roman"/>
              <a:cs typeface="Times New Roman"/>
              <a:sym typeface="Times New Roman"/>
            </a:endParaRPr>
          </a:p>
        </p:txBody>
      </p:sp>
      <p:sp>
        <p:nvSpPr>
          <p:cNvPr id="393" name="Google Shape;393;p26"/>
          <p:cNvSpPr/>
          <p:nvPr/>
        </p:nvSpPr>
        <p:spPr>
          <a:xfrm>
            <a:off x="342597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USA</a:t>
            </a:r>
            <a:endParaRPr>
              <a:latin typeface="Times New Roman"/>
              <a:ea typeface="Times New Roman"/>
              <a:cs typeface="Times New Roman"/>
              <a:sym typeface="Times New Roman"/>
            </a:endParaRPr>
          </a:p>
        </p:txBody>
      </p:sp>
      <p:sp>
        <p:nvSpPr>
          <p:cNvPr id="394" name="Google Shape;394;p26"/>
          <p:cNvSpPr/>
          <p:nvPr/>
        </p:nvSpPr>
        <p:spPr>
          <a:xfrm>
            <a:off x="342597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Germany</a:t>
            </a:r>
            <a:endParaRPr>
              <a:latin typeface="Times New Roman"/>
              <a:ea typeface="Times New Roman"/>
              <a:cs typeface="Times New Roman"/>
              <a:sym typeface="Times New Roman"/>
            </a:endParaRPr>
          </a:p>
        </p:txBody>
      </p:sp>
      <p:sp>
        <p:nvSpPr>
          <p:cNvPr id="395" name="Google Shape;395;p26"/>
          <p:cNvSpPr/>
          <p:nvPr/>
        </p:nvSpPr>
        <p:spPr>
          <a:xfrm>
            <a:off x="503532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China</a:t>
            </a:r>
            <a:endParaRPr>
              <a:latin typeface="Times New Roman"/>
              <a:ea typeface="Times New Roman"/>
              <a:cs typeface="Times New Roman"/>
              <a:sym typeface="Times New Roman"/>
            </a:endParaRPr>
          </a:p>
        </p:txBody>
      </p:sp>
      <p:sp>
        <p:nvSpPr>
          <p:cNvPr id="396" name="Google Shape;396;p26"/>
          <p:cNvSpPr/>
          <p:nvPr/>
        </p:nvSpPr>
        <p:spPr>
          <a:xfrm>
            <a:off x="503532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India</a:t>
            </a:r>
            <a:endParaRPr>
              <a:latin typeface="Times New Roman"/>
              <a:ea typeface="Times New Roman"/>
              <a:cs typeface="Times New Roman"/>
              <a:sym typeface="Times New Roman"/>
            </a:endParaRPr>
          </a:p>
        </p:txBody>
      </p:sp>
      <p:sp>
        <p:nvSpPr>
          <p:cNvPr id="397" name="Google Shape;397;p26"/>
          <p:cNvSpPr txBox="1"/>
          <p:nvPr/>
        </p:nvSpPr>
        <p:spPr>
          <a:xfrm>
            <a:off x="646175" y="244145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 Manufacturing</a:t>
            </a:r>
            <a:endParaRPr>
              <a:solidFill>
                <a:srgbClr val="666666"/>
              </a:solidFill>
              <a:latin typeface="Times New Roman"/>
              <a:ea typeface="Times New Roman"/>
              <a:cs typeface="Times New Roman"/>
              <a:sym typeface="Times New Roman"/>
            </a:endParaRPr>
          </a:p>
        </p:txBody>
      </p:sp>
      <p:sp>
        <p:nvSpPr>
          <p:cNvPr id="398" name="Google Shape;398;p26"/>
          <p:cNvSpPr txBox="1"/>
          <p:nvPr/>
        </p:nvSpPr>
        <p:spPr>
          <a:xfrm>
            <a:off x="570125" y="284980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sp>
        <p:nvSpPr>
          <p:cNvPr id="399" name="Google Shape;399;p26"/>
          <p:cNvSpPr txBox="1"/>
          <p:nvPr/>
        </p:nvSpPr>
        <p:spPr>
          <a:xfrm>
            <a:off x="570125" y="3251038"/>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Service</a:t>
            </a:r>
            <a:endParaRPr>
              <a:solidFill>
                <a:srgbClr val="666666"/>
              </a:solidFill>
              <a:latin typeface="Times New Roman"/>
              <a:ea typeface="Times New Roman"/>
              <a:cs typeface="Times New Roman"/>
              <a:sym typeface="Times New Roman"/>
            </a:endParaRPr>
          </a:p>
        </p:txBody>
      </p:sp>
      <p:sp>
        <p:nvSpPr>
          <p:cNvPr id="400" name="Google Shape;400;p26"/>
          <p:cNvSpPr txBox="1"/>
          <p:nvPr/>
        </p:nvSpPr>
        <p:spPr>
          <a:xfrm>
            <a:off x="589925" y="3640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Transportation</a:t>
            </a:r>
            <a:endParaRPr>
              <a:solidFill>
                <a:srgbClr val="666666"/>
              </a:solidFill>
              <a:latin typeface="Times New Roman"/>
              <a:ea typeface="Times New Roman"/>
              <a:cs typeface="Times New Roman"/>
              <a:sym typeface="Times New Roman"/>
            </a:endParaRPr>
          </a:p>
        </p:txBody>
      </p:sp>
      <p:sp>
        <p:nvSpPr>
          <p:cNvPr id="401" name="Google Shape;401;p26"/>
          <p:cNvSpPr txBox="1"/>
          <p:nvPr/>
        </p:nvSpPr>
        <p:spPr>
          <a:xfrm>
            <a:off x="569975" y="4111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High-tech</a:t>
            </a:r>
            <a:endParaRPr>
              <a:solidFill>
                <a:srgbClr val="666666"/>
              </a:solidFill>
              <a:latin typeface="Times New Roman"/>
              <a:ea typeface="Times New Roman"/>
              <a:cs typeface="Times New Roman"/>
              <a:sym typeface="Times New Roman"/>
            </a:endParaRPr>
          </a:p>
        </p:txBody>
      </p:sp>
      <p:sp>
        <p:nvSpPr>
          <p:cNvPr id="402" name="Google Shape;402;p26"/>
          <p:cNvSpPr txBox="1"/>
          <p:nvPr/>
        </p:nvSpPr>
        <p:spPr>
          <a:xfrm>
            <a:off x="6860700" y="244145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Machinery</a:t>
            </a:r>
            <a:endParaRPr>
              <a:solidFill>
                <a:srgbClr val="666666"/>
              </a:solidFill>
              <a:latin typeface="Times New Roman"/>
              <a:ea typeface="Times New Roman"/>
              <a:cs typeface="Times New Roman"/>
              <a:sym typeface="Times New Roman"/>
            </a:endParaRPr>
          </a:p>
        </p:txBody>
      </p:sp>
      <p:sp>
        <p:nvSpPr>
          <p:cNvPr id="403" name="Google Shape;403;p26"/>
          <p:cNvSpPr txBox="1"/>
          <p:nvPr/>
        </p:nvSpPr>
        <p:spPr>
          <a:xfrm>
            <a:off x="6797075" y="284980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Precious Stone</a:t>
            </a:r>
            <a:endParaRPr>
              <a:solidFill>
                <a:srgbClr val="666666"/>
              </a:solidFill>
              <a:latin typeface="Times New Roman"/>
              <a:ea typeface="Times New Roman"/>
              <a:cs typeface="Times New Roman"/>
              <a:sym typeface="Times New Roman"/>
            </a:endParaRPr>
          </a:p>
        </p:txBody>
      </p:sp>
      <p:sp>
        <p:nvSpPr>
          <p:cNvPr id="404" name="Google Shape;404;p26"/>
          <p:cNvSpPr txBox="1"/>
          <p:nvPr/>
        </p:nvSpPr>
        <p:spPr>
          <a:xfrm>
            <a:off x="6644675" y="372467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Daily Instrument</a:t>
            </a:r>
            <a:endParaRPr>
              <a:solidFill>
                <a:srgbClr val="666666"/>
              </a:solidFill>
              <a:latin typeface="Times New Roman"/>
              <a:ea typeface="Times New Roman"/>
              <a:cs typeface="Times New Roman"/>
              <a:sym typeface="Times New Roman"/>
            </a:endParaRPr>
          </a:p>
        </p:txBody>
      </p:sp>
      <p:sp>
        <p:nvSpPr>
          <p:cNvPr id="405" name="Google Shape;405;p26"/>
          <p:cNvSpPr txBox="1"/>
          <p:nvPr/>
        </p:nvSpPr>
        <p:spPr>
          <a:xfrm>
            <a:off x="6813450" y="3327338"/>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Wood Product</a:t>
            </a:r>
            <a:endParaRPr>
              <a:solidFill>
                <a:srgbClr val="666666"/>
              </a:solidFill>
              <a:latin typeface="Times New Roman"/>
              <a:ea typeface="Times New Roman"/>
              <a:cs typeface="Times New Roman"/>
              <a:sym typeface="Times New Roman"/>
            </a:endParaRPr>
          </a:p>
        </p:txBody>
      </p:sp>
      <p:sp>
        <p:nvSpPr>
          <p:cNvPr id="406" name="Google Shape;406;p26"/>
          <p:cNvSpPr txBox="1"/>
          <p:nvPr/>
        </p:nvSpPr>
        <p:spPr>
          <a:xfrm>
            <a:off x="6965850" y="413702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cxnSp>
        <p:nvCxnSpPr>
          <p:cNvPr id="407" name="Google Shape;407;p26"/>
          <p:cNvCxnSpPr>
            <a:stCxn id="397" idx="3"/>
            <a:endCxn id="393" idx="1"/>
          </p:cNvCxnSpPr>
          <p:nvPr/>
        </p:nvCxnSpPr>
        <p:spPr>
          <a:xfrm>
            <a:off x="2729375" y="2676950"/>
            <a:ext cx="696600" cy="4929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6"/>
          <p:cNvCxnSpPr>
            <a:stCxn id="399" idx="3"/>
            <a:endCxn id="393" idx="1"/>
          </p:cNvCxnSpPr>
          <p:nvPr/>
        </p:nvCxnSpPr>
        <p:spPr>
          <a:xfrm rot="10800000" flipH="1">
            <a:off x="2653325" y="3170038"/>
            <a:ext cx="772800" cy="3165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6"/>
          <p:cNvCxnSpPr>
            <a:endCxn id="394" idx="1"/>
          </p:cNvCxnSpPr>
          <p:nvPr/>
        </p:nvCxnSpPr>
        <p:spPr>
          <a:xfrm>
            <a:off x="2653175" y="3085375"/>
            <a:ext cx="772800" cy="8748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26"/>
          <p:cNvCxnSpPr>
            <a:endCxn id="394" idx="1"/>
          </p:cNvCxnSpPr>
          <p:nvPr/>
        </p:nvCxnSpPr>
        <p:spPr>
          <a:xfrm>
            <a:off x="2653175" y="3486475"/>
            <a:ext cx="772800" cy="4737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26"/>
          <p:cNvCxnSpPr>
            <a:stCxn id="400" idx="3"/>
            <a:endCxn id="394" idx="1"/>
          </p:cNvCxnSpPr>
          <p:nvPr/>
        </p:nvCxnSpPr>
        <p:spPr>
          <a:xfrm>
            <a:off x="2673125" y="3875563"/>
            <a:ext cx="753000" cy="846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26"/>
          <p:cNvCxnSpPr>
            <a:stCxn id="401" idx="3"/>
            <a:endCxn id="394" idx="1"/>
          </p:cNvCxnSpPr>
          <p:nvPr/>
        </p:nvCxnSpPr>
        <p:spPr>
          <a:xfrm rot="10800000" flipH="1">
            <a:off x="2653175" y="3960163"/>
            <a:ext cx="772800" cy="38640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26"/>
          <p:cNvCxnSpPr>
            <a:stCxn id="395" idx="3"/>
            <a:endCxn id="402" idx="1"/>
          </p:cNvCxnSpPr>
          <p:nvPr/>
        </p:nvCxnSpPr>
        <p:spPr>
          <a:xfrm rot="10800000" flipH="1">
            <a:off x="5968025" y="2677000"/>
            <a:ext cx="892800" cy="4929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26"/>
          <p:cNvCxnSpPr>
            <a:stCxn id="395" idx="3"/>
            <a:endCxn id="403" idx="1"/>
          </p:cNvCxnSpPr>
          <p:nvPr/>
        </p:nvCxnSpPr>
        <p:spPr>
          <a:xfrm rot="10800000" flipH="1">
            <a:off x="5968025" y="3085300"/>
            <a:ext cx="829200" cy="8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26"/>
          <p:cNvCxnSpPr>
            <a:stCxn id="395" idx="3"/>
            <a:endCxn id="406" idx="1"/>
          </p:cNvCxnSpPr>
          <p:nvPr/>
        </p:nvCxnSpPr>
        <p:spPr>
          <a:xfrm>
            <a:off x="5968025" y="3169900"/>
            <a:ext cx="997800" cy="12027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26"/>
          <p:cNvCxnSpPr>
            <a:stCxn id="396" idx="3"/>
            <a:endCxn id="402" idx="1"/>
          </p:cNvCxnSpPr>
          <p:nvPr/>
        </p:nvCxnSpPr>
        <p:spPr>
          <a:xfrm rot="10800000" flipH="1">
            <a:off x="5968025" y="2677075"/>
            <a:ext cx="892800" cy="12831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26"/>
          <p:cNvCxnSpPr>
            <a:stCxn id="396" idx="3"/>
            <a:endCxn id="405" idx="1"/>
          </p:cNvCxnSpPr>
          <p:nvPr/>
        </p:nvCxnSpPr>
        <p:spPr>
          <a:xfrm rot="10800000" flipH="1">
            <a:off x="5968025" y="3562975"/>
            <a:ext cx="845400" cy="3972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26"/>
          <p:cNvCxnSpPr>
            <a:stCxn id="396" idx="3"/>
            <a:endCxn id="406" idx="1"/>
          </p:cNvCxnSpPr>
          <p:nvPr/>
        </p:nvCxnSpPr>
        <p:spPr>
          <a:xfrm>
            <a:off x="5968025" y="3960175"/>
            <a:ext cx="997800" cy="4125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26"/>
          <p:cNvCxnSpPr>
            <a:stCxn id="396" idx="3"/>
            <a:endCxn id="404" idx="1"/>
          </p:cNvCxnSpPr>
          <p:nvPr/>
        </p:nvCxnSpPr>
        <p:spPr>
          <a:xfrm>
            <a:off x="5968025" y="3960175"/>
            <a:ext cx="6768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26"/>
          <p:cNvCxnSpPr/>
          <p:nvPr/>
        </p:nvCxnSpPr>
        <p:spPr>
          <a:xfrm>
            <a:off x="4718300" y="2557275"/>
            <a:ext cx="0" cy="2106300"/>
          </a:xfrm>
          <a:prstGeom prst="straightConnector1">
            <a:avLst/>
          </a:prstGeom>
          <a:noFill/>
          <a:ln w="19050" cap="flat" cmpd="sng">
            <a:solidFill>
              <a:schemeClr val="dk2"/>
            </a:solidFill>
            <a:prstDash val="dash"/>
            <a:round/>
            <a:headEnd type="none" w="med" len="med"/>
            <a:tailEnd type="none" w="med" len="med"/>
          </a:ln>
        </p:spPr>
      </p:cxnSp>
      <p:sp>
        <p:nvSpPr>
          <p:cNvPr id="421" name="Google Shape;421;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4. Production Space Design</a:t>
            </a:r>
            <a:endParaRPr>
              <a:latin typeface="Times New Roman"/>
              <a:ea typeface="Times New Roman"/>
              <a:cs typeface="Times New Roman"/>
              <a:sym typeface="Times New Roman"/>
            </a:endParaRPr>
          </a:p>
        </p:txBody>
      </p:sp>
      <p:sp>
        <p:nvSpPr>
          <p:cNvPr id="429" name="Google Shape;429;p2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4.1 Suggested Development Vector</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4.2 Sequential Development Strategy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4.3 Sensitivity Analysis</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4.4 Contingency Plan</a:t>
            </a:r>
            <a:endParaRPr sz="1400">
              <a:latin typeface="Times New Roman"/>
              <a:ea typeface="Times New Roman"/>
              <a:cs typeface="Times New Roman"/>
              <a:sym typeface="Times New Roman"/>
            </a:endParaRPr>
          </a:p>
        </p:txBody>
      </p:sp>
      <p:sp>
        <p:nvSpPr>
          <p:cNvPr id="430" name="Google Shape;430;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4.1 Suggested Development Vector</a:t>
            </a:r>
            <a:endParaRPr>
              <a:latin typeface="Times New Roman"/>
              <a:ea typeface="Times New Roman"/>
              <a:cs typeface="Times New Roman"/>
              <a:sym typeface="Times New Roman"/>
            </a:endParaRPr>
          </a:p>
        </p:txBody>
      </p:sp>
      <p:sp>
        <p:nvSpPr>
          <p:cNvPr id="436" name="Google Shape;436;p28"/>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define the ranking of opportunity gain of a country as the Suggested Development Vector (SDV) of the country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Leading economies are typically well-shaped and barely have any industries with positive opportunity gain, while emerging economies need a sequential strategy that allows for prioritization of certain industries</a:t>
            </a:r>
            <a:endParaRPr sz="1400">
              <a:solidFill>
                <a:srgbClr val="000000"/>
              </a:solidFill>
              <a:latin typeface="Times New Roman"/>
              <a:ea typeface="Times New Roman"/>
              <a:cs typeface="Times New Roman"/>
              <a:sym typeface="Times New Roman"/>
            </a:endParaRPr>
          </a:p>
        </p:txBody>
      </p:sp>
      <p:pic>
        <p:nvPicPr>
          <p:cNvPr id="437" name="Google Shape;437;p28"/>
          <p:cNvPicPr preferRelativeResize="0"/>
          <p:nvPr/>
        </p:nvPicPr>
        <p:blipFill>
          <a:blip r:embed="rId3">
            <a:alphaModFix/>
          </a:blip>
          <a:stretch>
            <a:fillRect/>
          </a:stretch>
        </p:blipFill>
        <p:spPr>
          <a:xfrm>
            <a:off x="1122975" y="2930450"/>
            <a:ext cx="7392151" cy="1719099"/>
          </a:xfrm>
          <a:prstGeom prst="rect">
            <a:avLst/>
          </a:prstGeom>
          <a:noFill/>
          <a:ln w="19050" cap="flat" cmpd="sng">
            <a:solidFill>
              <a:schemeClr val="accent3"/>
            </a:solidFill>
            <a:prstDash val="solid"/>
            <a:round/>
            <a:headEnd type="none" w="sm" len="sm"/>
            <a:tailEnd type="none" w="sm" len="sm"/>
          </a:ln>
        </p:spPr>
      </p:pic>
      <p:sp>
        <p:nvSpPr>
          <p:cNvPr id="438" name="Google Shape;438;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44" name="Google Shape;444;p29"/>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As the difficulty of bumping up MCP varies across industries, we need to capture this variation of difficulty by defining the concept of marginal opportunity gains as follows</a:t>
            </a: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457200" lvl="0" indent="-317500" algn="l" rtl="0">
              <a:spcBef>
                <a:spcPts val="16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each iteration, we order all 18 industries based on their current marginal opportunity gain, and prioritize the industry with the highest marginal opportunity gain</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then increase the prioritized industry’s export to an extent that the MCP firmly bumps up to 1, and re-perform calculations to prioritize the next industry </a:t>
            </a:r>
            <a:endParaRPr sz="1400">
              <a:solidFill>
                <a:srgbClr val="000000"/>
              </a:solidFill>
              <a:latin typeface="Times New Roman"/>
              <a:ea typeface="Times New Roman"/>
              <a:cs typeface="Times New Roman"/>
              <a:sym typeface="Times New Roman"/>
            </a:endParaRPr>
          </a:p>
        </p:txBody>
      </p:sp>
      <p:pic>
        <p:nvPicPr>
          <p:cNvPr id="445" name="Google Shape;445;p29"/>
          <p:cNvPicPr preferRelativeResize="0"/>
          <p:nvPr/>
        </p:nvPicPr>
        <p:blipFill>
          <a:blip r:embed="rId3">
            <a:alphaModFix/>
          </a:blip>
          <a:stretch>
            <a:fillRect/>
          </a:stretch>
        </p:blipFill>
        <p:spPr>
          <a:xfrm>
            <a:off x="1805950" y="1908750"/>
            <a:ext cx="5748168" cy="999300"/>
          </a:xfrm>
          <a:prstGeom prst="rect">
            <a:avLst/>
          </a:prstGeom>
          <a:noFill/>
          <a:ln>
            <a:noFill/>
          </a:ln>
        </p:spPr>
      </p:pic>
      <p:sp>
        <p:nvSpPr>
          <p:cNvPr id="446" name="Google Shape;446;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52" name="Google Shape;452;p30"/>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Calculated using the sequential strategy algorithm, the example of Morocco shows how the prioritization of a developing country evolves from basic products to intermediate-level products</a:t>
            </a:r>
            <a:endParaRPr sz="1400">
              <a:solidFill>
                <a:srgbClr val="000000"/>
              </a:solidFill>
              <a:latin typeface="Times New Roman"/>
              <a:ea typeface="Times New Roman"/>
              <a:cs typeface="Times New Roman"/>
              <a:sym typeface="Times New Roman"/>
            </a:endParaRPr>
          </a:p>
        </p:txBody>
      </p:sp>
      <p:pic>
        <p:nvPicPr>
          <p:cNvPr id="453" name="Google Shape;453;p30"/>
          <p:cNvPicPr preferRelativeResize="0"/>
          <p:nvPr/>
        </p:nvPicPr>
        <p:blipFill>
          <a:blip r:embed="rId3">
            <a:alphaModFix/>
          </a:blip>
          <a:stretch>
            <a:fillRect/>
          </a:stretch>
        </p:blipFill>
        <p:spPr>
          <a:xfrm>
            <a:off x="1386850" y="2288300"/>
            <a:ext cx="7117073" cy="667625"/>
          </a:xfrm>
          <a:prstGeom prst="rect">
            <a:avLst/>
          </a:prstGeom>
          <a:noFill/>
          <a:ln w="9525" cap="flat" cmpd="sng">
            <a:solidFill>
              <a:schemeClr val="accent3"/>
            </a:solidFill>
            <a:prstDash val="solid"/>
            <a:round/>
            <a:headEnd type="none" w="sm" len="sm"/>
            <a:tailEnd type="none" w="sm" len="sm"/>
          </a:ln>
        </p:spPr>
      </p:pic>
      <p:pic>
        <p:nvPicPr>
          <p:cNvPr id="454" name="Google Shape;454;p30"/>
          <p:cNvPicPr preferRelativeResize="0"/>
          <p:nvPr/>
        </p:nvPicPr>
        <p:blipFill>
          <a:blip r:embed="rId4">
            <a:alphaModFix/>
          </a:blip>
          <a:stretch>
            <a:fillRect/>
          </a:stretch>
        </p:blipFill>
        <p:spPr>
          <a:xfrm>
            <a:off x="1380000" y="3132625"/>
            <a:ext cx="7117076" cy="641280"/>
          </a:xfrm>
          <a:prstGeom prst="rect">
            <a:avLst/>
          </a:prstGeom>
          <a:noFill/>
          <a:ln w="9525" cap="flat" cmpd="sng">
            <a:solidFill>
              <a:schemeClr val="accent3"/>
            </a:solidFill>
            <a:prstDash val="solid"/>
            <a:round/>
            <a:headEnd type="none" w="sm" len="sm"/>
            <a:tailEnd type="none" w="sm" len="sm"/>
          </a:ln>
        </p:spPr>
      </p:pic>
      <p:pic>
        <p:nvPicPr>
          <p:cNvPr id="455" name="Google Shape;455;p30"/>
          <p:cNvPicPr preferRelativeResize="0"/>
          <p:nvPr/>
        </p:nvPicPr>
        <p:blipFill>
          <a:blip r:embed="rId5">
            <a:alphaModFix/>
          </a:blip>
          <a:stretch>
            <a:fillRect/>
          </a:stretch>
        </p:blipFill>
        <p:spPr>
          <a:xfrm>
            <a:off x="1380000" y="3969300"/>
            <a:ext cx="7117076" cy="622438"/>
          </a:xfrm>
          <a:prstGeom prst="rect">
            <a:avLst/>
          </a:prstGeom>
          <a:noFill/>
          <a:ln w="9525" cap="flat" cmpd="sng">
            <a:solidFill>
              <a:schemeClr val="accent3"/>
            </a:solidFill>
            <a:prstDash val="solid"/>
            <a:round/>
            <a:headEnd type="none" w="sm" len="sm"/>
            <a:tailEnd type="none" w="sm" len="sm"/>
          </a:ln>
        </p:spPr>
      </p:pic>
      <p:sp>
        <p:nvSpPr>
          <p:cNvPr id="456" name="Google Shape;456;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dirty="0">
                <a:latin typeface="Times New Roman"/>
                <a:ea typeface="Times New Roman"/>
                <a:cs typeface="Times New Roman"/>
                <a:sym typeface="Times New Roman"/>
              </a:rPr>
              <a:t>4.3 Sensitivity Analysis</a:t>
            </a:r>
            <a:endParaRPr dirty="0">
              <a:latin typeface="Times New Roman"/>
              <a:ea typeface="Times New Roman"/>
              <a:cs typeface="Times New Roman"/>
              <a:sym typeface="Times New Roman"/>
            </a:endParaRPr>
          </a:p>
        </p:txBody>
      </p:sp>
      <p:sp>
        <p:nvSpPr>
          <p:cNvPr id="449" name="Google Shape;449;p31"/>
          <p:cNvSpPr txBox="1">
            <a:spLocks noGrp="1"/>
          </p:cNvSpPr>
          <p:nvPr>
            <p:ph type="body" idx="1"/>
          </p:nvPr>
        </p:nvSpPr>
        <p:spPr>
          <a:xfrm>
            <a:off x="1303800" y="1340975"/>
            <a:ext cx="7030500" cy="2541600"/>
          </a:xfrm>
          <a:prstGeom prst="rect">
            <a:avLst/>
          </a:prstGeom>
        </p:spPr>
        <p:txBody>
          <a:bodyPr spcFirstLastPara="1" wrap="square" lIns="91425" tIns="91425" rIns="91425" bIns="91425" anchor="t" anchorCtr="0">
            <a:noAutofit/>
          </a:bodyPr>
          <a:lstStyle/>
          <a:p>
            <a:r>
              <a:rPr lang="en-US" sz="1400" dirty="0" smtClean="0">
                <a:latin typeface="Times New Roman" pitchFamily="18" charset="0"/>
                <a:cs typeface="Times New Roman" pitchFamily="18" charset="0"/>
              </a:rPr>
              <a:t>The sensitivity analysis aims to approximate the volatility of SDV subject to an increment or decrement of export and is mainly implemented on developed countries that</a:t>
            </a:r>
          </a:p>
          <a:p>
            <a:pPr>
              <a:buNone/>
            </a:pPr>
            <a:r>
              <a:rPr lang="en-US" sz="1400" dirty="0" smtClean="0">
                <a:latin typeface="Times New Roman" pitchFamily="18" charset="0"/>
                <a:cs typeface="Times New Roman" pitchFamily="18" charset="0"/>
              </a:rPr>
              <a:t>	have few industries with positive opportunity gains. </a:t>
            </a:r>
          </a:p>
          <a:p>
            <a:r>
              <a:rPr lang="en-US" sz="1400" dirty="0" smtClean="0">
                <a:latin typeface="Times New Roman" pitchFamily="18" charset="0"/>
                <a:cs typeface="Times New Roman" pitchFamily="18" charset="0"/>
              </a:rPr>
              <a:t> To be more specific, sensitivity score is the least-squared slope for the linear regression between percentage change of production  and that of the E</a:t>
            </a:r>
            <a:r>
              <a:rPr lang="en-US" sz="1400" baseline="-25000" dirty="0" smtClean="0">
                <a:latin typeface="Times New Roman" pitchFamily="18" charset="0"/>
                <a:cs typeface="Times New Roman" pitchFamily="18" charset="0"/>
              </a:rPr>
              <a:t> f</a:t>
            </a:r>
            <a:r>
              <a:rPr lang="en-US" sz="1400" dirty="0" smtClean="0">
                <a:latin typeface="Times New Roman" pitchFamily="18" charset="0"/>
                <a:cs typeface="Times New Roman" pitchFamily="18" charset="0"/>
              </a:rPr>
              <a:t> CI</a:t>
            </a:r>
          </a:p>
          <a:p>
            <a:r>
              <a:rPr lang="en-US" sz="1400" dirty="0" smtClean="0">
                <a:latin typeface="Times New Roman" pitchFamily="18" charset="0"/>
                <a:cs typeface="Times New Roman" pitchFamily="18" charset="0"/>
              </a:rPr>
              <a:t>We perform the sensitivity analysis of the aggregate of top ECI countries, including US, UK, Korea, Japan, South Korea, Singapore, Germany, and France, and use the result as the benchmark. The sensitivity score in 2014 and 2009 are shown below:</a:t>
            </a:r>
          </a:p>
          <a:p>
            <a:endParaRPr lang="en-US" sz="1400" dirty="0" smtClean="0">
              <a:latin typeface="Times New Roman" pitchFamily="18" charset="0"/>
              <a:cs typeface="Times New Roman" pitchFamily="18" charset="0"/>
            </a:endParaRPr>
          </a:p>
          <a:p>
            <a:pPr>
              <a:buNone/>
            </a:pPr>
            <a:endParaRPr sz="1400" dirty="0">
              <a:latin typeface="Times New Roman" pitchFamily="18" charset="0"/>
              <a:cs typeface="Times New Roman" pitchFamily="18" charset="0"/>
            </a:endParaRPr>
          </a:p>
        </p:txBody>
      </p:sp>
      <p:sp>
        <p:nvSpPr>
          <p:cNvPr id="450" name="Google Shape;450;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31</a:t>
            </a:fld>
            <a:endParaRPr/>
          </a:p>
        </p:txBody>
      </p:sp>
      <p:sp>
        <p:nvSpPr>
          <p:cNvPr id="8" name="矩形 7"/>
          <p:cNvSpPr/>
          <p:nvPr/>
        </p:nvSpPr>
        <p:spPr>
          <a:xfrm>
            <a:off x="1115051" y="4581199"/>
            <a:ext cx="3062057" cy="307777"/>
          </a:xfrm>
          <a:prstGeom prst="rect">
            <a:avLst/>
          </a:prstGeom>
        </p:spPr>
        <p:txBody>
          <a:bodyPr wrap="none">
            <a:spAutoFit/>
          </a:bodyPr>
          <a:lstStyle/>
          <a:p>
            <a:r>
              <a:rPr lang="en-US" dirty="0" smtClean="0">
                <a:latin typeface="Times New Roman" pitchFamily="18" charset="0"/>
                <a:cs typeface="Times New Roman" pitchFamily="18" charset="0"/>
              </a:rPr>
              <a:t>Sensitivity Score of Benchmark in 2014</a:t>
            </a:r>
            <a:endParaRPr lang="en-US" dirty="0">
              <a:latin typeface="Times New Roman" pitchFamily="18" charset="0"/>
              <a:cs typeface="Times New Roman" pitchFamily="18" charset="0"/>
            </a:endParaRPr>
          </a:p>
        </p:txBody>
      </p:sp>
      <p:sp>
        <p:nvSpPr>
          <p:cNvPr id="9" name="矩形 8"/>
          <p:cNvSpPr/>
          <p:nvPr/>
        </p:nvSpPr>
        <p:spPr>
          <a:xfrm>
            <a:off x="5103470" y="4566333"/>
            <a:ext cx="3062057" cy="307777"/>
          </a:xfrm>
          <a:prstGeom prst="rect">
            <a:avLst/>
          </a:prstGeom>
        </p:spPr>
        <p:txBody>
          <a:bodyPr wrap="none">
            <a:spAutoFit/>
          </a:bodyPr>
          <a:lstStyle/>
          <a:p>
            <a:r>
              <a:rPr lang="en-US" dirty="0" smtClean="0">
                <a:latin typeface="Times New Roman" pitchFamily="18" charset="0"/>
                <a:cs typeface="Times New Roman" pitchFamily="18" charset="0"/>
              </a:rPr>
              <a:t>Sensitivity Score of Benchmark in 2009</a:t>
            </a:r>
            <a:endParaRPr lang="en-US" dirty="0">
              <a:latin typeface="Times New Roman" pitchFamily="18" charset="0"/>
              <a:cs typeface="Times New Roman" pitchFamily="18" charset="0"/>
            </a:endParaRPr>
          </a:p>
        </p:txBody>
      </p:sp>
      <p:graphicFrame>
        <p:nvGraphicFramePr>
          <p:cNvPr id="11" name="表格 10"/>
          <p:cNvGraphicFramePr>
            <a:graphicFrameLocks noGrp="1"/>
          </p:cNvGraphicFramePr>
          <p:nvPr/>
        </p:nvGraphicFramePr>
        <p:xfrm>
          <a:off x="1240883" y="3662711"/>
          <a:ext cx="2692400" cy="762000"/>
        </p:xfrm>
        <a:graphic>
          <a:graphicData uri="http://schemas.openxmlformats.org/drawingml/2006/table">
            <a:tbl>
              <a:tblPr/>
              <a:tblGrid>
                <a:gridCol w="789644"/>
                <a:gridCol w="618396"/>
                <a:gridCol w="1284360"/>
              </a:tblGrid>
              <a:tr h="190500">
                <a:tc gridSpan="3">
                  <a:txBody>
                    <a:bodyPr/>
                    <a:lstStyle/>
                    <a:p>
                      <a:pPr algn="ctr" fontAlgn="b"/>
                      <a:r>
                        <a:rPr lang="en-US" sz="1100" b="1" i="0" u="none" strike="noStrike">
                          <a:solidFill>
                            <a:srgbClr val="000000"/>
                          </a:solidFill>
                          <a:latin typeface="Times New Roman"/>
                        </a:rPr>
                        <a:t>Sensitivity Score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1.676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1.195</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12" name="表格 11"/>
          <p:cNvGraphicFramePr>
            <a:graphicFrameLocks noGrp="1"/>
          </p:cNvGraphicFramePr>
          <p:nvPr/>
        </p:nvGraphicFramePr>
        <p:xfrm>
          <a:off x="5210717" y="3662711"/>
          <a:ext cx="2692400" cy="762000"/>
        </p:xfrm>
        <a:graphic>
          <a:graphicData uri="http://schemas.openxmlformats.org/drawingml/2006/table">
            <a:tbl>
              <a:tblPr/>
              <a:tblGrid>
                <a:gridCol w="789644"/>
                <a:gridCol w="618396"/>
                <a:gridCol w="1284360"/>
              </a:tblGrid>
              <a:tr h="190500">
                <a:tc gridSpan="3">
                  <a:txBody>
                    <a:bodyPr/>
                    <a:lstStyle/>
                    <a:p>
                      <a:pPr algn="ctr" fontAlgn="b"/>
                      <a:r>
                        <a:rPr lang="en-US" sz="1100" b="1" i="0" u="none" strike="noStrike" dirty="0">
                          <a:solidFill>
                            <a:srgbClr val="000000"/>
                          </a:solidFill>
                          <a:latin typeface="Times New Roman"/>
                        </a:rPr>
                        <a:t>Sensitivity Score (</a:t>
                      </a:r>
                      <a:r>
                        <a:rPr lang="en-US" sz="1100" b="1" i="0" u="none" strike="noStrike" dirty="0" smtClean="0">
                          <a:solidFill>
                            <a:srgbClr val="000000"/>
                          </a:solidFill>
                          <a:latin typeface="Times New Roman"/>
                        </a:rPr>
                        <a:t>2009)</a:t>
                      </a:r>
                      <a:endParaRPr lang="en-US" sz="1100" b="1" i="0" u="none" strike="noStrike" dirty="0">
                        <a:solidFill>
                          <a:srgbClr val="000000"/>
                        </a:solidFill>
                        <a:latin typeface="Times New Roman"/>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1.514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-0.001</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1.294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4.4 Contingency Plan</a:t>
            </a:r>
            <a:endParaRPr>
              <a:latin typeface="Times New Roman"/>
              <a:ea typeface="Times New Roman"/>
              <a:cs typeface="Times New Roman"/>
              <a:sym typeface="Times New Roman"/>
            </a:endParaRPr>
          </a:p>
        </p:txBody>
      </p:sp>
      <p:sp>
        <p:nvSpPr>
          <p:cNvPr id="456" name="Google Shape;456;p32"/>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indent="0">
              <a:spcAft>
                <a:spcPts val="1600"/>
              </a:spcAft>
              <a:buNone/>
            </a:pPr>
            <a:r>
              <a:rPr lang="en-US" sz="1400" dirty="0" smtClean="0">
                <a:latin typeface="Times New Roman" pitchFamily="18" charset="0"/>
                <a:cs typeface="Times New Roman" pitchFamily="18" charset="0"/>
              </a:rPr>
              <a:t>The Contingency Plan presents solutions to productivity decline within specific industries. Sometimes, the optimal solution to such downturns is not to invest in the industries undergoing downturns directly, but to support industries highly connected to such industries. </a:t>
            </a:r>
            <a:endParaRPr sz="1400" dirty="0">
              <a:latin typeface="Times New Roman" pitchFamily="18" charset="0"/>
              <a:cs typeface="Times New Roman" pitchFamily="18" charset="0"/>
            </a:endParaRPr>
          </a:p>
        </p:txBody>
      </p:sp>
      <p:sp>
        <p:nvSpPr>
          <p:cNvPr id="457" name="Google Shape;457;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32</a:t>
            </a:fld>
            <a:endParaRPr/>
          </a:p>
        </p:txBody>
      </p:sp>
      <p:graphicFrame>
        <p:nvGraphicFramePr>
          <p:cNvPr id="6" name="表格 5"/>
          <p:cNvGraphicFramePr>
            <a:graphicFrameLocks noGrp="1"/>
          </p:cNvGraphicFramePr>
          <p:nvPr/>
        </p:nvGraphicFramePr>
        <p:xfrm>
          <a:off x="5281265" y="3305872"/>
          <a:ext cx="2997200" cy="762000"/>
        </p:xfrm>
        <a:graphic>
          <a:graphicData uri="http://schemas.openxmlformats.org/drawingml/2006/table">
            <a:tbl>
              <a:tblPr/>
              <a:tblGrid>
                <a:gridCol w="687256"/>
                <a:gridCol w="1393603"/>
                <a:gridCol w="916341"/>
              </a:tblGrid>
              <a:tr h="190500">
                <a:tc gridSpan="3">
                  <a:txBody>
                    <a:bodyPr/>
                    <a:lstStyle/>
                    <a:p>
                      <a:pPr algn="ctr" fontAlgn="b"/>
                      <a:r>
                        <a:rPr lang="en-US" sz="1100" b="1" i="0" u="none" strike="noStrike" dirty="0">
                          <a:solidFill>
                            <a:srgbClr val="000000"/>
                          </a:solidFill>
                          <a:latin typeface="Times New Roman"/>
                        </a:rPr>
                        <a:t>Contingency Plan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7" name="表格 6"/>
          <p:cNvGraphicFramePr>
            <a:graphicFrameLocks noGrp="1"/>
          </p:cNvGraphicFramePr>
          <p:nvPr/>
        </p:nvGraphicFramePr>
        <p:xfrm>
          <a:off x="1445354" y="3305850"/>
          <a:ext cx="2997200" cy="762000"/>
        </p:xfrm>
        <a:graphic>
          <a:graphicData uri="http://schemas.openxmlformats.org/drawingml/2006/table">
            <a:tbl>
              <a:tblPr/>
              <a:tblGrid>
                <a:gridCol w="687256"/>
                <a:gridCol w="1393603"/>
                <a:gridCol w="916341"/>
              </a:tblGrid>
              <a:tr h="190500">
                <a:tc gridSpan="3">
                  <a:txBody>
                    <a:bodyPr/>
                    <a:lstStyle/>
                    <a:p>
                      <a:pPr algn="ctr" fontAlgn="b"/>
                      <a:r>
                        <a:rPr lang="en-US" sz="1100" b="1" i="0" u="none" strike="noStrike" dirty="0">
                          <a:solidFill>
                            <a:srgbClr val="000000"/>
                          </a:solidFill>
                          <a:latin typeface="Times New Roman"/>
                        </a:rPr>
                        <a:t>Contingency Plan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Animal and By-product</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Service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sp>
        <p:nvSpPr>
          <p:cNvPr id="8" name="矩形 7"/>
          <p:cNvSpPr/>
          <p:nvPr/>
        </p:nvSpPr>
        <p:spPr>
          <a:xfrm>
            <a:off x="1404983" y="4335872"/>
            <a:ext cx="3122971" cy="307777"/>
          </a:xfrm>
          <a:prstGeom prst="rect">
            <a:avLst/>
          </a:prstGeom>
        </p:spPr>
        <p:txBody>
          <a:bodyPr wrap="none">
            <a:spAutoFit/>
          </a:bodyPr>
          <a:lstStyle/>
          <a:p>
            <a:r>
              <a:rPr lang="en-US" dirty="0" smtClean="0">
                <a:latin typeface="Times New Roman" pitchFamily="18" charset="0"/>
                <a:cs typeface="Times New Roman" pitchFamily="18" charset="0"/>
              </a:rPr>
              <a:t>Contingency Plan of Benchmark in 2014</a:t>
            </a:r>
            <a:endParaRPr lang="en-US" dirty="0">
              <a:latin typeface="Times New Roman" pitchFamily="18" charset="0"/>
              <a:cs typeface="Times New Roman" pitchFamily="18" charset="0"/>
            </a:endParaRPr>
          </a:p>
        </p:txBody>
      </p:sp>
      <p:sp>
        <p:nvSpPr>
          <p:cNvPr id="9" name="矩形 8"/>
          <p:cNvSpPr/>
          <p:nvPr/>
        </p:nvSpPr>
        <p:spPr>
          <a:xfrm>
            <a:off x="5359946" y="4321007"/>
            <a:ext cx="2759089" cy="307777"/>
          </a:xfrm>
          <a:prstGeom prst="rect">
            <a:avLst/>
          </a:prstGeom>
        </p:spPr>
        <p:txBody>
          <a:bodyPr wrap="none">
            <a:spAutoFit/>
          </a:bodyPr>
          <a:lstStyle/>
          <a:p>
            <a:r>
              <a:rPr lang="en-US" dirty="0" smtClean="0">
                <a:latin typeface="Times New Roman" pitchFamily="18" charset="0"/>
                <a:cs typeface="Times New Roman" pitchFamily="18" charset="0"/>
              </a:rPr>
              <a:t>Contingency of Benchmark in 2009</a:t>
            </a:r>
            <a:endParaRPr lang="en-US"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5. Macro-level Predictions</a:t>
            </a:r>
            <a:endParaRPr>
              <a:latin typeface="Times New Roman"/>
              <a:ea typeface="Times New Roman"/>
              <a:cs typeface="Times New Roman"/>
              <a:sym typeface="Times New Roman"/>
            </a:endParaRPr>
          </a:p>
        </p:txBody>
      </p:sp>
      <p:sp>
        <p:nvSpPr>
          <p:cNvPr id="480" name="Google Shape;480;p3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5.1 Structural Optimality Index (SOI)</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5.2 SOI Examples and Implications</a:t>
            </a:r>
            <a:endParaRPr sz="1400">
              <a:latin typeface="Times New Roman"/>
              <a:ea typeface="Times New Roman"/>
              <a:cs typeface="Times New Roman"/>
              <a:sym typeface="Times New Roman"/>
            </a:endParaRPr>
          </a:p>
        </p:txBody>
      </p:sp>
      <p:sp>
        <p:nvSpPr>
          <p:cNvPr id="481" name="Google Shape;481;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5.1 Structural Optimality Index (SOI)</a:t>
            </a:r>
            <a:endParaRPr>
              <a:latin typeface="Times New Roman"/>
              <a:ea typeface="Times New Roman"/>
              <a:cs typeface="Times New Roman"/>
              <a:sym typeface="Times New Roman"/>
            </a:endParaRPr>
          </a:p>
        </p:txBody>
      </p:sp>
      <p:sp>
        <p:nvSpPr>
          <p:cNvPr id="487" name="Google Shape;487;p34"/>
          <p:cNvSpPr txBox="1">
            <a:spLocks noGrp="1"/>
          </p:cNvSpPr>
          <p:nvPr>
            <p:ph type="body" idx="1"/>
          </p:nvPr>
        </p:nvSpPr>
        <p:spPr>
          <a:xfrm>
            <a:off x="1303800" y="12247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Structural Optimality Index (SOI) is defined as the adjusted R-Square of export increase in industries ~ opportunity gains of industries </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SOI provides a quantified measure of how the development path adopted by a country fitted with/differed from calculations on a complexity level (i.e., the opportunity gains)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further observe a significant correlation between SOI and five-year GDP increase of countries, indicating that structural optimality does impact economic outcomes</a:t>
            </a:r>
            <a:endParaRPr sz="1400">
              <a:solidFill>
                <a:srgbClr val="000000"/>
              </a:solidFill>
              <a:latin typeface="Times New Roman"/>
              <a:ea typeface="Times New Roman"/>
              <a:cs typeface="Times New Roman"/>
              <a:sym typeface="Times New Roman"/>
            </a:endParaRPr>
          </a:p>
        </p:txBody>
      </p:sp>
      <p:sp>
        <p:nvSpPr>
          <p:cNvPr id="488" name="Google Shape;488;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34</a:t>
            </a:fld>
            <a:endParaRPr/>
          </a:p>
        </p:txBody>
      </p:sp>
      <p:pic>
        <p:nvPicPr>
          <p:cNvPr id="489" name="Google Shape;489;p34"/>
          <p:cNvPicPr preferRelativeResize="0"/>
          <p:nvPr/>
        </p:nvPicPr>
        <p:blipFill>
          <a:blip r:embed="rId3">
            <a:alphaModFix/>
          </a:blip>
          <a:stretch>
            <a:fillRect/>
          </a:stretch>
        </p:blipFill>
        <p:spPr>
          <a:xfrm>
            <a:off x="1441325" y="2896575"/>
            <a:ext cx="4593726" cy="1995550"/>
          </a:xfrm>
          <a:prstGeom prst="rect">
            <a:avLst/>
          </a:prstGeom>
          <a:noFill/>
          <a:ln w="9525" cap="flat" cmpd="sng">
            <a:solidFill>
              <a:schemeClr val="accent3"/>
            </a:solidFill>
            <a:prstDash val="solid"/>
            <a:round/>
            <a:headEnd type="none" w="sm" len="sm"/>
            <a:tailEnd type="none" w="sm" len="sm"/>
          </a:ln>
        </p:spPr>
      </p:pic>
      <p:pic>
        <p:nvPicPr>
          <p:cNvPr id="490" name="Google Shape;490;p34"/>
          <p:cNvPicPr preferRelativeResize="0"/>
          <p:nvPr/>
        </p:nvPicPr>
        <p:blipFill>
          <a:blip r:embed="rId4">
            <a:alphaModFix/>
          </a:blip>
          <a:stretch>
            <a:fillRect/>
          </a:stretch>
        </p:blipFill>
        <p:spPr>
          <a:xfrm>
            <a:off x="6103625" y="2896575"/>
            <a:ext cx="2633475" cy="1610000"/>
          </a:xfrm>
          <a:prstGeom prst="rect">
            <a:avLst/>
          </a:prstGeom>
          <a:noFill/>
          <a:ln w="9525" cap="flat" cmpd="sng">
            <a:solidFill>
              <a:schemeClr val="accent3"/>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5.2 SOI Examples and Implications</a:t>
            </a:r>
            <a:endParaRPr>
              <a:latin typeface="Times New Roman"/>
              <a:ea typeface="Times New Roman"/>
              <a:cs typeface="Times New Roman"/>
              <a:sym typeface="Times New Roman"/>
            </a:endParaRPr>
          </a:p>
        </p:txBody>
      </p:sp>
      <p:sp>
        <p:nvSpPr>
          <p:cNvPr id="496" name="Google Shape;496;p35"/>
          <p:cNvSpPr txBox="1">
            <a:spLocks noGrp="1"/>
          </p:cNvSpPr>
          <p:nvPr>
            <p:ph type="body" idx="1"/>
          </p:nvPr>
        </p:nvSpPr>
        <p:spPr>
          <a:xfrm>
            <a:off x="1303800" y="11914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Taking China and France for comparison, China ranks the 1</a:t>
            </a:r>
            <a:r>
              <a:rPr lang="en" sz="1400" baseline="30000">
                <a:solidFill>
                  <a:srgbClr val="000000"/>
                </a:solidFill>
                <a:latin typeface="Times New Roman"/>
                <a:ea typeface="Times New Roman"/>
                <a:cs typeface="Times New Roman"/>
                <a:sym typeface="Times New Roman"/>
              </a:rPr>
              <a:t>st</a:t>
            </a:r>
            <a:r>
              <a:rPr lang="en" sz="1400">
                <a:solidFill>
                  <a:srgbClr val="000000"/>
                </a:solidFill>
                <a:latin typeface="Times New Roman"/>
                <a:ea typeface="Times New Roman"/>
                <a:cs typeface="Times New Roman"/>
                <a:sym typeface="Times New Roman"/>
              </a:rPr>
              <a:t> place among all countries in terms of SOI (82.8%), and has the highest economic growth rate from 2009 to 2014</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contrast, developed economies such as France, where there is a moderate SOI of around 14.2% and a corresponding annual growth rate of 1.1%</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Intermediate-term economic progress can be at least partially explained by the optimality of development strategy that countries choose to adopt</a:t>
            </a:r>
            <a:endParaRPr sz="1400">
              <a:solidFill>
                <a:srgbClr val="000000"/>
              </a:solidFill>
              <a:latin typeface="Times New Roman"/>
              <a:ea typeface="Times New Roman"/>
              <a:cs typeface="Times New Roman"/>
              <a:sym typeface="Times New Roman"/>
            </a:endParaRPr>
          </a:p>
        </p:txBody>
      </p:sp>
      <p:sp>
        <p:nvSpPr>
          <p:cNvPr id="497" name="Google Shape;49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35</a:t>
            </a:fld>
            <a:endParaRPr/>
          </a:p>
        </p:txBody>
      </p:sp>
      <p:pic>
        <p:nvPicPr>
          <p:cNvPr id="498" name="Google Shape;498;p35"/>
          <p:cNvPicPr preferRelativeResize="0"/>
          <p:nvPr/>
        </p:nvPicPr>
        <p:blipFill>
          <a:blip r:embed="rId3">
            <a:alphaModFix/>
          </a:blip>
          <a:stretch>
            <a:fillRect/>
          </a:stretch>
        </p:blipFill>
        <p:spPr>
          <a:xfrm>
            <a:off x="5000035" y="2898400"/>
            <a:ext cx="3334266" cy="1928801"/>
          </a:xfrm>
          <a:prstGeom prst="rect">
            <a:avLst/>
          </a:prstGeom>
          <a:noFill/>
          <a:ln w="9525" cap="flat" cmpd="sng">
            <a:solidFill>
              <a:schemeClr val="accent1"/>
            </a:solidFill>
            <a:prstDash val="solid"/>
            <a:round/>
            <a:headEnd type="none" w="sm" len="sm"/>
            <a:tailEnd type="none" w="sm" len="sm"/>
          </a:ln>
        </p:spPr>
      </p:pic>
      <p:pic>
        <p:nvPicPr>
          <p:cNvPr id="499" name="Google Shape;499;p35"/>
          <p:cNvPicPr preferRelativeResize="0"/>
          <p:nvPr/>
        </p:nvPicPr>
        <p:blipFill>
          <a:blip r:embed="rId4">
            <a:alphaModFix/>
          </a:blip>
          <a:stretch>
            <a:fillRect/>
          </a:stretch>
        </p:blipFill>
        <p:spPr>
          <a:xfrm>
            <a:off x="1421801" y="2905200"/>
            <a:ext cx="3357774" cy="192880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6. Reference</a:t>
            </a:r>
            <a:endParaRPr>
              <a:latin typeface="Times New Roman"/>
              <a:ea typeface="Times New Roman"/>
              <a:cs typeface="Times New Roman"/>
              <a:sym typeface="Times New Roman"/>
            </a:endParaRPr>
          </a:p>
        </p:txBody>
      </p:sp>
      <p:sp>
        <p:nvSpPr>
          <p:cNvPr id="507" name="Google Shape;507;p3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Hausmann, R., Hidalgo, C., Bustos, S., Coscia, M., Chung, S., Jimenez, J., Simoes, A. and Yıldırım, M. (2007). </a:t>
            </a:r>
            <a:r>
              <a:rPr lang="en" sz="1400" i="1">
                <a:solidFill>
                  <a:srgbClr val="000000"/>
                </a:solidFill>
                <a:highlight>
                  <a:srgbClr val="FFFFFF"/>
                </a:highlight>
                <a:latin typeface="Times New Roman"/>
                <a:ea typeface="Times New Roman"/>
                <a:cs typeface="Times New Roman"/>
                <a:sym typeface="Times New Roman"/>
              </a:rPr>
              <a:t>The Atlas of Economic Complexity</a:t>
            </a:r>
            <a:r>
              <a:rPr lang="en" sz="1400">
                <a:solidFill>
                  <a:srgbClr val="000000"/>
                </a:solidFill>
                <a:highlight>
                  <a:srgbClr val="FFFFFF"/>
                </a:highlight>
                <a:latin typeface="Times New Roman"/>
                <a:ea typeface="Times New Roman"/>
                <a:cs typeface="Times New Roman"/>
                <a:sym typeface="Times New Roman"/>
              </a:rPr>
              <a:t>. [online] Atlas.cid.harvard.edu. Available at: http://atlas.cid.harvard.edu/.</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Comtrade.un.org. (n.d.). </a:t>
            </a:r>
            <a:r>
              <a:rPr lang="en" sz="1400" i="1">
                <a:solidFill>
                  <a:srgbClr val="000000"/>
                </a:solidFill>
                <a:highlight>
                  <a:srgbClr val="FFFFFF"/>
                </a:highlight>
                <a:latin typeface="Times New Roman"/>
                <a:ea typeface="Times New Roman"/>
                <a:cs typeface="Times New Roman"/>
                <a:sym typeface="Times New Roman"/>
              </a:rPr>
              <a:t>Download trade data | UN Comtrade: International Trade Statistics</a:t>
            </a:r>
            <a:r>
              <a:rPr lang="en" sz="1400">
                <a:solidFill>
                  <a:srgbClr val="000000"/>
                </a:solidFill>
                <a:highlight>
                  <a:srgbClr val="FFFFFF"/>
                </a:highlight>
                <a:latin typeface="Times New Roman"/>
                <a:ea typeface="Times New Roman"/>
                <a:cs typeface="Times New Roman"/>
                <a:sym typeface="Times New Roman"/>
              </a:rPr>
              <a:t>. [online] Available at: https://comtrade.un.org/data/.</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
        <p:nvSpPr>
          <p:cNvPr id="508" name="Google Shape;508;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4" name="Google Shape;514;p3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5" name="Google Shape;515;p3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 Appendix</a:t>
            </a:r>
            <a:endParaRPr sz="1800" b="0">
              <a:latin typeface="Times New Roman"/>
              <a:ea typeface="Times New Roman"/>
              <a:cs typeface="Times New Roman"/>
              <a:sym typeface="Times New Roman"/>
            </a:endParaRPr>
          </a:p>
        </p:txBody>
      </p:sp>
      <p:sp>
        <p:nvSpPr>
          <p:cNvPr id="516" name="Google Shape;516;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sp>
        <p:nvSpPr>
          <p:cNvPr id="517" name="Google Shape;517;p3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In this section we outline the most important calculations &amp; analysis results for a selected group of countries, including Brazil, China, Egypt, France, Germany, Japan, Malaysia, Mexico, Morocco, South Africa, South Korea, Spain, Turkey, UAE and USA</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For each country, we highlight its GDP &amp; ECI trend, Actual Development Index (ADI), Suggested Development Vector (SDV), sensitivity score &amp; plan, contingency table and Structural Optimality Index (SOI) during the period</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 Brazil </a:t>
            </a:r>
            <a:endParaRPr>
              <a:latin typeface="Times New Roman"/>
              <a:ea typeface="Times New Roman"/>
              <a:cs typeface="Times New Roman"/>
              <a:sym typeface="Times New Roman"/>
            </a:endParaRPr>
          </a:p>
        </p:txBody>
      </p:sp>
      <p:sp>
        <p:nvSpPr>
          <p:cNvPr id="523" name="Google Shape;523;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38</a:t>
            </a:fld>
            <a:endParaRPr/>
          </a:p>
        </p:txBody>
      </p:sp>
      <p:sp>
        <p:nvSpPr>
          <p:cNvPr id="524" name="Google Shape;524;p3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25" name="Google Shape;525;p3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26" name="Google Shape;526;p38"/>
          <p:cNvPicPr preferRelativeResize="0"/>
          <p:nvPr/>
        </p:nvPicPr>
        <p:blipFill>
          <a:blip r:embed="rId3">
            <a:alphaModFix/>
          </a:blip>
          <a:stretch>
            <a:fillRect/>
          </a:stretch>
        </p:blipFill>
        <p:spPr>
          <a:xfrm>
            <a:off x="1056750" y="1701875"/>
            <a:ext cx="5005628" cy="1519826"/>
          </a:xfrm>
          <a:prstGeom prst="rect">
            <a:avLst/>
          </a:prstGeom>
          <a:noFill/>
          <a:ln w="9525" cap="flat" cmpd="sng">
            <a:solidFill>
              <a:schemeClr val="accent1"/>
            </a:solidFill>
            <a:prstDash val="solid"/>
            <a:round/>
            <a:headEnd type="none" w="sm" len="sm"/>
            <a:tailEnd type="none" w="sm" len="sm"/>
          </a:ln>
        </p:spPr>
      </p:pic>
      <p:pic>
        <p:nvPicPr>
          <p:cNvPr id="527" name="Google Shape;527;p38"/>
          <p:cNvPicPr preferRelativeResize="0"/>
          <p:nvPr/>
        </p:nvPicPr>
        <p:blipFill>
          <a:blip r:embed="rId4">
            <a:alphaModFix/>
          </a:blip>
          <a:stretch>
            <a:fillRect/>
          </a:stretch>
        </p:blipFill>
        <p:spPr>
          <a:xfrm>
            <a:off x="1056750" y="3221700"/>
            <a:ext cx="2394273" cy="1266899"/>
          </a:xfrm>
          <a:prstGeom prst="rect">
            <a:avLst/>
          </a:prstGeom>
          <a:noFill/>
          <a:ln w="9525" cap="flat" cmpd="sng">
            <a:solidFill>
              <a:schemeClr val="accent1"/>
            </a:solidFill>
            <a:prstDash val="solid"/>
            <a:round/>
            <a:headEnd type="none" w="sm" len="sm"/>
            <a:tailEnd type="none" w="sm" len="sm"/>
          </a:ln>
        </p:spPr>
      </p:pic>
      <p:pic>
        <p:nvPicPr>
          <p:cNvPr id="528" name="Google Shape;528;p38"/>
          <p:cNvPicPr preferRelativeResize="0"/>
          <p:nvPr/>
        </p:nvPicPr>
        <p:blipFill>
          <a:blip r:embed="rId5">
            <a:alphaModFix/>
          </a:blip>
          <a:stretch>
            <a:fillRect/>
          </a:stretch>
        </p:blipFill>
        <p:spPr>
          <a:xfrm>
            <a:off x="6197889" y="1632313"/>
            <a:ext cx="2305716" cy="3206387"/>
          </a:xfrm>
          <a:prstGeom prst="rect">
            <a:avLst/>
          </a:prstGeom>
          <a:noFill/>
          <a:ln w="9525" cap="flat" cmpd="sng">
            <a:solidFill>
              <a:schemeClr val="accent1"/>
            </a:solidFill>
            <a:prstDash val="solid"/>
            <a:round/>
            <a:headEnd type="none" w="sm" len="sm"/>
            <a:tailEnd type="none" w="sm" len="sm"/>
          </a:ln>
        </p:spPr>
      </p:pic>
      <p:pic>
        <p:nvPicPr>
          <p:cNvPr id="529" name="Google Shape;529;p38"/>
          <p:cNvPicPr preferRelativeResize="0"/>
          <p:nvPr/>
        </p:nvPicPr>
        <p:blipFill>
          <a:blip r:embed="rId6">
            <a:alphaModFix/>
          </a:blip>
          <a:stretch>
            <a:fillRect/>
          </a:stretch>
        </p:blipFill>
        <p:spPr>
          <a:xfrm>
            <a:off x="3451025" y="3221700"/>
            <a:ext cx="2611349" cy="1266901"/>
          </a:xfrm>
          <a:prstGeom prst="rect">
            <a:avLst/>
          </a:prstGeom>
          <a:noFill/>
          <a:ln w="9525" cap="flat" cmpd="sng">
            <a:solidFill>
              <a:schemeClr val="accent1"/>
            </a:solidFill>
            <a:prstDash val="solid"/>
            <a:round/>
            <a:headEnd type="none" w="sm" len="sm"/>
            <a:tailEnd type="none" w="sm" len="sm"/>
          </a:ln>
        </p:spPr>
      </p:pic>
      <p:sp>
        <p:nvSpPr>
          <p:cNvPr id="530" name="Google Shape;530;p38"/>
          <p:cNvSpPr txBox="1"/>
          <p:nvPr/>
        </p:nvSpPr>
        <p:spPr>
          <a:xfrm>
            <a:off x="5084675" y="32216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SOI=0.8%</a:t>
            </a:r>
            <a:endParaRPr sz="1000" b="1">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7.2 China </a:t>
            </a:r>
            <a:endParaRPr>
              <a:latin typeface="Times New Roman"/>
              <a:ea typeface="Times New Roman"/>
              <a:cs typeface="Times New Roman"/>
              <a:sym typeface="Times New Roman"/>
            </a:endParaRPr>
          </a:p>
        </p:txBody>
      </p:sp>
      <p:pic>
        <p:nvPicPr>
          <p:cNvPr id="536" name="Google Shape;536;p39"/>
          <p:cNvPicPr preferRelativeResize="0"/>
          <p:nvPr/>
        </p:nvPicPr>
        <p:blipFill>
          <a:blip r:embed="rId3">
            <a:alphaModFix/>
          </a:blip>
          <a:stretch>
            <a:fillRect/>
          </a:stretch>
        </p:blipFill>
        <p:spPr>
          <a:xfrm>
            <a:off x="1116188" y="3003475"/>
            <a:ext cx="4172612" cy="1995399"/>
          </a:xfrm>
          <a:prstGeom prst="rect">
            <a:avLst/>
          </a:prstGeom>
          <a:noFill/>
          <a:ln w="9525" cap="flat" cmpd="sng">
            <a:solidFill>
              <a:schemeClr val="accent1"/>
            </a:solidFill>
            <a:prstDash val="solid"/>
            <a:round/>
            <a:headEnd type="none" w="sm" len="sm"/>
            <a:tailEnd type="none" w="sm" len="sm"/>
          </a:ln>
        </p:spPr>
      </p:pic>
      <p:sp>
        <p:nvSpPr>
          <p:cNvPr id="537" name="Google Shape;537;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39</a:t>
            </a:fld>
            <a:endParaRPr/>
          </a:p>
        </p:txBody>
      </p:sp>
      <p:pic>
        <p:nvPicPr>
          <p:cNvPr id="538" name="Google Shape;538;p39"/>
          <p:cNvPicPr preferRelativeResize="0"/>
          <p:nvPr/>
        </p:nvPicPr>
        <p:blipFill>
          <a:blip r:embed="rId4">
            <a:alphaModFix/>
          </a:blip>
          <a:stretch>
            <a:fillRect/>
          </a:stretch>
        </p:blipFill>
        <p:spPr>
          <a:xfrm>
            <a:off x="1116200" y="1632321"/>
            <a:ext cx="4172601" cy="1351828"/>
          </a:xfrm>
          <a:prstGeom prst="rect">
            <a:avLst/>
          </a:prstGeom>
          <a:noFill/>
          <a:ln w="9525" cap="flat" cmpd="sng">
            <a:solidFill>
              <a:schemeClr val="accent1"/>
            </a:solidFill>
            <a:prstDash val="solid"/>
            <a:round/>
            <a:headEnd type="none" w="sm" len="sm"/>
            <a:tailEnd type="none" w="sm" len="sm"/>
          </a:ln>
        </p:spPr>
      </p:pic>
      <p:sp>
        <p:nvSpPr>
          <p:cNvPr id="539" name="Google Shape;539;p3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40" name="Google Shape;540;p3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41" name="Google Shape;541;p39"/>
          <p:cNvPicPr preferRelativeResize="0"/>
          <p:nvPr/>
        </p:nvPicPr>
        <p:blipFill>
          <a:blip r:embed="rId5">
            <a:alphaModFix/>
          </a:blip>
          <a:stretch>
            <a:fillRect/>
          </a:stretch>
        </p:blipFill>
        <p:spPr>
          <a:xfrm>
            <a:off x="5717076" y="1632326"/>
            <a:ext cx="2370175" cy="329603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7.2 China</a:t>
            </a:r>
            <a:endParaRPr>
              <a:latin typeface="Times New Roman"/>
              <a:ea typeface="Times New Roman"/>
              <a:cs typeface="Times New Roman"/>
              <a:sym typeface="Times New Roman"/>
            </a:endParaRPr>
          </a:p>
        </p:txBody>
      </p:sp>
      <p:sp>
        <p:nvSpPr>
          <p:cNvPr id="547" name="Google Shape;547;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40</a:t>
            </a:fld>
            <a:endParaRPr/>
          </a:p>
        </p:txBody>
      </p:sp>
      <p:pic>
        <p:nvPicPr>
          <p:cNvPr id="548" name="Google Shape;548;p40"/>
          <p:cNvPicPr preferRelativeResize="0"/>
          <p:nvPr/>
        </p:nvPicPr>
        <p:blipFill>
          <a:blip r:embed="rId3">
            <a:alphaModFix/>
          </a:blip>
          <a:stretch>
            <a:fillRect/>
          </a:stretch>
        </p:blipFill>
        <p:spPr>
          <a:xfrm>
            <a:off x="1162375" y="1680375"/>
            <a:ext cx="4481749" cy="1785931"/>
          </a:xfrm>
          <a:prstGeom prst="rect">
            <a:avLst/>
          </a:prstGeom>
          <a:noFill/>
          <a:ln w="9525" cap="flat" cmpd="sng">
            <a:solidFill>
              <a:schemeClr val="accent1"/>
            </a:solidFill>
            <a:prstDash val="solid"/>
            <a:round/>
            <a:headEnd type="none" w="sm" len="sm"/>
            <a:tailEnd type="none" w="sm" len="sm"/>
          </a:ln>
        </p:spPr>
      </p:pic>
      <p:sp>
        <p:nvSpPr>
          <p:cNvPr id="549" name="Google Shape;549;p4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50" name="Google Shape;550;p40"/>
          <p:cNvPicPr preferRelativeResize="0"/>
          <p:nvPr/>
        </p:nvPicPr>
        <p:blipFill rotWithShape="1">
          <a:blip r:embed="rId4">
            <a:alphaModFix/>
          </a:blip>
          <a:srcRect l="3180" r="-3180"/>
          <a:stretch/>
        </p:blipFill>
        <p:spPr>
          <a:xfrm>
            <a:off x="1162375" y="3466300"/>
            <a:ext cx="4481750" cy="1553675"/>
          </a:xfrm>
          <a:prstGeom prst="rect">
            <a:avLst/>
          </a:prstGeom>
          <a:noFill/>
          <a:ln w="9525" cap="flat" cmpd="sng">
            <a:solidFill>
              <a:schemeClr val="accent1"/>
            </a:solidFill>
            <a:prstDash val="solid"/>
            <a:round/>
            <a:headEnd type="none" w="sm" len="sm"/>
            <a:tailEnd type="none" w="sm" len="sm"/>
          </a:ln>
        </p:spPr>
      </p:pic>
      <p:sp>
        <p:nvSpPr>
          <p:cNvPr id="551" name="Google Shape;551;p40"/>
          <p:cNvSpPr txBox="1"/>
          <p:nvPr/>
        </p:nvSpPr>
        <p:spPr>
          <a:xfrm>
            <a:off x="4572000" y="34982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SOI=82.8%</a:t>
            </a:r>
            <a:endParaRPr sz="1000" b="1">
              <a:latin typeface="Times New Roman"/>
              <a:ea typeface="Times New Roman"/>
              <a:cs typeface="Times New Roman"/>
              <a:sym typeface="Times New Roman"/>
            </a:endParaRPr>
          </a:p>
        </p:txBody>
      </p:sp>
      <p:pic>
        <p:nvPicPr>
          <p:cNvPr id="552" name="Google Shape;552;p40"/>
          <p:cNvPicPr preferRelativeResize="0"/>
          <p:nvPr/>
        </p:nvPicPr>
        <p:blipFill>
          <a:blip r:embed="rId5">
            <a:alphaModFix/>
          </a:blip>
          <a:stretch>
            <a:fillRect/>
          </a:stretch>
        </p:blipFill>
        <p:spPr>
          <a:xfrm>
            <a:off x="5987424" y="1660846"/>
            <a:ext cx="2860378" cy="656100"/>
          </a:xfrm>
          <a:prstGeom prst="rect">
            <a:avLst/>
          </a:prstGeom>
          <a:noFill/>
          <a:ln w="9525" cap="flat" cmpd="sng">
            <a:solidFill>
              <a:schemeClr val="accent1"/>
            </a:solidFill>
            <a:prstDash val="solid"/>
            <a:round/>
            <a:headEnd type="none" w="sm" len="sm"/>
            <a:tailEnd type="none" w="sm" len="sm"/>
          </a:ln>
        </p:spPr>
      </p:pic>
      <p:pic>
        <p:nvPicPr>
          <p:cNvPr id="553" name="Google Shape;553;p40"/>
          <p:cNvPicPr preferRelativeResize="0"/>
          <p:nvPr/>
        </p:nvPicPr>
        <p:blipFill>
          <a:blip r:embed="rId6">
            <a:alphaModFix/>
          </a:blip>
          <a:stretch>
            <a:fillRect/>
          </a:stretch>
        </p:blipFill>
        <p:spPr>
          <a:xfrm>
            <a:off x="5987425" y="2372011"/>
            <a:ext cx="2860375" cy="679114"/>
          </a:xfrm>
          <a:prstGeom prst="rect">
            <a:avLst/>
          </a:prstGeom>
          <a:noFill/>
          <a:ln w="9525" cap="flat" cmpd="sng">
            <a:solidFill>
              <a:schemeClr val="accent1"/>
            </a:solidFill>
            <a:prstDash val="solid"/>
            <a:round/>
            <a:headEnd type="none" w="sm" len="sm"/>
            <a:tailEnd type="none" w="sm" len="sm"/>
          </a:ln>
        </p:spPr>
      </p:pic>
      <p:pic>
        <p:nvPicPr>
          <p:cNvPr id="554" name="Google Shape;554;p40"/>
          <p:cNvPicPr preferRelativeResize="0"/>
          <p:nvPr/>
        </p:nvPicPr>
        <p:blipFill>
          <a:blip r:embed="rId7">
            <a:alphaModFix/>
          </a:blip>
          <a:stretch>
            <a:fillRect/>
          </a:stretch>
        </p:blipFill>
        <p:spPr>
          <a:xfrm>
            <a:off x="5987425" y="3182375"/>
            <a:ext cx="2860375" cy="765380"/>
          </a:xfrm>
          <a:prstGeom prst="rect">
            <a:avLst/>
          </a:prstGeom>
          <a:noFill/>
          <a:ln w="9525" cap="flat" cmpd="sng">
            <a:solidFill>
              <a:schemeClr val="accent1"/>
            </a:solidFill>
            <a:prstDash val="solid"/>
            <a:round/>
            <a:headEnd type="none" w="sm" len="sm"/>
            <a:tailEnd type="none" w="sm" len="sm"/>
          </a:ln>
        </p:spPr>
      </p:pic>
      <p:pic>
        <p:nvPicPr>
          <p:cNvPr id="555" name="Google Shape;555;p40"/>
          <p:cNvPicPr preferRelativeResize="0"/>
          <p:nvPr/>
        </p:nvPicPr>
        <p:blipFill>
          <a:blip r:embed="rId8">
            <a:alphaModFix/>
          </a:blip>
          <a:stretch>
            <a:fillRect/>
          </a:stretch>
        </p:blipFill>
        <p:spPr>
          <a:xfrm>
            <a:off x="5987425" y="3995550"/>
            <a:ext cx="2860375" cy="84603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41"/>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7.3 Egypt </a:t>
            </a:r>
            <a:endParaRPr>
              <a:latin typeface="Times New Roman"/>
              <a:ea typeface="Times New Roman"/>
              <a:cs typeface="Times New Roman"/>
              <a:sym typeface="Times New Roman"/>
            </a:endParaRPr>
          </a:p>
        </p:txBody>
      </p:sp>
      <p:sp>
        <p:nvSpPr>
          <p:cNvPr id="561" name="Google Shape;561;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41</a:t>
            </a:fld>
            <a:endParaRPr/>
          </a:p>
        </p:txBody>
      </p:sp>
      <p:sp>
        <p:nvSpPr>
          <p:cNvPr id="562" name="Google Shape;562;p41"/>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63" name="Google Shape;563;p41"/>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64" name="Google Shape;564;p41"/>
          <p:cNvPicPr preferRelativeResize="0"/>
          <p:nvPr/>
        </p:nvPicPr>
        <p:blipFill>
          <a:blip r:embed="rId3">
            <a:alphaModFix/>
          </a:blip>
          <a:stretch>
            <a:fillRect/>
          </a:stretch>
        </p:blipFill>
        <p:spPr>
          <a:xfrm>
            <a:off x="1056750" y="1632317"/>
            <a:ext cx="5005628" cy="1519806"/>
          </a:xfrm>
          <a:prstGeom prst="rect">
            <a:avLst/>
          </a:prstGeom>
          <a:noFill/>
          <a:ln w="9525" cap="flat" cmpd="sng">
            <a:solidFill>
              <a:schemeClr val="accent1"/>
            </a:solidFill>
            <a:prstDash val="solid"/>
            <a:round/>
            <a:headEnd type="none" w="sm" len="sm"/>
            <a:tailEnd type="none" w="sm" len="sm"/>
          </a:ln>
        </p:spPr>
      </p:pic>
      <p:pic>
        <p:nvPicPr>
          <p:cNvPr id="565" name="Google Shape;565;p41"/>
          <p:cNvPicPr preferRelativeResize="0"/>
          <p:nvPr/>
        </p:nvPicPr>
        <p:blipFill>
          <a:blip r:embed="rId4">
            <a:alphaModFix/>
          </a:blip>
          <a:stretch>
            <a:fillRect/>
          </a:stretch>
        </p:blipFill>
        <p:spPr>
          <a:xfrm>
            <a:off x="1056750" y="3053776"/>
            <a:ext cx="2305701" cy="1206224"/>
          </a:xfrm>
          <a:prstGeom prst="rect">
            <a:avLst/>
          </a:prstGeom>
          <a:noFill/>
          <a:ln w="9525" cap="flat" cmpd="sng">
            <a:solidFill>
              <a:schemeClr val="accent1"/>
            </a:solidFill>
            <a:prstDash val="solid"/>
            <a:round/>
            <a:headEnd type="none" w="sm" len="sm"/>
            <a:tailEnd type="none" w="sm" len="sm"/>
          </a:ln>
        </p:spPr>
      </p:pic>
      <p:pic>
        <p:nvPicPr>
          <p:cNvPr id="566" name="Google Shape;566;p41"/>
          <p:cNvPicPr preferRelativeResize="0"/>
          <p:nvPr/>
        </p:nvPicPr>
        <p:blipFill>
          <a:blip r:embed="rId5">
            <a:alphaModFix/>
          </a:blip>
          <a:stretch>
            <a:fillRect/>
          </a:stretch>
        </p:blipFill>
        <p:spPr>
          <a:xfrm>
            <a:off x="3362450" y="3053775"/>
            <a:ext cx="2699923" cy="1206225"/>
          </a:xfrm>
          <a:prstGeom prst="rect">
            <a:avLst/>
          </a:prstGeom>
          <a:noFill/>
          <a:ln w="9525" cap="flat" cmpd="sng">
            <a:solidFill>
              <a:schemeClr val="accent3"/>
            </a:solidFill>
            <a:prstDash val="solid"/>
            <a:round/>
            <a:headEnd type="none" w="sm" len="sm"/>
            <a:tailEnd type="none" w="sm" len="sm"/>
          </a:ln>
        </p:spPr>
      </p:pic>
      <p:pic>
        <p:nvPicPr>
          <p:cNvPr id="567" name="Google Shape;567;p41"/>
          <p:cNvPicPr preferRelativeResize="0"/>
          <p:nvPr/>
        </p:nvPicPr>
        <p:blipFill>
          <a:blip r:embed="rId6">
            <a:alphaModFix/>
          </a:blip>
          <a:stretch>
            <a:fillRect/>
          </a:stretch>
        </p:blipFill>
        <p:spPr>
          <a:xfrm>
            <a:off x="6367178" y="1632325"/>
            <a:ext cx="2083868" cy="2983339"/>
          </a:xfrm>
          <a:prstGeom prst="rect">
            <a:avLst/>
          </a:prstGeom>
          <a:noFill/>
          <a:ln w="9525" cap="flat" cmpd="sng">
            <a:solidFill>
              <a:schemeClr val="accent1"/>
            </a:solidFill>
            <a:prstDash val="solid"/>
            <a:round/>
            <a:headEnd type="none" w="sm" len="sm"/>
            <a:tailEnd type="none" w="sm" len="sm"/>
          </a:ln>
        </p:spPr>
      </p:pic>
      <p:sp>
        <p:nvSpPr>
          <p:cNvPr id="568" name="Google Shape;568;p41"/>
          <p:cNvSpPr txBox="1"/>
          <p:nvPr/>
        </p:nvSpPr>
        <p:spPr>
          <a:xfrm>
            <a:off x="4997475" y="30033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SOI=19.2%</a:t>
            </a:r>
            <a:endParaRPr sz="1000" b="1">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7.4 France </a:t>
            </a:r>
            <a:endParaRPr>
              <a:latin typeface="Times New Roman"/>
              <a:ea typeface="Times New Roman"/>
              <a:cs typeface="Times New Roman"/>
              <a:sym typeface="Times New Roman"/>
            </a:endParaRPr>
          </a:p>
        </p:txBody>
      </p:sp>
      <p:sp>
        <p:nvSpPr>
          <p:cNvPr id="574" name="Google Shape;574;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42</a:t>
            </a:fld>
            <a:endParaRPr/>
          </a:p>
        </p:txBody>
      </p:sp>
      <p:sp>
        <p:nvSpPr>
          <p:cNvPr id="575" name="Google Shape;575;p4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76" name="Google Shape;576;p4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77" name="Google Shape;577;p42"/>
          <p:cNvPicPr preferRelativeResize="0"/>
          <p:nvPr/>
        </p:nvPicPr>
        <p:blipFill>
          <a:blip r:embed="rId3">
            <a:alphaModFix/>
          </a:blip>
          <a:stretch>
            <a:fillRect/>
          </a:stretch>
        </p:blipFill>
        <p:spPr>
          <a:xfrm>
            <a:off x="5732077" y="1632313"/>
            <a:ext cx="2275694" cy="3206387"/>
          </a:xfrm>
          <a:prstGeom prst="rect">
            <a:avLst/>
          </a:prstGeom>
          <a:noFill/>
          <a:ln w="9525" cap="flat" cmpd="sng">
            <a:solidFill>
              <a:schemeClr val="accent1"/>
            </a:solidFill>
            <a:prstDash val="solid"/>
            <a:round/>
            <a:headEnd type="none" w="sm" len="sm"/>
            <a:tailEnd type="none" w="sm" len="sm"/>
          </a:ln>
        </p:spPr>
      </p:pic>
      <p:pic>
        <p:nvPicPr>
          <p:cNvPr id="578" name="Google Shape;578;p42"/>
          <p:cNvPicPr preferRelativeResize="0"/>
          <p:nvPr/>
        </p:nvPicPr>
        <p:blipFill>
          <a:blip r:embed="rId4">
            <a:alphaModFix/>
          </a:blip>
          <a:stretch>
            <a:fillRect/>
          </a:stretch>
        </p:blipFill>
        <p:spPr>
          <a:xfrm>
            <a:off x="1116201" y="1632323"/>
            <a:ext cx="4172601" cy="1266878"/>
          </a:xfrm>
          <a:prstGeom prst="rect">
            <a:avLst/>
          </a:prstGeom>
          <a:noFill/>
          <a:ln w="9525" cap="flat" cmpd="sng">
            <a:solidFill>
              <a:schemeClr val="accent1"/>
            </a:solidFill>
            <a:prstDash val="solid"/>
            <a:round/>
            <a:headEnd type="none" w="sm" len="sm"/>
            <a:tailEnd type="none" w="sm" len="sm"/>
          </a:ln>
        </p:spPr>
      </p:pic>
      <p:pic>
        <p:nvPicPr>
          <p:cNvPr id="579" name="Google Shape;579;p42"/>
          <p:cNvPicPr preferRelativeResize="0"/>
          <p:nvPr/>
        </p:nvPicPr>
        <p:blipFill>
          <a:blip r:embed="rId5">
            <a:alphaModFix/>
          </a:blip>
          <a:stretch>
            <a:fillRect/>
          </a:stretch>
        </p:blipFill>
        <p:spPr>
          <a:xfrm>
            <a:off x="1116200" y="2899200"/>
            <a:ext cx="4172600" cy="19395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4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7.4 France</a:t>
            </a:r>
            <a:endParaRPr>
              <a:latin typeface="Times New Roman"/>
              <a:ea typeface="Times New Roman"/>
              <a:cs typeface="Times New Roman"/>
              <a:sym typeface="Times New Roman"/>
            </a:endParaRPr>
          </a:p>
        </p:txBody>
      </p:sp>
      <p:sp>
        <p:nvSpPr>
          <p:cNvPr id="585" name="Google Shape;585;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43</a:t>
            </a:fld>
            <a:endParaRPr/>
          </a:p>
        </p:txBody>
      </p:sp>
      <p:sp>
        <p:nvSpPr>
          <p:cNvPr id="586" name="Google Shape;586;p4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87" name="Google Shape;587;p43"/>
          <p:cNvPicPr preferRelativeResize="0"/>
          <p:nvPr/>
        </p:nvPicPr>
        <p:blipFill>
          <a:blip r:embed="rId3">
            <a:alphaModFix/>
          </a:blip>
          <a:stretch>
            <a:fillRect/>
          </a:stretch>
        </p:blipFill>
        <p:spPr>
          <a:xfrm>
            <a:off x="5975451" y="2371289"/>
            <a:ext cx="2860374" cy="685048"/>
          </a:xfrm>
          <a:prstGeom prst="rect">
            <a:avLst/>
          </a:prstGeom>
          <a:noFill/>
          <a:ln w="9525" cap="flat" cmpd="sng">
            <a:solidFill>
              <a:schemeClr val="accent1"/>
            </a:solidFill>
            <a:prstDash val="solid"/>
            <a:round/>
            <a:headEnd type="none" w="sm" len="sm"/>
            <a:tailEnd type="none" w="sm" len="sm"/>
          </a:ln>
        </p:spPr>
      </p:pic>
      <p:pic>
        <p:nvPicPr>
          <p:cNvPr id="588" name="Google Shape;588;p43"/>
          <p:cNvPicPr preferRelativeResize="0"/>
          <p:nvPr/>
        </p:nvPicPr>
        <p:blipFill>
          <a:blip r:embed="rId4">
            <a:alphaModFix/>
          </a:blip>
          <a:stretch>
            <a:fillRect/>
          </a:stretch>
        </p:blipFill>
        <p:spPr>
          <a:xfrm>
            <a:off x="5987420" y="3366250"/>
            <a:ext cx="2860375" cy="756375"/>
          </a:xfrm>
          <a:prstGeom prst="rect">
            <a:avLst/>
          </a:prstGeom>
          <a:noFill/>
          <a:ln w="9525" cap="flat" cmpd="sng">
            <a:solidFill>
              <a:schemeClr val="accent1"/>
            </a:solidFill>
            <a:prstDash val="solid"/>
            <a:round/>
            <a:headEnd type="none" w="sm" len="sm"/>
            <a:tailEnd type="none" w="sm" len="sm"/>
          </a:ln>
        </p:spPr>
      </p:pic>
      <p:pic>
        <p:nvPicPr>
          <p:cNvPr id="589" name="Google Shape;589;p43"/>
          <p:cNvPicPr preferRelativeResize="0"/>
          <p:nvPr/>
        </p:nvPicPr>
        <p:blipFill>
          <a:blip r:embed="rId5">
            <a:alphaModFix/>
          </a:blip>
          <a:stretch>
            <a:fillRect/>
          </a:stretch>
        </p:blipFill>
        <p:spPr>
          <a:xfrm>
            <a:off x="5987425" y="4226177"/>
            <a:ext cx="2860375" cy="586998"/>
          </a:xfrm>
          <a:prstGeom prst="rect">
            <a:avLst/>
          </a:prstGeom>
          <a:noFill/>
          <a:ln w="9525" cap="flat" cmpd="sng">
            <a:solidFill>
              <a:schemeClr val="accent1"/>
            </a:solidFill>
            <a:prstDash val="solid"/>
            <a:round/>
            <a:headEnd type="none" w="sm" len="sm"/>
            <a:tailEnd type="none" w="sm" len="sm"/>
          </a:ln>
        </p:spPr>
      </p:pic>
      <p:pic>
        <p:nvPicPr>
          <p:cNvPr id="590" name="Google Shape;590;p43"/>
          <p:cNvPicPr preferRelativeResize="0"/>
          <p:nvPr/>
        </p:nvPicPr>
        <p:blipFill>
          <a:blip r:embed="rId6">
            <a:alphaModFix/>
          </a:blip>
          <a:stretch>
            <a:fillRect/>
          </a:stretch>
        </p:blipFill>
        <p:spPr>
          <a:xfrm>
            <a:off x="5963484" y="1624175"/>
            <a:ext cx="2884315" cy="685025"/>
          </a:xfrm>
          <a:prstGeom prst="rect">
            <a:avLst/>
          </a:prstGeom>
          <a:noFill/>
          <a:ln w="9525" cap="flat" cmpd="sng">
            <a:solidFill>
              <a:schemeClr val="accent1"/>
            </a:solidFill>
            <a:prstDash val="solid"/>
            <a:round/>
            <a:headEnd type="none" w="sm" len="sm"/>
            <a:tailEnd type="none" w="sm" len="sm"/>
          </a:ln>
        </p:spPr>
      </p:pic>
      <p:pic>
        <p:nvPicPr>
          <p:cNvPr id="591" name="Google Shape;591;p43"/>
          <p:cNvPicPr preferRelativeResize="0"/>
          <p:nvPr/>
        </p:nvPicPr>
        <p:blipFill>
          <a:blip r:embed="rId7">
            <a:alphaModFix/>
          </a:blip>
          <a:stretch>
            <a:fillRect/>
          </a:stretch>
        </p:blipFill>
        <p:spPr>
          <a:xfrm>
            <a:off x="1162375" y="1575425"/>
            <a:ext cx="4405599" cy="1757276"/>
          </a:xfrm>
          <a:prstGeom prst="rect">
            <a:avLst/>
          </a:prstGeom>
          <a:noFill/>
          <a:ln w="9525" cap="flat" cmpd="sng">
            <a:solidFill>
              <a:schemeClr val="accent1"/>
            </a:solidFill>
            <a:prstDash val="solid"/>
            <a:round/>
            <a:headEnd type="none" w="sm" len="sm"/>
            <a:tailEnd type="none" w="sm" len="sm"/>
          </a:ln>
        </p:spPr>
      </p:pic>
      <p:pic>
        <p:nvPicPr>
          <p:cNvPr id="592" name="Google Shape;592;p43"/>
          <p:cNvPicPr preferRelativeResize="0"/>
          <p:nvPr/>
        </p:nvPicPr>
        <p:blipFill>
          <a:blip r:embed="rId8">
            <a:alphaModFix/>
          </a:blip>
          <a:stretch>
            <a:fillRect/>
          </a:stretch>
        </p:blipFill>
        <p:spPr>
          <a:xfrm>
            <a:off x="1162375" y="3332690"/>
            <a:ext cx="4405601" cy="1522986"/>
          </a:xfrm>
          <a:prstGeom prst="rect">
            <a:avLst/>
          </a:prstGeom>
          <a:noFill/>
          <a:ln w="9525" cap="flat" cmpd="sng">
            <a:solidFill>
              <a:schemeClr val="accent1"/>
            </a:solidFill>
            <a:prstDash val="solid"/>
            <a:round/>
            <a:headEnd type="none" w="sm" len="sm"/>
            <a:tailEnd type="none" w="sm" len="sm"/>
          </a:ln>
        </p:spPr>
      </p:pic>
      <p:sp>
        <p:nvSpPr>
          <p:cNvPr id="593" name="Google Shape;593;p43"/>
          <p:cNvSpPr txBox="1"/>
          <p:nvPr/>
        </p:nvSpPr>
        <p:spPr>
          <a:xfrm>
            <a:off x="4436050" y="33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SOI=14.2%</a:t>
            </a:r>
            <a:endParaRPr sz="1000" b="1">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7.5 Germany </a:t>
            </a:r>
            <a:endParaRPr>
              <a:latin typeface="Times New Roman"/>
              <a:ea typeface="Times New Roman"/>
              <a:cs typeface="Times New Roman"/>
              <a:sym typeface="Times New Roman"/>
            </a:endParaRPr>
          </a:p>
        </p:txBody>
      </p:sp>
      <p:sp>
        <p:nvSpPr>
          <p:cNvPr id="599" name="Google Shape;599;p4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44</a:t>
            </a:fld>
            <a:endParaRPr/>
          </a:p>
        </p:txBody>
      </p:sp>
      <p:sp>
        <p:nvSpPr>
          <p:cNvPr id="600" name="Google Shape;600;p4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01" name="Google Shape;601;p4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02" name="Google Shape;602;p44"/>
          <p:cNvPicPr preferRelativeResize="0"/>
          <p:nvPr/>
        </p:nvPicPr>
        <p:blipFill>
          <a:blip r:embed="rId3">
            <a:alphaModFix/>
          </a:blip>
          <a:stretch>
            <a:fillRect/>
          </a:stretch>
        </p:blipFill>
        <p:spPr>
          <a:xfrm>
            <a:off x="1080500" y="1614275"/>
            <a:ext cx="4208302" cy="1284926"/>
          </a:xfrm>
          <a:prstGeom prst="rect">
            <a:avLst/>
          </a:prstGeom>
          <a:noFill/>
          <a:ln w="9525" cap="flat" cmpd="sng">
            <a:solidFill>
              <a:schemeClr val="accent1"/>
            </a:solidFill>
            <a:prstDash val="solid"/>
            <a:round/>
            <a:headEnd type="none" w="sm" len="sm"/>
            <a:tailEnd type="none" w="sm" len="sm"/>
          </a:ln>
        </p:spPr>
      </p:pic>
      <p:pic>
        <p:nvPicPr>
          <p:cNvPr id="603" name="Google Shape;603;p44"/>
          <p:cNvPicPr preferRelativeResize="0"/>
          <p:nvPr/>
        </p:nvPicPr>
        <p:blipFill>
          <a:blip r:embed="rId4">
            <a:alphaModFix/>
          </a:blip>
          <a:stretch>
            <a:fillRect/>
          </a:stretch>
        </p:blipFill>
        <p:spPr>
          <a:xfrm>
            <a:off x="1080500" y="2899200"/>
            <a:ext cx="4208300" cy="2108350"/>
          </a:xfrm>
          <a:prstGeom prst="rect">
            <a:avLst/>
          </a:prstGeom>
          <a:noFill/>
          <a:ln w="9525" cap="flat" cmpd="sng">
            <a:solidFill>
              <a:schemeClr val="accent1"/>
            </a:solidFill>
            <a:prstDash val="solid"/>
            <a:round/>
            <a:headEnd type="none" w="sm" len="sm"/>
            <a:tailEnd type="none" w="sm" len="sm"/>
          </a:ln>
        </p:spPr>
      </p:pic>
      <p:pic>
        <p:nvPicPr>
          <p:cNvPr id="604" name="Google Shape;604;p44"/>
          <p:cNvPicPr preferRelativeResize="0"/>
          <p:nvPr/>
        </p:nvPicPr>
        <p:blipFill>
          <a:blip r:embed="rId5">
            <a:alphaModFix/>
          </a:blip>
          <a:stretch>
            <a:fillRect/>
          </a:stretch>
        </p:blipFill>
        <p:spPr>
          <a:xfrm>
            <a:off x="5723925" y="1632326"/>
            <a:ext cx="2631462" cy="329086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7.5 Germany</a:t>
            </a:r>
            <a:endParaRPr>
              <a:latin typeface="Times New Roman"/>
              <a:ea typeface="Times New Roman"/>
              <a:cs typeface="Times New Roman"/>
              <a:sym typeface="Times New Roman"/>
            </a:endParaRPr>
          </a:p>
        </p:txBody>
      </p:sp>
      <p:sp>
        <p:nvSpPr>
          <p:cNvPr id="610" name="Google Shape;610;p4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45</a:t>
            </a:fld>
            <a:endParaRPr/>
          </a:p>
        </p:txBody>
      </p:sp>
      <p:sp>
        <p:nvSpPr>
          <p:cNvPr id="611" name="Google Shape;611;p4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12" name="Google Shape;612;p45"/>
          <p:cNvPicPr preferRelativeResize="0"/>
          <p:nvPr/>
        </p:nvPicPr>
        <p:blipFill>
          <a:blip r:embed="rId3">
            <a:alphaModFix/>
          </a:blip>
          <a:stretch>
            <a:fillRect/>
          </a:stretch>
        </p:blipFill>
        <p:spPr>
          <a:xfrm>
            <a:off x="1162375" y="3263974"/>
            <a:ext cx="4405601" cy="1529527"/>
          </a:xfrm>
          <a:prstGeom prst="rect">
            <a:avLst/>
          </a:prstGeom>
          <a:noFill/>
          <a:ln w="9525" cap="flat" cmpd="sng">
            <a:solidFill>
              <a:schemeClr val="accent1"/>
            </a:solidFill>
            <a:prstDash val="solid"/>
            <a:round/>
            <a:headEnd type="none" w="sm" len="sm"/>
            <a:tailEnd type="none" w="sm" len="sm"/>
          </a:ln>
        </p:spPr>
      </p:pic>
      <p:sp>
        <p:nvSpPr>
          <p:cNvPr id="613" name="Google Shape;613;p45"/>
          <p:cNvSpPr txBox="1"/>
          <p:nvPr/>
        </p:nvSpPr>
        <p:spPr>
          <a:xfrm>
            <a:off x="4083150" y="3316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SOI=19.4%</a:t>
            </a:r>
            <a:endParaRPr sz="1000" b="1">
              <a:latin typeface="Times New Roman"/>
              <a:ea typeface="Times New Roman"/>
              <a:cs typeface="Times New Roman"/>
              <a:sym typeface="Times New Roman"/>
            </a:endParaRPr>
          </a:p>
        </p:txBody>
      </p:sp>
      <p:pic>
        <p:nvPicPr>
          <p:cNvPr id="614" name="Google Shape;614;p45"/>
          <p:cNvPicPr preferRelativeResize="0"/>
          <p:nvPr/>
        </p:nvPicPr>
        <p:blipFill>
          <a:blip r:embed="rId4">
            <a:alphaModFix/>
          </a:blip>
          <a:stretch>
            <a:fillRect/>
          </a:stretch>
        </p:blipFill>
        <p:spPr>
          <a:xfrm>
            <a:off x="5987425" y="1500190"/>
            <a:ext cx="2860375" cy="713585"/>
          </a:xfrm>
          <a:prstGeom prst="rect">
            <a:avLst/>
          </a:prstGeom>
          <a:noFill/>
          <a:ln w="9525" cap="flat" cmpd="sng">
            <a:solidFill>
              <a:schemeClr val="accent1"/>
            </a:solidFill>
            <a:prstDash val="solid"/>
            <a:round/>
            <a:headEnd type="none" w="sm" len="sm"/>
            <a:tailEnd type="none" w="sm" len="sm"/>
          </a:ln>
        </p:spPr>
      </p:pic>
      <p:pic>
        <p:nvPicPr>
          <p:cNvPr id="615" name="Google Shape;615;p45"/>
          <p:cNvPicPr preferRelativeResize="0"/>
          <p:nvPr/>
        </p:nvPicPr>
        <p:blipFill>
          <a:blip r:embed="rId5">
            <a:alphaModFix/>
          </a:blip>
          <a:stretch>
            <a:fillRect/>
          </a:stretch>
        </p:blipFill>
        <p:spPr>
          <a:xfrm>
            <a:off x="5987425" y="2294333"/>
            <a:ext cx="2860375" cy="689392"/>
          </a:xfrm>
          <a:prstGeom prst="rect">
            <a:avLst/>
          </a:prstGeom>
          <a:noFill/>
          <a:ln w="9525" cap="flat" cmpd="sng">
            <a:solidFill>
              <a:schemeClr val="accent1"/>
            </a:solidFill>
            <a:prstDash val="solid"/>
            <a:round/>
            <a:headEnd type="none" w="sm" len="sm"/>
            <a:tailEnd type="none" w="sm" len="sm"/>
          </a:ln>
        </p:spPr>
      </p:pic>
      <p:pic>
        <p:nvPicPr>
          <p:cNvPr id="616" name="Google Shape;616;p45"/>
          <p:cNvPicPr preferRelativeResize="0"/>
          <p:nvPr/>
        </p:nvPicPr>
        <p:blipFill>
          <a:blip r:embed="rId6">
            <a:alphaModFix/>
          </a:blip>
          <a:stretch>
            <a:fillRect/>
          </a:stretch>
        </p:blipFill>
        <p:spPr>
          <a:xfrm>
            <a:off x="5969125" y="3332712"/>
            <a:ext cx="2896987" cy="713575"/>
          </a:xfrm>
          <a:prstGeom prst="rect">
            <a:avLst/>
          </a:prstGeom>
          <a:noFill/>
          <a:ln w="9525" cap="flat" cmpd="sng">
            <a:solidFill>
              <a:schemeClr val="accent1"/>
            </a:solidFill>
            <a:prstDash val="solid"/>
            <a:round/>
            <a:headEnd type="none" w="sm" len="sm"/>
            <a:tailEnd type="none" w="sm" len="sm"/>
          </a:ln>
        </p:spPr>
      </p:pic>
      <p:pic>
        <p:nvPicPr>
          <p:cNvPr id="617" name="Google Shape;617;p45"/>
          <p:cNvPicPr preferRelativeResize="0"/>
          <p:nvPr/>
        </p:nvPicPr>
        <p:blipFill>
          <a:blip r:embed="rId7">
            <a:alphaModFix/>
          </a:blip>
          <a:stretch>
            <a:fillRect/>
          </a:stretch>
        </p:blipFill>
        <p:spPr>
          <a:xfrm>
            <a:off x="1162375" y="1512566"/>
            <a:ext cx="4405599" cy="1751411"/>
          </a:xfrm>
          <a:prstGeom prst="rect">
            <a:avLst/>
          </a:prstGeom>
          <a:noFill/>
          <a:ln w="9525" cap="flat" cmpd="sng">
            <a:solidFill>
              <a:schemeClr val="accent1"/>
            </a:solidFill>
            <a:prstDash val="solid"/>
            <a:round/>
            <a:headEnd type="none" w="sm" len="sm"/>
            <a:tailEnd type="none" w="sm" len="sm"/>
          </a:ln>
        </p:spPr>
      </p:pic>
      <p:pic>
        <p:nvPicPr>
          <p:cNvPr id="618" name="Google Shape;618;p45"/>
          <p:cNvPicPr preferRelativeResize="0"/>
          <p:nvPr/>
        </p:nvPicPr>
        <p:blipFill>
          <a:blip r:embed="rId8">
            <a:alphaModFix/>
          </a:blip>
          <a:stretch>
            <a:fillRect/>
          </a:stretch>
        </p:blipFill>
        <p:spPr>
          <a:xfrm>
            <a:off x="5950825" y="4100002"/>
            <a:ext cx="2896975" cy="560498"/>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4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7.6 Japan </a:t>
            </a:r>
            <a:endParaRPr>
              <a:latin typeface="Times New Roman"/>
              <a:ea typeface="Times New Roman"/>
              <a:cs typeface="Times New Roman"/>
              <a:sym typeface="Times New Roman"/>
            </a:endParaRPr>
          </a:p>
        </p:txBody>
      </p:sp>
      <p:sp>
        <p:nvSpPr>
          <p:cNvPr id="624" name="Google Shape;624;p4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46</a:t>
            </a:fld>
            <a:endParaRPr/>
          </a:p>
        </p:txBody>
      </p:sp>
      <p:sp>
        <p:nvSpPr>
          <p:cNvPr id="625" name="Google Shape;625;p46"/>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26" name="Google Shape;626;p4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27" name="Google Shape;627;p46"/>
          <p:cNvPicPr preferRelativeResize="0"/>
          <p:nvPr/>
        </p:nvPicPr>
        <p:blipFill>
          <a:blip r:embed="rId3">
            <a:alphaModFix/>
          </a:blip>
          <a:stretch>
            <a:fillRect/>
          </a:stretch>
        </p:blipFill>
        <p:spPr>
          <a:xfrm>
            <a:off x="1080497" y="1632328"/>
            <a:ext cx="4208302" cy="1277723"/>
          </a:xfrm>
          <a:prstGeom prst="rect">
            <a:avLst/>
          </a:prstGeom>
          <a:noFill/>
          <a:ln w="9525" cap="flat" cmpd="sng">
            <a:solidFill>
              <a:schemeClr val="accent1"/>
            </a:solidFill>
            <a:prstDash val="solid"/>
            <a:round/>
            <a:headEnd type="none" w="sm" len="sm"/>
            <a:tailEnd type="none" w="sm" len="sm"/>
          </a:ln>
        </p:spPr>
      </p:pic>
      <p:pic>
        <p:nvPicPr>
          <p:cNvPr id="628" name="Google Shape;628;p46"/>
          <p:cNvPicPr preferRelativeResize="0"/>
          <p:nvPr/>
        </p:nvPicPr>
        <p:blipFill>
          <a:blip r:embed="rId4">
            <a:alphaModFix/>
          </a:blip>
          <a:stretch>
            <a:fillRect/>
          </a:stretch>
        </p:blipFill>
        <p:spPr>
          <a:xfrm>
            <a:off x="1080500" y="2864772"/>
            <a:ext cx="4208301" cy="2157352"/>
          </a:xfrm>
          <a:prstGeom prst="rect">
            <a:avLst/>
          </a:prstGeom>
          <a:noFill/>
          <a:ln w="9525" cap="flat" cmpd="sng">
            <a:solidFill>
              <a:schemeClr val="accent1"/>
            </a:solidFill>
            <a:prstDash val="solid"/>
            <a:round/>
            <a:headEnd type="none" w="sm" len="sm"/>
            <a:tailEnd type="none" w="sm" len="sm"/>
          </a:ln>
        </p:spPr>
      </p:pic>
      <p:pic>
        <p:nvPicPr>
          <p:cNvPr id="629" name="Google Shape;629;p46"/>
          <p:cNvPicPr preferRelativeResize="0"/>
          <p:nvPr/>
        </p:nvPicPr>
        <p:blipFill>
          <a:blip r:embed="rId5">
            <a:alphaModFix/>
          </a:blip>
          <a:stretch>
            <a:fillRect/>
          </a:stretch>
        </p:blipFill>
        <p:spPr>
          <a:xfrm>
            <a:off x="5821100" y="1632325"/>
            <a:ext cx="2383450" cy="331445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47"/>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7.6 Japan</a:t>
            </a:r>
            <a:endParaRPr>
              <a:latin typeface="Times New Roman"/>
              <a:ea typeface="Times New Roman"/>
              <a:cs typeface="Times New Roman"/>
              <a:sym typeface="Times New Roman"/>
            </a:endParaRPr>
          </a:p>
        </p:txBody>
      </p:sp>
      <p:sp>
        <p:nvSpPr>
          <p:cNvPr id="635" name="Google Shape;635;p4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47</a:t>
            </a:fld>
            <a:endParaRPr/>
          </a:p>
        </p:txBody>
      </p:sp>
      <p:sp>
        <p:nvSpPr>
          <p:cNvPr id="636" name="Google Shape;636;p47"/>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37" name="Google Shape;637;p47"/>
          <p:cNvPicPr preferRelativeResize="0"/>
          <p:nvPr/>
        </p:nvPicPr>
        <p:blipFill>
          <a:blip r:embed="rId3">
            <a:alphaModFix/>
          </a:blip>
          <a:stretch>
            <a:fillRect/>
          </a:stretch>
        </p:blipFill>
        <p:spPr>
          <a:xfrm>
            <a:off x="1162375" y="3263972"/>
            <a:ext cx="4405601" cy="1549129"/>
          </a:xfrm>
          <a:prstGeom prst="rect">
            <a:avLst/>
          </a:prstGeom>
          <a:noFill/>
          <a:ln w="9525" cap="flat" cmpd="sng">
            <a:solidFill>
              <a:schemeClr val="accent1"/>
            </a:solidFill>
            <a:prstDash val="solid"/>
            <a:round/>
            <a:headEnd type="none" w="sm" len="sm"/>
            <a:tailEnd type="none" w="sm" len="sm"/>
          </a:ln>
        </p:spPr>
      </p:pic>
      <p:sp>
        <p:nvSpPr>
          <p:cNvPr id="638" name="Google Shape;638;p47"/>
          <p:cNvSpPr txBox="1"/>
          <p:nvPr/>
        </p:nvSpPr>
        <p:spPr>
          <a:xfrm>
            <a:off x="4326375" y="32639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SOI=58.3%</a:t>
            </a:r>
            <a:endParaRPr sz="1000" b="1">
              <a:latin typeface="Times New Roman"/>
              <a:ea typeface="Times New Roman"/>
              <a:cs typeface="Times New Roman"/>
              <a:sym typeface="Times New Roman"/>
            </a:endParaRPr>
          </a:p>
        </p:txBody>
      </p:sp>
      <p:pic>
        <p:nvPicPr>
          <p:cNvPr id="639" name="Google Shape;639;p47"/>
          <p:cNvPicPr preferRelativeResize="0"/>
          <p:nvPr/>
        </p:nvPicPr>
        <p:blipFill>
          <a:blip r:embed="rId4">
            <a:alphaModFix/>
          </a:blip>
          <a:stretch>
            <a:fillRect/>
          </a:stretch>
        </p:blipFill>
        <p:spPr>
          <a:xfrm>
            <a:off x="5751500" y="2089692"/>
            <a:ext cx="3173725" cy="764958"/>
          </a:xfrm>
          <a:prstGeom prst="rect">
            <a:avLst/>
          </a:prstGeom>
          <a:noFill/>
          <a:ln w="9525" cap="flat" cmpd="sng">
            <a:solidFill>
              <a:schemeClr val="accent1"/>
            </a:solidFill>
            <a:prstDash val="solid"/>
            <a:round/>
            <a:headEnd type="none" w="sm" len="sm"/>
            <a:tailEnd type="none" w="sm" len="sm"/>
          </a:ln>
        </p:spPr>
      </p:pic>
      <p:pic>
        <p:nvPicPr>
          <p:cNvPr id="640" name="Google Shape;640;p47"/>
          <p:cNvPicPr preferRelativeResize="0"/>
          <p:nvPr/>
        </p:nvPicPr>
        <p:blipFill>
          <a:blip r:embed="rId5">
            <a:alphaModFix/>
          </a:blip>
          <a:stretch>
            <a:fillRect/>
          </a:stretch>
        </p:blipFill>
        <p:spPr>
          <a:xfrm>
            <a:off x="5751499" y="3263975"/>
            <a:ext cx="3173725" cy="791750"/>
          </a:xfrm>
          <a:prstGeom prst="rect">
            <a:avLst/>
          </a:prstGeom>
          <a:noFill/>
          <a:ln w="9525" cap="flat" cmpd="sng">
            <a:solidFill>
              <a:schemeClr val="accent1"/>
            </a:solidFill>
            <a:prstDash val="solid"/>
            <a:round/>
            <a:headEnd type="none" w="sm" len="sm"/>
            <a:tailEnd type="none" w="sm" len="sm"/>
          </a:ln>
        </p:spPr>
      </p:pic>
      <p:pic>
        <p:nvPicPr>
          <p:cNvPr id="641" name="Google Shape;641;p47"/>
          <p:cNvPicPr preferRelativeResize="0"/>
          <p:nvPr/>
        </p:nvPicPr>
        <p:blipFill>
          <a:blip r:embed="rId6">
            <a:alphaModFix/>
          </a:blip>
          <a:stretch>
            <a:fillRect/>
          </a:stretch>
        </p:blipFill>
        <p:spPr>
          <a:xfrm>
            <a:off x="1162375" y="1507541"/>
            <a:ext cx="4405601" cy="175642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4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7.7 Malaysia </a:t>
            </a:r>
            <a:endParaRPr>
              <a:latin typeface="Times New Roman"/>
              <a:ea typeface="Times New Roman"/>
              <a:cs typeface="Times New Roman"/>
              <a:sym typeface="Times New Roman"/>
            </a:endParaRPr>
          </a:p>
        </p:txBody>
      </p:sp>
      <p:sp>
        <p:nvSpPr>
          <p:cNvPr id="647" name="Google Shape;647;p4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48</a:t>
            </a:fld>
            <a:endParaRPr/>
          </a:p>
        </p:txBody>
      </p:sp>
      <p:sp>
        <p:nvSpPr>
          <p:cNvPr id="648" name="Google Shape;648;p4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49" name="Google Shape;649;p4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50" name="Google Shape;650;p48"/>
          <p:cNvPicPr preferRelativeResize="0"/>
          <p:nvPr/>
        </p:nvPicPr>
        <p:blipFill>
          <a:blip r:embed="rId3">
            <a:alphaModFix/>
          </a:blip>
          <a:stretch>
            <a:fillRect/>
          </a:stretch>
        </p:blipFill>
        <p:spPr>
          <a:xfrm>
            <a:off x="1080500" y="1632333"/>
            <a:ext cx="4208303" cy="1229216"/>
          </a:xfrm>
          <a:prstGeom prst="rect">
            <a:avLst/>
          </a:prstGeom>
          <a:noFill/>
          <a:ln w="9525" cap="flat" cmpd="sng">
            <a:solidFill>
              <a:schemeClr val="accent1"/>
            </a:solidFill>
            <a:prstDash val="solid"/>
            <a:round/>
            <a:headEnd type="none" w="sm" len="sm"/>
            <a:tailEnd type="none" w="sm" len="sm"/>
          </a:ln>
        </p:spPr>
      </p:pic>
      <p:pic>
        <p:nvPicPr>
          <p:cNvPr id="651" name="Google Shape;651;p48"/>
          <p:cNvPicPr preferRelativeResize="0"/>
          <p:nvPr/>
        </p:nvPicPr>
        <p:blipFill>
          <a:blip r:embed="rId4">
            <a:alphaModFix/>
          </a:blip>
          <a:stretch>
            <a:fillRect/>
          </a:stretch>
        </p:blipFill>
        <p:spPr>
          <a:xfrm>
            <a:off x="1080500" y="2861550"/>
            <a:ext cx="4208300" cy="2260744"/>
          </a:xfrm>
          <a:prstGeom prst="rect">
            <a:avLst/>
          </a:prstGeom>
          <a:noFill/>
          <a:ln w="9525" cap="flat" cmpd="sng">
            <a:solidFill>
              <a:schemeClr val="accent1"/>
            </a:solidFill>
            <a:prstDash val="solid"/>
            <a:round/>
            <a:headEnd type="none" w="sm" len="sm"/>
            <a:tailEnd type="none" w="sm" len="sm"/>
          </a:ln>
        </p:spPr>
      </p:pic>
      <p:pic>
        <p:nvPicPr>
          <p:cNvPr id="652" name="Google Shape;652;p48"/>
          <p:cNvPicPr preferRelativeResize="0"/>
          <p:nvPr/>
        </p:nvPicPr>
        <p:blipFill>
          <a:blip r:embed="rId5">
            <a:alphaModFix/>
          </a:blip>
          <a:stretch>
            <a:fillRect/>
          </a:stretch>
        </p:blipFill>
        <p:spPr>
          <a:xfrm>
            <a:off x="5876403" y="1632313"/>
            <a:ext cx="2305716"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4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7.7 Malaysia</a:t>
            </a:r>
            <a:endParaRPr>
              <a:latin typeface="Times New Roman"/>
              <a:ea typeface="Times New Roman"/>
              <a:cs typeface="Times New Roman"/>
              <a:sym typeface="Times New Roman"/>
            </a:endParaRPr>
          </a:p>
        </p:txBody>
      </p:sp>
      <p:sp>
        <p:nvSpPr>
          <p:cNvPr id="658" name="Google Shape;658;p4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49</a:t>
            </a:fld>
            <a:endParaRPr/>
          </a:p>
        </p:txBody>
      </p:sp>
      <p:sp>
        <p:nvSpPr>
          <p:cNvPr id="659" name="Google Shape;659;p4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60" name="Google Shape;660;p49"/>
          <p:cNvPicPr preferRelativeResize="0"/>
          <p:nvPr/>
        </p:nvPicPr>
        <p:blipFill>
          <a:blip r:embed="rId3">
            <a:alphaModFix/>
          </a:blip>
          <a:stretch>
            <a:fillRect/>
          </a:stretch>
        </p:blipFill>
        <p:spPr>
          <a:xfrm>
            <a:off x="1157950" y="3215059"/>
            <a:ext cx="4251376" cy="1461242"/>
          </a:xfrm>
          <a:prstGeom prst="rect">
            <a:avLst/>
          </a:prstGeom>
          <a:noFill/>
          <a:ln w="9525" cap="flat" cmpd="sng">
            <a:solidFill>
              <a:schemeClr val="accent1"/>
            </a:solidFill>
            <a:prstDash val="solid"/>
            <a:round/>
            <a:headEnd type="none" w="sm" len="sm"/>
            <a:tailEnd type="none" w="sm" len="sm"/>
          </a:ln>
        </p:spPr>
      </p:pic>
      <p:sp>
        <p:nvSpPr>
          <p:cNvPr id="661" name="Google Shape;661;p49"/>
          <p:cNvSpPr txBox="1"/>
          <p:nvPr/>
        </p:nvSpPr>
        <p:spPr>
          <a:xfrm>
            <a:off x="4431625" y="32305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SOI=10.2%</a:t>
            </a:r>
            <a:endParaRPr sz="1000" b="1">
              <a:latin typeface="Times New Roman"/>
              <a:ea typeface="Times New Roman"/>
              <a:cs typeface="Times New Roman"/>
              <a:sym typeface="Times New Roman"/>
            </a:endParaRPr>
          </a:p>
        </p:txBody>
      </p:sp>
      <p:pic>
        <p:nvPicPr>
          <p:cNvPr id="662" name="Google Shape;662;p49"/>
          <p:cNvPicPr preferRelativeResize="0"/>
          <p:nvPr/>
        </p:nvPicPr>
        <p:blipFill>
          <a:blip r:embed="rId4">
            <a:alphaModFix/>
          </a:blip>
          <a:stretch>
            <a:fillRect/>
          </a:stretch>
        </p:blipFill>
        <p:spPr>
          <a:xfrm>
            <a:off x="5969125" y="1558450"/>
            <a:ext cx="3030624" cy="479175"/>
          </a:xfrm>
          <a:prstGeom prst="rect">
            <a:avLst/>
          </a:prstGeom>
          <a:noFill/>
          <a:ln w="9525" cap="flat" cmpd="sng">
            <a:solidFill>
              <a:schemeClr val="accent1"/>
            </a:solidFill>
            <a:prstDash val="solid"/>
            <a:round/>
            <a:headEnd type="none" w="sm" len="sm"/>
            <a:tailEnd type="none" w="sm" len="sm"/>
          </a:ln>
        </p:spPr>
      </p:pic>
      <p:pic>
        <p:nvPicPr>
          <p:cNvPr id="663" name="Google Shape;663;p49"/>
          <p:cNvPicPr preferRelativeResize="0"/>
          <p:nvPr/>
        </p:nvPicPr>
        <p:blipFill>
          <a:blip r:embed="rId5">
            <a:alphaModFix/>
          </a:blip>
          <a:stretch>
            <a:fillRect/>
          </a:stretch>
        </p:blipFill>
        <p:spPr>
          <a:xfrm>
            <a:off x="5969125" y="2321593"/>
            <a:ext cx="3030624" cy="479182"/>
          </a:xfrm>
          <a:prstGeom prst="rect">
            <a:avLst/>
          </a:prstGeom>
          <a:noFill/>
          <a:ln w="9525" cap="flat" cmpd="sng">
            <a:solidFill>
              <a:schemeClr val="accent1"/>
            </a:solidFill>
            <a:prstDash val="solid"/>
            <a:round/>
            <a:headEnd type="none" w="sm" len="sm"/>
            <a:tailEnd type="none" w="sm" len="sm"/>
          </a:ln>
        </p:spPr>
      </p:pic>
      <p:pic>
        <p:nvPicPr>
          <p:cNvPr id="664" name="Google Shape;664;p49"/>
          <p:cNvPicPr preferRelativeResize="0"/>
          <p:nvPr/>
        </p:nvPicPr>
        <p:blipFill>
          <a:blip r:embed="rId6">
            <a:alphaModFix/>
          </a:blip>
          <a:stretch>
            <a:fillRect/>
          </a:stretch>
        </p:blipFill>
        <p:spPr>
          <a:xfrm>
            <a:off x="5969125" y="3147712"/>
            <a:ext cx="3030626" cy="479175"/>
          </a:xfrm>
          <a:prstGeom prst="rect">
            <a:avLst/>
          </a:prstGeom>
          <a:noFill/>
          <a:ln w="9525" cap="flat" cmpd="sng">
            <a:solidFill>
              <a:schemeClr val="accent1"/>
            </a:solidFill>
            <a:prstDash val="solid"/>
            <a:round/>
            <a:headEnd type="none" w="sm" len="sm"/>
            <a:tailEnd type="none" w="sm" len="sm"/>
          </a:ln>
        </p:spPr>
      </p:pic>
      <p:pic>
        <p:nvPicPr>
          <p:cNvPr id="665" name="Google Shape;665;p49"/>
          <p:cNvPicPr preferRelativeResize="0"/>
          <p:nvPr/>
        </p:nvPicPr>
        <p:blipFill>
          <a:blip r:embed="rId7">
            <a:alphaModFix/>
          </a:blip>
          <a:stretch>
            <a:fillRect/>
          </a:stretch>
        </p:blipFill>
        <p:spPr>
          <a:xfrm>
            <a:off x="1157950" y="1558457"/>
            <a:ext cx="4251376" cy="16565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7.8 Mexico </a:t>
            </a:r>
            <a:endParaRPr>
              <a:latin typeface="Times New Roman"/>
              <a:ea typeface="Times New Roman"/>
              <a:cs typeface="Times New Roman"/>
              <a:sym typeface="Times New Roman"/>
            </a:endParaRPr>
          </a:p>
        </p:txBody>
      </p:sp>
      <p:sp>
        <p:nvSpPr>
          <p:cNvPr id="671" name="Google Shape;671;p5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50</a:t>
            </a:fld>
            <a:endParaRPr/>
          </a:p>
        </p:txBody>
      </p:sp>
      <p:sp>
        <p:nvSpPr>
          <p:cNvPr id="672" name="Google Shape;672;p5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73" name="Google Shape;673;p5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74" name="Google Shape;674;p50"/>
          <p:cNvPicPr preferRelativeResize="0"/>
          <p:nvPr/>
        </p:nvPicPr>
        <p:blipFill>
          <a:blip r:embed="rId3">
            <a:alphaModFix/>
          </a:blip>
          <a:stretch>
            <a:fillRect/>
          </a:stretch>
        </p:blipFill>
        <p:spPr>
          <a:xfrm>
            <a:off x="1080503" y="1549866"/>
            <a:ext cx="4208300" cy="1275721"/>
          </a:xfrm>
          <a:prstGeom prst="rect">
            <a:avLst/>
          </a:prstGeom>
          <a:noFill/>
          <a:ln w="9525" cap="flat" cmpd="sng">
            <a:solidFill>
              <a:schemeClr val="accent1"/>
            </a:solidFill>
            <a:prstDash val="solid"/>
            <a:round/>
            <a:headEnd type="none" w="sm" len="sm"/>
            <a:tailEnd type="none" w="sm" len="sm"/>
          </a:ln>
        </p:spPr>
      </p:pic>
      <p:sp>
        <p:nvSpPr>
          <p:cNvPr id="675" name="Google Shape;675;p50"/>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76" name="Google Shape;676;p50"/>
          <p:cNvPicPr preferRelativeResize="0"/>
          <p:nvPr/>
        </p:nvPicPr>
        <p:blipFill>
          <a:blip r:embed="rId4">
            <a:alphaModFix/>
          </a:blip>
          <a:stretch>
            <a:fillRect/>
          </a:stretch>
        </p:blipFill>
        <p:spPr>
          <a:xfrm>
            <a:off x="1080500" y="2835407"/>
            <a:ext cx="4208299" cy="2177742"/>
          </a:xfrm>
          <a:prstGeom prst="rect">
            <a:avLst/>
          </a:prstGeom>
          <a:noFill/>
          <a:ln w="9525" cap="flat" cmpd="sng">
            <a:solidFill>
              <a:schemeClr val="accent1"/>
            </a:solidFill>
            <a:prstDash val="solid"/>
            <a:round/>
            <a:headEnd type="none" w="sm" len="sm"/>
            <a:tailEnd type="none" w="sm" len="sm"/>
          </a:ln>
        </p:spPr>
      </p:pic>
      <p:pic>
        <p:nvPicPr>
          <p:cNvPr id="677" name="Google Shape;677;p50"/>
          <p:cNvPicPr preferRelativeResize="0"/>
          <p:nvPr/>
        </p:nvPicPr>
        <p:blipFill>
          <a:blip r:embed="rId5">
            <a:alphaModFix/>
          </a:blip>
          <a:stretch>
            <a:fillRect/>
          </a:stretch>
        </p:blipFill>
        <p:spPr>
          <a:xfrm>
            <a:off x="5817553" y="1632313"/>
            <a:ext cx="2269690"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7.8 Mexico</a:t>
            </a:r>
            <a:endParaRPr>
              <a:latin typeface="Times New Roman"/>
              <a:ea typeface="Times New Roman"/>
              <a:cs typeface="Times New Roman"/>
              <a:sym typeface="Times New Roman"/>
            </a:endParaRPr>
          </a:p>
        </p:txBody>
      </p:sp>
      <p:sp>
        <p:nvSpPr>
          <p:cNvPr id="683" name="Google Shape;683;p5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51</a:t>
            </a:fld>
            <a:endParaRPr/>
          </a:p>
        </p:txBody>
      </p:sp>
      <p:sp>
        <p:nvSpPr>
          <p:cNvPr id="684" name="Google Shape;684;p5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85" name="Google Shape;685;p51"/>
          <p:cNvPicPr preferRelativeResize="0"/>
          <p:nvPr/>
        </p:nvPicPr>
        <p:blipFill>
          <a:blip r:embed="rId3">
            <a:alphaModFix/>
          </a:blip>
          <a:stretch>
            <a:fillRect/>
          </a:stretch>
        </p:blipFill>
        <p:spPr>
          <a:xfrm>
            <a:off x="1149119" y="3220850"/>
            <a:ext cx="4393307" cy="1514250"/>
          </a:xfrm>
          <a:prstGeom prst="rect">
            <a:avLst/>
          </a:prstGeom>
          <a:noFill/>
          <a:ln w="9525" cap="flat" cmpd="sng">
            <a:solidFill>
              <a:schemeClr val="accent1"/>
            </a:solidFill>
            <a:prstDash val="solid"/>
            <a:round/>
            <a:headEnd type="none" w="sm" len="sm"/>
            <a:tailEnd type="none" w="sm" len="sm"/>
          </a:ln>
        </p:spPr>
      </p:pic>
      <p:sp>
        <p:nvSpPr>
          <p:cNvPr id="686" name="Google Shape;686;p51"/>
          <p:cNvSpPr txBox="1"/>
          <p:nvPr/>
        </p:nvSpPr>
        <p:spPr>
          <a:xfrm>
            <a:off x="4405150" y="3180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SOI=68.3%</a:t>
            </a:r>
            <a:endParaRPr sz="1000" b="1">
              <a:latin typeface="Times New Roman"/>
              <a:ea typeface="Times New Roman"/>
              <a:cs typeface="Times New Roman"/>
              <a:sym typeface="Times New Roman"/>
            </a:endParaRPr>
          </a:p>
        </p:txBody>
      </p:sp>
      <p:pic>
        <p:nvPicPr>
          <p:cNvPr id="687" name="Google Shape;687;p51"/>
          <p:cNvPicPr preferRelativeResize="0"/>
          <p:nvPr/>
        </p:nvPicPr>
        <p:blipFill>
          <a:blip r:embed="rId4">
            <a:alphaModFix/>
          </a:blip>
          <a:stretch>
            <a:fillRect/>
          </a:stretch>
        </p:blipFill>
        <p:spPr>
          <a:xfrm>
            <a:off x="1149125" y="1572199"/>
            <a:ext cx="4393299" cy="1684814"/>
          </a:xfrm>
          <a:prstGeom prst="rect">
            <a:avLst/>
          </a:prstGeom>
          <a:noFill/>
          <a:ln w="9525" cap="flat" cmpd="sng">
            <a:solidFill>
              <a:schemeClr val="accent1"/>
            </a:solidFill>
            <a:prstDash val="solid"/>
            <a:round/>
            <a:headEnd type="none" w="sm" len="sm"/>
            <a:tailEnd type="none" w="sm" len="sm"/>
          </a:ln>
        </p:spPr>
      </p:pic>
      <p:pic>
        <p:nvPicPr>
          <p:cNvPr id="688" name="Google Shape;688;p51"/>
          <p:cNvPicPr preferRelativeResize="0"/>
          <p:nvPr/>
        </p:nvPicPr>
        <p:blipFill>
          <a:blip r:embed="rId5">
            <a:alphaModFix/>
          </a:blip>
          <a:stretch>
            <a:fillRect/>
          </a:stretch>
        </p:blipFill>
        <p:spPr>
          <a:xfrm>
            <a:off x="5969112" y="1572206"/>
            <a:ext cx="2896975" cy="485669"/>
          </a:xfrm>
          <a:prstGeom prst="rect">
            <a:avLst/>
          </a:prstGeom>
          <a:noFill/>
          <a:ln w="9525" cap="flat" cmpd="sng">
            <a:solidFill>
              <a:schemeClr val="accent1"/>
            </a:solidFill>
            <a:prstDash val="solid"/>
            <a:round/>
            <a:headEnd type="none" w="sm" len="sm"/>
            <a:tailEnd type="none" w="sm" len="sm"/>
          </a:ln>
        </p:spPr>
      </p:pic>
      <p:pic>
        <p:nvPicPr>
          <p:cNvPr id="689" name="Google Shape;689;p51"/>
          <p:cNvPicPr preferRelativeResize="0"/>
          <p:nvPr/>
        </p:nvPicPr>
        <p:blipFill>
          <a:blip r:embed="rId6">
            <a:alphaModFix/>
          </a:blip>
          <a:stretch>
            <a:fillRect/>
          </a:stretch>
        </p:blipFill>
        <p:spPr>
          <a:xfrm>
            <a:off x="5969104" y="2319825"/>
            <a:ext cx="2897009" cy="485675"/>
          </a:xfrm>
          <a:prstGeom prst="rect">
            <a:avLst/>
          </a:prstGeom>
          <a:noFill/>
          <a:ln w="9525" cap="flat" cmpd="sng">
            <a:solidFill>
              <a:schemeClr val="accent1"/>
            </a:solidFill>
            <a:prstDash val="solid"/>
            <a:round/>
            <a:headEnd type="none" w="sm" len="sm"/>
            <a:tailEnd type="none" w="sm" len="sm"/>
          </a:ln>
        </p:spPr>
      </p:pic>
      <p:pic>
        <p:nvPicPr>
          <p:cNvPr id="690" name="Google Shape;690;p51"/>
          <p:cNvPicPr preferRelativeResize="0"/>
          <p:nvPr/>
        </p:nvPicPr>
        <p:blipFill>
          <a:blip r:embed="rId7">
            <a:alphaModFix/>
          </a:blip>
          <a:stretch>
            <a:fillRect/>
          </a:stretch>
        </p:blipFill>
        <p:spPr>
          <a:xfrm>
            <a:off x="5969113" y="3588050"/>
            <a:ext cx="2897001" cy="366387"/>
          </a:xfrm>
          <a:prstGeom prst="rect">
            <a:avLst/>
          </a:prstGeom>
          <a:noFill/>
          <a:ln w="9525" cap="flat" cmpd="sng">
            <a:solidFill>
              <a:schemeClr val="accent1"/>
            </a:solidFill>
            <a:prstDash val="solid"/>
            <a:round/>
            <a:headEnd type="none" w="sm" len="sm"/>
            <a:tailEnd type="none" w="sm" len="sm"/>
          </a:ln>
        </p:spPr>
      </p:pic>
      <p:pic>
        <p:nvPicPr>
          <p:cNvPr id="691" name="Google Shape;691;p51"/>
          <p:cNvPicPr preferRelativeResize="0"/>
          <p:nvPr/>
        </p:nvPicPr>
        <p:blipFill>
          <a:blip r:embed="rId8">
            <a:alphaModFix/>
          </a:blip>
          <a:stretch>
            <a:fillRect/>
          </a:stretch>
        </p:blipFill>
        <p:spPr>
          <a:xfrm>
            <a:off x="5969113" y="4238100"/>
            <a:ext cx="2897001" cy="366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7.9 Morocco </a:t>
            </a:r>
            <a:endParaRPr>
              <a:latin typeface="Times New Roman"/>
              <a:ea typeface="Times New Roman"/>
              <a:cs typeface="Times New Roman"/>
              <a:sym typeface="Times New Roman"/>
            </a:endParaRPr>
          </a:p>
        </p:txBody>
      </p:sp>
      <p:sp>
        <p:nvSpPr>
          <p:cNvPr id="697" name="Google Shape;697;p5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52</a:t>
            </a:fld>
            <a:endParaRPr/>
          </a:p>
        </p:txBody>
      </p:sp>
      <p:sp>
        <p:nvSpPr>
          <p:cNvPr id="698" name="Google Shape;698;p52"/>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99" name="Google Shape;699;p5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00" name="Google Shape;700;p52"/>
          <p:cNvPicPr preferRelativeResize="0"/>
          <p:nvPr/>
        </p:nvPicPr>
        <p:blipFill>
          <a:blip r:embed="rId3">
            <a:alphaModFix/>
          </a:blip>
          <a:stretch>
            <a:fillRect/>
          </a:stretch>
        </p:blipFill>
        <p:spPr>
          <a:xfrm>
            <a:off x="1056750" y="1708525"/>
            <a:ext cx="5005628" cy="1519801"/>
          </a:xfrm>
          <a:prstGeom prst="rect">
            <a:avLst/>
          </a:prstGeom>
          <a:noFill/>
          <a:ln w="9525" cap="flat" cmpd="sng">
            <a:solidFill>
              <a:schemeClr val="accent1"/>
            </a:solidFill>
            <a:prstDash val="solid"/>
            <a:round/>
            <a:headEnd type="none" w="sm" len="sm"/>
            <a:tailEnd type="none" w="sm" len="sm"/>
          </a:ln>
        </p:spPr>
      </p:pic>
      <p:pic>
        <p:nvPicPr>
          <p:cNvPr id="701" name="Google Shape;701;p52"/>
          <p:cNvPicPr preferRelativeResize="0"/>
          <p:nvPr/>
        </p:nvPicPr>
        <p:blipFill>
          <a:blip r:embed="rId4">
            <a:alphaModFix/>
          </a:blip>
          <a:stretch>
            <a:fillRect/>
          </a:stretch>
        </p:blipFill>
        <p:spPr>
          <a:xfrm>
            <a:off x="1056750" y="3152125"/>
            <a:ext cx="2394276" cy="1372175"/>
          </a:xfrm>
          <a:prstGeom prst="rect">
            <a:avLst/>
          </a:prstGeom>
          <a:noFill/>
          <a:ln w="9525" cap="flat" cmpd="sng">
            <a:solidFill>
              <a:schemeClr val="accent1"/>
            </a:solidFill>
            <a:prstDash val="solid"/>
            <a:round/>
            <a:headEnd type="none" w="sm" len="sm"/>
            <a:tailEnd type="none" w="sm" len="sm"/>
          </a:ln>
        </p:spPr>
      </p:pic>
      <p:pic>
        <p:nvPicPr>
          <p:cNvPr id="702" name="Google Shape;702;p52"/>
          <p:cNvPicPr preferRelativeResize="0"/>
          <p:nvPr/>
        </p:nvPicPr>
        <p:blipFill>
          <a:blip r:embed="rId5">
            <a:alphaModFix/>
          </a:blip>
          <a:stretch>
            <a:fillRect/>
          </a:stretch>
        </p:blipFill>
        <p:spPr>
          <a:xfrm>
            <a:off x="3451025" y="3152125"/>
            <a:ext cx="2611351" cy="1372175"/>
          </a:xfrm>
          <a:prstGeom prst="rect">
            <a:avLst/>
          </a:prstGeom>
          <a:noFill/>
          <a:ln w="9525" cap="flat" cmpd="sng">
            <a:solidFill>
              <a:schemeClr val="accent1"/>
            </a:solidFill>
            <a:prstDash val="solid"/>
            <a:round/>
            <a:headEnd type="none" w="sm" len="sm"/>
            <a:tailEnd type="none" w="sm" len="sm"/>
          </a:ln>
        </p:spPr>
      </p:pic>
      <p:pic>
        <p:nvPicPr>
          <p:cNvPr id="703" name="Google Shape;703;p52"/>
          <p:cNvPicPr preferRelativeResize="0"/>
          <p:nvPr/>
        </p:nvPicPr>
        <p:blipFill>
          <a:blip r:embed="rId6">
            <a:alphaModFix/>
          </a:blip>
          <a:stretch>
            <a:fillRect/>
          </a:stretch>
        </p:blipFill>
        <p:spPr>
          <a:xfrm>
            <a:off x="6367178" y="1692975"/>
            <a:ext cx="2083868" cy="2983339"/>
          </a:xfrm>
          <a:prstGeom prst="rect">
            <a:avLst/>
          </a:prstGeom>
          <a:noFill/>
          <a:ln w="9525" cap="flat" cmpd="sng">
            <a:solidFill>
              <a:schemeClr val="accent1"/>
            </a:solidFill>
            <a:prstDash val="solid"/>
            <a:round/>
            <a:headEnd type="none" w="sm" len="sm"/>
            <a:tailEnd type="none" w="sm" len="sm"/>
          </a:ln>
        </p:spPr>
      </p:pic>
      <p:sp>
        <p:nvSpPr>
          <p:cNvPr id="704" name="Google Shape;704;p52"/>
          <p:cNvSpPr txBox="1"/>
          <p:nvPr/>
        </p:nvSpPr>
        <p:spPr>
          <a:xfrm>
            <a:off x="5030100"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SOI=29.7%</a:t>
            </a:r>
            <a:endParaRPr sz="1000" b="1">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3"/>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7.10 South Africa </a:t>
            </a:r>
            <a:endParaRPr>
              <a:latin typeface="Times New Roman"/>
              <a:ea typeface="Times New Roman"/>
              <a:cs typeface="Times New Roman"/>
              <a:sym typeface="Times New Roman"/>
            </a:endParaRPr>
          </a:p>
        </p:txBody>
      </p:sp>
      <p:sp>
        <p:nvSpPr>
          <p:cNvPr id="710" name="Google Shape;710;p5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53</a:t>
            </a:fld>
            <a:endParaRPr/>
          </a:p>
        </p:txBody>
      </p:sp>
      <p:sp>
        <p:nvSpPr>
          <p:cNvPr id="711" name="Google Shape;711;p53"/>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12" name="Google Shape;712;p53"/>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13" name="Google Shape;713;p53"/>
          <p:cNvPicPr preferRelativeResize="0"/>
          <p:nvPr/>
        </p:nvPicPr>
        <p:blipFill>
          <a:blip r:embed="rId3">
            <a:alphaModFix/>
          </a:blip>
          <a:stretch>
            <a:fillRect/>
          </a:stretch>
        </p:blipFill>
        <p:spPr>
          <a:xfrm>
            <a:off x="1056750" y="1677399"/>
            <a:ext cx="5005628" cy="1519801"/>
          </a:xfrm>
          <a:prstGeom prst="rect">
            <a:avLst/>
          </a:prstGeom>
          <a:noFill/>
          <a:ln w="9525" cap="flat" cmpd="sng">
            <a:solidFill>
              <a:schemeClr val="accent1"/>
            </a:solidFill>
            <a:prstDash val="solid"/>
            <a:round/>
            <a:headEnd type="none" w="sm" len="sm"/>
            <a:tailEnd type="none" w="sm" len="sm"/>
          </a:ln>
        </p:spPr>
      </p:pic>
      <p:pic>
        <p:nvPicPr>
          <p:cNvPr id="714" name="Google Shape;714;p53"/>
          <p:cNvPicPr preferRelativeResize="0"/>
          <p:nvPr/>
        </p:nvPicPr>
        <p:blipFill>
          <a:blip r:embed="rId4">
            <a:alphaModFix/>
          </a:blip>
          <a:stretch>
            <a:fillRect/>
          </a:stretch>
        </p:blipFill>
        <p:spPr>
          <a:xfrm>
            <a:off x="1056750" y="3061396"/>
            <a:ext cx="2305700" cy="1171404"/>
          </a:xfrm>
          <a:prstGeom prst="rect">
            <a:avLst/>
          </a:prstGeom>
          <a:noFill/>
          <a:ln w="9525" cap="flat" cmpd="sng">
            <a:solidFill>
              <a:schemeClr val="accent1"/>
            </a:solidFill>
            <a:prstDash val="solid"/>
            <a:round/>
            <a:headEnd type="none" w="sm" len="sm"/>
            <a:tailEnd type="none" w="sm" len="sm"/>
          </a:ln>
        </p:spPr>
      </p:pic>
      <p:pic>
        <p:nvPicPr>
          <p:cNvPr id="715" name="Google Shape;715;p53"/>
          <p:cNvPicPr preferRelativeResize="0"/>
          <p:nvPr/>
        </p:nvPicPr>
        <p:blipFill>
          <a:blip r:embed="rId5">
            <a:alphaModFix/>
          </a:blip>
          <a:stretch>
            <a:fillRect/>
          </a:stretch>
        </p:blipFill>
        <p:spPr>
          <a:xfrm>
            <a:off x="3362450" y="3061400"/>
            <a:ext cx="2699926" cy="1171400"/>
          </a:xfrm>
          <a:prstGeom prst="rect">
            <a:avLst/>
          </a:prstGeom>
          <a:noFill/>
          <a:ln w="9525" cap="flat" cmpd="sng">
            <a:solidFill>
              <a:schemeClr val="accent1"/>
            </a:solidFill>
            <a:prstDash val="solid"/>
            <a:round/>
            <a:headEnd type="none" w="sm" len="sm"/>
            <a:tailEnd type="none" w="sm" len="sm"/>
          </a:ln>
        </p:spPr>
      </p:pic>
      <p:pic>
        <p:nvPicPr>
          <p:cNvPr id="716" name="Google Shape;716;p53"/>
          <p:cNvPicPr preferRelativeResize="0"/>
          <p:nvPr/>
        </p:nvPicPr>
        <p:blipFill>
          <a:blip r:embed="rId6">
            <a:alphaModFix/>
          </a:blip>
          <a:stretch>
            <a:fillRect/>
          </a:stretch>
        </p:blipFill>
        <p:spPr>
          <a:xfrm>
            <a:off x="6342928" y="1601188"/>
            <a:ext cx="2083868" cy="2928383"/>
          </a:xfrm>
          <a:prstGeom prst="rect">
            <a:avLst/>
          </a:prstGeom>
          <a:noFill/>
          <a:ln w="9525" cap="flat" cmpd="sng">
            <a:solidFill>
              <a:schemeClr val="accent1"/>
            </a:solidFill>
            <a:prstDash val="solid"/>
            <a:round/>
            <a:headEnd type="none" w="sm" len="sm"/>
            <a:tailEnd type="none" w="sm" len="sm"/>
          </a:ln>
        </p:spPr>
      </p:pic>
      <p:sp>
        <p:nvSpPr>
          <p:cNvPr id="717" name="Google Shape;717;p53"/>
          <p:cNvSpPr txBox="1"/>
          <p:nvPr/>
        </p:nvSpPr>
        <p:spPr>
          <a:xfrm>
            <a:off x="4953750" y="2944788"/>
            <a:ext cx="848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a:t>
            </a:r>
            <a:endParaRPr sz="1000" b="1">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5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7.11 South Korea </a:t>
            </a:r>
            <a:endParaRPr>
              <a:latin typeface="Times New Roman"/>
              <a:ea typeface="Times New Roman"/>
              <a:cs typeface="Times New Roman"/>
              <a:sym typeface="Times New Roman"/>
            </a:endParaRPr>
          </a:p>
          <a:p>
            <a:pPr marL="0" lvl="0" indent="0" algn="l" rtl="0">
              <a:spcBef>
                <a:spcPts val="0"/>
              </a:spcBef>
              <a:spcAft>
                <a:spcPts val="0"/>
              </a:spcAft>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723" name="Google Shape;723;p5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54</a:t>
            </a:fld>
            <a:endParaRPr/>
          </a:p>
        </p:txBody>
      </p:sp>
      <p:sp>
        <p:nvSpPr>
          <p:cNvPr id="724" name="Google Shape;724;p5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25" name="Google Shape;725;p5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26" name="Google Shape;726;p54"/>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27" name="Google Shape;727;p54"/>
          <p:cNvPicPr preferRelativeResize="0"/>
          <p:nvPr/>
        </p:nvPicPr>
        <p:blipFill>
          <a:blip r:embed="rId3">
            <a:alphaModFix/>
          </a:blip>
          <a:stretch>
            <a:fillRect/>
          </a:stretch>
        </p:blipFill>
        <p:spPr>
          <a:xfrm>
            <a:off x="846449" y="1513900"/>
            <a:ext cx="4106325" cy="1113138"/>
          </a:xfrm>
          <a:prstGeom prst="rect">
            <a:avLst/>
          </a:prstGeom>
          <a:noFill/>
          <a:ln w="9525" cap="flat" cmpd="sng">
            <a:solidFill>
              <a:schemeClr val="accent1"/>
            </a:solidFill>
            <a:prstDash val="solid"/>
            <a:round/>
            <a:headEnd type="none" w="sm" len="sm"/>
            <a:tailEnd type="none" w="sm" len="sm"/>
          </a:ln>
        </p:spPr>
      </p:pic>
      <p:pic>
        <p:nvPicPr>
          <p:cNvPr id="728" name="Google Shape;728;p54"/>
          <p:cNvPicPr preferRelativeResize="0"/>
          <p:nvPr/>
        </p:nvPicPr>
        <p:blipFill>
          <a:blip r:embed="rId4">
            <a:alphaModFix/>
          </a:blip>
          <a:stretch>
            <a:fillRect/>
          </a:stretch>
        </p:blipFill>
        <p:spPr>
          <a:xfrm>
            <a:off x="846450" y="2651875"/>
            <a:ext cx="4106324" cy="2162721"/>
          </a:xfrm>
          <a:prstGeom prst="rect">
            <a:avLst/>
          </a:prstGeom>
          <a:noFill/>
          <a:ln w="9525" cap="flat" cmpd="sng">
            <a:solidFill>
              <a:schemeClr val="accent1"/>
            </a:solidFill>
            <a:prstDash val="solid"/>
            <a:round/>
            <a:headEnd type="none" w="sm" len="sm"/>
            <a:tailEnd type="none" w="sm" len="sm"/>
          </a:ln>
        </p:spPr>
      </p:pic>
      <p:pic>
        <p:nvPicPr>
          <p:cNvPr id="729" name="Google Shape;729;p54"/>
          <p:cNvPicPr preferRelativeResize="0"/>
          <p:nvPr/>
        </p:nvPicPr>
        <p:blipFill>
          <a:blip r:embed="rId5">
            <a:alphaModFix/>
          </a:blip>
          <a:stretch>
            <a:fillRect/>
          </a:stretch>
        </p:blipFill>
        <p:spPr>
          <a:xfrm>
            <a:off x="5730350" y="1513901"/>
            <a:ext cx="2356900" cy="342990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5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7.11 South Korea</a:t>
            </a:r>
            <a:endParaRPr>
              <a:latin typeface="Times New Roman"/>
              <a:ea typeface="Times New Roman"/>
              <a:cs typeface="Times New Roman"/>
              <a:sym typeface="Times New Roman"/>
            </a:endParaRPr>
          </a:p>
        </p:txBody>
      </p:sp>
      <p:sp>
        <p:nvSpPr>
          <p:cNvPr id="735" name="Google Shape;735;p5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55</a:t>
            </a:fld>
            <a:endParaRPr/>
          </a:p>
        </p:txBody>
      </p:sp>
      <p:sp>
        <p:nvSpPr>
          <p:cNvPr id="736" name="Google Shape;736;p5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737" name="Google Shape;737;p55"/>
          <p:cNvPicPr preferRelativeResize="0"/>
          <p:nvPr/>
        </p:nvPicPr>
        <p:blipFill>
          <a:blip r:embed="rId3">
            <a:alphaModFix/>
          </a:blip>
          <a:stretch>
            <a:fillRect/>
          </a:stretch>
        </p:blipFill>
        <p:spPr>
          <a:xfrm>
            <a:off x="1149125" y="1698062"/>
            <a:ext cx="4393301" cy="1747376"/>
          </a:xfrm>
          <a:prstGeom prst="rect">
            <a:avLst/>
          </a:prstGeom>
          <a:noFill/>
          <a:ln w="9525" cap="flat" cmpd="sng">
            <a:solidFill>
              <a:schemeClr val="accent1"/>
            </a:solidFill>
            <a:prstDash val="solid"/>
            <a:round/>
            <a:headEnd type="none" w="sm" len="sm"/>
            <a:tailEnd type="none" w="sm" len="sm"/>
          </a:ln>
        </p:spPr>
      </p:pic>
      <p:pic>
        <p:nvPicPr>
          <p:cNvPr id="738" name="Google Shape;738;p55"/>
          <p:cNvPicPr preferRelativeResize="0"/>
          <p:nvPr/>
        </p:nvPicPr>
        <p:blipFill>
          <a:blip r:embed="rId4">
            <a:alphaModFix/>
          </a:blip>
          <a:stretch>
            <a:fillRect/>
          </a:stretch>
        </p:blipFill>
        <p:spPr>
          <a:xfrm>
            <a:off x="1149125" y="3463133"/>
            <a:ext cx="4393300" cy="1527541"/>
          </a:xfrm>
          <a:prstGeom prst="rect">
            <a:avLst/>
          </a:prstGeom>
          <a:noFill/>
          <a:ln w="9525" cap="flat" cmpd="sng">
            <a:solidFill>
              <a:schemeClr val="accent1"/>
            </a:solidFill>
            <a:prstDash val="solid"/>
            <a:round/>
            <a:headEnd type="none" w="sm" len="sm"/>
            <a:tailEnd type="none" w="sm" len="sm"/>
          </a:ln>
        </p:spPr>
      </p:pic>
      <p:pic>
        <p:nvPicPr>
          <p:cNvPr id="739" name="Google Shape;739;p55"/>
          <p:cNvPicPr preferRelativeResize="0"/>
          <p:nvPr/>
        </p:nvPicPr>
        <p:blipFill>
          <a:blip r:embed="rId5">
            <a:alphaModFix/>
          </a:blip>
          <a:stretch>
            <a:fillRect/>
          </a:stretch>
        </p:blipFill>
        <p:spPr>
          <a:xfrm>
            <a:off x="5809014" y="1915650"/>
            <a:ext cx="3073310" cy="656100"/>
          </a:xfrm>
          <a:prstGeom prst="rect">
            <a:avLst/>
          </a:prstGeom>
          <a:noFill/>
          <a:ln w="9525" cap="flat" cmpd="sng">
            <a:solidFill>
              <a:schemeClr val="accent1"/>
            </a:solidFill>
            <a:prstDash val="solid"/>
            <a:round/>
            <a:headEnd type="none" w="sm" len="sm"/>
            <a:tailEnd type="none" w="sm" len="sm"/>
          </a:ln>
        </p:spPr>
      </p:pic>
      <p:pic>
        <p:nvPicPr>
          <p:cNvPr id="740" name="Google Shape;740;p55"/>
          <p:cNvPicPr preferRelativeResize="0"/>
          <p:nvPr/>
        </p:nvPicPr>
        <p:blipFill>
          <a:blip r:embed="rId6">
            <a:alphaModFix/>
          </a:blip>
          <a:stretch>
            <a:fillRect/>
          </a:stretch>
        </p:blipFill>
        <p:spPr>
          <a:xfrm>
            <a:off x="5809014" y="3097121"/>
            <a:ext cx="3073310" cy="656100"/>
          </a:xfrm>
          <a:prstGeom prst="rect">
            <a:avLst/>
          </a:prstGeom>
          <a:noFill/>
          <a:ln w="9525" cap="flat" cmpd="sng">
            <a:solidFill>
              <a:schemeClr val="accent1"/>
            </a:solidFill>
            <a:prstDash val="solid"/>
            <a:round/>
            <a:headEnd type="none" w="sm" len="sm"/>
            <a:tailEnd type="none" w="sm" len="sm"/>
          </a:ln>
        </p:spPr>
      </p:pic>
      <p:sp>
        <p:nvSpPr>
          <p:cNvPr id="741" name="Google Shape;741;p55"/>
          <p:cNvSpPr txBox="1"/>
          <p:nvPr/>
        </p:nvSpPr>
        <p:spPr>
          <a:xfrm>
            <a:off x="4572000" y="3463125"/>
            <a:ext cx="872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SOI=48.3%</a:t>
            </a:r>
            <a:endParaRPr sz="1000" b="1">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7.12 Spain </a:t>
            </a:r>
            <a:endParaRPr>
              <a:latin typeface="Times New Roman"/>
              <a:ea typeface="Times New Roman"/>
              <a:cs typeface="Times New Roman"/>
              <a:sym typeface="Times New Roman"/>
            </a:endParaRPr>
          </a:p>
        </p:txBody>
      </p:sp>
      <p:sp>
        <p:nvSpPr>
          <p:cNvPr id="747" name="Google Shape;747;p5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56</a:t>
            </a:fld>
            <a:endParaRPr/>
          </a:p>
        </p:txBody>
      </p:sp>
      <p:sp>
        <p:nvSpPr>
          <p:cNvPr id="748" name="Google Shape;748;p56"/>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49" name="Google Shape;749;p5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50" name="Google Shape;750;p56"/>
          <p:cNvPicPr preferRelativeResize="0"/>
          <p:nvPr/>
        </p:nvPicPr>
        <p:blipFill>
          <a:blip r:embed="rId3">
            <a:alphaModFix/>
          </a:blip>
          <a:stretch>
            <a:fillRect/>
          </a:stretch>
        </p:blipFill>
        <p:spPr>
          <a:xfrm>
            <a:off x="1056750" y="1673251"/>
            <a:ext cx="5005628" cy="1519798"/>
          </a:xfrm>
          <a:prstGeom prst="rect">
            <a:avLst/>
          </a:prstGeom>
          <a:noFill/>
          <a:ln w="9525" cap="flat" cmpd="sng">
            <a:solidFill>
              <a:schemeClr val="accent1"/>
            </a:solidFill>
            <a:prstDash val="solid"/>
            <a:round/>
            <a:headEnd type="none" w="sm" len="sm"/>
            <a:tailEnd type="none" w="sm" len="sm"/>
          </a:ln>
        </p:spPr>
      </p:pic>
      <p:pic>
        <p:nvPicPr>
          <p:cNvPr id="751" name="Google Shape;751;p56"/>
          <p:cNvPicPr preferRelativeResize="0"/>
          <p:nvPr/>
        </p:nvPicPr>
        <p:blipFill>
          <a:blip r:embed="rId4">
            <a:alphaModFix/>
          </a:blip>
          <a:stretch>
            <a:fillRect/>
          </a:stretch>
        </p:blipFill>
        <p:spPr>
          <a:xfrm>
            <a:off x="1056750" y="3193051"/>
            <a:ext cx="2412783" cy="1293975"/>
          </a:xfrm>
          <a:prstGeom prst="rect">
            <a:avLst/>
          </a:prstGeom>
          <a:noFill/>
          <a:ln w="9525" cap="flat" cmpd="sng">
            <a:solidFill>
              <a:schemeClr val="accent1"/>
            </a:solidFill>
            <a:prstDash val="solid"/>
            <a:round/>
            <a:headEnd type="none" w="sm" len="sm"/>
            <a:tailEnd type="none" w="sm" len="sm"/>
          </a:ln>
        </p:spPr>
      </p:pic>
      <p:pic>
        <p:nvPicPr>
          <p:cNvPr id="752" name="Google Shape;752;p56"/>
          <p:cNvPicPr preferRelativeResize="0"/>
          <p:nvPr/>
        </p:nvPicPr>
        <p:blipFill>
          <a:blip r:embed="rId5">
            <a:alphaModFix/>
          </a:blip>
          <a:stretch>
            <a:fillRect/>
          </a:stretch>
        </p:blipFill>
        <p:spPr>
          <a:xfrm>
            <a:off x="3472250" y="3193050"/>
            <a:ext cx="2590126" cy="1293975"/>
          </a:xfrm>
          <a:prstGeom prst="rect">
            <a:avLst/>
          </a:prstGeom>
          <a:noFill/>
          <a:ln w="9525" cap="flat" cmpd="sng">
            <a:solidFill>
              <a:schemeClr val="accent1"/>
            </a:solidFill>
            <a:prstDash val="solid"/>
            <a:round/>
            <a:headEnd type="none" w="sm" len="sm"/>
            <a:tailEnd type="none" w="sm" len="sm"/>
          </a:ln>
        </p:spPr>
      </p:pic>
      <p:pic>
        <p:nvPicPr>
          <p:cNvPr id="753" name="Google Shape;753;p56"/>
          <p:cNvPicPr preferRelativeResize="0"/>
          <p:nvPr/>
        </p:nvPicPr>
        <p:blipFill>
          <a:blip r:embed="rId6">
            <a:alphaModFix/>
          </a:blip>
          <a:stretch>
            <a:fillRect/>
          </a:stretch>
        </p:blipFill>
        <p:spPr>
          <a:xfrm>
            <a:off x="6519903" y="1632313"/>
            <a:ext cx="2083868" cy="2959536"/>
          </a:xfrm>
          <a:prstGeom prst="rect">
            <a:avLst/>
          </a:prstGeom>
          <a:noFill/>
          <a:ln w="9525" cap="flat" cmpd="sng">
            <a:solidFill>
              <a:schemeClr val="accent1"/>
            </a:solidFill>
            <a:prstDash val="solid"/>
            <a:round/>
            <a:headEnd type="none" w="sm" len="sm"/>
            <a:tailEnd type="none" w="sm" len="sm"/>
          </a:ln>
        </p:spPr>
      </p:pic>
      <p:sp>
        <p:nvSpPr>
          <p:cNvPr id="754" name="Google Shape;754;p56"/>
          <p:cNvSpPr txBox="1"/>
          <p:nvPr/>
        </p:nvSpPr>
        <p:spPr>
          <a:xfrm>
            <a:off x="4969500" y="31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SOI=14.3%</a:t>
            </a:r>
            <a:endParaRPr sz="1000" b="1">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7"/>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7.13 Turkey </a:t>
            </a:r>
            <a:endParaRPr>
              <a:latin typeface="Times New Roman"/>
              <a:ea typeface="Times New Roman"/>
              <a:cs typeface="Times New Roman"/>
              <a:sym typeface="Times New Roman"/>
            </a:endParaRPr>
          </a:p>
        </p:txBody>
      </p:sp>
      <p:sp>
        <p:nvSpPr>
          <p:cNvPr id="760" name="Google Shape;760;p5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57</a:t>
            </a:fld>
            <a:endParaRPr/>
          </a:p>
        </p:txBody>
      </p:sp>
      <p:sp>
        <p:nvSpPr>
          <p:cNvPr id="761" name="Google Shape;761;p57"/>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62" name="Google Shape;762;p57"/>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63" name="Google Shape;763;p57"/>
          <p:cNvPicPr preferRelativeResize="0"/>
          <p:nvPr/>
        </p:nvPicPr>
        <p:blipFill>
          <a:blip r:embed="rId3">
            <a:alphaModFix/>
          </a:blip>
          <a:stretch>
            <a:fillRect/>
          </a:stretch>
        </p:blipFill>
        <p:spPr>
          <a:xfrm>
            <a:off x="1056750" y="1632316"/>
            <a:ext cx="5005628" cy="1519806"/>
          </a:xfrm>
          <a:prstGeom prst="rect">
            <a:avLst/>
          </a:prstGeom>
          <a:noFill/>
          <a:ln w="9525" cap="flat" cmpd="sng">
            <a:solidFill>
              <a:schemeClr val="accent1"/>
            </a:solidFill>
            <a:prstDash val="solid"/>
            <a:round/>
            <a:headEnd type="none" w="sm" len="sm"/>
            <a:tailEnd type="none" w="sm" len="sm"/>
          </a:ln>
        </p:spPr>
      </p:pic>
      <p:pic>
        <p:nvPicPr>
          <p:cNvPr id="764" name="Google Shape;764;p57"/>
          <p:cNvPicPr preferRelativeResize="0"/>
          <p:nvPr/>
        </p:nvPicPr>
        <p:blipFill>
          <a:blip r:embed="rId4">
            <a:alphaModFix/>
          </a:blip>
          <a:stretch>
            <a:fillRect/>
          </a:stretch>
        </p:blipFill>
        <p:spPr>
          <a:xfrm>
            <a:off x="1056749" y="3152129"/>
            <a:ext cx="2305699" cy="1192971"/>
          </a:xfrm>
          <a:prstGeom prst="rect">
            <a:avLst/>
          </a:prstGeom>
          <a:noFill/>
          <a:ln w="9525" cap="flat" cmpd="sng">
            <a:solidFill>
              <a:schemeClr val="accent1"/>
            </a:solidFill>
            <a:prstDash val="solid"/>
            <a:round/>
            <a:headEnd type="none" w="sm" len="sm"/>
            <a:tailEnd type="none" w="sm" len="sm"/>
          </a:ln>
        </p:spPr>
      </p:pic>
      <p:pic>
        <p:nvPicPr>
          <p:cNvPr id="765" name="Google Shape;765;p57"/>
          <p:cNvPicPr preferRelativeResize="0"/>
          <p:nvPr/>
        </p:nvPicPr>
        <p:blipFill>
          <a:blip r:embed="rId5">
            <a:alphaModFix/>
          </a:blip>
          <a:stretch>
            <a:fillRect/>
          </a:stretch>
        </p:blipFill>
        <p:spPr>
          <a:xfrm>
            <a:off x="3362438" y="3152125"/>
            <a:ext cx="2699925" cy="1192975"/>
          </a:xfrm>
          <a:prstGeom prst="rect">
            <a:avLst/>
          </a:prstGeom>
          <a:noFill/>
          <a:ln w="9525" cap="flat" cmpd="sng">
            <a:solidFill>
              <a:schemeClr val="accent1"/>
            </a:solidFill>
            <a:prstDash val="solid"/>
            <a:round/>
            <a:headEnd type="none" w="sm" len="sm"/>
            <a:tailEnd type="none" w="sm" len="sm"/>
          </a:ln>
        </p:spPr>
      </p:pic>
      <p:pic>
        <p:nvPicPr>
          <p:cNvPr id="766" name="Google Shape;766;p57"/>
          <p:cNvPicPr preferRelativeResize="0"/>
          <p:nvPr/>
        </p:nvPicPr>
        <p:blipFill>
          <a:blip r:embed="rId6">
            <a:alphaModFix/>
          </a:blip>
          <a:stretch>
            <a:fillRect/>
          </a:stretch>
        </p:blipFill>
        <p:spPr>
          <a:xfrm>
            <a:off x="6498103" y="1632313"/>
            <a:ext cx="2083869" cy="2928384"/>
          </a:xfrm>
          <a:prstGeom prst="rect">
            <a:avLst/>
          </a:prstGeom>
          <a:noFill/>
          <a:ln w="9525" cap="flat" cmpd="sng">
            <a:solidFill>
              <a:schemeClr val="accent1"/>
            </a:solidFill>
            <a:prstDash val="solid"/>
            <a:round/>
            <a:headEnd type="none" w="sm" len="sm"/>
            <a:tailEnd type="none" w="sm" len="sm"/>
          </a:ln>
        </p:spPr>
      </p:pic>
      <p:sp>
        <p:nvSpPr>
          <p:cNvPr id="767" name="Google Shape;767;p57"/>
          <p:cNvSpPr txBox="1"/>
          <p:nvPr/>
        </p:nvSpPr>
        <p:spPr>
          <a:xfrm>
            <a:off x="5084675"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SOI=13.8%</a:t>
            </a:r>
            <a:endParaRPr sz="1000" b="1">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7.14 United Arab Emirates </a:t>
            </a:r>
            <a:endParaRPr>
              <a:latin typeface="Times New Roman"/>
              <a:ea typeface="Times New Roman"/>
              <a:cs typeface="Times New Roman"/>
              <a:sym typeface="Times New Roman"/>
            </a:endParaRPr>
          </a:p>
        </p:txBody>
      </p:sp>
      <p:sp>
        <p:nvSpPr>
          <p:cNvPr id="773" name="Google Shape;773;p5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58</a:t>
            </a:fld>
            <a:endParaRPr/>
          </a:p>
        </p:txBody>
      </p:sp>
      <p:sp>
        <p:nvSpPr>
          <p:cNvPr id="774" name="Google Shape;774;p5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75" name="Google Shape;775;p5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76" name="Google Shape;776;p58"/>
          <p:cNvPicPr preferRelativeResize="0"/>
          <p:nvPr/>
        </p:nvPicPr>
        <p:blipFill>
          <a:blip r:embed="rId3">
            <a:alphaModFix/>
          </a:blip>
          <a:stretch>
            <a:fillRect/>
          </a:stretch>
        </p:blipFill>
        <p:spPr>
          <a:xfrm>
            <a:off x="1056750" y="1590912"/>
            <a:ext cx="5005628" cy="1519801"/>
          </a:xfrm>
          <a:prstGeom prst="rect">
            <a:avLst/>
          </a:prstGeom>
          <a:noFill/>
          <a:ln w="9525" cap="flat" cmpd="sng">
            <a:solidFill>
              <a:schemeClr val="accent1"/>
            </a:solidFill>
            <a:prstDash val="solid"/>
            <a:round/>
            <a:headEnd type="none" w="sm" len="sm"/>
            <a:tailEnd type="none" w="sm" len="sm"/>
          </a:ln>
        </p:spPr>
      </p:pic>
      <p:pic>
        <p:nvPicPr>
          <p:cNvPr id="777" name="Google Shape;777;p58"/>
          <p:cNvPicPr preferRelativeResize="0"/>
          <p:nvPr/>
        </p:nvPicPr>
        <p:blipFill>
          <a:blip r:embed="rId4">
            <a:alphaModFix/>
          </a:blip>
          <a:stretch>
            <a:fillRect/>
          </a:stretch>
        </p:blipFill>
        <p:spPr>
          <a:xfrm>
            <a:off x="1056750" y="3110700"/>
            <a:ext cx="2448951" cy="1266900"/>
          </a:xfrm>
          <a:prstGeom prst="rect">
            <a:avLst/>
          </a:prstGeom>
          <a:noFill/>
          <a:ln w="9525" cap="flat" cmpd="sng">
            <a:solidFill>
              <a:schemeClr val="accent1"/>
            </a:solidFill>
            <a:prstDash val="solid"/>
            <a:round/>
            <a:headEnd type="none" w="sm" len="sm"/>
            <a:tailEnd type="none" w="sm" len="sm"/>
          </a:ln>
        </p:spPr>
      </p:pic>
      <p:pic>
        <p:nvPicPr>
          <p:cNvPr id="778" name="Google Shape;778;p58"/>
          <p:cNvPicPr preferRelativeResize="0"/>
          <p:nvPr/>
        </p:nvPicPr>
        <p:blipFill>
          <a:blip r:embed="rId5">
            <a:alphaModFix/>
          </a:blip>
          <a:stretch>
            <a:fillRect/>
          </a:stretch>
        </p:blipFill>
        <p:spPr>
          <a:xfrm>
            <a:off x="3505700" y="3110700"/>
            <a:ext cx="2556676" cy="1266900"/>
          </a:xfrm>
          <a:prstGeom prst="rect">
            <a:avLst/>
          </a:prstGeom>
          <a:noFill/>
          <a:ln w="9525" cap="flat" cmpd="sng">
            <a:solidFill>
              <a:schemeClr val="accent1"/>
            </a:solidFill>
            <a:prstDash val="solid"/>
            <a:round/>
            <a:headEnd type="none" w="sm" len="sm"/>
            <a:tailEnd type="none" w="sm" len="sm"/>
          </a:ln>
        </p:spPr>
      </p:pic>
      <p:pic>
        <p:nvPicPr>
          <p:cNvPr id="779" name="Google Shape;779;p58"/>
          <p:cNvPicPr preferRelativeResize="0"/>
          <p:nvPr/>
        </p:nvPicPr>
        <p:blipFill>
          <a:blip r:embed="rId6">
            <a:alphaModFix/>
          </a:blip>
          <a:stretch>
            <a:fillRect/>
          </a:stretch>
        </p:blipFill>
        <p:spPr>
          <a:xfrm>
            <a:off x="6541703" y="1556113"/>
            <a:ext cx="2083868" cy="2983339"/>
          </a:xfrm>
          <a:prstGeom prst="rect">
            <a:avLst/>
          </a:prstGeom>
          <a:noFill/>
          <a:ln w="9525" cap="flat" cmpd="sng">
            <a:solidFill>
              <a:schemeClr val="accent1"/>
            </a:solidFill>
            <a:prstDash val="solid"/>
            <a:round/>
            <a:headEnd type="none" w="sm" len="sm"/>
            <a:tailEnd type="none" w="sm" len="sm"/>
          </a:ln>
        </p:spPr>
      </p:pic>
      <p:sp>
        <p:nvSpPr>
          <p:cNvPr id="780" name="Google Shape;780;p58"/>
          <p:cNvSpPr txBox="1"/>
          <p:nvPr/>
        </p:nvSpPr>
        <p:spPr>
          <a:xfrm>
            <a:off x="5084675" y="30344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a:t>
            </a:r>
            <a:endParaRPr sz="1000" b="1">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7.15 USA </a:t>
            </a:r>
            <a:endParaRPr>
              <a:latin typeface="Times New Roman"/>
              <a:ea typeface="Times New Roman"/>
              <a:cs typeface="Times New Roman"/>
              <a:sym typeface="Times New Roman"/>
            </a:endParaRPr>
          </a:p>
        </p:txBody>
      </p:sp>
      <p:sp>
        <p:nvSpPr>
          <p:cNvPr id="786" name="Google Shape;786;p5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59</a:t>
            </a:fld>
            <a:endParaRPr/>
          </a:p>
        </p:txBody>
      </p:sp>
      <p:sp>
        <p:nvSpPr>
          <p:cNvPr id="787" name="Google Shape;787;p59"/>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88" name="Google Shape;788;p5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89" name="Google Shape;789;p59"/>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90" name="Google Shape;790;p59"/>
          <p:cNvPicPr preferRelativeResize="0"/>
          <p:nvPr/>
        </p:nvPicPr>
        <p:blipFill>
          <a:blip r:embed="rId3">
            <a:alphaModFix/>
          </a:blip>
          <a:stretch>
            <a:fillRect/>
          </a:stretch>
        </p:blipFill>
        <p:spPr>
          <a:xfrm>
            <a:off x="1080500" y="1590095"/>
            <a:ext cx="4208302" cy="1277729"/>
          </a:xfrm>
          <a:prstGeom prst="rect">
            <a:avLst/>
          </a:prstGeom>
          <a:noFill/>
          <a:ln w="9525" cap="flat" cmpd="sng">
            <a:solidFill>
              <a:schemeClr val="accent1"/>
            </a:solidFill>
            <a:prstDash val="solid"/>
            <a:round/>
            <a:headEnd type="none" w="sm" len="sm"/>
            <a:tailEnd type="none" w="sm" len="sm"/>
          </a:ln>
        </p:spPr>
      </p:pic>
      <p:pic>
        <p:nvPicPr>
          <p:cNvPr id="791" name="Google Shape;791;p59"/>
          <p:cNvPicPr preferRelativeResize="0"/>
          <p:nvPr/>
        </p:nvPicPr>
        <p:blipFill>
          <a:blip r:embed="rId4">
            <a:alphaModFix/>
          </a:blip>
          <a:stretch>
            <a:fillRect/>
          </a:stretch>
        </p:blipFill>
        <p:spPr>
          <a:xfrm>
            <a:off x="1080500" y="2867825"/>
            <a:ext cx="4208301" cy="2177039"/>
          </a:xfrm>
          <a:prstGeom prst="rect">
            <a:avLst/>
          </a:prstGeom>
          <a:noFill/>
          <a:ln w="9525" cap="flat" cmpd="sng">
            <a:solidFill>
              <a:schemeClr val="accent1"/>
            </a:solidFill>
            <a:prstDash val="solid"/>
            <a:round/>
            <a:headEnd type="none" w="sm" len="sm"/>
            <a:tailEnd type="none" w="sm" len="sm"/>
          </a:ln>
        </p:spPr>
      </p:pic>
      <p:pic>
        <p:nvPicPr>
          <p:cNvPr id="792" name="Google Shape;792;p59"/>
          <p:cNvPicPr preferRelativeResize="0"/>
          <p:nvPr/>
        </p:nvPicPr>
        <p:blipFill>
          <a:blip r:embed="rId5">
            <a:alphaModFix/>
          </a:blip>
          <a:stretch>
            <a:fillRect/>
          </a:stretch>
        </p:blipFill>
        <p:spPr>
          <a:xfrm>
            <a:off x="5771175" y="1632326"/>
            <a:ext cx="2316075" cy="3379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60"/>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7.15 USA</a:t>
            </a:r>
            <a:endParaRPr>
              <a:latin typeface="Times New Roman"/>
              <a:ea typeface="Times New Roman"/>
              <a:cs typeface="Times New Roman"/>
              <a:sym typeface="Times New Roman"/>
            </a:endParaRPr>
          </a:p>
        </p:txBody>
      </p:sp>
      <p:sp>
        <p:nvSpPr>
          <p:cNvPr id="798" name="Google Shape;798;p6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60</a:t>
            </a:fld>
            <a:endParaRPr/>
          </a:p>
        </p:txBody>
      </p:sp>
      <p:sp>
        <p:nvSpPr>
          <p:cNvPr id="799" name="Google Shape;799;p60"/>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800" name="Google Shape;800;p60"/>
          <p:cNvPicPr preferRelativeResize="0"/>
          <p:nvPr/>
        </p:nvPicPr>
        <p:blipFill>
          <a:blip r:embed="rId3">
            <a:alphaModFix/>
          </a:blip>
          <a:stretch>
            <a:fillRect/>
          </a:stretch>
        </p:blipFill>
        <p:spPr>
          <a:xfrm>
            <a:off x="1149125" y="1572189"/>
            <a:ext cx="4393300" cy="1753163"/>
          </a:xfrm>
          <a:prstGeom prst="rect">
            <a:avLst/>
          </a:prstGeom>
          <a:noFill/>
          <a:ln w="9525" cap="flat" cmpd="sng">
            <a:solidFill>
              <a:schemeClr val="accent1"/>
            </a:solidFill>
            <a:prstDash val="solid"/>
            <a:round/>
            <a:headEnd type="none" w="sm" len="sm"/>
            <a:tailEnd type="none" w="sm" len="sm"/>
          </a:ln>
        </p:spPr>
      </p:pic>
      <p:pic>
        <p:nvPicPr>
          <p:cNvPr id="801" name="Google Shape;801;p60"/>
          <p:cNvPicPr preferRelativeResize="0"/>
          <p:nvPr/>
        </p:nvPicPr>
        <p:blipFill>
          <a:blip r:embed="rId4">
            <a:alphaModFix/>
          </a:blip>
          <a:stretch>
            <a:fillRect/>
          </a:stretch>
        </p:blipFill>
        <p:spPr>
          <a:xfrm>
            <a:off x="1149125" y="3325344"/>
            <a:ext cx="4393300" cy="1521008"/>
          </a:xfrm>
          <a:prstGeom prst="rect">
            <a:avLst/>
          </a:prstGeom>
          <a:noFill/>
          <a:ln w="9525" cap="flat" cmpd="sng">
            <a:solidFill>
              <a:schemeClr val="accent1"/>
            </a:solidFill>
            <a:prstDash val="solid"/>
            <a:round/>
            <a:headEnd type="none" w="sm" len="sm"/>
            <a:tailEnd type="none" w="sm" len="sm"/>
          </a:ln>
        </p:spPr>
      </p:pic>
      <p:sp>
        <p:nvSpPr>
          <p:cNvPr id="802" name="Google Shape;802;p60"/>
          <p:cNvSpPr txBox="1"/>
          <p:nvPr/>
        </p:nvSpPr>
        <p:spPr>
          <a:xfrm>
            <a:off x="4338900" y="3325350"/>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SOI=28.7%</a:t>
            </a:r>
            <a:endParaRPr sz="1000" b="1">
              <a:latin typeface="Times New Roman"/>
              <a:ea typeface="Times New Roman"/>
              <a:cs typeface="Times New Roman"/>
              <a:sym typeface="Times New Roman"/>
            </a:endParaRPr>
          </a:p>
        </p:txBody>
      </p:sp>
      <p:pic>
        <p:nvPicPr>
          <p:cNvPr id="803" name="Google Shape;803;p60"/>
          <p:cNvPicPr preferRelativeResize="0"/>
          <p:nvPr/>
        </p:nvPicPr>
        <p:blipFill>
          <a:blip r:embed="rId5">
            <a:alphaModFix/>
          </a:blip>
          <a:stretch>
            <a:fillRect/>
          </a:stretch>
        </p:blipFill>
        <p:spPr>
          <a:xfrm>
            <a:off x="5969125" y="2267869"/>
            <a:ext cx="2897000" cy="798707"/>
          </a:xfrm>
          <a:prstGeom prst="rect">
            <a:avLst/>
          </a:prstGeom>
          <a:noFill/>
          <a:ln w="9525" cap="flat" cmpd="sng">
            <a:solidFill>
              <a:schemeClr val="accent1"/>
            </a:solidFill>
            <a:prstDash val="solid"/>
            <a:round/>
            <a:headEnd type="none" w="sm" len="sm"/>
            <a:tailEnd type="none" w="sm" len="sm"/>
          </a:ln>
        </p:spPr>
      </p:pic>
      <p:pic>
        <p:nvPicPr>
          <p:cNvPr id="804" name="Google Shape;804;p60"/>
          <p:cNvPicPr preferRelativeResize="0"/>
          <p:nvPr/>
        </p:nvPicPr>
        <p:blipFill>
          <a:blip r:embed="rId6">
            <a:alphaModFix/>
          </a:blip>
          <a:stretch>
            <a:fillRect/>
          </a:stretch>
        </p:blipFill>
        <p:spPr>
          <a:xfrm>
            <a:off x="5969121" y="1421843"/>
            <a:ext cx="2897001" cy="769832"/>
          </a:xfrm>
          <a:prstGeom prst="rect">
            <a:avLst/>
          </a:prstGeom>
          <a:noFill/>
          <a:ln w="9525" cap="flat" cmpd="sng">
            <a:solidFill>
              <a:schemeClr val="accent1"/>
            </a:solidFill>
            <a:prstDash val="solid"/>
            <a:round/>
            <a:headEnd type="none" w="sm" len="sm"/>
            <a:tailEnd type="none" w="sm" len="sm"/>
          </a:ln>
        </p:spPr>
      </p:pic>
      <p:pic>
        <p:nvPicPr>
          <p:cNvPr id="805" name="Google Shape;805;p60"/>
          <p:cNvPicPr preferRelativeResize="0"/>
          <p:nvPr/>
        </p:nvPicPr>
        <p:blipFill>
          <a:blip r:embed="rId7">
            <a:alphaModFix/>
          </a:blip>
          <a:stretch>
            <a:fillRect/>
          </a:stretch>
        </p:blipFill>
        <p:spPr>
          <a:xfrm>
            <a:off x="5985325" y="3130389"/>
            <a:ext cx="2897001" cy="729211"/>
          </a:xfrm>
          <a:prstGeom prst="rect">
            <a:avLst/>
          </a:prstGeom>
          <a:noFill/>
          <a:ln w="9525" cap="flat" cmpd="sng">
            <a:solidFill>
              <a:schemeClr val="accent1"/>
            </a:solidFill>
            <a:prstDash val="solid"/>
            <a:round/>
            <a:headEnd type="none" w="sm" len="sm"/>
            <a:tailEnd type="none" w="sm" len="sm"/>
          </a:ln>
        </p:spPr>
      </p:pic>
      <p:pic>
        <p:nvPicPr>
          <p:cNvPr id="806" name="Google Shape;806;p60"/>
          <p:cNvPicPr preferRelativeResize="0"/>
          <p:nvPr/>
        </p:nvPicPr>
        <p:blipFill>
          <a:blip r:embed="rId8">
            <a:alphaModFix/>
          </a:blip>
          <a:stretch>
            <a:fillRect/>
          </a:stretch>
        </p:blipFill>
        <p:spPr>
          <a:xfrm>
            <a:off x="5985320" y="3897409"/>
            <a:ext cx="2897000" cy="89278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275</TotalTime>
  <Words>2621</Words>
  <PresentationFormat>全屏显示(16:9)</PresentationFormat>
  <Paragraphs>391</Paragraphs>
  <Slides>60</Slides>
  <Notes>59</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67" baseType="lpstr">
      <vt:lpstr>Arial</vt:lpstr>
      <vt:lpstr>Times New Roman</vt:lpstr>
      <vt:lpstr>Maven Pro</vt:lpstr>
      <vt:lpstr>Nunito</vt:lpstr>
      <vt:lpstr>DengXian</vt:lpstr>
      <vt:lpstr>Momentum</vt:lpstr>
      <vt:lpstr>文档</vt:lpstr>
      <vt:lpstr>Complexity-based Economic and Production Analysis: Overview and Country Report</vt:lpstr>
      <vt:lpstr>Contents</vt:lpstr>
      <vt:lpstr>1. Overview</vt:lpstr>
      <vt:lpstr>2. Economic Complexity Framework</vt:lpstr>
      <vt:lpstr>2.1 Economic Complexity</vt:lpstr>
      <vt:lpstr>2.1 Economic Complexity</vt:lpstr>
      <vt:lpstr>2.1 Economic Complexity</vt:lpstr>
      <vt:lpstr>2.1 Economic Complexity</vt:lpstr>
      <vt:lpstr>2.1 Economic Complexity</vt:lpstr>
      <vt:lpstr>2.1 Economic Complexity</vt:lpstr>
      <vt:lpstr>2.2 Production Matrix</vt:lpstr>
      <vt:lpstr>2.2 Production Matrix</vt:lpstr>
      <vt:lpstr>2.3 Diversity and Ubiquity</vt:lpstr>
      <vt:lpstr>2.3 Diversity and Ubiquity</vt:lpstr>
      <vt:lpstr>2.4 Economic &amp; Production Complexity Index</vt:lpstr>
      <vt:lpstr>2.4 Economic &amp; Production Complexity Index</vt:lpstr>
      <vt:lpstr>2.4 Economic &amp; Production Complexity Index</vt:lpstr>
      <vt:lpstr>2.4 Economic &amp; Production Complexity Index</vt:lpstr>
      <vt:lpstr>2.5 Proximity&amp;Distance</vt:lpstr>
      <vt:lpstr>2.5 Proximity&amp;Distance</vt:lpstr>
      <vt:lpstr>2.6 Opportunity Gain</vt:lpstr>
      <vt:lpstr>2.6 Opportunity Gain</vt:lpstr>
      <vt:lpstr>3. Production Analysis</vt:lpstr>
      <vt:lpstr>3.1 Product Categorization</vt:lpstr>
      <vt:lpstr>3.2 Actual Development Index</vt:lpstr>
      <vt:lpstr>3.3 Regional and Global Comparison</vt:lpstr>
      <vt:lpstr>4. Production Space Design</vt:lpstr>
      <vt:lpstr>4.1 Suggested Development Vector</vt:lpstr>
      <vt:lpstr>4.2 Sequential Development Strategy</vt:lpstr>
      <vt:lpstr>4.2 Sequential Development Strategy</vt:lpstr>
      <vt:lpstr>4.3 Sensitivity Analysis</vt:lpstr>
      <vt:lpstr>4.4 Contingency Plan</vt:lpstr>
      <vt:lpstr>5. Macro-level Predictions</vt:lpstr>
      <vt:lpstr>5.1 Structural Optimality Index (SOI)</vt:lpstr>
      <vt:lpstr>5.2 SOI Examples and Implications</vt:lpstr>
      <vt:lpstr>6. Reference</vt:lpstr>
      <vt:lpstr>7. Appendix</vt:lpstr>
      <vt:lpstr>7.1 Brazil </vt:lpstr>
      <vt:lpstr>7.2 China </vt:lpstr>
      <vt:lpstr>7.2 China</vt:lpstr>
      <vt:lpstr>7.3 Egypt </vt:lpstr>
      <vt:lpstr>7.4 France </vt:lpstr>
      <vt:lpstr>7.4 France</vt:lpstr>
      <vt:lpstr>7.5 Germany </vt:lpstr>
      <vt:lpstr>7.5 Germany</vt:lpstr>
      <vt:lpstr>7.6 Japan </vt:lpstr>
      <vt:lpstr>7.6 Japan</vt:lpstr>
      <vt:lpstr>7.7 Malaysia </vt:lpstr>
      <vt:lpstr>7.7 Malaysia</vt:lpstr>
      <vt:lpstr>7.8 Mexico </vt:lpstr>
      <vt:lpstr>7.8 Mexico</vt:lpstr>
      <vt:lpstr>7.9 Morocco </vt:lpstr>
      <vt:lpstr>7.10 South Africa </vt:lpstr>
      <vt:lpstr>7.11 South Korea   </vt:lpstr>
      <vt:lpstr>7.11 South Korea</vt:lpstr>
      <vt:lpstr>7.12 Spain </vt:lpstr>
      <vt:lpstr>7.13 Turkey </vt:lpstr>
      <vt:lpstr>7.14 United Arab Emirates </vt:lpstr>
      <vt:lpstr>7.15 USA </vt:lpstr>
      <vt:lpstr>7.15 USA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Complexity-based Economic and Production Analysis: Overview and Country Report</dc:title>
  <dc:creator>Administrator</dc:creator>
  <cp:lastModifiedBy>Administrator</cp:lastModifiedBy>
  <cp:revision>7</cp:revision>
  <dcterms:modified xsi:type="dcterms:W3CDTF">2019-09-23T02:06:53Z</dcterms:modified>
</cp:coreProperties>
</file>